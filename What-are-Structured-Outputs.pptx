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145536"/>
          </a:xfrm>
          <a:prstGeom prst="rect">
            <a:avLst/>
          </a:prstGeom>
          <a:solidFill>
            <a:srgbClr val="E91D63"/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4233672" y="2944368"/>
            <a:ext cx="694944" cy="393192"/>
          </a:xfrm>
          <a:prstGeom prst="triangle">
            <a:avLst/>
          </a:prstGeom>
          <a:solidFill>
            <a:srgbClr val="E91D6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8229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649224"/>
            <a:ext cx="8321040" cy="21214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Structured Outputs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11480" y="3419856"/>
            <a:ext cx="8321040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From Free Text to Validated Data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Why Structured Outputs?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310896" y="1472184"/>
            <a:ext cx="8549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LLMs generate free-form text — but applications need predictable, structured data.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Without structure, you're left parsing messy strings, hoping the model follows your format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One wrong field or missing bracket can break an entire pipeline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Regex and string matching are fragile and hard to maintain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Structured Outputs solve this by: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838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Constraining the LLM to produce valid JSON that matches a defined schema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E91D6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Guaranteeing type safety — no more guesswork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The Transformation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pic>
        <p:nvPicPr>
          <p:cNvPr id="4" name="Image 0" descr="/sessions/eager-wonderful-brahmagupta/structured-outputs-images/transfor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822960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JSON &amp; Pydantic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310896" y="1463040"/>
            <a:ext cx="4023360" cy="306324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1463040"/>
            <a:ext cx="4023360" cy="73152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276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3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JSON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JavaScript Object Notation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432304"/>
            <a:ext cx="109728" cy="109728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77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Lightweight data interchange format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779776"/>
            <a:ext cx="109728" cy="109728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249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Key-value pairs, arrays, nesting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127248"/>
            <a:ext cx="109728" cy="109728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723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Universal — every language can parse 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474720"/>
            <a:ext cx="109728" cy="109728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4198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Human-readable and machine-readable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822192"/>
            <a:ext cx="109728" cy="109728"/>
          </a:xfrm>
          <a:prstGeom prst="ellipse">
            <a:avLst/>
          </a:prstGeom>
          <a:solidFill>
            <a:srgbClr val="00838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673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standard for API communication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9744" y="1463040"/>
            <a:ext cx="4023360" cy="3063240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19" name="Shape 17"/>
          <p:cNvSpPr/>
          <p:nvPr/>
        </p:nvSpPr>
        <p:spPr>
          <a:xfrm>
            <a:off x="4809744" y="1463040"/>
            <a:ext cx="4023360" cy="73152"/>
          </a:xfrm>
          <a:prstGeom prst="rect">
            <a:avLst/>
          </a:prstGeom>
          <a:solidFill>
            <a:srgbClr val="673AB7"/>
          </a:solidFill>
          <a:ln/>
        </p:spPr>
      </p:sp>
      <p:sp>
        <p:nvSpPr>
          <p:cNvPr id="20" name="Text 18"/>
          <p:cNvSpPr/>
          <p:nvPr/>
        </p:nvSpPr>
        <p:spPr>
          <a:xfrm>
            <a:off x="4992624" y="16276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73AB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Pydantic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992624" y="1993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Python Data Validation Library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84064" y="2432304"/>
            <a:ext cx="109728" cy="109728"/>
          </a:xfrm>
          <a:prstGeom prst="ellipse">
            <a:avLst/>
          </a:prstGeom>
          <a:solidFill>
            <a:srgbClr val="673AB7"/>
          </a:solidFill>
          <a:ln/>
        </p:spPr>
      </p:sp>
      <p:sp>
        <p:nvSpPr>
          <p:cNvPr id="23" name="Text 21"/>
          <p:cNvSpPr/>
          <p:nvPr/>
        </p:nvSpPr>
        <p:spPr>
          <a:xfrm>
            <a:off x="5312664" y="2377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Define data models as Python classes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84064" y="2779776"/>
            <a:ext cx="109728" cy="109728"/>
          </a:xfrm>
          <a:prstGeom prst="ellipse">
            <a:avLst/>
          </a:prstGeom>
          <a:solidFill>
            <a:srgbClr val="673AB7"/>
          </a:solidFill>
          <a:ln/>
        </p:spPr>
      </p:sp>
      <p:sp>
        <p:nvSpPr>
          <p:cNvPr id="25" name="Text 23"/>
          <p:cNvSpPr/>
          <p:nvPr/>
        </p:nvSpPr>
        <p:spPr>
          <a:xfrm>
            <a:off x="5312664" y="27249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Automatic type validation &amp; coercion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84064" y="3127248"/>
            <a:ext cx="109728" cy="109728"/>
          </a:xfrm>
          <a:prstGeom prst="ellipse">
            <a:avLst/>
          </a:prstGeom>
          <a:solidFill>
            <a:srgbClr val="673AB7"/>
          </a:solidFill>
          <a:ln/>
        </p:spPr>
      </p:sp>
      <p:sp>
        <p:nvSpPr>
          <p:cNvPr id="27" name="Text 25"/>
          <p:cNvSpPr/>
          <p:nvPr/>
        </p:nvSpPr>
        <p:spPr>
          <a:xfrm>
            <a:off x="5312664" y="30723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Generates JSON schemas from models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84064" y="3474720"/>
            <a:ext cx="109728" cy="109728"/>
          </a:xfrm>
          <a:prstGeom prst="ellipse">
            <a:avLst/>
          </a:prstGeom>
          <a:solidFill>
            <a:srgbClr val="673AB7"/>
          </a:solidFill>
          <a:ln/>
        </p:spPr>
      </p:sp>
      <p:sp>
        <p:nvSpPr>
          <p:cNvPr id="29" name="Text 27"/>
          <p:cNvSpPr/>
          <p:nvPr/>
        </p:nvSpPr>
        <p:spPr>
          <a:xfrm>
            <a:off x="5312664" y="34198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Rich error messages on invalid data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84064" y="3822192"/>
            <a:ext cx="109728" cy="109728"/>
          </a:xfrm>
          <a:prstGeom prst="ellipse">
            <a:avLst/>
          </a:prstGeom>
          <a:solidFill>
            <a:srgbClr val="673AB7"/>
          </a:solidFill>
          <a:ln/>
        </p:spPr>
      </p:sp>
      <p:sp>
        <p:nvSpPr>
          <p:cNvPr id="31" name="Text 29"/>
          <p:cNvSpPr/>
          <p:nvPr/>
        </p:nvSpPr>
        <p:spPr>
          <a:xfrm>
            <a:off x="5312664" y="37673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OpenAI uses Pydantic under the hood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Use Cases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Shape 2"/>
          <p:cNvSpPr/>
          <p:nvPr/>
        </p:nvSpPr>
        <p:spPr>
          <a:xfrm>
            <a:off x="310896" y="1508760"/>
            <a:ext cx="4169664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" y="1508760"/>
            <a:ext cx="73152" cy="868680"/>
          </a:xfrm>
          <a:prstGeom prst="rect">
            <a:avLst/>
          </a:prstGeom>
          <a:solidFill>
            <a:srgbClr val="E91D63"/>
          </a:solidFill>
          <a:ln/>
        </p:spPr>
      </p:sp>
      <p:sp>
        <p:nvSpPr>
          <p:cNvPr id="6" name="Text 4"/>
          <p:cNvSpPr/>
          <p:nvPr/>
        </p:nvSpPr>
        <p:spPr>
          <a:xfrm>
            <a:off x="539496" y="1581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1D6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Data Extraction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9496" y="18928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Pull structured fields from emails, documents, or web pages — names, dates, amounts, entities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" y="2514600"/>
            <a:ext cx="4169664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310896" y="2514600"/>
            <a:ext cx="73152" cy="86868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" y="2587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3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API Responses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496" y="28986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Ensure LLM output matches your API contract — typed fields, enums, required properties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" y="3520440"/>
            <a:ext cx="4169664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310896" y="3520440"/>
            <a:ext cx="73152" cy="868680"/>
          </a:xfrm>
          <a:prstGeom prst="rect">
            <a:avLst/>
          </a:prstGeom>
          <a:solidFill>
            <a:srgbClr val="673AB7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" y="35935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73AB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Form Filling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496" y="39044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Map natural language input to form fields — addresses, applications, surveys, intake forms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508760"/>
            <a:ext cx="4169664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1508760"/>
            <a:ext cx="73152" cy="86868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5819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38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18928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Categorise text with confidence scores, labels, and reasoning — sentiment, intent, topics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514600"/>
            <a:ext cx="4169664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2514600"/>
            <a:ext cx="73152" cy="868680"/>
          </a:xfrm>
          <a:prstGeom prst="rect">
            <a:avLst/>
          </a:prstGeom>
          <a:solidFill>
            <a:srgbClr val="E91D63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587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1D6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Content Generation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28986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Generate blog posts, product descriptions, or reports with consistent structure and metadata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520440"/>
            <a:ext cx="4169664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4663440" y="3520440"/>
            <a:ext cx="73152" cy="868680"/>
          </a:xfrm>
          <a:prstGeom prst="rect">
            <a:avLst/>
          </a:prstGeom>
          <a:solidFill>
            <a:srgbClr val="673AB7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5935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73AB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Function Calling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92040" y="39044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LLM decides which function to call and provides correctly-typed arguments to execute it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pic>
        <p:nvPicPr>
          <p:cNvPr id="4" name="Image 0" descr="/sessions/eager-wonderful-brahmagupta/structured-outputs-images/how-it-wor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896" y="374904"/>
            <a:ext cx="8549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24242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9768" y="1280160"/>
            <a:ext cx="612648" cy="0"/>
          </a:xfrm>
          <a:prstGeom prst="line">
            <a:avLst/>
          </a:prstGeom>
          <a:noFill/>
          <a:ln w="19050">
            <a:solidFill>
              <a:srgbClr val="424242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310896" y="1472184"/>
            <a:ext cx="8549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Now that you understand why structured outputs matter, let's build with them.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E91D63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Coming up — OpenAI Structured Outputs in Code: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Define Pydantic models for your data schemas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Use response_format to constrain OpenAI completions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Handle nested objects, enums, and optional fields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Build real extraction and classification pipelines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Key takeaway: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00838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Structured outputs turn LLMs from text generators into reliable data engines.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10896" y="47000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Complete Prompt Engineering for AI Bootcamp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13064" y="469087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2424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are Structured Outputs?</dc:title>
  <dc:subject>PptxGenJS Presentation</dc:subject>
  <dc:creator>James Phoenix</dc:creator>
  <cp:lastModifiedBy>James Phoenix</cp:lastModifiedBy>
  <cp:revision>1</cp:revision>
  <dcterms:created xsi:type="dcterms:W3CDTF">2026-02-09T17:13:35Z</dcterms:created>
  <dcterms:modified xsi:type="dcterms:W3CDTF">2026-02-09T17:13:35Z</dcterms:modified>
</cp:coreProperties>
</file>