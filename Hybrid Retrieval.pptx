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145536"/>
          </a:xfrm>
          <a:prstGeom prst="rect">
            <a:avLst/>
          </a:prstGeom>
          <a:solidFill>
            <a:srgbClr val="E91D63"/>
          </a:solidFill>
          <a:ln/>
        </p:spPr>
      </p:sp>
      <p:sp>
        <p:nvSpPr>
          <p:cNvPr id="3" name="Shape 1"/>
          <p:cNvSpPr/>
          <p:nvPr/>
        </p:nvSpPr>
        <p:spPr>
          <a:xfrm rot="10800000">
            <a:off x="4233672" y="2944368"/>
            <a:ext cx="694944" cy="393192"/>
          </a:xfrm>
          <a:prstGeom prst="triangle">
            <a:avLst/>
          </a:prstGeom>
          <a:solidFill>
            <a:srgbClr val="E91D63"/>
          </a:solidFill>
          <a:ln w="12700">
            <a:solidFill>
              <a:srgbClr val="E91D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2296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649224"/>
            <a:ext cx="8321040" cy="21214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Hybrid Retrieval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11480" y="3419856"/>
            <a:ext cx="8321040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Combining retrieval methods for superior RAG performance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Why Use Hybrid Retrieval?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sp>
        <p:nvSpPr>
          <p:cNvPr id="4" name="Shape 2"/>
          <p:cNvSpPr/>
          <p:nvPr/>
        </p:nvSpPr>
        <p:spPr>
          <a:xfrm>
            <a:off x="310896" y="1508760"/>
            <a:ext cx="4023360" cy="457200"/>
          </a:xfrm>
          <a:prstGeom prst="rect">
            <a:avLst/>
          </a:prstGeom>
          <a:solidFill>
            <a:srgbClr val="E91D63"/>
          </a:solidFill>
          <a:ln/>
        </p:spPr>
      </p:sp>
      <p:sp>
        <p:nvSpPr>
          <p:cNvPr id="5" name="Text 3"/>
          <p:cNvSpPr/>
          <p:nvPr/>
        </p:nvSpPr>
        <p:spPr>
          <a:xfrm>
            <a:off x="402336" y="1508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Problem with Single Methods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10896" y="210312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Vector search misses exact keyword matches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Keyword search lacks semantic understanding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Graph alone misses unstructured content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508760"/>
            <a:ext cx="4023360" cy="4572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508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Hybrid Advantage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210312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Best of both worlds: semantic + exact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Higher recall and precision combined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Handles diverse query types gracefully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0" y="3657600"/>
            <a:ext cx="457200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36576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Hybrid retrieval can improve relevance by 20-40% over single methods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Types of Hybrid Retrieval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sp>
        <p:nvSpPr>
          <p:cNvPr id="4" name="Shape 2"/>
          <p:cNvSpPr/>
          <p:nvPr/>
        </p:nvSpPr>
        <p:spPr>
          <a:xfrm>
            <a:off x="310896" y="1508760"/>
            <a:ext cx="2651760" cy="219456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" y="1508760"/>
            <a:ext cx="2651760" cy="73152"/>
          </a:xfrm>
          <a:prstGeom prst="rect">
            <a:avLst/>
          </a:prstGeom>
          <a:solidFill>
            <a:srgbClr val="E91D63"/>
          </a:solidFill>
          <a:ln/>
        </p:spPr>
      </p:sp>
      <p:sp>
        <p:nvSpPr>
          <p:cNvPr id="6" name="Text 4"/>
          <p:cNvSpPr/>
          <p:nvPr/>
        </p:nvSpPr>
        <p:spPr>
          <a:xfrm>
            <a:off x="402336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Vector + Keyword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02336" y="21031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Combines embedding similarity with BM25/TF-IDF for balanced semantic and lexical matching.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508760"/>
            <a:ext cx="2651760" cy="219456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508760"/>
            <a:ext cx="2651760" cy="73152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Vector + Graph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37560" y="21031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Uses knowledge graphs for entity relationships plus vectors for semantic context.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81344" y="1508760"/>
            <a:ext cx="2651760" cy="219456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1344" y="1508760"/>
            <a:ext cx="2651760" cy="73152"/>
          </a:xfrm>
          <a:prstGeom prst="rect">
            <a:avLst/>
          </a:prstGeom>
          <a:solidFill>
            <a:srgbClr val="673AB7"/>
          </a:solidFill>
          <a:ln/>
        </p:spPr>
      </p:sp>
      <p:sp>
        <p:nvSpPr>
          <p:cNvPr id="14" name="Text 12"/>
          <p:cNvSpPr/>
          <p:nvPr/>
        </p:nvSpPr>
        <p:spPr>
          <a:xfrm>
            <a:off x="6272784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Multi-Index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72784" y="21031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Separate indices for different content types (docs, tables, code) merged at query time.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0896" y="3886200"/>
            <a:ext cx="8549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5757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Choose based on your data structure and query patterns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Vector + Keyword Search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sp>
        <p:nvSpPr>
          <p:cNvPr id="4" name="Shape 2"/>
          <p:cNvSpPr/>
          <p:nvPr/>
        </p:nvSpPr>
        <p:spPr>
          <a:xfrm>
            <a:off x="310896" y="1508760"/>
            <a:ext cx="4078224" cy="24688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Text 3"/>
          <p:cNvSpPr/>
          <p:nvPr/>
        </p:nvSpPr>
        <p:spPr>
          <a:xfrm>
            <a:off x="402336" y="1645920"/>
            <a:ext cx="3895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1D6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2336" y="2057400"/>
            <a:ext cx="38953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Query processed by both retrievers in parallel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Vector: finds semantically similar chunks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Keyword (BM25): matches exact terms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Results merged using RRF or weighted scoring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508760"/>
            <a:ext cx="4078224" cy="2468880"/>
          </a:xfrm>
          <a:prstGeom prst="rect">
            <a:avLst/>
          </a:prstGeom>
          <a:solidFill>
            <a:srgbClr val="FDF2F4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1645920"/>
            <a:ext cx="3803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1D6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Best For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92040" y="2057400"/>
            <a:ext cx="380390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Technical documentation with specific terms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Legal/medical content with exact phrases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Product catalogs with SKUs and names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Any domain mixing jargon + concepts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Vector + Graph Retrieval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sp>
        <p:nvSpPr>
          <p:cNvPr id="4" name="Shape 2"/>
          <p:cNvSpPr/>
          <p:nvPr/>
        </p:nvSpPr>
        <p:spPr>
          <a:xfrm>
            <a:off x="310896" y="1508760"/>
            <a:ext cx="4078224" cy="24688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Text 3"/>
          <p:cNvSpPr/>
          <p:nvPr/>
        </p:nvSpPr>
        <p:spPr>
          <a:xfrm>
            <a:off x="402336" y="1645920"/>
            <a:ext cx="3895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83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2336" y="2057400"/>
            <a:ext cx="38953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Knowledge graph stores entity relationships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Query extracts entities, traverses graph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Vector search adds semantic context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Combined results provide rich answers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508760"/>
            <a:ext cx="4078224" cy="2468880"/>
          </a:xfrm>
          <a:prstGeom prst="rect">
            <a:avLst/>
          </a:prstGeom>
          <a:solidFill>
            <a:srgbClr val="E8F5F5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1645920"/>
            <a:ext cx="3803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83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Best For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92040" y="2057400"/>
            <a:ext cx="380390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Complex domains with many entities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Questions about relationships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Multi-hop reasoning requirements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Enterprise data with clear hierarchies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How Vector + Keyword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sp>
        <p:nvSpPr>
          <p:cNvPr id="4" name="Shape 2"/>
          <p:cNvSpPr/>
          <p:nvPr/>
        </p:nvSpPr>
        <p:spPr>
          <a:xfrm>
            <a:off x="3474720" y="1417320"/>
            <a:ext cx="2194560" cy="548640"/>
          </a:xfrm>
          <a:prstGeom prst="roundRect">
            <a:avLst/>
          </a:prstGeom>
          <a:solidFill>
            <a:srgbClr val="E91D63"/>
          </a:solidFill>
          <a:ln w="12700">
            <a:solidFill>
              <a:srgbClr val="E91D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14173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User Query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2057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Parallel Processing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463040" y="2423160"/>
            <a:ext cx="2560320" cy="914400"/>
          </a:xfrm>
          <a:prstGeom prst="roundRect">
            <a:avLst/>
          </a:prstGeom>
          <a:solidFill>
            <a:srgbClr val="E8F5F5"/>
          </a:solidFill>
          <a:ln w="25400">
            <a:solidFill>
              <a:srgbClr val="0083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2423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3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Vector Search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27889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Embedding similarity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Top-K semantic matches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20640" y="2423160"/>
            <a:ext cx="2560320" cy="914400"/>
          </a:xfrm>
          <a:prstGeom prst="roundRect">
            <a:avLst/>
          </a:prstGeom>
          <a:solidFill>
            <a:srgbClr val="FDF2F4"/>
          </a:solidFill>
          <a:ln w="25400">
            <a:solidFill>
              <a:srgbClr val="E91D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2423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1D6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Keyword Search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0" y="27889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BM25 / TF-IDF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Exact term matching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965960"/>
            <a:ext cx="-1828800" cy="457200"/>
          </a:xfrm>
          <a:prstGeom prst="line">
            <a:avLst/>
          </a:prstGeom>
          <a:noFill/>
          <a:ln w="25400">
            <a:solidFill>
              <a:srgbClr val="42424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0" y="1965960"/>
            <a:ext cx="1828800" cy="457200"/>
          </a:xfrm>
          <a:prstGeom prst="line">
            <a:avLst/>
          </a:prstGeom>
          <a:noFill/>
          <a:ln w="25400">
            <a:solidFill>
              <a:srgbClr val="42424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017520" y="3794760"/>
            <a:ext cx="3108960" cy="640080"/>
          </a:xfrm>
          <a:prstGeom prst="roundRect">
            <a:avLst/>
          </a:prstGeom>
          <a:solidFill>
            <a:srgbClr val="673AB7"/>
          </a:solidFill>
          <a:ln w="12700">
            <a:solidFill>
              <a:srgbClr val="673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3794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Reciprocal Rank Fusion (RRF)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17520" y="4114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Merge &amp; re-rank results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0" y="3337560"/>
            <a:ext cx="1828800" cy="457200"/>
          </a:xfrm>
          <a:prstGeom prst="line">
            <a:avLst/>
          </a:prstGeom>
          <a:noFill/>
          <a:ln w="25400">
            <a:solidFill>
              <a:srgbClr val="42424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00800" y="3337560"/>
            <a:ext cx="-1828800" cy="457200"/>
          </a:xfrm>
          <a:prstGeom prst="line">
            <a:avLst/>
          </a:prstGeom>
          <a:noFill/>
          <a:ln w="25400">
            <a:solidFill>
              <a:srgbClr val="424242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How Vector + Graph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sp>
        <p:nvSpPr>
          <p:cNvPr id="4" name="Shape 2"/>
          <p:cNvSpPr/>
          <p:nvPr/>
        </p:nvSpPr>
        <p:spPr>
          <a:xfrm>
            <a:off x="3474720" y="1417320"/>
            <a:ext cx="2194560" cy="548640"/>
          </a:xfrm>
          <a:prstGeom prst="round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14173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User Query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965960"/>
            <a:ext cx="0" cy="274320"/>
          </a:xfrm>
          <a:prstGeom prst="line">
            <a:avLst/>
          </a:prstGeom>
          <a:noFill/>
          <a:ln w="25400">
            <a:solidFill>
              <a:srgbClr val="42424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200400" y="2286000"/>
            <a:ext cx="2743200" cy="5029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4242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2286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Entity Extraction (NER)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80160" y="3063240"/>
            <a:ext cx="2926080" cy="1097280"/>
          </a:xfrm>
          <a:prstGeom prst="roundRect">
            <a:avLst/>
          </a:prstGeom>
          <a:solidFill>
            <a:srgbClr val="E8F5F5"/>
          </a:solidFill>
          <a:ln w="25400">
            <a:solidFill>
              <a:srgbClr val="0083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3063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3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Knowledge Graph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45920" y="3520440"/>
            <a:ext cx="274320" cy="274320"/>
          </a:xfrm>
          <a:prstGeom prst="ellipse">
            <a:avLst/>
          </a:prstGeom>
          <a:solidFill>
            <a:srgbClr val="00838F"/>
          </a:solidFill>
          <a:ln/>
        </p:spPr>
      </p:sp>
      <p:sp>
        <p:nvSpPr>
          <p:cNvPr id="12" name="Shape 10"/>
          <p:cNvSpPr/>
          <p:nvPr/>
        </p:nvSpPr>
        <p:spPr>
          <a:xfrm>
            <a:off x="2286000" y="3749040"/>
            <a:ext cx="274320" cy="274320"/>
          </a:xfrm>
          <a:prstGeom prst="ellipse">
            <a:avLst/>
          </a:prstGeom>
          <a:solidFill>
            <a:srgbClr val="00838F"/>
          </a:solidFill>
          <a:ln/>
        </p:spPr>
      </p:sp>
      <p:sp>
        <p:nvSpPr>
          <p:cNvPr id="13" name="Shape 11"/>
          <p:cNvSpPr/>
          <p:nvPr/>
        </p:nvSpPr>
        <p:spPr>
          <a:xfrm>
            <a:off x="2926080" y="3520440"/>
            <a:ext cx="274320" cy="274320"/>
          </a:xfrm>
          <a:prstGeom prst="ellipse">
            <a:avLst/>
          </a:prstGeom>
          <a:solidFill>
            <a:srgbClr val="00838F"/>
          </a:solidFill>
          <a:ln/>
        </p:spPr>
      </p:sp>
      <p:sp>
        <p:nvSpPr>
          <p:cNvPr id="14" name="Shape 12"/>
          <p:cNvSpPr/>
          <p:nvPr/>
        </p:nvSpPr>
        <p:spPr>
          <a:xfrm>
            <a:off x="3566160" y="3749040"/>
            <a:ext cx="274320" cy="274320"/>
          </a:xfrm>
          <a:prstGeom prst="ellipse">
            <a:avLst/>
          </a:prstGeom>
          <a:solidFill>
            <a:srgbClr val="00838F"/>
          </a:solidFill>
          <a:ln/>
        </p:spPr>
      </p:sp>
      <p:sp>
        <p:nvSpPr>
          <p:cNvPr id="15" name="Shape 13"/>
          <p:cNvSpPr/>
          <p:nvPr/>
        </p:nvSpPr>
        <p:spPr>
          <a:xfrm>
            <a:off x="1920240" y="3657600"/>
            <a:ext cx="365760" cy="137160"/>
          </a:xfrm>
          <a:prstGeom prst="line">
            <a:avLst/>
          </a:prstGeom>
          <a:noFill/>
          <a:ln w="19050">
            <a:solidFill>
              <a:srgbClr val="4242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0" y="3794760"/>
            <a:ext cx="365760" cy="-182880"/>
          </a:xfrm>
          <a:prstGeom prst="line">
            <a:avLst/>
          </a:prstGeom>
          <a:noFill/>
          <a:ln w="19050">
            <a:solidFill>
              <a:srgbClr val="4242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3657600"/>
            <a:ext cx="365760" cy="137160"/>
          </a:xfrm>
          <a:prstGeom prst="line">
            <a:avLst/>
          </a:prstGeom>
          <a:noFill/>
          <a:ln w="19050">
            <a:solidFill>
              <a:srgbClr val="4242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37760" y="3063240"/>
            <a:ext cx="2926080" cy="1097280"/>
          </a:xfrm>
          <a:prstGeom prst="roundRect">
            <a:avLst/>
          </a:prstGeom>
          <a:solidFill>
            <a:srgbClr val="FDF2F4"/>
          </a:solidFill>
          <a:ln w="25400">
            <a:solidFill>
              <a:srgbClr val="E91D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063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1D6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Vector Store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4747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Semantic context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for graph entities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2788920"/>
            <a:ext cx="-1828800" cy="274320"/>
          </a:xfrm>
          <a:prstGeom prst="line">
            <a:avLst/>
          </a:prstGeom>
          <a:noFill/>
          <a:ln w="25400">
            <a:solidFill>
              <a:srgbClr val="42424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572000" y="2788920"/>
            <a:ext cx="1828800" cy="274320"/>
          </a:xfrm>
          <a:prstGeom prst="line">
            <a:avLst/>
          </a:prstGeom>
          <a:noFill/>
          <a:ln w="25400">
            <a:solidFill>
              <a:srgbClr val="42424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828800" y="4297680"/>
            <a:ext cx="5486400" cy="3657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Text 22"/>
          <p:cNvSpPr/>
          <p:nvPr/>
        </p:nvSpPr>
        <p:spPr>
          <a:xfrm>
            <a:off x="1828800" y="4297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Graph relationships + semantic context = rich, connected answers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Which Hybrid Approach to Choose?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sp>
        <p:nvSpPr>
          <p:cNvPr id="4" name="Shape 2"/>
          <p:cNvSpPr/>
          <p:nvPr/>
        </p:nvSpPr>
        <p:spPr>
          <a:xfrm>
            <a:off x="3200400" y="1417320"/>
            <a:ext cx="2743200" cy="502920"/>
          </a:xfrm>
          <a:prstGeom prst="roundRect">
            <a:avLst/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1417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What's your data like?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920240"/>
            <a:ext cx="-2240280" cy="457200"/>
          </a:xfrm>
          <a:prstGeom prst="line">
            <a:avLst/>
          </a:prstGeom>
          <a:noFill/>
          <a:ln w="25400">
            <a:solidFill>
              <a:srgbClr val="42424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72000" y="1920240"/>
            <a:ext cx="2240280" cy="457200"/>
          </a:xfrm>
          <a:prstGeom prst="line">
            <a:avLst/>
          </a:prstGeom>
          <a:noFill/>
          <a:ln w="25400">
            <a:solidFill>
              <a:srgbClr val="424242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914400" y="1965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Mostly text,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some keywords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0" y="1965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Entities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relationships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3931920" cy="1737360"/>
          </a:xfrm>
          <a:prstGeom prst="roundRect">
            <a:avLst/>
          </a:prstGeom>
          <a:solidFill>
            <a:srgbClr val="FDF2F4"/>
          </a:solidFill>
          <a:ln w="25400">
            <a:solidFill>
              <a:srgbClr val="E91D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603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1D6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→ Vector + Keyword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297180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Documentation &amp; knowledge bases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Legal, medical, technical content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Product search with SKUs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FAQ systems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468880"/>
            <a:ext cx="3931920" cy="1737360"/>
          </a:xfrm>
          <a:prstGeom prst="roundRect">
            <a:avLst/>
          </a:prstGeom>
          <a:solidFill>
            <a:srgbClr val="E8F5F5"/>
          </a:solidFill>
          <a:ln w="25400">
            <a:solidFill>
              <a:srgbClr val="0083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5603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3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→ Vector + Graph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297180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Company org charts &amp; hierarchies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Research citations &amp; papers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Social networks &amp; connections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Multi-hop Q&amp;A needs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71600" y="4297680"/>
            <a:ext cx="6400800" cy="411480"/>
          </a:xfrm>
          <a:prstGeom prst="rect">
            <a:avLst/>
          </a:prstGeom>
          <a:solidFill>
            <a:srgbClr val="673AB7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4297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Pro tip: Start with Vector + Keyword — simpler and works for most cases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Retrieval</dc:title>
  <dc:subject>PptxGenJS Presentation</dc:subject>
  <dc:creator>James Phoenix</dc:creator>
  <cp:lastModifiedBy>James Phoenix</cp:lastModifiedBy>
  <cp:revision>1</cp:revision>
  <dcterms:created xsi:type="dcterms:W3CDTF">2026-02-09T14:01:51Z</dcterms:created>
  <dcterms:modified xsi:type="dcterms:W3CDTF">2026-02-09T14:01:51Z</dcterms:modified>
</cp:coreProperties>
</file>