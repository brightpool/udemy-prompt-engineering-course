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0" r:id="rId5"/>
    <p:sldMasterId id="2147483671" r:id="rId6"/>
  </p:sldMasterIdLst>
  <p:notesMasterIdLst>
    <p:notesMasterId r:id="rId7"/>
  </p:notesMasterIdLst>
  <p:sldIdLst>
    <p:sldId id="256" r:id="rId14"/>
    <p:sldId id="257" r:id="rId15"/>
    <p:sldId id="258" r:id="rId16"/>
    <p:sldId id="259" r:id="rId17"/>
    <p:sldId id="260" r:id="rId18"/>
    <p:sldId id="261" r:id="rId19"/>
    <p:sldId id="262" r:id="rId20"/>
    <p:sldId id="263" r:id="rId21"/>
    <p:sldId id="264" r:id="rId22"/>
    <p:sldId id="265" r:id="rId23"/>
    <p:sldId id="266" r:id="rId13"/>
  </p:sldIdLst>
  <p:sldSz cy="5143500" cx="9144000"/>
  <p:notesSz cx="6858000" cy="9144000"/>
  <p:embeddedFontLst>
    <p:embeddedFont>
      <p:font typeface="Source Code Pro"/>
      <p:regular r:id="rId24"/>
      <p:bold r:id="rId25"/>
      <p:italic r:id="rId26"/>
      <p:boldItalic r:id="rId27"/>
    </p:embeddedFont>
    <p:embeddedFont>
      <p:font typeface="Oswald"/>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673574E-313A-4E41-A38C-36F247BE0EA5}">
  <a:tblStyle styleId="{3673574E-313A-4E41-A38C-36F247BE0EA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09F496F-DB3D-4476-992D-8F9A65F79524}"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13" Type="http://schemas.openxmlformats.org/officeDocument/2006/relationships/slide" Target="slides/slide1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font" Target="fonts/SourceCodePro-regular.fntdata"/><Relationship Id="rId25" Type="http://schemas.openxmlformats.org/officeDocument/2006/relationships/font" Target="fonts/SourceCodePro-bold.fntdata"/><Relationship Id="rId26" Type="http://schemas.openxmlformats.org/officeDocument/2006/relationships/font" Target="fonts/SourceCodePro-italic.fntdata"/><Relationship Id="rId27" Type="http://schemas.openxmlformats.org/officeDocument/2006/relationships/font" Target="fonts/SourceCodePro-boldItalic.fntdata"/><Relationship Id="rId28" Type="http://schemas.openxmlformats.org/officeDocument/2006/relationships/font" Target="fonts/Oswald-regular.fntdata"/><Relationship Id="rId29" Type="http://schemas.openxmlformats.org/officeDocument/2006/relationships/font" Target="fonts/Oswa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 name="Google Shape;15;p2"/>
          <p:cNvSpPr txBox="1"/>
          <p:nvPr/>
        </p:nvSpPr>
        <p:spPr>
          <a:xfrm>
            <a:off x="411175" y="79900"/>
            <a:ext cx="8282400" cy="38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Source Code Pro"/>
                <a:ea typeface="Source Code Pro"/>
                <a:cs typeface="Source Code Pro"/>
                <a:sym typeface="Source Code Pro"/>
              </a:rPr>
              <a:t>The Complete Prompt Engineering for AI Bootcamp</a:t>
            </a:r>
            <a:endParaRPr sz="1100">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 name="Google Shape;20;p3"/>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3" name="Google Shape;23;p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4"/>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cxnSp>
        <p:nvCxnSpPr>
          <p:cNvPr id="28" name="Google Shape;28;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9" name="Google Shape;29;p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0" name="Google Shape;30;p5"/>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5"/>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6"/>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cxnSp>
        <p:nvCxnSpPr>
          <p:cNvPr id="39" name="Google Shape;39;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40" name="Google Shape;4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1" name="Google Shape;41;p7"/>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7"/>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sp>
        <p:nvSpPr>
          <p:cNvPr id="45" name="Google Shape;45;p8"/>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46" name="Google Shape;4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8"/>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lt1"/>
                </a:solidFill>
                <a:latin typeface="Source Code Pro"/>
                <a:ea typeface="Source Code Pro"/>
                <a:cs typeface="Source Code Pro"/>
                <a:sym typeface="Source Code Pro"/>
              </a:rPr>
              <a:t>The Complete Prompt Engineering for AI Bootcamp</a:t>
            </a:r>
            <a:endParaRPr sz="900">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8" name="Shape 48"/>
        <p:cNvGrpSpPr/>
        <p:nvPr/>
      </p:nvGrpSpPr>
      <p:grpSpPr>
        <a:xfrm>
          <a:off x="0" y="0"/>
          <a:ext cx="0" cy="0"/>
          <a:chOff x="0" y="0"/>
          <a:chExt cx="0" cy="0"/>
        </a:xfrm>
      </p:grpSpPr>
      <p:sp>
        <p:nvSpPr>
          <p:cNvPr id="49" name="Google Shape;49;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51" name="Google Shape;51;p9"/>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52" name="Google Shape;52;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4" name="Google Shape;5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9"/>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6" name="Shape 56"/>
        <p:cNvGrpSpPr/>
        <p:nvPr/>
      </p:nvGrpSpPr>
      <p:grpSpPr>
        <a:xfrm>
          <a:off x="0" y="0"/>
          <a:ext cx="0" cy="0"/>
          <a:chOff x="0" y="0"/>
          <a:chExt cx="0" cy="0"/>
        </a:xfrm>
      </p:grpSpPr>
      <p:sp>
        <p:nvSpPr>
          <p:cNvPr id="57" name="Google Shape;57;p10"/>
          <p:cNvSpPr txBox="1"/>
          <p:nvPr>
            <p:ph idx="1" type="body"/>
          </p:nvPr>
        </p:nvSpPr>
        <p:spPr>
          <a:xfrm>
            <a:off x="311700" y="406472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8" name="Google Shape;5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10"/>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62" name="Google Shape;62;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63" name="Google Shape;63;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1"/>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2"/>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3" name="Shape 73"/>
        <p:cNvGrpSpPr/>
        <p:nvPr/>
      </p:nvGrpSpPr>
      <p:grpSpPr>
        <a:xfrm>
          <a:off x="0" y="0"/>
          <a:ext cx="0" cy="0"/>
          <a:chOff x="0" y="0"/>
          <a:chExt cx="0" cy="0"/>
        </a:xfrm>
      </p:grpSpPr>
      <p:sp>
        <p:nvSpPr>
          <p:cNvPr id="74" name="Google Shape;74;p14"/>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4"/>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4"/>
          <p:cNvSpPr txBox="1"/>
          <p:nvPr>
            <p:ph type="ctrTitle"/>
          </p:nvPr>
        </p:nvSpPr>
        <p:spPr>
          <a:xfrm>
            <a:off x="411175" y="644300"/>
            <a:ext cx="8282400" cy="21090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6000"/>
              <a:buNone/>
              <a:defRPr sz="6000">
                <a:solidFill>
                  <a:schemeClr val="lt1"/>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77" name="Google Shape;77;p14"/>
          <p:cNvSpPr txBox="1"/>
          <p:nvPr>
            <p:ph idx="1" type="subTitle"/>
          </p:nvPr>
        </p:nvSpPr>
        <p:spPr>
          <a:xfrm>
            <a:off x="411175" y="3398250"/>
            <a:ext cx="8282400" cy="12606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78" name="Google Shape;78;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14"/>
          <p:cNvSpPr txBox="1"/>
          <p:nvPr/>
        </p:nvSpPr>
        <p:spPr>
          <a:xfrm>
            <a:off x="411175" y="79900"/>
            <a:ext cx="8282400" cy="380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Source Code Pro"/>
                <a:ea typeface="Source Code Pro"/>
                <a:cs typeface="Source Code Pro"/>
                <a:sym typeface="Source Code Pro"/>
              </a:rPr>
              <a:t>The Complete Prompt Engineering for AI Bootcamp</a:t>
            </a:r>
            <a:endParaRPr b="0" i="0" sz="1100" u="none" cap="none" strike="noStrike">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cxnSp>
        <p:nvCxnSpPr>
          <p:cNvPr id="81" name="Google Shape;81;p1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82" name="Google Shape;82;p15"/>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3" name="Google Shape;83;p15"/>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4" name="Google Shape;8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85" name="Google Shape;85;p15"/>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6" name="Shape 86"/>
        <p:cNvGrpSpPr/>
        <p:nvPr/>
      </p:nvGrpSpPr>
      <p:grpSpPr>
        <a:xfrm>
          <a:off x="0" y="0"/>
          <a:ext cx="0" cy="0"/>
          <a:chOff x="0" y="0"/>
          <a:chExt cx="0" cy="0"/>
        </a:xfrm>
      </p:grpSpPr>
      <p:sp>
        <p:nvSpPr>
          <p:cNvPr id="87" name="Google Shape;87;p16"/>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6"/>
          <p:cNvSpPr txBox="1"/>
          <p:nvPr>
            <p:ph type="title"/>
          </p:nvPr>
        </p:nvSpPr>
        <p:spPr>
          <a:xfrm>
            <a:off x="430800" y="1889700"/>
            <a:ext cx="8282400" cy="15165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sp>
        <p:nvSpPr>
          <p:cNvPr id="89" name="Google Shape;8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16"/>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cxnSp>
        <p:nvCxnSpPr>
          <p:cNvPr id="92" name="Google Shape;92;p17"/>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93" name="Google Shape;93;p17"/>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4" name="Google Shape;94;p17"/>
          <p:cNvSpPr txBox="1"/>
          <p:nvPr>
            <p:ph idx="1" type="body"/>
          </p:nvPr>
        </p:nvSpPr>
        <p:spPr>
          <a:xfrm>
            <a:off x="311700" y="1468825"/>
            <a:ext cx="3999900" cy="3099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5" name="Google Shape;95;p17"/>
          <p:cNvSpPr txBox="1"/>
          <p:nvPr>
            <p:ph idx="2" type="body"/>
          </p:nvPr>
        </p:nvSpPr>
        <p:spPr>
          <a:xfrm>
            <a:off x="4832400" y="1468825"/>
            <a:ext cx="3999900" cy="3099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6" name="Google Shape;9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17"/>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8" name="Shape 98"/>
        <p:cNvGrpSpPr/>
        <p:nvPr/>
      </p:nvGrpSpPr>
      <p:grpSpPr>
        <a:xfrm>
          <a:off x="0" y="0"/>
          <a:ext cx="0" cy="0"/>
          <a:chOff x="0" y="0"/>
          <a:chExt cx="0" cy="0"/>
        </a:xfrm>
      </p:grpSpPr>
      <p:sp>
        <p:nvSpPr>
          <p:cNvPr id="99" name="Google Shape;99;p18"/>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0" name="Google Shape;100;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8"/>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2" name="Shape 102"/>
        <p:cNvGrpSpPr/>
        <p:nvPr/>
      </p:nvGrpSpPr>
      <p:grpSpPr>
        <a:xfrm>
          <a:off x="0" y="0"/>
          <a:ext cx="0" cy="0"/>
          <a:chOff x="0" y="0"/>
          <a:chExt cx="0" cy="0"/>
        </a:xfrm>
      </p:grpSpPr>
      <p:cxnSp>
        <p:nvCxnSpPr>
          <p:cNvPr id="103" name="Google Shape;103;p19"/>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104" name="Google Shape;104;p19"/>
          <p:cNvSpPr txBox="1"/>
          <p:nvPr>
            <p:ph type="title"/>
          </p:nvPr>
        </p:nvSpPr>
        <p:spPr>
          <a:xfrm>
            <a:off x="311700" y="6318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5" name="Google Shape;105;p19"/>
          <p:cNvSpPr txBox="1"/>
          <p:nvPr>
            <p:ph idx="1" type="body"/>
          </p:nvPr>
        </p:nvSpPr>
        <p:spPr>
          <a:xfrm>
            <a:off x="311700" y="1618204"/>
            <a:ext cx="2808000" cy="29508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6" name="Google Shape;10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19"/>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108" name="Shape 108"/>
        <p:cNvGrpSpPr/>
        <p:nvPr/>
      </p:nvGrpSpPr>
      <p:grpSpPr>
        <a:xfrm>
          <a:off x="0" y="0"/>
          <a:ext cx="0" cy="0"/>
          <a:chOff x="0" y="0"/>
          <a:chExt cx="0" cy="0"/>
        </a:xfrm>
      </p:grpSpPr>
      <p:sp>
        <p:nvSpPr>
          <p:cNvPr id="109" name="Google Shape;109;p20"/>
          <p:cNvSpPr txBox="1"/>
          <p:nvPr>
            <p:ph type="title"/>
          </p:nvPr>
        </p:nvSpPr>
        <p:spPr>
          <a:xfrm>
            <a:off x="490250" y="528900"/>
            <a:ext cx="5678100" cy="4085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5400"/>
              <a:buNone/>
              <a:defRPr sz="5400">
                <a:solidFill>
                  <a:schemeClr val="lt1"/>
                </a:solidFill>
              </a:defRPr>
            </a:lvl1pPr>
            <a:lvl2pPr lvl="1" algn="l">
              <a:lnSpc>
                <a:spcPct val="100000"/>
              </a:lnSpc>
              <a:spcBef>
                <a:spcPts val="0"/>
              </a:spcBef>
              <a:spcAft>
                <a:spcPts val="0"/>
              </a:spcAft>
              <a:buClr>
                <a:schemeClr val="lt1"/>
              </a:buClr>
              <a:buSzPts val="5400"/>
              <a:buNone/>
              <a:defRPr sz="5400">
                <a:solidFill>
                  <a:schemeClr val="lt1"/>
                </a:solidFill>
              </a:defRPr>
            </a:lvl2pPr>
            <a:lvl3pPr lvl="2" algn="l">
              <a:lnSpc>
                <a:spcPct val="100000"/>
              </a:lnSpc>
              <a:spcBef>
                <a:spcPts val="0"/>
              </a:spcBef>
              <a:spcAft>
                <a:spcPts val="0"/>
              </a:spcAft>
              <a:buClr>
                <a:schemeClr val="lt1"/>
              </a:buClr>
              <a:buSzPts val="5400"/>
              <a:buNone/>
              <a:defRPr sz="5400">
                <a:solidFill>
                  <a:schemeClr val="lt1"/>
                </a:solidFill>
              </a:defRPr>
            </a:lvl3pPr>
            <a:lvl4pPr lvl="3" algn="l">
              <a:lnSpc>
                <a:spcPct val="100000"/>
              </a:lnSpc>
              <a:spcBef>
                <a:spcPts val="0"/>
              </a:spcBef>
              <a:spcAft>
                <a:spcPts val="0"/>
              </a:spcAft>
              <a:buClr>
                <a:schemeClr val="lt1"/>
              </a:buClr>
              <a:buSzPts val="5400"/>
              <a:buNone/>
              <a:defRPr sz="5400">
                <a:solidFill>
                  <a:schemeClr val="lt1"/>
                </a:solidFill>
              </a:defRPr>
            </a:lvl4pPr>
            <a:lvl5pPr lvl="4" algn="l">
              <a:lnSpc>
                <a:spcPct val="100000"/>
              </a:lnSpc>
              <a:spcBef>
                <a:spcPts val="0"/>
              </a:spcBef>
              <a:spcAft>
                <a:spcPts val="0"/>
              </a:spcAft>
              <a:buClr>
                <a:schemeClr val="lt1"/>
              </a:buClr>
              <a:buSzPts val="5400"/>
              <a:buNone/>
              <a:defRPr sz="5400">
                <a:solidFill>
                  <a:schemeClr val="lt1"/>
                </a:solidFill>
              </a:defRPr>
            </a:lvl5pPr>
            <a:lvl6pPr lvl="5" algn="l">
              <a:lnSpc>
                <a:spcPct val="100000"/>
              </a:lnSpc>
              <a:spcBef>
                <a:spcPts val="0"/>
              </a:spcBef>
              <a:spcAft>
                <a:spcPts val="0"/>
              </a:spcAft>
              <a:buClr>
                <a:schemeClr val="lt1"/>
              </a:buClr>
              <a:buSzPts val="5400"/>
              <a:buNone/>
              <a:defRPr sz="5400">
                <a:solidFill>
                  <a:schemeClr val="lt1"/>
                </a:solidFill>
              </a:defRPr>
            </a:lvl6pPr>
            <a:lvl7pPr lvl="6" algn="l">
              <a:lnSpc>
                <a:spcPct val="100000"/>
              </a:lnSpc>
              <a:spcBef>
                <a:spcPts val="0"/>
              </a:spcBef>
              <a:spcAft>
                <a:spcPts val="0"/>
              </a:spcAft>
              <a:buClr>
                <a:schemeClr val="lt1"/>
              </a:buClr>
              <a:buSzPts val="5400"/>
              <a:buNone/>
              <a:defRPr sz="5400">
                <a:solidFill>
                  <a:schemeClr val="lt1"/>
                </a:solidFill>
              </a:defRPr>
            </a:lvl7pPr>
            <a:lvl8pPr lvl="7" algn="l">
              <a:lnSpc>
                <a:spcPct val="100000"/>
              </a:lnSpc>
              <a:spcBef>
                <a:spcPts val="0"/>
              </a:spcBef>
              <a:spcAft>
                <a:spcPts val="0"/>
              </a:spcAft>
              <a:buClr>
                <a:schemeClr val="lt1"/>
              </a:buClr>
              <a:buSzPts val="5400"/>
              <a:buNone/>
              <a:defRPr sz="5400">
                <a:solidFill>
                  <a:schemeClr val="lt1"/>
                </a:solidFill>
              </a:defRPr>
            </a:lvl8pPr>
            <a:lvl9pPr lvl="8" algn="l">
              <a:lnSpc>
                <a:spcPct val="100000"/>
              </a:lnSpc>
              <a:spcBef>
                <a:spcPts val="0"/>
              </a:spcBef>
              <a:spcAft>
                <a:spcPts val="0"/>
              </a:spcAft>
              <a:buClr>
                <a:schemeClr val="lt1"/>
              </a:buClr>
              <a:buSzPts val="5400"/>
              <a:buNone/>
              <a:defRPr sz="5400">
                <a:solidFill>
                  <a:schemeClr val="lt1"/>
                </a:solidFill>
              </a:defRPr>
            </a:lvl9pPr>
          </a:lstStyle>
          <a:p/>
        </p:txBody>
      </p:sp>
      <p:sp>
        <p:nvSpPr>
          <p:cNvPr id="110" name="Google Shape;11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20"/>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lt1"/>
                </a:solidFill>
                <a:latin typeface="Source Code Pro"/>
                <a:ea typeface="Source Code Pro"/>
                <a:cs typeface="Source Code Pro"/>
                <a:sym typeface="Source Code Pro"/>
              </a:rPr>
              <a:t>The Complete Prompt Engineering for AI Bootcamp</a:t>
            </a:r>
            <a:endParaRPr b="0" i="0" sz="900" u="none" cap="none" strike="noStrike">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112" name="Shape 112"/>
        <p:cNvGrpSpPr/>
        <p:nvPr/>
      </p:nvGrpSpPr>
      <p:grpSpPr>
        <a:xfrm>
          <a:off x="0" y="0"/>
          <a:ext cx="0" cy="0"/>
          <a:chOff x="0" y="0"/>
          <a:chExt cx="0" cy="0"/>
        </a:xfrm>
      </p:grpSpPr>
      <p:sp>
        <p:nvSpPr>
          <p:cNvPr id="113" name="Google Shape;113;p21"/>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4" name="Google Shape;114;p21"/>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115" name="Google Shape;115;p21"/>
          <p:cNvSpPr txBox="1"/>
          <p:nvPr>
            <p:ph type="title"/>
          </p:nvPr>
        </p:nvSpPr>
        <p:spPr>
          <a:xfrm>
            <a:off x="265500" y="1078750"/>
            <a:ext cx="4045200" cy="1789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4600"/>
              <a:buNone/>
              <a:defRPr sz="4600">
                <a:solidFill>
                  <a:schemeClr val="lt1"/>
                </a:solidFill>
              </a:defRPr>
            </a:lvl1pPr>
            <a:lvl2pPr lvl="1" algn="ctr">
              <a:lnSpc>
                <a:spcPct val="100000"/>
              </a:lnSpc>
              <a:spcBef>
                <a:spcPts val="0"/>
              </a:spcBef>
              <a:spcAft>
                <a:spcPts val="0"/>
              </a:spcAft>
              <a:buClr>
                <a:schemeClr val="lt1"/>
              </a:buClr>
              <a:buSzPts val="4600"/>
              <a:buNone/>
              <a:defRPr sz="4600">
                <a:solidFill>
                  <a:schemeClr val="lt1"/>
                </a:solidFill>
              </a:defRPr>
            </a:lvl2pPr>
            <a:lvl3pPr lvl="2" algn="ctr">
              <a:lnSpc>
                <a:spcPct val="100000"/>
              </a:lnSpc>
              <a:spcBef>
                <a:spcPts val="0"/>
              </a:spcBef>
              <a:spcAft>
                <a:spcPts val="0"/>
              </a:spcAft>
              <a:buClr>
                <a:schemeClr val="lt1"/>
              </a:buClr>
              <a:buSzPts val="4600"/>
              <a:buNone/>
              <a:defRPr sz="4600">
                <a:solidFill>
                  <a:schemeClr val="lt1"/>
                </a:solidFill>
              </a:defRPr>
            </a:lvl3pPr>
            <a:lvl4pPr lvl="3" algn="ctr">
              <a:lnSpc>
                <a:spcPct val="100000"/>
              </a:lnSpc>
              <a:spcBef>
                <a:spcPts val="0"/>
              </a:spcBef>
              <a:spcAft>
                <a:spcPts val="0"/>
              </a:spcAft>
              <a:buClr>
                <a:schemeClr val="lt1"/>
              </a:buClr>
              <a:buSzPts val="4600"/>
              <a:buNone/>
              <a:defRPr sz="4600">
                <a:solidFill>
                  <a:schemeClr val="lt1"/>
                </a:solidFill>
              </a:defRPr>
            </a:lvl4pPr>
            <a:lvl5pPr lvl="4" algn="ctr">
              <a:lnSpc>
                <a:spcPct val="100000"/>
              </a:lnSpc>
              <a:spcBef>
                <a:spcPts val="0"/>
              </a:spcBef>
              <a:spcAft>
                <a:spcPts val="0"/>
              </a:spcAft>
              <a:buClr>
                <a:schemeClr val="lt1"/>
              </a:buClr>
              <a:buSzPts val="4600"/>
              <a:buNone/>
              <a:defRPr sz="4600">
                <a:solidFill>
                  <a:schemeClr val="lt1"/>
                </a:solidFill>
              </a:defRPr>
            </a:lvl5pPr>
            <a:lvl6pPr lvl="5" algn="ctr">
              <a:lnSpc>
                <a:spcPct val="100000"/>
              </a:lnSpc>
              <a:spcBef>
                <a:spcPts val="0"/>
              </a:spcBef>
              <a:spcAft>
                <a:spcPts val="0"/>
              </a:spcAft>
              <a:buClr>
                <a:schemeClr val="lt1"/>
              </a:buClr>
              <a:buSzPts val="4600"/>
              <a:buNone/>
              <a:defRPr sz="4600">
                <a:solidFill>
                  <a:schemeClr val="lt1"/>
                </a:solidFill>
              </a:defRPr>
            </a:lvl6pPr>
            <a:lvl7pPr lvl="6" algn="ctr">
              <a:lnSpc>
                <a:spcPct val="100000"/>
              </a:lnSpc>
              <a:spcBef>
                <a:spcPts val="0"/>
              </a:spcBef>
              <a:spcAft>
                <a:spcPts val="0"/>
              </a:spcAft>
              <a:buClr>
                <a:schemeClr val="lt1"/>
              </a:buClr>
              <a:buSzPts val="4600"/>
              <a:buNone/>
              <a:defRPr sz="4600">
                <a:solidFill>
                  <a:schemeClr val="lt1"/>
                </a:solidFill>
              </a:defRPr>
            </a:lvl7pPr>
            <a:lvl8pPr lvl="7" algn="ctr">
              <a:lnSpc>
                <a:spcPct val="100000"/>
              </a:lnSpc>
              <a:spcBef>
                <a:spcPts val="0"/>
              </a:spcBef>
              <a:spcAft>
                <a:spcPts val="0"/>
              </a:spcAft>
              <a:buClr>
                <a:schemeClr val="lt1"/>
              </a:buClr>
              <a:buSzPts val="4600"/>
              <a:buNone/>
              <a:defRPr sz="4600">
                <a:solidFill>
                  <a:schemeClr val="lt1"/>
                </a:solidFill>
              </a:defRPr>
            </a:lvl8pPr>
            <a:lvl9pPr lvl="8" algn="ctr">
              <a:lnSpc>
                <a:spcPct val="100000"/>
              </a:lnSpc>
              <a:spcBef>
                <a:spcPts val="0"/>
              </a:spcBef>
              <a:spcAft>
                <a:spcPts val="0"/>
              </a:spcAft>
              <a:buClr>
                <a:schemeClr val="lt1"/>
              </a:buClr>
              <a:buSzPts val="4600"/>
              <a:buNone/>
              <a:defRPr sz="4600">
                <a:solidFill>
                  <a:schemeClr val="lt1"/>
                </a:solidFill>
              </a:defRPr>
            </a:lvl9pPr>
          </a:lstStyle>
          <a:p/>
        </p:txBody>
      </p:sp>
      <p:sp>
        <p:nvSpPr>
          <p:cNvPr id="116" name="Google Shape;116;p21"/>
          <p:cNvSpPr txBox="1"/>
          <p:nvPr>
            <p:ph idx="1" type="subTitle"/>
          </p:nvPr>
        </p:nvSpPr>
        <p:spPr>
          <a:xfrm>
            <a:off x="265500" y="29214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117" name="Google Shape;117;p2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8" name="Google Shape;11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1"/>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0" name="Shape 120"/>
        <p:cNvGrpSpPr/>
        <p:nvPr/>
      </p:nvGrpSpPr>
      <p:grpSpPr>
        <a:xfrm>
          <a:off x="0" y="0"/>
          <a:ext cx="0" cy="0"/>
          <a:chOff x="0" y="0"/>
          <a:chExt cx="0" cy="0"/>
        </a:xfrm>
      </p:grpSpPr>
      <p:sp>
        <p:nvSpPr>
          <p:cNvPr id="121" name="Google Shape;121;p22"/>
          <p:cNvSpPr txBox="1"/>
          <p:nvPr>
            <p:ph idx="1" type="body"/>
          </p:nvPr>
        </p:nvSpPr>
        <p:spPr>
          <a:xfrm>
            <a:off x="311700" y="406472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122" name="Google Shape;122;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23" name="Google Shape;123;p22"/>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4" name="Shape 124"/>
        <p:cNvGrpSpPr/>
        <p:nvPr/>
      </p:nvGrpSpPr>
      <p:grpSpPr>
        <a:xfrm>
          <a:off x="0" y="0"/>
          <a:ext cx="0" cy="0"/>
          <a:chOff x="0" y="0"/>
          <a:chExt cx="0" cy="0"/>
        </a:xfrm>
      </p:grpSpPr>
      <p:cxnSp>
        <p:nvCxnSpPr>
          <p:cNvPr id="125" name="Google Shape;125;p23"/>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126" name="Google Shape;126;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12000"/>
              <a:buNone/>
              <a:defRPr sz="12000"/>
            </a:lvl1pPr>
            <a:lvl2pPr lvl="1" algn="l">
              <a:lnSpc>
                <a:spcPct val="100000"/>
              </a:lnSpc>
              <a:spcBef>
                <a:spcPts val="0"/>
              </a:spcBef>
              <a:spcAft>
                <a:spcPts val="0"/>
              </a:spcAft>
              <a:buSzPts val="12000"/>
              <a:buNone/>
              <a:defRPr sz="12000"/>
            </a:lvl2pPr>
            <a:lvl3pPr lvl="2" algn="l">
              <a:lnSpc>
                <a:spcPct val="100000"/>
              </a:lnSpc>
              <a:spcBef>
                <a:spcPts val="0"/>
              </a:spcBef>
              <a:spcAft>
                <a:spcPts val="0"/>
              </a:spcAft>
              <a:buSzPts val="12000"/>
              <a:buNone/>
              <a:defRPr sz="12000"/>
            </a:lvl3pPr>
            <a:lvl4pPr lvl="3" algn="l">
              <a:lnSpc>
                <a:spcPct val="100000"/>
              </a:lnSpc>
              <a:spcBef>
                <a:spcPts val="0"/>
              </a:spcBef>
              <a:spcAft>
                <a:spcPts val="0"/>
              </a:spcAft>
              <a:buSzPts val="12000"/>
              <a:buNone/>
              <a:defRPr sz="12000"/>
            </a:lvl4pPr>
            <a:lvl5pPr lvl="4" algn="l">
              <a:lnSpc>
                <a:spcPct val="100000"/>
              </a:lnSpc>
              <a:spcBef>
                <a:spcPts val="0"/>
              </a:spcBef>
              <a:spcAft>
                <a:spcPts val="0"/>
              </a:spcAft>
              <a:buSzPts val="12000"/>
              <a:buNone/>
              <a:defRPr sz="12000"/>
            </a:lvl5pPr>
            <a:lvl6pPr lvl="5" algn="l">
              <a:lnSpc>
                <a:spcPct val="100000"/>
              </a:lnSpc>
              <a:spcBef>
                <a:spcPts val="0"/>
              </a:spcBef>
              <a:spcAft>
                <a:spcPts val="0"/>
              </a:spcAft>
              <a:buSzPts val="12000"/>
              <a:buNone/>
              <a:defRPr sz="12000"/>
            </a:lvl6pPr>
            <a:lvl7pPr lvl="6" algn="l">
              <a:lnSpc>
                <a:spcPct val="100000"/>
              </a:lnSpc>
              <a:spcBef>
                <a:spcPts val="0"/>
              </a:spcBef>
              <a:spcAft>
                <a:spcPts val="0"/>
              </a:spcAft>
              <a:buSzPts val="12000"/>
              <a:buNone/>
              <a:defRPr sz="12000"/>
            </a:lvl7pPr>
            <a:lvl8pPr lvl="7" algn="l">
              <a:lnSpc>
                <a:spcPct val="100000"/>
              </a:lnSpc>
              <a:spcBef>
                <a:spcPts val="0"/>
              </a:spcBef>
              <a:spcAft>
                <a:spcPts val="0"/>
              </a:spcAft>
              <a:buSzPts val="12000"/>
              <a:buNone/>
              <a:defRPr sz="12000"/>
            </a:lvl8pPr>
            <a:lvl9pPr lvl="8" algn="l">
              <a:lnSpc>
                <a:spcPct val="100000"/>
              </a:lnSpc>
              <a:spcBef>
                <a:spcPts val="0"/>
              </a:spcBef>
              <a:spcAft>
                <a:spcPts val="0"/>
              </a:spcAft>
              <a:buSzPts val="12000"/>
              <a:buNone/>
              <a:defRPr sz="12000"/>
            </a:lvl9pPr>
          </a:lstStyle>
          <a:p>
            <a:r>
              <a:t>xx%</a:t>
            </a:r>
          </a:p>
        </p:txBody>
      </p:sp>
      <p:sp>
        <p:nvSpPr>
          <p:cNvPr id="127" name="Google Shape;127;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8" name="Google Shape;128;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23"/>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0" name="Shape 130"/>
        <p:cNvGrpSpPr/>
        <p:nvPr/>
      </p:nvGrpSpPr>
      <p:grpSpPr>
        <a:xfrm>
          <a:off x="0" y="0"/>
          <a:ext cx="0" cy="0"/>
          <a:chOff x="0" y="0"/>
          <a:chExt cx="0" cy="0"/>
        </a:xfrm>
      </p:grpSpPr>
      <p:sp>
        <p:nvSpPr>
          <p:cNvPr id="131" name="Google Shape;131;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32" name="Google Shape;132;p24"/>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69" name="Shape 69"/>
        <p:cNvGrpSpPr/>
        <p:nvPr/>
      </p:nvGrpSpPr>
      <p:grpSpPr>
        <a:xfrm>
          <a:off x="0" y="0"/>
          <a:ext cx="0" cy="0"/>
          <a:chOff x="0" y="0"/>
          <a:chExt cx="0" cy="0"/>
        </a:xfrm>
      </p:grpSpPr>
      <p:sp>
        <p:nvSpPr>
          <p:cNvPr id="70" name="Google Shape;70;p13"/>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1pPr>
            <a:lvl2pPr lvl="1"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2pPr>
            <a:lvl3pPr lvl="2"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3pPr>
            <a:lvl4pPr lvl="3"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4pPr>
            <a:lvl5pPr lvl="4"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5pPr>
            <a:lvl6pPr lvl="5"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6pPr>
            <a:lvl7pPr lvl="6"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7pPr>
            <a:lvl8pPr lvl="7"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8pPr>
            <a:lvl9pPr lvl="8"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9pPr>
          </a:lstStyle>
          <a:p/>
        </p:txBody>
      </p:sp>
      <p:sp>
        <p:nvSpPr>
          <p:cNvPr id="71" name="Google Shape;71;p13"/>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Source Code Pro"/>
              <a:buChar char="●"/>
              <a:defRPr b="0" i="0" sz="1800" u="none" cap="none" strike="noStrike">
                <a:solidFill>
                  <a:schemeClr val="dk2"/>
                </a:solidFill>
                <a:latin typeface="Source Code Pro"/>
                <a:ea typeface="Source Code Pro"/>
                <a:cs typeface="Source Code Pro"/>
                <a:sym typeface="Source Code Pro"/>
              </a:defRPr>
            </a:lvl1pPr>
            <a:lvl2pPr indent="-317500" lvl="1" marL="9144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2pPr>
            <a:lvl3pPr indent="-317500" lvl="2" marL="13716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3pPr>
            <a:lvl4pPr indent="-317500" lvl="3" marL="18288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4pPr>
            <a:lvl5pPr indent="-317500" lvl="4" marL="22860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5pPr>
            <a:lvl6pPr indent="-317500" lvl="5" marL="27432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6pPr>
            <a:lvl7pPr indent="-317500" lvl="6" marL="32004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7pPr>
            <a:lvl8pPr indent="-317500" lvl="7" marL="36576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8pPr>
            <a:lvl9pPr indent="-317500" lvl="8" marL="41148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9pPr>
          </a:lstStyle>
          <a:p/>
        </p:txBody>
      </p:sp>
      <p:sp>
        <p:nvSpPr>
          <p:cNvPr id="72" name="Google Shape;7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Projects</a:t>
            </a:r>
          </a:p>
        </p:txBody>
      </p:sp>
      <p:sp>
        <p:nvSpPr>
          <p:cNvPr id="3" name="Subtitle 2"/>
          <p:cNvSpPr>
            <a:spLocks noGrp="1"/>
          </p:cNvSpPr>
          <p:nvPr>
            <p:ph type="subTitle" idx="1"/>
          </p:nvPr>
        </p:nvSpPr>
        <p:spPr/>
        <p:txBody>
          <a:bodyPr/>
          <a:lstStyle/>
          <a:p>
            <a:pPr marL="0" indent="0">
              <a:buNone/>
            </a:pPr>
            <a:r>
              <a:t>How related chats share one brief, one shelf of files and one place to live.</a:t>
            </a:r>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Folder of Chats with a Brief Attached</a:t>
            </a:r>
          </a:p>
        </p:txBody>
      </p:sp>
      <p:sp>
        <p:nvSpPr>
          <p:cNvPr id="3" name="Text Placeholder 2"/>
          <p:cNvSpPr>
            <a:spLocks noGrp="1"/>
          </p:cNvSpPr>
          <p:nvPr>
            <p:ph type="body" idx="1"/>
          </p:nvPr>
        </p:nvSpPr>
        <p:spPr>
          <a:xfrm>
            <a:off x="5074920" y="1389888"/>
            <a:ext cx="3758184" cy="3017520"/>
          </a:xfrm>
        </p:spPr>
        <p:txBody>
          <a:bodyPr wrap="square" anchor="ctr"/>
          <a:lstStyle/>
          <a:p>
            <a:pPr marL="0" indent="0">
              <a:buNone/>
            </a:pPr>
            <a:r>
              <a:t>A project is a folder that holds a set of related chats, together with the instructions and files all of those chats should share. Those standing instructions are the project's brief, and every chat you open inside the folder starts with it already in place.</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65760" y="1389888"/>
            <a:ext cx="4206240" cy="3017520"/>
          </a:xfrm>
          <a:prstGeom prst="roundRect">
            <a:avLst>
              <a:gd name="adj" fmla="val 1675"/>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365760" y="1389888"/>
            <a:ext cx="4206240"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65760" y="1583009"/>
            <a:ext cx="4206240"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12064" y="1472184"/>
            <a:ext cx="2944368" cy="182880"/>
          </a:xfrm>
          <a:prstGeom prst="rect">
            <a:avLst/>
          </a:prstGeom>
          <a:noFill/>
        </p:spPr>
        <p:txBody>
          <a:bodyPr wrap="square" lIns="0" rIns="0" tIns="0" bIns="0" anchor="t">
            <a:spAutoFit/>
          </a:bodyPr>
          <a:lstStyle/>
          <a:p>
            <a:pPr algn="l"/>
            <a:r>
              <a:rPr sz="1200" b="1">
                <a:solidFill>
                  <a:srgbClr val="F7F7FA"/>
                </a:solidFill>
                <a:latin typeface="Arial"/>
              </a:rPr>
              <a:t>Website relaunch</a:t>
            </a:r>
          </a:p>
        </p:txBody>
      </p:sp>
      <p:sp>
        <p:nvSpPr>
          <p:cNvPr id="30" name="TextBox 29"/>
          <p:cNvSpPr txBox="1"/>
          <p:nvPr/>
        </p:nvSpPr>
        <p:spPr>
          <a:xfrm>
            <a:off x="3328415" y="1490472"/>
            <a:ext cx="1097280" cy="173736"/>
          </a:xfrm>
          <a:prstGeom prst="rect">
            <a:avLst/>
          </a:prstGeom>
          <a:noFill/>
        </p:spPr>
        <p:txBody>
          <a:bodyPr wrap="square" lIns="0" rIns="0" tIns="0" bIns="0" anchor="t">
            <a:spAutoFit/>
          </a:bodyPr>
          <a:lstStyle/>
          <a:p>
            <a:pPr algn="r"/>
            <a:r>
              <a:rPr sz="885" b="0">
                <a:solidFill>
                  <a:srgbClr val="C6C7D0"/>
                </a:solidFill>
                <a:latin typeface="Arial"/>
              </a:rPr>
              <a:t>Project</a:t>
            </a:r>
          </a:p>
        </p:txBody>
      </p:sp>
      <p:sp>
        <p:nvSpPr>
          <p:cNvPr id="31" name="TextBox 30"/>
          <p:cNvSpPr txBox="1"/>
          <p:nvPr/>
        </p:nvSpPr>
        <p:spPr>
          <a:xfrm>
            <a:off x="512064" y="1819656"/>
            <a:ext cx="1737360" cy="173736"/>
          </a:xfrm>
          <a:prstGeom prst="rect">
            <a:avLst/>
          </a:prstGeom>
          <a:noFill/>
        </p:spPr>
        <p:txBody>
          <a:bodyPr wrap="square" lIns="0" rIns="0" tIns="0" bIns="0" anchor="t">
            <a:spAutoFit/>
          </a:bodyPr>
          <a:lstStyle/>
          <a:p>
            <a:pPr algn="l"/>
            <a:r>
              <a:rPr sz="885" b="1">
                <a:solidFill>
                  <a:srgbClr val="C6C7D0"/>
                </a:solidFill>
                <a:latin typeface="Arial"/>
              </a:rPr>
              <a:t>Project instructions</a:t>
            </a:r>
          </a:p>
        </p:txBody>
      </p:sp>
      <p:sp>
        <p:nvSpPr>
          <p:cNvPr id="32" name="TextBox 31"/>
          <p:cNvSpPr txBox="1"/>
          <p:nvPr/>
        </p:nvSpPr>
        <p:spPr>
          <a:xfrm>
            <a:off x="512064" y="2020824"/>
            <a:ext cx="3913631" cy="210312"/>
          </a:xfrm>
          <a:prstGeom prst="rect">
            <a:avLst/>
          </a:prstGeom>
          <a:noFill/>
        </p:spPr>
        <p:txBody>
          <a:bodyPr wrap="none" lIns="0" rIns="0" tIns="0" bIns="0" anchor="t">
            <a:spAutoFit/>
          </a:bodyPr>
          <a:lstStyle/>
          <a:p>
            <a:pPr algn="l"/>
            <a:r>
              <a:rPr sz="1125" b="0">
                <a:solidFill>
                  <a:srgbClr val="F7F7FA"/>
                </a:solidFill>
                <a:latin typeface="Arial"/>
              </a:rPr>
              <a:t>Plain English, no jargon. We sell to</a:t>
            </a:r>
          </a:p>
        </p:txBody>
      </p:sp>
      <p:sp>
        <p:nvSpPr>
          <p:cNvPr id="33" name="TextBox 32"/>
          <p:cNvSpPr txBox="1"/>
          <p:nvPr/>
        </p:nvSpPr>
        <p:spPr>
          <a:xfrm>
            <a:off x="512064" y="2231136"/>
            <a:ext cx="3913631" cy="210312"/>
          </a:xfrm>
          <a:prstGeom prst="rect">
            <a:avLst/>
          </a:prstGeom>
          <a:noFill/>
        </p:spPr>
        <p:txBody>
          <a:bodyPr wrap="none" lIns="0" rIns="0" tIns="0" bIns="0" anchor="t">
            <a:spAutoFit/>
          </a:bodyPr>
          <a:lstStyle/>
          <a:p>
            <a:pPr algn="l"/>
            <a:r>
              <a:rPr sz="1125" b="0">
                <a:solidFill>
                  <a:srgbClr val="F7F7FA"/>
                </a:solidFill>
                <a:latin typeface="Arial"/>
              </a:rPr>
              <a:t>plumbers, not to developers.</a:t>
            </a:r>
          </a:p>
        </p:txBody>
      </p:sp>
      <p:sp>
        <p:nvSpPr>
          <p:cNvPr id="34" name="Rectangle 33"/>
          <p:cNvSpPr/>
          <p:nvPr/>
        </p:nvSpPr>
        <p:spPr>
          <a:xfrm>
            <a:off x="512064" y="2532888"/>
            <a:ext cx="3913631" cy="9144"/>
          </a:xfrm>
          <a:prstGeom prst="rect">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12064" y="2624328"/>
            <a:ext cx="1737360" cy="173736"/>
          </a:xfrm>
          <a:prstGeom prst="rect">
            <a:avLst/>
          </a:prstGeom>
          <a:noFill/>
        </p:spPr>
        <p:txBody>
          <a:bodyPr wrap="square" lIns="0" rIns="0" tIns="0" bIns="0" anchor="t">
            <a:spAutoFit/>
          </a:bodyPr>
          <a:lstStyle/>
          <a:p>
            <a:pPr algn="l"/>
            <a:r>
              <a:rPr sz="885" b="1">
                <a:solidFill>
                  <a:srgbClr val="C6C7D0"/>
                </a:solidFill>
                <a:latin typeface="Arial"/>
              </a:rPr>
              <a:t>Files kept here</a:t>
            </a:r>
          </a:p>
        </p:txBody>
      </p:sp>
      <p:sp>
        <p:nvSpPr>
          <p:cNvPr id="36" name="TextBox 35"/>
          <p:cNvSpPr txBox="1"/>
          <p:nvPr/>
        </p:nvSpPr>
        <p:spPr>
          <a:xfrm>
            <a:off x="512064" y="2825496"/>
            <a:ext cx="3913631" cy="210312"/>
          </a:xfrm>
          <a:prstGeom prst="rect">
            <a:avLst/>
          </a:prstGeom>
          <a:noFill/>
        </p:spPr>
        <p:txBody>
          <a:bodyPr wrap="none" lIns="0" rIns="0" tIns="0" bIns="0" anchor="t">
            <a:spAutoFit/>
          </a:bodyPr>
          <a:lstStyle/>
          <a:p>
            <a:pPr algn="l"/>
            <a:r>
              <a:rPr sz="1125" b="0">
                <a:solidFill>
                  <a:srgbClr val="F7F7FA"/>
                </a:solidFill>
                <a:latin typeface="Arial"/>
              </a:rPr>
              <a:t>brand-guidelines.pdf</a:t>
            </a:r>
          </a:p>
        </p:txBody>
      </p:sp>
      <p:sp>
        <p:nvSpPr>
          <p:cNvPr id="37" name="TextBox 36"/>
          <p:cNvSpPr txBox="1"/>
          <p:nvPr/>
        </p:nvSpPr>
        <p:spPr>
          <a:xfrm>
            <a:off x="512064" y="3035808"/>
            <a:ext cx="3913631" cy="210312"/>
          </a:xfrm>
          <a:prstGeom prst="rect">
            <a:avLst/>
          </a:prstGeom>
          <a:noFill/>
        </p:spPr>
        <p:txBody>
          <a:bodyPr wrap="none" lIns="0" rIns="0" tIns="0" bIns="0" anchor="t">
            <a:spAutoFit/>
          </a:bodyPr>
          <a:lstStyle/>
          <a:p>
            <a:pPr algn="l"/>
            <a:r>
              <a:rPr sz="1125" b="0">
                <a:solidFill>
                  <a:srgbClr val="F7F7FA"/>
                </a:solidFill>
                <a:latin typeface="Arial"/>
              </a:rPr>
              <a:t>current-site-pages.csv</a:t>
            </a:r>
          </a:p>
        </p:txBody>
      </p:sp>
      <p:sp>
        <p:nvSpPr>
          <p:cNvPr id="38" name="Rectangle 37"/>
          <p:cNvSpPr/>
          <p:nvPr/>
        </p:nvSpPr>
        <p:spPr>
          <a:xfrm>
            <a:off x="512064" y="3337560"/>
            <a:ext cx="3913631" cy="9144"/>
          </a:xfrm>
          <a:prstGeom prst="rect">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12064" y="3429000"/>
            <a:ext cx="1737360" cy="173736"/>
          </a:xfrm>
          <a:prstGeom prst="rect">
            <a:avLst/>
          </a:prstGeom>
          <a:noFill/>
        </p:spPr>
        <p:txBody>
          <a:bodyPr wrap="square" lIns="0" rIns="0" tIns="0" bIns="0" anchor="t">
            <a:spAutoFit/>
          </a:bodyPr>
          <a:lstStyle/>
          <a:p>
            <a:pPr algn="l"/>
            <a:r>
              <a:rPr sz="885" b="1">
                <a:solidFill>
                  <a:srgbClr val="C6C7D0"/>
                </a:solidFill>
                <a:latin typeface="Arial"/>
              </a:rPr>
              <a:t>Chats in this project</a:t>
            </a:r>
          </a:p>
        </p:txBody>
      </p:sp>
      <p:sp>
        <p:nvSpPr>
          <p:cNvPr id="40" name="TextBox 39"/>
          <p:cNvSpPr txBox="1"/>
          <p:nvPr/>
        </p:nvSpPr>
        <p:spPr>
          <a:xfrm>
            <a:off x="512064" y="3630168"/>
            <a:ext cx="3913631" cy="210312"/>
          </a:xfrm>
          <a:prstGeom prst="rect">
            <a:avLst/>
          </a:prstGeom>
          <a:noFill/>
        </p:spPr>
        <p:txBody>
          <a:bodyPr wrap="none" lIns="0" rIns="0" tIns="0" bIns="0" anchor="t">
            <a:spAutoFit/>
          </a:bodyPr>
          <a:lstStyle/>
          <a:p>
            <a:pPr algn="l"/>
            <a:r>
              <a:rPr sz="1125" b="0">
                <a:solidFill>
                  <a:srgbClr val="F7F7FA"/>
                </a:solidFill>
                <a:latin typeface="Arial"/>
              </a:rPr>
              <a:t>Homepage headline options</a:t>
            </a:r>
          </a:p>
        </p:txBody>
      </p:sp>
      <p:sp>
        <p:nvSpPr>
          <p:cNvPr id="41" name="TextBox 40"/>
          <p:cNvSpPr txBox="1"/>
          <p:nvPr/>
        </p:nvSpPr>
        <p:spPr>
          <a:xfrm>
            <a:off x="512064" y="3840480"/>
            <a:ext cx="3913631" cy="210312"/>
          </a:xfrm>
          <a:prstGeom prst="rect">
            <a:avLst/>
          </a:prstGeom>
          <a:noFill/>
        </p:spPr>
        <p:txBody>
          <a:bodyPr wrap="none" lIns="0" rIns="0" tIns="0" bIns="0" anchor="t">
            <a:spAutoFit/>
          </a:bodyPr>
          <a:lstStyle/>
          <a:p>
            <a:pPr algn="l"/>
            <a:r>
              <a:rPr sz="1125" b="0">
                <a:solidFill>
                  <a:srgbClr val="F7F7FA"/>
                </a:solidFill>
                <a:latin typeface="Arial"/>
              </a:rPr>
              <a:t>Rewrite the services page</a:t>
            </a:r>
          </a:p>
        </p:txBody>
      </p:sp>
      <p:sp>
        <p:nvSpPr>
          <p:cNvPr id="42" name="TextBox 41"/>
          <p:cNvSpPr txBox="1"/>
          <p:nvPr/>
        </p:nvSpPr>
        <p:spPr>
          <a:xfrm>
            <a:off x="512064" y="4050792"/>
            <a:ext cx="3913631" cy="210312"/>
          </a:xfrm>
          <a:prstGeom prst="rect">
            <a:avLst/>
          </a:prstGeom>
          <a:noFill/>
        </p:spPr>
        <p:txBody>
          <a:bodyPr wrap="none" lIns="0" rIns="0" tIns="0" bIns="0" anchor="t">
            <a:spAutoFit/>
          </a:bodyPr>
          <a:lstStyle/>
          <a:p>
            <a:pPr algn="l"/>
            <a:r>
              <a:rPr sz="1125" b="0">
                <a:solidFill>
                  <a:srgbClr val="F7F7FA"/>
                </a:solidFill>
                <a:latin typeface="Arial"/>
              </a:rPr>
              <a:t>Questions for the developer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Nobody Pasted the Brief into This Chat</a:t>
            </a:r>
          </a:p>
        </p:txBody>
      </p:sp>
      <p:sp>
        <p:nvSpPr>
          <p:cNvPr id="3" name="Text Placeholder 2"/>
          <p:cNvSpPr>
            <a:spLocks noGrp="1"/>
          </p:cNvSpPr>
          <p:nvPr>
            <p:ph type="body" idx="1"/>
          </p:nvPr>
        </p:nvSpPr>
        <p:spPr>
          <a:xfrm>
            <a:off x="5074920" y="1389888"/>
            <a:ext cx="3758184" cy="2368296"/>
          </a:xfrm>
        </p:spPr>
        <p:txBody>
          <a:bodyPr wrap="square" anchor="ctr"/>
          <a:lstStyle/>
          <a:p>
            <a:pPr marL="0" indent="0">
              <a:buNone/>
            </a:pPr>
            <a:r>
              <a:t>One line of typing, and the answer still follows the tone rule and the brand file. Both came from the folder, and both will be there for the next chat you start in it and the one after that.</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65760" y="1389888"/>
            <a:ext cx="4206240" cy="2368296"/>
          </a:xfrm>
          <a:prstGeom prst="roundRect">
            <a:avLst>
              <a:gd name="adj" fmla="val 1675"/>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365760" y="1389888"/>
            <a:ext cx="4206240"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65760" y="1583009"/>
            <a:ext cx="4206240"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12064" y="1472184"/>
            <a:ext cx="2944368" cy="182880"/>
          </a:xfrm>
          <a:prstGeom prst="rect">
            <a:avLst/>
          </a:prstGeom>
          <a:noFill/>
        </p:spPr>
        <p:txBody>
          <a:bodyPr wrap="square" lIns="0" rIns="0" tIns="0" bIns="0" anchor="t">
            <a:spAutoFit/>
          </a:bodyPr>
          <a:lstStyle/>
          <a:p>
            <a:pPr algn="l"/>
            <a:r>
              <a:rPr sz="1200" b="1">
                <a:solidFill>
                  <a:srgbClr val="F7F7FA"/>
                </a:solidFill>
                <a:latin typeface="Arial"/>
              </a:rPr>
              <a:t>ChatGPT</a:t>
            </a:r>
          </a:p>
        </p:txBody>
      </p:sp>
      <p:sp>
        <p:nvSpPr>
          <p:cNvPr id="30" name="TextBox 29"/>
          <p:cNvSpPr txBox="1"/>
          <p:nvPr/>
        </p:nvSpPr>
        <p:spPr>
          <a:xfrm>
            <a:off x="3328415" y="1490472"/>
            <a:ext cx="1097280" cy="173736"/>
          </a:xfrm>
          <a:prstGeom prst="rect">
            <a:avLst/>
          </a:prstGeom>
          <a:noFill/>
        </p:spPr>
        <p:txBody>
          <a:bodyPr wrap="square" lIns="0" rIns="0" tIns="0" bIns="0" anchor="t">
            <a:spAutoFit/>
          </a:bodyPr>
          <a:lstStyle/>
          <a:p>
            <a:pPr algn="r"/>
            <a:r>
              <a:rPr sz="885" b="0">
                <a:solidFill>
                  <a:srgbClr val="C6C7D0"/>
                </a:solidFill>
                <a:latin typeface="Arial"/>
              </a:rPr>
              <a:t>In the project</a:t>
            </a:r>
          </a:p>
        </p:txBody>
      </p:sp>
      <p:sp>
        <p:nvSpPr>
          <p:cNvPr id="31" name="TextBox 30"/>
          <p:cNvSpPr txBox="1"/>
          <p:nvPr/>
        </p:nvSpPr>
        <p:spPr>
          <a:xfrm>
            <a:off x="512064" y="1819656"/>
            <a:ext cx="1737360" cy="173736"/>
          </a:xfrm>
          <a:prstGeom prst="rect">
            <a:avLst/>
          </a:prstGeom>
          <a:noFill/>
        </p:spPr>
        <p:txBody>
          <a:bodyPr wrap="square" lIns="0" rIns="0" tIns="0" bIns="0" anchor="t">
            <a:spAutoFit/>
          </a:bodyPr>
          <a:lstStyle/>
          <a:p>
            <a:pPr algn="l"/>
            <a:r>
              <a:rPr sz="885" b="1">
                <a:solidFill>
                  <a:srgbClr val="C6C7D0"/>
                </a:solidFill>
                <a:latin typeface="Arial"/>
              </a:rPr>
              <a:t>User</a:t>
            </a:r>
          </a:p>
        </p:txBody>
      </p:sp>
      <p:sp>
        <p:nvSpPr>
          <p:cNvPr id="32" name="TextBox 31"/>
          <p:cNvSpPr txBox="1"/>
          <p:nvPr/>
        </p:nvSpPr>
        <p:spPr>
          <a:xfrm>
            <a:off x="512064" y="2020824"/>
            <a:ext cx="3913631" cy="210312"/>
          </a:xfrm>
          <a:prstGeom prst="rect">
            <a:avLst/>
          </a:prstGeom>
          <a:noFill/>
        </p:spPr>
        <p:txBody>
          <a:bodyPr wrap="none" lIns="0" rIns="0" tIns="0" bIns="0" anchor="t">
            <a:spAutoFit/>
          </a:bodyPr>
          <a:lstStyle/>
          <a:p>
            <a:pPr algn="l"/>
            <a:r>
              <a:rPr sz="1125" b="0">
                <a:solidFill>
                  <a:srgbClr val="F7F7FA"/>
                </a:solidFill>
                <a:latin typeface="Arial"/>
              </a:rPr>
              <a:t>Write a headline for the services page.</a:t>
            </a:r>
          </a:p>
        </p:txBody>
      </p:sp>
      <p:sp>
        <p:nvSpPr>
          <p:cNvPr id="36" name="Rounded Rectangle 35"/>
          <p:cNvSpPr/>
          <p:nvPr/>
        </p:nvSpPr>
        <p:spPr>
          <a:xfrm>
            <a:off x="475488" y="2286000"/>
            <a:ext cx="3986783" cy="914400"/>
          </a:xfrm>
          <a:prstGeom prst="roundRect">
            <a:avLst>
              <a:gd name="adj" fmla="val 5000"/>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 y="2404872"/>
            <a:ext cx="1737360" cy="173736"/>
          </a:xfrm>
          <a:prstGeom prst="rect">
            <a:avLst/>
          </a:prstGeom>
          <a:noFill/>
        </p:spPr>
        <p:txBody>
          <a:bodyPr wrap="square" lIns="0" rIns="0" tIns="0" bIns="0" anchor="t">
            <a:spAutoFit/>
          </a:bodyPr>
          <a:lstStyle/>
          <a:p>
            <a:pPr algn="l"/>
            <a:r>
              <a:rPr sz="885" b="1">
                <a:solidFill>
                  <a:srgbClr val="C6C7D0"/>
                </a:solidFill>
                <a:latin typeface="Arial"/>
              </a:rPr>
              <a:t>AI Assistant</a:t>
            </a:r>
          </a:p>
        </p:txBody>
      </p:sp>
      <p:sp>
        <p:nvSpPr>
          <p:cNvPr id="34" name="TextBox 33"/>
          <p:cNvSpPr txBox="1"/>
          <p:nvPr/>
        </p:nvSpPr>
        <p:spPr>
          <a:xfrm>
            <a:off x="621792" y="2606040"/>
            <a:ext cx="3694175" cy="210312"/>
          </a:xfrm>
          <a:prstGeom prst="rect">
            <a:avLst/>
          </a:prstGeom>
          <a:noFill/>
        </p:spPr>
        <p:txBody>
          <a:bodyPr wrap="none" lIns="0" rIns="0" tIns="0" bIns="0" anchor="t">
            <a:spAutoFit/>
          </a:bodyPr>
          <a:lstStyle/>
          <a:p>
            <a:pPr algn="l"/>
            <a:r>
              <a:rPr sz="1125" b="0">
                <a:solidFill>
                  <a:srgbClr val="F7F7FA"/>
                </a:solidFill>
                <a:latin typeface="Arial"/>
              </a:rPr>
              <a:t>Blocked drains sorted the same day.</a:t>
            </a:r>
          </a:p>
        </p:txBody>
      </p:sp>
      <p:sp>
        <p:nvSpPr>
          <p:cNvPr id="35" name="TextBox 34"/>
          <p:cNvSpPr txBox="1"/>
          <p:nvPr/>
        </p:nvSpPr>
        <p:spPr>
          <a:xfrm>
            <a:off x="621792" y="2816352"/>
            <a:ext cx="3694175" cy="210312"/>
          </a:xfrm>
          <a:prstGeom prst="rect">
            <a:avLst/>
          </a:prstGeom>
          <a:noFill/>
        </p:spPr>
        <p:txBody>
          <a:bodyPr wrap="none" lIns="0" rIns="0" tIns="0" bIns="0" anchor="t">
            <a:spAutoFit/>
          </a:bodyPr>
          <a:lstStyle/>
          <a:p>
            <a:pPr algn="l"/>
            <a:r>
              <a:rPr sz="1125" b="0">
                <a:solidFill>
                  <a:srgbClr val="F7F7FA"/>
                </a:solidFill>
                <a:latin typeface="Arial"/>
              </a:rPr>
              <a:t>Plain words, and it names the job.</a:t>
            </a:r>
          </a:p>
        </p:txBody>
      </p:sp>
      <p:sp>
        <p:nvSpPr>
          <p:cNvPr id="37" name="Rounded Rectangle 36"/>
          <p:cNvSpPr/>
          <p:nvPr/>
        </p:nvSpPr>
        <p:spPr>
          <a:xfrm>
            <a:off x="512064" y="3346704"/>
            <a:ext cx="3913631" cy="301752"/>
          </a:xfrm>
          <a:prstGeom prst="roundRect">
            <a:avLst>
              <a:gd name="adj" fmla="val 15151"/>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30936" y="3419856"/>
            <a:ext cx="3291839" cy="173736"/>
          </a:xfrm>
          <a:prstGeom prst="rect">
            <a:avLst/>
          </a:prstGeom>
          <a:noFill/>
        </p:spPr>
        <p:txBody>
          <a:bodyPr wrap="square" lIns="0" rIns="0" tIns="0" bIns="0" anchor="t">
            <a:spAutoFit/>
          </a:bodyPr>
          <a:lstStyle/>
          <a:p>
            <a:pPr algn="l"/>
            <a:r>
              <a:rPr sz="885" b="0">
                <a:solidFill>
                  <a:srgbClr val="C6C7D0"/>
                </a:solidFill>
                <a:latin typeface="Arial"/>
              </a:rPr>
              <a:t>Send a message…</a:t>
            </a:r>
          </a:p>
        </p:txBody>
      </p:sp>
      <p:sp>
        <p:nvSpPr>
          <p:cNvPr id="39" name="Rounded Rectangle 38"/>
          <p:cNvSpPr/>
          <p:nvPr/>
        </p:nvSpPr>
        <p:spPr>
          <a:xfrm>
            <a:off x="4151376" y="3392424"/>
            <a:ext cx="210312" cy="210312"/>
          </a:xfrm>
          <a:prstGeom prst="roundRect">
            <a:avLst>
              <a:gd name="adj" fmla="val 21739"/>
            </a:avLst>
          </a:prstGeom>
          <a:solidFill>
            <a:srgbClr val="E4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4151376" y="3392424"/>
            <a:ext cx="210312" cy="210312"/>
          </a:xfrm>
          <a:prstGeom prst="rect">
            <a:avLst/>
          </a:prstGeom>
          <a:noFill/>
        </p:spPr>
        <p:txBody>
          <a:bodyPr wrap="square" lIns="0" rIns="0" tIns="0" bIns="0" anchor="ctr">
            <a:spAutoFit/>
          </a:bodyPr>
          <a:lstStyle/>
          <a:p>
            <a:pPr algn="ctr"/>
            <a:r>
              <a:rPr sz="1125" b="0">
                <a:solidFill>
                  <a:srgbClr val="25262C"/>
                </a:solidFill>
                <a:latin typeface="Arial"/>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It Is Not</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389888"/>
            <a:ext cx="4078224" cy="1920240"/>
          </a:xfrm>
          <a:prstGeom prst="roundRect">
            <a:avLst>
              <a:gd name="adj" fmla="val 2857"/>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3776" y="1536192"/>
            <a:ext cx="3712463" cy="274320"/>
          </a:xfrm>
          <a:prstGeom prst="rect">
            <a:avLst/>
          </a:prstGeom>
          <a:noFill/>
        </p:spPr>
        <p:txBody>
          <a:bodyPr wrap="square" lIns="0" rIns="0" tIns="0" bIns="0" anchor="t">
            <a:spAutoFit/>
          </a:bodyPr>
          <a:lstStyle/>
          <a:p>
            <a:pPr algn="l"/>
            <a:r>
              <a:rPr sz="1400" b="1">
                <a:solidFill>
                  <a:srgbClr val="424242"/>
                </a:solidFill>
                <a:latin typeface="Source Code Pro"/>
              </a:rPr>
              <a:t>Not this</a:t>
            </a:r>
          </a:p>
        </p:txBody>
      </p:sp>
      <p:sp>
        <p:nvSpPr>
          <p:cNvPr id="28" name="TextBox 27"/>
          <p:cNvSpPr txBox="1"/>
          <p:nvPr/>
        </p:nvSpPr>
        <p:spPr>
          <a:xfrm>
            <a:off x="493776" y="1938528"/>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A cleverer model for serious work</a:t>
            </a:r>
          </a:p>
        </p:txBody>
      </p:sp>
      <p:sp>
        <p:nvSpPr>
          <p:cNvPr id="29" name="TextBox 28"/>
          <p:cNvSpPr txBox="1"/>
          <p:nvPr/>
        </p:nvSpPr>
        <p:spPr>
          <a:xfrm>
            <a:off x="493776" y="2249424"/>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Only a tidier sidebar</a:t>
            </a:r>
          </a:p>
        </p:txBody>
      </p:sp>
      <p:sp>
        <p:nvSpPr>
          <p:cNvPr id="30" name="TextBox 29"/>
          <p:cNvSpPr txBox="1"/>
          <p:nvPr/>
        </p:nvSpPr>
        <p:spPr>
          <a:xfrm>
            <a:off x="493776" y="2560320"/>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A wall your settings cannot cross</a:t>
            </a:r>
          </a:p>
        </p:txBody>
      </p:sp>
      <p:sp>
        <p:nvSpPr>
          <p:cNvPr id="31" name="Rounded Rectangle 30"/>
          <p:cNvSpPr/>
          <p:nvPr/>
        </p:nvSpPr>
        <p:spPr>
          <a:xfrm>
            <a:off x="4754880" y="1389888"/>
            <a:ext cx="4078224" cy="1920240"/>
          </a:xfrm>
          <a:prstGeom prst="roundRect">
            <a:avLst>
              <a:gd name="adj" fmla="val 2857"/>
            </a:avLst>
          </a:prstGeom>
          <a:solidFill>
            <a:srgbClr val="FFFFFF"/>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937760" y="1536192"/>
            <a:ext cx="3712463" cy="274320"/>
          </a:xfrm>
          <a:prstGeom prst="rect">
            <a:avLst/>
          </a:prstGeom>
          <a:noFill/>
        </p:spPr>
        <p:txBody>
          <a:bodyPr wrap="square" lIns="0" rIns="0" tIns="0" bIns="0" anchor="t">
            <a:spAutoFit/>
          </a:bodyPr>
          <a:lstStyle/>
          <a:p>
            <a:pPr algn="l"/>
            <a:r>
              <a:rPr sz="1400" b="1">
                <a:solidFill>
                  <a:srgbClr val="E91D63"/>
                </a:solidFill>
                <a:latin typeface="Source Code Pro"/>
              </a:rPr>
              <a:t>This</a:t>
            </a:r>
          </a:p>
        </p:txBody>
      </p:sp>
      <p:sp>
        <p:nvSpPr>
          <p:cNvPr id="33" name="TextBox 32"/>
          <p:cNvSpPr txBox="1"/>
          <p:nvPr/>
        </p:nvSpPr>
        <p:spPr>
          <a:xfrm>
            <a:off x="4937760" y="1938528"/>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The same model, better briefed</a:t>
            </a:r>
          </a:p>
        </p:txBody>
      </p:sp>
      <p:sp>
        <p:nvSpPr>
          <p:cNvPr id="34" name="TextBox 33"/>
          <p:cNvSpPr txBox="1"/>
          <p:nvPr/>
        </p:nvSpPr>
        <p:spPr>
          <a:xfrm>
            <a:off x="4937760" y="2249424"/>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Shared instructions and files</a:t>
            </a:r>
          </a:p>
        </p:txBody>
      </p:sp>
      <p:sp>
        <p:nvSpPr>
          <p:cNvPr id="35" name="TextBox 34"/>
          <p:cNvSpPr txBox="1"/>
          <p:nvPr/>
        </p:nvSpPr>
        <p:spPr>
          <a:xfrm>
            <a:off x="4937760" y="2560320"/>
            <a:ext cx="3712463" cy="39624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A smaller circle inside a bigger one</a:t>
            </a:r>
          </a:p>
        </p:txBody>
      </p:sp>
      <p:sp>
        <p:nvSpPr>
          <p:cNvPr id="36" name="TextBox 35"/>
          <p:cNvSpPr txBox="1"/>
          <p:nvPr/>
        </p:nvSpPr>
        <p:spPr>
          <a:xfrm>
            <a:off x="310896" y="3529584"/>
            <a:ext cx="8522208" cy="4114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Tidiness is the reason most people open their first project, and it is the smallest thing a project does. The chats inside it are working from a brief the chats outside it never see.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It Works - Every Chat in Here Starts Pre-briefed</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389888"/>
            <a:ext cx="1897380" cy="1234440"/>
          </a:xfrm>
          <a:prstGeom prst="roundRect">
            <a:avLst>
              <a:gd name="adj" fmla="val 3703"/>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02336" y="1705356"/>
            <a:ext cx="171450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You open a chat</a:t>
            </a:r>
          </a:p>
        </p:txBody>
      </p:sp>
      <p:sp>
        <p:nvSpPr>
          <p:cNvPr id="28" name="TextBox 27"/>
          <p:cNvSpPr txBox="1"/>
          <p:nvPr/>
        </p:nvSpPr>
        <p:spPr>
          <a:xfrm>
            <a:off x="402336" y="2052828"/>
            <a:ext cx="1714500"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inside the project</a:t>
            </a:r>
          </a:p>
        </p:txBody>
      </p:sp>
      <p:sp>
        <p:nvSpPr>
          <p:cNvPr id="29" name="Right Arrow 28"/>
          <p:cNvSpPr/>
          <p:nvPr/>
        </p:nvSpPr>
        <p:spPr>
          <a:xfrm>
            <a:off x="2272284" y="1961388"/>
            <a:ext cx="182880" cy="91440"/>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519172" y="1389888"/>
            <a:ext cx="1897380" cy="1234440"/>
          </a:xfrm>
          <a:prstGeom prst="roundRect">
            <a:avLst>
              <a:gd name="adj" fmla="val 3703"/>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610612" y="1705356"/>
            <a:ext cx="171450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It picks up</a:t>
            </a:r>
          </a:p>
        </p:txBody>
      </p:sp>
      <p:sp>
        <p:nvSpPr>
          <p:cNvPr id="32" name="TextBox 31"/>
          <p:cNvSpPr txBox="1"/>
          <p:nvPr/>
        </p:nvSpPr>
        <p:spPr>
          <a:xfrm>
            <a:off x="2610612" y="2052828"/>
            <a:ext cx="1714500"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the project's brief</a:t>
            </a:r>
          </a:p>
        </p:txBody>
      </p:sp>
      <p:sp>
        <p:nvSpPr>
          <p:cNvPr id="33" name="Right Arrow 32"/>
          <p:cNvSpPr/>
          <p:nvPr/>
        </p:nvSpPr>
        <p:spPr>
          <a:xfrm>
            <a:off x="4480560" y="1961388"/>
            <a:ext cx="182880" cy="91440"/>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727448" y="1389888"/>
            <a:ext cx="1897380" cy="1234440"/>
          </a:xfrm>
          <a:prstGeom prst="roundRect">
            <a:avLst>
              <a:gd name="adj" fmla="val 3703"/>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818888" y="1705356"/>
            <a:ext cx="171450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It can reach</a:t>
            </a:r>
          </a:p>
        </p:txBody>
      </p:sp>
      <p:sp>
        <p:nvSpPr>
          <p:cNvPr id="36" name="TextBox 35"/>
          <p:cNvSpPr txBox="1"/>
          <p:nvPr/>
        </p:nvSpPr>
        <p:spPr>
          <a:xfrm>
            <a:off x="4818888" y="2052828"/>
            <a:ext cx="1714500"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the files kept here</a:t>
            </a:r>
          </a:p>
        </p:txBody>
      </p:sp>
      <p:sp>
        <p:nvSpPr>
          <p:cNvPr id="37" name="Right Arrow 36"/>
          <p:cNvSpPr/>
          <p:nvPr/>
        </p:nvSpPr>
        <p:spPr>
          <a:xfrm>
            <a:off x="6688836" y="1961388"/>
            <a:ext cx="182880" cy="91440"/>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935724" y="1389888"/>
            <a:ext cx="1897380" cy="1234440"/>
          </a:xfrm>
          <a:prstGeom prst="roundRect">
            <a:avLst>
              <a:gd name="adj" fmla="val 3703"/>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027164" y="1705356"/>
            <a:ext cx="171450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It answers</a:t>
            </a:r>
          </a:p>
        </p:txBody>
      </p:sp>
      <p:sp>
        <p:nvSpPr>
          <p:cNvPr id="40" name="TextBox 39"/>
          <p:cNvSpPr txBox="1"/>
          <p:nvPr/>
        </p:nvSpPr>
        <p:spPr>
          <a:xfrm>
            <a:off x="7027164" y="2052828"/>
            <a:ext cx="1714500"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in that context</a:t>
            </a:r>
          </a:p>
        </p:txBody>
      </p:sp>
      <p:sp>
        <p:nvSpPr>
          <p:cNvPr id="41" name="Rectangle 40"/>
          <p:cNvSpPr/>
          <p:nvPr/>
        </p:nvSpPr>
        <p:spPr>
          <a:xfrm>
            <a:off x="1259586" y="2898648"/>
            <a:ext cx="6624828" cy="10972"/>
          </a:xfrm>
          <a:prstGeom prst="rect">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884414" y="2624328"/>
            <a:ext cx="10972" cy="274319"/>
          </a:xfrm>
          <a:prstGeom prst="rect">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Up Arrow 42"/>
          <p:cNvSpPr/>
          <p:nvPr/>
        </p:nvSpPr>
        <p:spPr>
          <a:xfrm>
            <a:off x="1241298" y="2624328"/>
            <a:ext cx="91440" cy="274319"/>
          </a:xfrm>
          <a:prstGeom prst="up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10896" y="2971800"/>
            <a:ext cx="8522208" cy="237744"/>
          </a:xfrm>
          <a:prstGeom prst="rect">
            <a:avLst/>
          </a:prstGeom>
          <a:noFill/>
        </p:spPr>
        <p:txBody>
          <a:bodyPr wrap="square" lIns="0" rIns="0" tIns="0" bIns="0" anchor="t">
            <a:spAutoFit/>
          </a:bodyPr>
          <a:lstStyle/>
          <a:p>
            <a:pPr algn="ctr"/>
            <a:r>
              <a:rPr sz="1200" b="0">
                <a:solidFill>
                  <a:srgbClr val="6B6B6B"/>
                </a:solidFill>
                <a:latin typeface="Source Code Pro"/>
              </a:rPr>
              <a:t>a chat you started outside can be moved in, and starts here too</a:t>
            </a:r>
          </a:p>
        </p:txBody>
      </p:sp>
      <p:sp>
        <p:nvSpPr>
          <p:cNvPr id="45" name="TextBox 44"/>
          <p:cNvSpPr txBox="1"/>
          <p:nvPr/>
        </p:nvSpPr>
        <p:spPr>
          <a:xfrm>
            <a:off x="310896" y="3520440"/>
            <a:ext cx="8522208" cy="4114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Nothing about the model changes when you step inside a project. What changes is what arrives alongside your message: the brief you wrote for this strand of work, and the files you left here for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Rings: Your Account, and This Project</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389888"/>
            <a:ext cx="8522208" cy="2743200"/>
          </a:xfrm>
          <a:prstGeom prst="roundRect">
            <a:avLst>
              <a:gd name="adj" fmla="val 2666"/>
            </a:avLst>
          </a:prstGeom>
          <a:no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3776" y="1481328"/>
            <a:ext cx="3657600" cy="219456"/>
          </a:xfrm>
          <a:prstGeom prst="rect">
            <a:avLst/>
          </a:prstGeom>
          <a:noFill/>
        </p:spPr>
        <p:txBody>
          <a:bodyPr wrap="square" lIns="0" rIns="0" tIns="0" bIns="0" anchor="t">
            <a:spAutoFit/>
          </a:bodyPr>
          <a:lstStyle/>
          <a:p>
            <a:pPr algn="l"/>
            <a:r>
              <a:rPr sz="1200" b="1">
                <a:solidFill>
                  <a:srgbClr val="6B6B6B"/>
                </a:solidFill>
                <a:latin typeface="Source Code Pro"/>
              </a:rPr>
              <a:t>Everywhere: your account</a:t>
            </a:r>
          </a:p>
        </p:txBody>
      </p:sp>
      <p:sp>
        <p:nvSpPr>
          <p:cNvPr id="28" name="Rounded Rectangle 27"/>
          <p:cNvSpPr/>
          <p:nvPr/>
        </p:nvSpPr>
        <p:spPr>
          <a:xfrm>
            <a:off x="493776" y="2139696"/>
            <a:ext cx="2231136" cy="530352"/>
          </a:xfrm>
          <a:prstGeom prst="roundRect">
            <a:avLst>
              <a:gd name="adj" fmla="val 862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85216" y="2194560"/>
            <a:ext cx="2048255"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Custom instructions</a:t>
            </a:r>
          </a:p>
        </p:txBody>
      </p:sp>
      <p:sp>
        <p:nvSpPr>
          <p:cNvPr id="30" name="TextBox 29"/>
          <p:cNvSpPr txBox="1"/>
          <p:nvPr/>
        </p:nvSpPr>
        <p:spPr>
          <a:xfrm>
            <a:off x="585216" y="2542032"/>
            <a:ext cx="2048255"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written once</a:t>
            </a:r>
          </a:p>
        </p:txBody>
      </p:sp>
      <p:sp>
        <p:nvSpPr>
          <p:cNvPr id="31" name="Rounded Rectangle 30"/>
          <p:cNvSpPr/>
          <p:nvPr/>
        </p:nvSpPr>
        <p:spPr>
          <a:xfrm>
            <a:off x="493776" y="2779776"/>
            <a:ext cx="2231136" cy="530352"/>
          </a:xfrm>
          <a:prstGeom prst="roundRect">
            <a:avLst>
              <a:gd name="adj" fmla="val 862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85216" y="2834640"/>
            <a:ext cx="2048255"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Memory</a:t>
            </a:r>
          </a:p>
        </p:txBody>
      </p:sp>
      <p:sp>
        <p:nvSpPr>
          <p:cNvPr id="33" name="TextBox 32"/>
          <p:cNvSpPr txBox="1"/>
          <p:nvPr/>
        </p:nvSpPr>
        <p:spPr>
          <a:xfrm>
            <a:off x="585216" y="3182112"/>
            <a:ext cx="2048255"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facts it saved</a:t>
            </a:r>
          </a:p>
        </p:txBody>
      </p:sp>
      <p:sp>
        <p:nvSpPr>
          <p:cNvPr id="34" name="Rounded Rectangle 33"/>
          <p:cNvSpPr/>
          <p:nvPr/>
        </p:nvSpPr>
        <p:spPr>
          <a:xfrm>
            <a:off x="493776" y="3419856"/>
            <a:ext cx="2231136" cy="530352"/>
          </a:xfrm>
          <a:prstGeom prst="roundRect">
            <a:avLst>
              <a:gd name="adj" fmla="val 862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85216" y="3474720"/>
            <a:ext cx="2048255"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Every other chat</a:t>
            </a:r>
          </a:p>
        </p:txBody>
      </p:sp>
      <p:sp>
        <p:nvSpPr>
          <p:cNvPr id="36" name="TextBox 35"/>
          <p:cNvSpPr txBox="1"/>
          <p:nvPr/>
        </p:nvSpPr>
        <p:spPr>
          <a:xfrm>
            <a:off x="585216" y="3822191"/>
            <a:ext cx="2048255" cy="350520"/>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the rest of your history</a:t>
            </a:r>
          </a:p>
        </p:txBody>
      </p:sp>
      <p:sp>
        <p:nvSpPr>
          <p:cNvPr id="37" name="Rounded Rectangle 36"/>
          <p:cNvSpPr/>
          <p:nvPr/>
        </p:nvSpPr>
        <p:spPr>
          <a:xfrm>
            <a:off x="3054096" y="1755648"/>
            <a:ext cx="5577840" cy="2231136"/>
          </a:xfrm>
          <a:prstGeom prst="roundRect">
            <a:avLst>
              <a:gd name="adj" fmla="val 2459"/>
            </a:avLst>
          </a:prstGeom>
          <a:no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3236976" y="1828800"/>
            <a:ext cx="3657600" cy="219456"/>
          </a:xfrm>
          <a:prstGeom prst="rect">
            <a:avLst/>
          </a:prstGeom>
          <a:noFill/>
        </p:spPr>
        <p:txBody>
          <a:bodyPr wrap="square" lIns="0" rIns="0" tIns="0" bIns="0" anchor="t">
            <a:spAutoFit/>
          </a:bodyPr>
          <a:lstStyle/>
          <a:p>
            <a:pPr algn="l"/>
            <a:r>
              <a:rPr sz="1200" b="1">
                <a:solidFill>
                  <a:srgbClr val="E91D63"/>
                </a:solidFill>
                <a:latin typeface="Source Code Pro"/>
              </a:rPr>
              <a:t>Only here: this project</a:t>
            </a:r>
          </a:p>
        </p:txBody>
      </p:sp>
      <p:sp>
        <p:nvSpPr>
          <p:cNvPr id="39" name="Rounded Rectangle 38"/>
          <p:cNvSpPr/>
          <p:nvPr/>
        </p:nvSpPr>
        <p:spPr>
          <a:xfrm>
            <a:off x="3236976" y="2139696"/>
            <a:ext cx="5212080" cy="512064"/>
          </a:xfrm>
          <a:prstGeom prst="roundRect">
            <a:avLst>
              <a:gd name="adj" fmla="val 8928"/>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3328416" y="2194560"/>
            <a:ext cx="502920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Project instructions</a:t>
            </a:r>
          </a:p>
        </p:txBody>
      </p:sp>
      <p:sp>
        <p:nvSpPr>
          <p:cNvPr id="41" name="TextBox 40"/>
          <p:cNvSpPr txBox="1"/>
          <p:nvPr/>
        </p:nvSpPr>
        <p:spPr>
          <a:xfrm>
            <a:off x="3328416" y="2542032"/>
            <a:ext cx="5029200"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the brief for this work only</a:t>
            </a:r>
          </a:p>
        </p:txBody>
      </p:sp>
      <p:sp>
        <p:nvSpPr>
          <p:cNvPr id="42" name="Rounded Rectangle 41"/>
          <p:cNvSpPr/>
          <p:nvPr/>
        </p:nvSpPr>
        <p:spPr>
          <a:xfrm>
            <a:off x="3236976" y="2743200"/>
            <a:ext cx="5212080" cy="512064"/>
          </a:xfrm>
          <a:prstGeom prst="roundRect">
            <a:avLst>
              <a:gd name="adj" fmla="val 8928"/>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3328416" y="2798064"/>
            <a:ext cx="502920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Project files</a:t>
            </a:r>
          </a:p>
        </p:txBody>
      </p:sp>
      <p:sp>
        <p:nvSpPr>
          <p:cNvPr id="44" name="TextBox 43"/>
          <p:cNvSpPr txBox="1"/>
          <p:nvPr/>
        </p:nvSpPr>
        <p:spPr>
          <a:xfrm>
            <a:off x="3328416" y="3145536"/>
            <a:ext cx="5029200"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the same references in every chat here</a:t>
            </a:r>
          </a:p>
        </p:txBody>
      </p:sp>
      <p:sp>
        <p:nvSpPr>
          <p:cNvPr id="45" name="Rounded Rectangle 44"/>
          <p:cNvSpPr/>
          <p:nvPr/>
        </p:nvSpPr>
        <p:spPr>
          <a:xfrm>
            <a:off x="3236976" y="3346704"/>
            <a:ext cx="5212080" cy="512064"/>
          </a:xfrm>
          <a:prstGeom prst="roundRect">
            <a:avLst>
              <a:gd name="adj" fmla="val 8928"/>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3328416" y="3401568"/>
            <a:ext cx="502920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The chats you keep here</a:t>
            </a:r>
          </a:p>
        </p:txBody>
      </p:sp>
      <p:sp>
        <p:nvSpPr>
          <p:cNvPr id="47" name="TextBox 46"/>
          <p:cNvSpPr txBox="1"/>
          <p:nvPr/>
        </p:nvSpPr>
        <p:spPr>
          <a:xfrm>
            <a:off x="3328416" y="3749039"/>
            <a:ext cx="5029200"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each one can build on the others</a:t>
            </a:r>
          </a:p>
        </p:txBody>
      </p:sp>
      <p:sp>
        <p:nvSpPr>
          <p:cNvPr id="48" name="TextBox 47"/>
          <p:cNvSpPr txBox="1"/>
          <p:nvPr/>
        </p:nvSpPr>
        <p:spPr>
          <a:xfrm>
            <a:off x="310896" y="4224528"/>
            <a:ext cx="8522208" cy="4114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The outer ring follows you everywhere. The inner one stops at the folder, and where the two disagree the more specific brief is the one that wins.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the Memory Boundary Sits</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389888"/>
            <a:ext cx="4078224" cy="1920240"/>
          </a:xfrm>
          <a:prstGeom prst="roundRect">
            <a:avLst>
              <a:gd name="adj" fmla="val 2857"/>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3776" y="1536192"/>
            <a:ext cx="3712463" cy="274320"/>
          </a:xfrm>
          <a:prstGeom prst="rect">
            <a:avLst/>
          </a:prstGeom>
          <a:noFill/>
        </p:spPr>
        <p:txBody>
          <a:bodyPr wrap="square" lIns="0" rIns="0" tIns="0" bIns="0" anchor="t">
            <a:spAutoFit/>
          </a:bodyPr>
          <a:lstStyle/>
          <a:p>
            <a:pPr algn="l"/>
            <a:r>
              <a:rPr sz="1400" b="1">
                <a:solidFill>
                  <a:srgbClr val="424242"/>
                </a:solidFill>
                <a:latin typeface="Source Code Pro"/>
              </a:rPr>
              <a:t>Open</a:t>
            </a:r>
          </a:p>
        </p:txBody>
      </p:sp>
      <p:sp>
        <p:nvSpPr>
          <p:cNvPr id="28" name="TextBox 27"/>
          <p:cNvSpPr txBox="1"/>
          <p:nvPr/>
        </p:nvSpPr>
        <p:spPr>
          <a:xfrm>
            <a:off x="493776" y="1938528"/>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What it knows about you comes in</a:t>
            </a:r>
          </a:p>
        </p:txBody>
      </p:sp>
      <p:sp>
        <p:nvSpPr>
          <p:cNvPr id="29" name="TextBox 28"/>
          <p:cNvSpPr txBox="1"/>
          <p:nvPr/>
        </p:nvSpPr>
        <p:spPr>
          <a:xfrm>
            <a:off x="493776" y="2249424"/>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This work can inform later chats</a:t>
            </a:r>
          </a:p>
        </p:txBody>
      </p:sp>
      <p:sp>
        <p:nvSpPr>
          <p:cNvPr id="30" name="TextBox 29"/>
          <p:cNvSpPr txBox="1"/>
          <p:nvPr/>
        </p:nvSpPr>
        <p:spPr>
          <a:xfrm>
            <a:off x="493776" y="2560320"/>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Good for ordinary, everyday work</a:t>
            </a:r>
          </a:p>
        </p:txBody>
      </p:sp>
      <p:sp>
        <p:nvSpPr>
          <p:cNvPr id="31" name="Rounded Rectangle 30"/>
          <p:cNvSpPr/>
          <p:nvPr/>
        </p:nvSpPr>
        <p:spPr>
          <a:xfrm>
            <a:off x="4754880" y="1389888"/>
            <a:ext cx="4078224" cy="1920240"/>
          </a:xfrm>
          <a:prstGeom prst="roundRect">
            <a:avLst>
              <a:gd name="adj" fmla="val 2857"/>
            </a:avLst>
          </a:prstGeom>
          <a:solidFill>
            <a:srgbClr val="FFFFFF"/>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937760" y="1536192"/>
            <a:ext cx="3712463" cy="274320"/>
          </a:xfrm>
          <a:prstGeom prst="rect">
            <a:avLst/>
          </a:prstGeom>
          <a:noFill/>
        </p:spPr>
        <p:txBody>
          <a:bodyPr wrap="square" lIns="0" rIns="0" tIns="0" bIns="0" anchor="t">
            <a:spAutoFit/>
          </a:bodyPr>
          <a:lstStyle/>
          <a:p>
            <a:pPr algn="l"/>
            <a:r>
              <a:rPr sz="1400" b="1">
                <a:solidFill>
                  <a:srgbClr val="E91D63"/>
                </a:solidFill>
                <a:latin typeface="Source Code Pro"/>
              </a:rPr>
              <a:t>Sealed</a:t>
            </a:r>
          </a:p>
        </p:txBody>
      </p:sp>
      <p:sp>
        <p:nvSpPr>
          <p:cNvPr id="33" name="TextBox 32"/>
          <p:cNvSpPr txBox="1"/>
          <p:nvPr/>
        </p:nvSpPr>
        <p:spPr>
          <a:xfrm>
            <a:off x="4937760" y="1938528"/>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Only chats in this folder count</a:t>
            </a:r>
          </a:p>
        </p:txBody>
      </p:sp>
      <p:sp>
        <p:nvSpPr>
          <p:cNvPr id="34" name="TextBox 33"/>
          <p:cNvSpPr txBox="1"/>
          <p:nvPr/>
        </p:nvSpPr>
        <p:spPr>
          <a:xfrm>
            <a:off x="4937760" y="2249424"/>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Nothing in here goes back out</a:t>
            </a:r>
          </a:p>
        </p:txBody>
      </p:sp>
      <p:sp>
        <p:nvSpPr>
          <p:cNvPr id="35" name="TextBox 34"/>
          <p:cNvSpPr txBox="1"/>
          <p:nvPr/>
        </p:nvSpPr>
        <p:spPr>
          <a:xfrm>
            <a:off x="4937760" y="2560320"/>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Good for client or private work</a:t>
            </a:r>
          </a:p>
        </p:txBody>
      </p:sp>
      <p:sp>
        <p:nvSpPr>
          <p:cNvPr id="36" name="TextBox 35"/>
          <p:cNvSpPr txBox="1"/>
          <p:nvPr/>
        </p:nvSpPr>
        <p:spPr>
          <a:xfrm>
            <a:off x="310896" y="3529584"/>
            <a:ext cx="8522208" cy="82296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Whether a project can see the rest of your account, and whether the rest of your account can see the project, is a choice about the project as a whole, and it is worth making before you start filling it. Sealing the folder buys privacy and a clean slate, and costs you everything the assistant already knew.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It Stops</a:t>
            </a:r>
          </a:p>
        </p:txBody>
      </p:sp>
      <p:sp>
        <p:nvSpPr>
          <p:cNvPr id="3" name="Text Placeholder 2"/>
          <p:cNvSpPr>
            <a:spLocks noGrp="1"/>
          </p:cNvSpPr>
          <p:nvPr>
            <p:ph type="body" idx="1"/>
          </p:nvPr>
        </p:nvSpPr>
        <p:spPr>
          <a:xfrm>
            <a:off x="310896" y="1389888"/>
            <a:ext cx="3813048" cy="2852928"/>
          </a:xfrm>
        </p:spPr>
        <p:txBody>
          <a:bodyPr wrap="square" anchor="ctr"/>
          <a:lstStyle/>
          <a:p>
            <a:pPr marL="0" indent="0">
              <a:buNone/>
            </a:pPr>
            <a:r>
              <a:t>A project holds a limited number of files, and how many depends on your plan. The assistant does not read all of them every time either: it looks for the parts that match what you asked, so a file sitting in the folder is not the same as a file being read.</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4626864" y="1389888"/>
            <a:ext cx="4151376" cy="2423160"/>
          </a:xfrm>
          <a:prstGeom prst="roundRect">
            <a:avLst>
              <a:gd name="adj" fmla="val 1818"/>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4626864" y="1389888"/>
            <a:ext cx="4151376"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4626864" y="1583009"/>
            <a:ext cx="4151376"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773168" y="1472184"/>
            <a:ext cx="2905963" cy="182880"/>
          </a:xfrm>
          <a:prstGeom prst="rect">
            <a:avLst/>
          </a:prstGeom>
          <a:noFill/>
        </p:spPr>
        <p:txBody>
          <a:bodyPr wrap="square" lIns="0" rIns="0" tIns="0" bIns="0" anchor="t">
            <a:spAutoFit/>
          </a:bodyPr>
          <a:lstStyle/>
          <a:p>
            <a:pPr algn="l"/>
            <a:r>
              <a:rPr sz="1200" b="1">
                <a:solidFill>
                  <a:srgbClr val="F7F7FA"/>
                </a:solidFill>
                <a:latin typeface="Arial"/>
              </a:rPr>
              <a:t>Project scope</a:t>
            </a:r>
          </a:p>
        </p:txBody>
      </p:sp>
      <p:sp>
        <p:nvSpPr>
          <p:cNvPr id="30" name="TextBox 29"/>
          <p:cNvSpPr txBox="1"/>
          <p:nvPr/>
        </p:nvSpPr>
        <p:spPr>
          <a:xfrm>
            <a:off x="7534656" y="1490472"/>
            <a:ext cx="1097280" cy="173736"/>
          </a:xfrm>
          <a:prstGeom prst="rect">
            <a:avLst/>
          </a:prstGeom>
          <a:noFill/>
        </p:spPr>
        <p:txBody>
          <a:bodyPr wrap="square" lIns="0" rIns="0" tIns="0" bIns="0" anchor="t">
            <a:spAutoFit/>
          </a:bodyPr>
          <a:lstStyle/>
          <a:p>
            <a:pPr algn="r"/>
            <a:r>
              <a:rPr sz="885" b="0">
                <a:solidFill>
                  <a:srgbClr val="C6C7D0"/>
                </a:solidFill>
                <a:latin typeface="Arial"/>
              </a:rPr>
              <a:t>Boundaries</a:t>
            </a:r>
          </a:p>
        </p:txBody>
      </p:sp>
      <p:sp>
        <p:nvSpPr>
          <p:cNvPr id="31" name="TextBox 30"/>
          <p:cNvSpPr txBox="1"/>
          <p:nvPr/>
        </p:nvSpPr>
        <p:spPr>
          <a:xfrm>
            <a:off x="4773168" y="1819656"/>
            <a:ext cx="1737360" cy="173736"/>
          </a:xfrm>
          <a:prstGeom prst="rect">
            <a:avLst/>
          </a:prstGeom>
          <a:noFill/>
        </p:spPr>
        <p:txBody>
          <a:bodyPr wrap="square" lIns="0" rIns="0" tIns="0" bIns="0" anchor="t">
            <a:spAutoFit/>
          </a:bodyPr>
          <a:lstStyle/>
          <a:p>
            <a:pPr algn="l"/>
            <a:r>
              <a:rPr sz="885" b="1">
                <a:solidFill>
                  <a:srgbClr val="C6C7D0"/>
                </a:solidFill>
                <a:latin typeface="Arial"/>
              </a:rPr>
              <a:t>Carried into every chat</a:t>
            </a:r>
          </a:p>
        </p:txBody>
      </p:sp>
      <p:sp>
        <p:nvSpPr>
          <p:cNvPr id="32" name="TextBox 31"/>
          <p:cNvSpPr txBox="1"/>
          <p:nvPr/>
        </p:nvSpPr>
        <p:spPr>
          <a:xfrm>
            <a:off x="4773168" y="2020824"/>
            <a:ext cx="3858768" cy="210312"/>
          </a:xfrm>
          <a:prstGeom prst="rect">
            <a:avLst/>
          </a:prstGeom>
          <a:noFill/>
        </p:spPr>
        <p:txBody>
          <a:bodyPr wrap="none" lIns="0" rIns="0" tIns="0" bIns="0" anchor="t">
            <a:spAutoFit/>
          </a:bodyPr>
          <a:lstStyle/>
          <a:p>
            <a:pPr algn="l"/>
            <a:r>
              <a:rPr sz="1125" b="0">
                <a:solidFill>
                  <a:srgbClr val="F7F7FA"/>
                </a:solidFill>
                <a:latin typeface="Arial"/>
              </a:rPr>
              <a:t>The instructions you wrote for it</a:t>
            </a:r>
          </a:p>
        </p:txBody>
      </p:sp>
      <p:sp>
        <p:nvSpPr>
          <p:cNvPr id="33" name="TextBox 32"/>
          <p:cNvSpPr txBox="1"/>
          <p:nvPr/>
        </p:nvSpPr>
        <p:spPr>
          <a:xfrm>
            <a:off x="4773168" y="2231136"/>
            <a:ext cx="3858768" cy="210312"/>
          </a:xfrm>
          <a:prstGeom prst="rect">
            <a:avLst/>
          </a:prstGeom>
          <a:noFill/>
        </p:spPr>
        <p:txBody>
          <a:bodyPr wrap="none" lIns="0" rIns="0" tIns="0" bIns="0" anchor="t">
            <a:spAutoFit/>
          </a:bodyPr>
          <a:lstStyle/>
          <a:p>
            <a:pPr algn="l"/>
            <a:r>
              <a:rPr sz="1125" b="0">
                <a:solidFill>
                  <a:srgbClr val="F7F7FA"/>
                </a:solidFill>
                <a:latin typeface="Arial"/>
              </a:rPr>
              <a:t>The files you left in it</a:t>
            </a:r>
          </a:p>
        </p:txBody>
      </p:sp>
      <p:sp>
        <p:nvSpPr>
          <p:cNvPr id="34" name="TextBox 33"/>
          <p:cNvSpPr txBox="1"/>
          <p:nvPr/>
        </p:nvSpPr>
        <p:spPr>
          <a:xfrm>
            <a:off x="4773168" y="2441448"/>
            <a:ext cx="3858768" cy="210312"/>
          </a:xfrm>
          <a:prstGeom prst="rect">
            <a:avLst/>
          </a:prstGeom>
          <a:noFill/>
        </p:spPr>
        <p:txBody>
          <a:bodyPr wrap="none" lIns="0" rIns="0" tIns="0" bIns="0" anchor="t">
            <a:spAutoFit/>
          </a:bodyPr>
          <a:lstStyle/>
          <a:p>
            <a:pPr algn="l"/>
            <a:r>
              <a:rPr sz="1125" b="0">
                <a:solidFill>
                  <a:srgbClr val="F7F7FA"/>
                </a:solidFill>
                <a:latin typeface="Arial"/>
              </a:rPr>
              <a:t>What earlier chats here settled</a:t>
            </a:r>
          </a:p>
        </p:txBody>
      </p:sp>
      <p:sp>
        <p:nvSpPr>
          <p:cNvPr id="35" name="Rectangle 34"/>
          <p:cNvSpPr/>
          <p:nvPr/>
        </p:nvSpPr>
        <p:spPr>
          <a:xfrm>
            <a:off x="4773168" y="2743200"/>
            <a:ext cx="3858768" cy="9144"/>
          </a:xfrm>
          <a:prstGeom prst="rect">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773168" y="2834640"/>
            <a:ext cx="1737360" cy="173736"/>
          </a:xfrm>
          <a:prstGeom prst="rect">
            <a:avLst/>
          </a:prstGeom>
          <a:noFill/>
        </p:spPr>
        <p:txBody>
          <a:bodyPr wrap="square" lIns="0" rIns="0" tIns="0" bIns="0" anchor="t">
            <a:spAutoFit/>
          </a:bodyPr>
          <a:lstStyle/>
          <a:p>
            <a:pPr algn="l"/>
            <a:r>
              <a:rPr sz="885" b="1">
                <a:solidFill>
                  <a:srgbClr val="C6C7D0"/>
                </a:solidFill>
                <a:latin typeface="Arial"/>
              </a:rPr>
              <a:t>Not carried</a:t>
            </a:r>
          </a:p>
        </p:txBody>
      </p:sp>
      <p:sp>
        <p:nvSpPr>
          <p:cNvPr id="37" name="TextBox 36"/>
          <p:cNvSpPr txBox="1"/>
          <p:nvPr/>
        </p:nvSpPr>
        <p:spPr>
          <a:xfrm>
            <a:off x="4773168" y="3035808"/>
            <a:ext cx="3858768" cy="210312"/>
          </a:xfrm>
          <a:prstGeom prst="rect">
            <a:avLst/>
          </a:prstGeom>
          <a:noFill/>
        </p:spPr>
        <p:txBody>
          <a:bodyPr wrap="none" lIns="0" rIns="0" tIns="0" bIns="0" anchor="t">
            <a:spAutoFit/>
          </a:bodyPr>
          <a:lstStyle/>
          <a:p>
            <a:pPr algn="l"/>
            <a:r>
              <a:rPr sz="1125" b="0">
                <a:solidFill>
                  <a:srgbClr val="F7F7FA"/>
                </a:solidFill>
                <a:latin typeface="Arial"/>
              </a:rPr>
              <a:t>Chats you started outside it</a:t>
            </a:r>
          </a:p>
        </p:txBody>
      </p:sp>
      <p:sp>
        <p:nvSpPr>
          <p:cNvPr id="38" name="TextBox 37"/>
          <p:cNvSpPr txBox="1"/>
          <p:nvPr/>
        </p:nvSpPr>
        <p:spPr>
          <a:xfrm>
            <a:off x="4773168" y="3246120"/>
            <a:ext cx="3858768" cy="210312"/>
          </a:xfrm>
          <a:prstGeom prst="rect">
            <a:avLst/>
          </a:prstGeom>
          <a:noFill/>
        </p:spPr>
        <p:txBody>
          <a:bodyPr wrap="none" lIns="0" rIns="0" tIns="0" bIns="0" anchor="t">
            <a:spAutoFit/>
          </a:bodyPr>
          <a:lstStyle/>
          <a:p>
            <a:pPr algn="l"/>
            <a:r>
              <a:rPr sz="1125" b="0">
                <a:solidFill>
                  <a:srgbClr val="F7F7FA"/>
                </a:solidFill>
                <a:latin typeface="Arial"/>
              </a:rPr>
              <a:t>A full read of every file, every time</a:t>
            </a:r>
          </a:p>
        </p:txBody>
      </p:sp>
      <p:sp>
        <p:nvSpPr>
          <p:cNvPr id="39" name="TextBox 38"/>
          <p:cNvSpPr txBox="1"/>
          <p:nvPr/>
        </p:nvSpPr>
        <p:spPr>
          <a:xfrm>
            <a:off x="4773168" y="3456432"/>
            <a:ext cx="3858768" cy="210312"/>
          </a:xfrm>
          <a:prstGeom prst="rect">
            <a:avLst/>
          </a:prstGeom>
          <a:noFill/>
        </p:spPr>
        <p:txBody>
          <a:bodyPr wrap="none" lIns="0" rIns="0" tIns="0" bIns="0" anchor="t">
            <a:spAutoFit/>
          </a:bodyPr>
          <a:lstStyle/>
          <a:p>
            <a:pPr algn="l"/>
            <a:r>
              <a:rPr sz="1125" b="0">
                <a:solidFill>
                  <a:srgbClr val="F7F7FA"/>
                </a:solidFill>
                <a:latin typeface="Arial"/>
              </a:rPr>
              <a:t>Anything, once you leave the tool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It Matters - One Assistant, Several Jobs</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aphicFrame>
        <p:nvGraphicFramePr>
          <p:cNvPr id="26" name="Table 25"/>
          <p:cNvGraphicFramePr>
            <a:graphicFrameLocks noGrp="1"/>
          </p:cNvGraphicFramePr>
          <p:nvPr/>
        </p:nvGraphicFramePr>
        <p:xfrm>
          <a:off x="310896" y="1389888"/>
          <a:ext cx="8522208" cy="2103115"/>
        </p:xfrm>
        <a:graphic>
          <a:graphicData uri="http://schemas.openxmlformats.org/drawingml/2006/table">
            <a:tbl>
              <a:tblPr>
                <a:tableStyleId>{2D5ABB26-0587-4C30-8999-92F81FD0307C}</a:tableStyleId>
              </a:tblPr>
              <a:tblGrid>
                <a:gridCol w="1920240"/>
                <a:gridCol w="3200400"/>
                <a:gridCol w="3401568"/>
              </a:tblGrid>
              <a:tr h="420623">
                <a:tc>
                  <a:txBody>
                    <a:bodyPr wrap="square"/>
                    <a:lstStyle/>
                    <a:p>
                      <a:r>
                        <a:rPr sz="1200" b="1">
                          <a:solidFill>
                            <a:srgbClr val="424242"/>
                          </a:solidFill>
                          <a:latin typeface="Source Code Pro"/>
                        </a:rPr>
                        <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One long list of chats</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Chats grouped in a project</a:t>
                      </a:r>
                    </a:p>
                  </a:txBody>
                  <a:tcPr marL="91440" marR="91440" marT="36576" marB="36576" anchor="ctr">
                    <a:lnT w="9525" cap="flat">
                      <a:solidFill>
                        <a:srgbClr val="D8D8DE"/>
                      </a:solidFill>
                    </a:lnT>
                    <a:lnB w="15875" cap="flat">
                      <a:solidFill>
                        <a:srgbClr val="424242"/>
                      </a:solidFill>
                    </a:lnB>
                    <a:solidFill>
                      <a:srgbClr val="FFFFFF"/>
                    </a:solidFill>
                  </a:tcPr>
                </a:tc>
              </a:tr>
              <a:tr h="420623">
                <a:tc>
                  <a:txBody>
                    <a:bodyPr wrap="square"/>
                    <a:lstStyle/>
                    <a:p>
                      <a:r>
                        <a:rPr sz="1200" b="0">
                          <a:solidFill>
                            <a:srgbClr val="424242"/>
                          </a:solidFill>
                          <a:latin typeface="Source Code Pro"/>
                        </a:rPr>
                        <a:t>Starting a chat</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Paste the background again</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The background is already there</a:t>
                      </a:r>
                    </a:p>
                  </a:txBody>
                  <a:tcPr marL="91440" marR="91440" marT="36576" marB="36576" anchor="ctr">
                    <a:lnB w="9525" cap="flat">
                      <a:solidFill>
                        <a:srgbClr val="D8D8DE"/>
                      </a:solidFill>
                    </a:lnB>
                    <a:solidFill>
                      <a:srgbClr val="FFFFFF"/>
                    </a:solidFill>
                  </a:tcPr>
                </a:tc>
              </a:tr>
              <a:tr h="420623">
                <a:tc>
                  <a:txBody>
                    <a:bodyPr wrap="square"/>
                    <a:lstStyle/>
                    <a:p>
                      <a:r>
                        <a:rPr sz="1200" b="0">
                          <a:solidFill>
                            <a:srgbClr val="424242"/>
                          </a:solidFill>
                          <a:latin typeface="Source Code Pro"/>
                        </a:rPr>
                        <a:t>Finding it later</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Scroll, and search by memory</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It is in the folder you put it in</a:t>
                      </a:r>
                    </a:p>
                  </a:txBody>
                  <a:tcPr marL="91440" marR="91440" marT="36576" marB="36576" anchor="ctr">
                    <a:lnB w="9525" cap="flat">
                      <a:solidFill>
                        <a:srgbClr val="D8D8DE"/>
                      </a:solidFill>
                    </a:lnB>
                    <a:solidFill>
                      <a:srgbClr val="FFFFFF"/>
                    </a:solidFill>
                  </a:tcPr>
                </a:tc>
              </a:tr>
              <a:tr h="420623">
                <a:tc>
                  <a:txBody>
                    <a:bodyPr wrap="square"/>
                    <a:lstStyle/>
                    <a:p>
                      <a:r>
                        <a:rPr sz="1200" b="0">
                          <a:solidFill>
                            <a:srgbClr val="424242"/>
                          </a:solidFill>
                          <a:latin typeface="Source Code Pro"/>
                        </a:rPr>
                        <a:t>Next time round</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Rebuild the setup from scratch</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Re-open the project you built</a:t>
                      </a:r>
                    </a:p>
                  </a:txBody>
                  <a:tcPr marL="91440" marR="91440" marT="36576" marB="36576" anchor="ctr">
                    <a:lnB w="9525" cap="flat">
                      <a:solidFill>
                        <a:srgbClr val="D8D8DE"/>
                      </a:solidFill>
                    </a:lnB>
                    <a:solidFill>
                      <a:srgbClr val="FFFFFF"/>
                    </a:solidFill>
                  </a:tcPr>
                </a:tc>
              </a:tr>
              <a:tr h="420623">
                <a:tc>
                  <a:txBody>
                    <a:bodyPr wrap="square"/>
                    <a:lstStyle/>
                    <a:p>
                      <a:r>
                        <a:rPr sz="1200" b="0">
                          <a:solidFill>
                            <a:srgbClr val="424242"/>
                          </a:solidFill>
                          <a:latin typeface="Source Code Pro"/>
                        </a:rPr>
                        <a:t>Failure mode</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Every chat starts cold</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The wrong brief, quietly applied</a:t>
                      </a:r>
                    </a:p>
                  </a:txBody>
                  <a:tcPr marL="91440" marR="91440" marT="36576" marB="36576" anchor="ctr">
                    <a:lnB w="9525" cap="flat">
                      <a:solidFill>
                        <a:srgbClr val="D8D8DE"/>
                      </a:solidFill>
                    </a:lnB>
                    <a:solidFill>
                      <a:srgbClr val="FFFFFF"/>
                    </a:solidFill>
                  </a:tcPr>
                </a:tc>
              </a:tr>
            </a:tbl>
          </a:graphicData>
        </a:graphic>
      </p:graphicFrame>
      <p:sp>
        <p:nvSpPr>
          <p:cNvPr id="27" name="TextBox 26"/>
          <p:cNvSpPr txBox="1"/>
          <p:nvPr/>
        </p:nvSpPr>
        <p:spPr>
          <a:xfrm>
            <a:off x="310896" y="3712463"/>
            <a:ext cx="8522208" cy="61722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A brief that is always on is also on when it does not fit, and a project set up for last year's version of the work keeps applying it until somebody edits the brief. That is what a project costs you: something to keep current.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Deserves a Project of Its Own</a:t>
            </a:r>
          </a:p>
        </p:txBody>
      </p:sp>
      <p:sp>
        <p:nvSpPr>
          <p:cNvPr id="3" name="Text Placeholder 2"/>
          <p:cNvSpPr>
            <a:spLocks noGrp="1"/>
          </p:cNvSpPr>
          <p:nvPr>
            <p:ph type="body" idx="1"/>
          </p:nvPr>
        </p:nvSpPr>
        <p:spPr>
          <a:xfrm>
            <a:off x="311700" y="1874519"/>
            <a:ext cx="3999900" cy="2679191"/>
          </a:xfrm>
        </p:spPr>
        <p:txBody>
          <a:bodyPr/>
          <a:lstStyle/>
          <a:p>
            <a:r>
              <a:t>Work that runs for weeks</a:t>
            </a:r>
          </a:p>
          <a:p>
            <a:r>
              <a:t>Anything with its own files</a:t>
            </a:r>
          </a:p>
          <a:p>
            <a:r>
              <a:t>A client, a launch, a move</a:t>
            </a:r>
          </a:p>
          <a:p>
            <a:r>
              <a:t>A tone you want only here</a:t>
            </a:r>
          </a:p>
        </p:txBody>
      </p:sp>
      <p:sp>
        <p:nvSpPr>
          <p:cNvPr id="4" name="Text Placeholder 3"/>
          <p:cNvSpPr>
            <a:spLocks noGrp="1"/>
          </p:cNvSpPr>
          <p:nvPr>
            <p:ph type="body" idx="2"/>
          </p:nvPr>
        </p:nvSpPr>
        <p:spPr>
          <a:xfrm>
            <a:off x="4832400" y="1874519"/>
            <a:ext cx="3999900" cy="2679191"/>
          </a:xfrm>
        </p:spPr>
        <p:txBody>
          <a:bodyPr/>
          <a:lstStyle/>
          <a:p>
            <a:r>
              <a:t>A one-off question</a:t>
            </a:r>
          </a:p>
          <a:p>
            <a:r>
              <a:t>Something you will not revisit</a:t>
            </a:r>
          </a:p>
          <a:p>
            <a:r>
              <a:t>Work with no shared background</a:t>
            </a:r>
          </a:p>
          <a:p>
            <a:r>
              <a:t>A brief that changes weekly</a:t>
            </a:r>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3" name="TextBox 32"/>
          <p:cNvSpPr txBox="1"/>
          <p:nvPr/>
        </p:nvSpPr>
        <p:spPr>
          <a:xfrm>
            <a:off x="310896" y="1444752"/>
            <a:ext cx="3995928" cy="274320"/>
          </a:xfrm>
          <a:prstGeom prst="rect">
            <a:avLst/>
          </a:prstGeom>
          <a:noFill/>
        </p:spPr>
        <p:txBody>
          <a:bodyPr wrap="square" lIns="0" rIns="0" tIns="0" bIns="0" anchor="t">
            <a:spAutoFit/>
          </a:bodyPr>
          <a:lstStyle/>
          <a:p>
            <a:pPr algn="l"/>
            <a:r>
              <a:rPr sz="1400" b="1">
                <a:solidFill>
                  <a:srgbClr val="424242"/>
                </a:solidFill>
                <a:latin typeface="Source Code Pro"/>
              </a:rPr>
              <a:t>Set it up once</a:t>
            </a:r>
          </a:p>
        </p:txBody>
      </p:sp>
      <p:sp>
        <p:nvSpPr>
          <p:cNvPr id="34" name="TextBox 33"/>
          <p:cNvSpPr txBox="1"/>
          <p:nvPr/>
        </p:nvSpPr>
        <p:spPr>
          <a:xfrm>
            <a:off x="4828032" y="1444752"/>
            <a:ext cx="3995928" cy="274320"/>
          </a:xfrm>
          <a:prstGeom prst="rect">
            <a:avLst/>
          </a:prstGeom>
          <a:noFill/>
        </p:spPr>
        <p:txBody>
          <a:bodyPr wrap="square" lIns="0" rIns="0" tIns="0" bIns="0" anchor="t">
            <a:spAutoFit/>
          </a:bodyPr>
          <a:lstStyle/>
          <a:p>
            <a:pPr algn="l"/>
            <a:r>
              <a:rPr sz="1400" b="1">
                <a:solidFill>
                  <a:srgbClr val="424242"/>
                </a:solidFill>
                <a:latin typeface="Source Code Pro"/>
              </a:rPr>
              <a:t>Leave it in an ordinary chat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7" name="Google Shape;6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 name="Rectangle 67"/>
          <p:cNvSpPr/>
          <p:nvPr/>
        </p:nvSpPr>
        <p:spPr>
          <a:xfrm>
            <a:off x="0" y="0"/>
            <a:ext cx="9144000" cy="1572768"/>
          </a:xfrm>
          <a:prstGeom prst="rect">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502920" y="0"/>
            <a:ext cx="8138160" cy="1572768"/>
          </a:xfrm>
          <a:prstGeom prst="rect">
            <a:avLst/>
          </a:prstGeom>
          <a:noFill/>
        </p:spPr>
        <p:txBody>
          <a:bodyPr wrap="square" lIns="0" rIns="0" tIns="0" bIns="0" anchor="ctr">
            <a:spAutoFit/>
          </a:bodyPr>
          <a:lstStyle/>
          <a:p>
            <a:pPr algn="l"/>
            <a:r>
              <a:rPr sz="4000" b="0">
                <a:solidFill>
                  <a:srgbClr val="FFFFFF"/>
                </a:solidFill>
                <a:latin typeface="Oswald"/>
              </a:rPr>
              <a:t>Let's See It in Action</a:t>
            </a:r>
          </a:p>
        </p:txBody>
      </p:sp>
      <p:sp>
        <p:nvSpPr>
          <p:cNvPr id="70" name="TextBox 69"/>
          <p:cNvSpPr txBox="1"/>
          <p:nvPr/>
        </p:nvSpPr>
        <p:spPr>
          <a:xfrm>
            <a:off x="502920" y="1883664"/>
            <a:ext cx="8138160" cy="384048"/>
          </a:xfrm>
          <a:prstGeom prst="rect">
            <a:avLst/>
          </a:prstGeom>
          <a:noFill/>
        </p:spPr>
        <p:txBody>
          <a:bodyPr wrap="square" lIns="0" rIns="0" tIns="0" bIns="0" anchor="t">
            <a:spAutoFit/>
          </a:bodyPr>
          <a:lstStyle/>
          <a:p>
            <a:pPr algn="l">
              <a:lnSpc>
                <a:spcPct val="120000"/>
              </a:lnSpc>
            </a:pPr>
            <a:r>
              <a:rPr sz="1500" b="0">
                <a:solidFill>
                  <a:srgbClr val="424242"/>
                </a:solidFill>
                <a:latin typeface="Source Code Pro"/>
              </a:rPr>
              <a:t>That is the principle. Now we do it live in the tool.</a:t>
            </a:r>
          </a:p>
        </p:txBody>
      </p:sp>
      <p:sp>
        <p:nvSpPr>
          <p:cNvPr id="71" name="Rounded Rectangle 70"/>
          <p:cNvSpPr/>
          <p:nvPr/>
        </p:nvSpPr>
        <p:spPr>
          <a:xfrm>
            <a:off x="502920" y="2450592"/>
            <a:ext cx="1842516"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Oval 71"/>
          <p:cNvSpPr/>
          <p:nvPr/>
        </p:nvSpPr>
        <p:spPr>
          <a:xfrm>
            <a:off x="722376"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722376"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1</a:t>
            </a:r>
          </a:p>
        </p:txBody>
      </p:sp>
      <p:sp>
        <p:nvSpPr>
          <p:cNvPr id="74" name="TextBox 73"/>
          <p:cNvSpPr txBox="1"/>
          <p:nvPr/>
        </p:nvSpPr>
        <p:spPr>
          <a:xfrm>
            <a:off x="704088" y="3127248"/>
            <a:ext cx="1440180"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Create a project</a:t>
            </a:r>
          </a:p>
        </p:txBody>
      </p:sp>
      <p:sp>
        <p:nvSpPr>
          <p:cNvPr id="75" name="TextBox 74"/>
          <p:cNvSpPr txBox="1"/>
          <p:nvPr/>
        </p:nvSpPr>
        <p:spPr>
          <a:xfrm>
            <a:off x="704088" y="3630168"/>
            <a:ext cx="1440180"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name it after one job</a:t>
            </a:r>
          </a:p>
        </p:txBody>
      </p:sp>
      <p:sp>
        <p:nvSpPr>
          <p:cNvPr id="76" name="Rounded Rectangle 75"/>
          <p:cNvSpPr/>
          <p:nvPr/>
        </p:nvSpPr>
        <p:spPr>
          <a:xfrm>
            <a:off x="2601468" y="2450592"/>
            <a:ext cx="1842516"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Oval 76"/>
          <p:cNvSpPr/>
          <p:nvPr/>
        </p:nvSpPr>
        <p:spPr>
          <a:xfrm>
            <a:off x="2820924"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2820924"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2</a:t>
            </a:r>
          </a:p>
        </p:txBody>
      </p:sp>
      <p:sp>
        <p:nvSpPr>
          <p:cNvPr id="79" name="TextBox 78"/>
          <p:cNvSpPr txBox="1"/>
          <p:nvPr/>
        </p:nvSpPr>
        <p:spPr>
          <a:xfrm>
            <a:off x="2802636" y="3127248"/>
            <a:ext cx="1440180"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Give it a brief</a:t>
            </a:r>
          </a:p>
        </p:txBody>
      </p:sp>
      <p:sp>
        <p:nvSpPr>
          <p:cNvPr id="80" name="TextBox 79"/>
          <p:cNvSpPr txBox="1"/>
          <p:nvPr/>
        </p:nvSpPr>
        <p:spPr>
          <a:xfrm>
            <a:off x="2802636" y="3630168"/>
            <a:ext cx="1440180"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and one file to work from</a:t>
            </a:r>
          </a:p>
        </p:txBody>
      </p:sp>
      <p:sp>
        <p:nvSpPr>
          <p:cNvPr id="81" name="Rounded Rectangle 80"/>
          <p:cNvSpPr/>
          <p:nvPr/>
        </p:nvSpPr>
        <p:spPr>
          <a:xfrm>
            <a:off x="4700016" y="2450592"/>
            <a:ext cx="1842516"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Oval 81"/>
          <p:cNvSpPr/>
          <p:nvPr/>
        </p:nvSpPr>
        <p:spPr>
          <a:xfrm>
            <a:off x="4919472"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4919472"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3</a:t>
            </a:r>
          </a:p>
        </p:txBody>
      </p:sp>
      <p:sp>
        <p:nvSpPr>
          <p:cNvPr id="84" name="TextBox 83"/>
          <p:cNvSpPr txBox="1"/>
          <p:nvPr/>
        </p:nvSpPr>
        <p:spPr>
          <a:xfrm>
            <a:off x="4901183" y="3127248"/>
            <a:ext cx="1440180"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Ask it something</a:t>
            </a:r>
          </a:p>
        </p:txBody>
      </p:sp>
      <p:sp>
        <p:nvSpPr>
          <p:cNvPr id="85" name="TextBox 84"/>
          <p:cNvSpPr txBox="1"/>
          <p:nvPr/>
        </p:nvSpPr>
        <p:spPr>
          <a:xfrm>
            <a:off x="4901183" y="3630168"/>
            <a:ext cx="1440180"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the brief arrives too</a:t>
            </a:r>
          </a:p>
        </p:txBody>
      </p:sp>
      <p:sp>
        <p:nvSpPr>
          <p:cNvPr id="86" name="Rounded Rectangle 85"/>
          <p:cNvSpPr/>
          <p:nvPr/>
        </p:nvSpPr>
        <p:spPr>
          <a:xfrm>
            <a:off x="6798564" y="2450592"/>
            <a:ext cx="1842516"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Oval 86"/>
          <p:cNvSpPr/>
          <p:nvPr/>
        </p:nvSpPr>
        <p:spPr>
          <a:xfrm>
            <a:off x="7018020"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7018020"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4</a:t>
            </a:r>
          </a:p>
        </p:txBody>
      </p:sp>
      <p:sp>
        <p:nvSpPr>
          <p:cNvPr id="89" name="TextBox 88"/>
          <p:cNvSpPr txBox="1"/>
          <p:nvPr/>
        </p:nvSpPr>
        <p:spPr>
          <a:xfrm>
            <a:off x="6999731" y="3127248"/>
            <a:ext cx="1440180"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Move a chat in</a:t>
            </a:r>
          </a:p>
        </p:txBody>
      </p:sp>
      <p:sp>
        <p:nvSpPr>
          <p:cNvPr id="90" name="TextBox 89"/>
          <p:cNvSpPr txBox="1"/>
          <p:nvPr/>
        </p:nvSpPr>
        <p:spPr>
          <a:xfrm>
            <a:off x="6999731" y="3630168"/>
            <a:ext cx="1440180"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from outside the folder</a:t>
            </a:r>
          </a:p>
        </p:txBody>
      </p:sp>
    </p:spTree>
  </p:cSld>
  <p:clrMapOvr>
    <a:masterClrMapping/>
  </p:clrMapOvr>
</p:sld>
</file>

<file path=ppt/theme/theme1.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