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 id="267" r:id="rId12"/>
    <p:sldId id="268" r:id="rId11"/>
    <p:sldId id="269" r:id="rId10"/>
    <p:sldId id="270" r:id="rId9"/>
    <p:sldId id="271" r:id="rId8"/>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slide" Target="slides/slide13.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platform.openai.com/tokeniz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Are Tokens?</a:t>
            </a:r>
          </a:p>
        </p:txBody>
      </p:sp>
      <p:sp>
        <p:nvSpPr>
          <p:cNvPr id="3" name="Subtitle 2"/>
          <p:cNvSpPr>
            <a:spLocks noGrp="1"/>
          </p:cNvSpPr>
          <p:nvPr>
            <p:ph type="subTitle" idx="1"/>
          </p:nvPr>
        </p:nvSpPr>
        <p:spPr/>
        <p:txBody>
          <a:bodyPr/>
          <a:lstStyle/>
          <a:p>
            <a:pPr marL="0" indent="0">
              <a:buNone/>
            </a:pPr>
            <a:r>
              <a:t>The unit of text a model reads, writes, counts and charges for.</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Sequence of Characters, Not a Word</a:t>
            </a:r>
          </a:p>
        </p:txBody>
      </p:sp>
      <p:sp>
        <p:nvSpPr>
          <p:cNvPr id="3" name="Text Placeholder 2"/>
          <p:cNvSpPr>
            <a:spLocks noGrp="1"/>
          </p:cNvSpPr>
          <p:nvPr>
            <p:ph type="body" idx="1"/>
          </p:nvPr>
        </p:nvSpPr>
        <p:spPr>
          <a:xfrm>
            <a:off x="5751576" y="1426464"/>
            <a:ext cx="3081528" cy="1764791"/>
          </a:xfrm>
        </p:spPr>
        <p:txBody>
          <a:bodyPr wrap="square" anchor="ctr"/>
          <a:lstStyle/>
          <a:p>
            <a:pPr marL="0" indent="0">
              <a:buNone/>
            </a:pPr>
            <a:r>
              <a:t>A token is a sequence of characters common enough to be stored as one unit. Frequent words survive whole; rarer ones arrive in pieces.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937760" cy="512064"/>
          </a:xfrm>
          <a:prstGeom prst="roundRect">
            <a:avLst>
              <a:gd name="adj" fmla="val 892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426464"/>
            <a:ext cx="4754880" cy="512064"/>
          </a:xfrm>
          <a:prstGeom prst="rect">
            <a:avLst/>
          </a:prstGeom>
          <a:noFill/>
        </p:spPr>
        <p:txBody>
          <a:bodyPr wrap="square" lIns="0" rIns="0" tIns="0" bIns="0" anchor="ctr">
            <a:spAutoFit/>
          </a:bodyPr>
          <a:lstStyle/>
          <a:p>
            <a:pPr algn="ctr"/>
            <a:r>
              <a:rPr sz="1300" b="0">
                <a:solidFill>
                  <a:srgbClr val="424242"/>
                </a:solidFill>
                <a:latin typeface="Source Code Pro"/>
              </a:rPr>
              <a:t>Unbelievably, tokenisation is unpredictable.</a:t>
            </a:r>
          </a:p>
        </p:txBody>
      </p:sp>
      <p:sp>
        <p:nvSpPr>
          <p:cNvPr id="28" name="Down Arrow 27"/>
          <p:cNvSpPr/>
          <p:nvPr/>
        </p:nvSpPr>
        <p:spPr>
          <a:xfrm>
            <a:off x="2633472" y="2029968"/>
            <a:ext cx="256032"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10896" y="2359152"/>
            <a:ext cx="454152" cy="365760"/>
          </a:xfrm>
          <a:prstGeom prst="roundRect">
            <a:avLst>
              <a:gd name="adj" fmla="val 1250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10896" y="2359152"/>
            <a:ext cx="454152" cy="365760"/>
          </a:xfrm>
          <a:prstGeom prst="rect">
            <a:avLst/>
          </a:prstGeom>
          <a:noFill/>
        </p:spPr>
        <p:txBody>
          <a:bodyPr wrap="square" lIns="0" rIns="0" tIns="0" bIns="0" anchor="ctr">
            <a:spAutoFit/>
          </a:bodyPr>
          <a:lstStyle/>
          <a:p>
            <a:pPr algn="ctr"/>
            <a:r>
              <a:rPr sz="1300" b="1">
                <a:solidFill>
                  <a:srgbClr val="424242"/>
                </a:solidFill>
                <a:latin typeface="Source Code Pro"/>
              </a:rPr>
              <a:t>Un</a:t>
            </a:r>
          </a:p>
        </p:txBody>
      </p:sp>
      <p:sp>
        <p:nvSpPr>
          <p:cNvPr id="31" name="Rounded Rectangle 30"/>
          <p:cNvSpPr/>
          <p:nvPr/>
        </p:nvSpPr>
        <p:spPr>
          <a:xfrm>
            <a:off x="847344" y="2359152"/>
            <a:ext cx="553212" cy="365760"/>
          </a:xfrm>
          <a:prstGeom prst="roundRect">
            <a:avLst>
              <a:gd name="adj" fmla="val 1250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47344" y="2359152"/>
            <a:ext cx="553212" cy="365760"/>
          </a:xfrm>
          <a:prstGeom prst="rect">
            <a:avLst/>
          </a:prstGeom>
          <a:noFill/>
        </p:spPr>
        <p:txBody>
          <a:bodyPr wrap="square" lIns="0" rIns="0" tIns="0" bIns="0" anchor="ctr">
            <a:spAutoFit/>
          </a:bodyPr>
          <a:lstStyle/>
          <a:p>
            <a:pPr algn="ctr"/>
            <a:r>
              <a:rPr sz="1300" b="1">
                <a:solidFill>
                  <a:srgbClr val="424242"/>
                </a:solidFill>
                <a:latin typeface="Source Code Pro"/>
              </a:rPr>
              <a:t>bel</a:t>
            </a:r>
          </a:p>
        </p:txBody>
      </p:sp>
      <p:sp>
        <p:nvSpPr>
          <p:cNvPr id="33" name="Rounded Rectangle 32"/>
          <p:cNvSpPr/>
          <p:nvPr/>
        </p:nvSpPr>
        <p:spPr>
          <a:xfrm>
            <a:off x="1482852" y="2359152"/>
            <a:ext cx="949452" cy="365760"/>
          </a:xfrm>
          <a:prstGeom prst="roundRect">
            <a:avLst>
              <a:gd name="adj" fmla="val 1250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82852" y="2359152"/>
            <a:ext cx="949452" cy="365760"/>
          </a:xfrm>
          <a:prstGeom prst="rect">
            <a:avLst/>
          </a:prstGeom>
          <a:noFill/>
        </p:spPr>
        <p:txBody>
          <a:bodyPr wrap="square" lIns="0" rIns="0" tIns="0" bIns="0" anchor="ctr">
            <a:spAutoFit/>
          </a:bodyPr>
          <a:lstStyle/>
          <a:p>
            <a:pPr algn="ctr"/>
            <a:r>
              <a:rPr sz="1300" b="1">
                <a:solidFill>
                  <a:srgbClr val="424242"/>
                </a:solidFill>
                <a:latin typeface="Source Code Pro"/>
              </a:rPr>
              <a:t>ievably</a:t>
            </a:r>
          </a:p>
        </p:txBody>
      </p:sp>
      <p:sp>
        <p:nvSpPr>
          <p:cNvPr id="35" name="Rounded Rectangle 34"/>
          <p:cNvSpPr/>
          <p:nvPr/>
        </p:nvSpPr>
        <p:spPr>
          <a:xfrm>
            <a:off x="2514600" y="2359152"/>
            <a:ext cx="355092" cy="365760"/>
          </a:xfrm>
          <a:prstGeom prst="roundRect">
            <a:avLst>
              <a:gd name="adj" fmla="val 1287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514600" y="2359152"/>
            <a:ext cx="355092" cy="365760"/>
          </a:xfrm>
          <a:prstGeom prst="rect">
            <a:avLst/>
          </a:prstGeom>
          <a:noFill/>
        </p:spPr>
        <p:txBody>
          <a:bodyPr wrap="square" lIns="0" rIns="0" tIns="0" bIns="0" anchor="ctr">
            <a:spAutoFit/>
          </a:bodyPr>
          <a:lstStyle/>
          <a:p>
            <a:pPr algn="ctr"/>
            <a:r>
              <a:rPr sz="1300" b="0">
                <a:solidFill>
                  <a:srgbClr val="424242"/>
                </a:solidFill>
                <a:latin typeface="Source Code Pro"/>
              </a:rPr>
              <a:t>,</a:t>
            </a:r>
          </a:p>
        </p:txBody>
      </p:sp>
      <p:sp>
        <p:nvSpPr>
          <p:cNvPr id="37" name="Rounded Rectangle 36"/>
          <p:cNvSpPr/>
          <p:nvPr/>
        </p:nvSpPr>
        <p:spPr>
          <a:xfrm>
            <a:off x="2951988" y="2359152"/>
            <a:ext cx="75133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951988" y="2359152"/>
            <a:ext cx="751332" cy="365760"/>
          </a:xfrm>
          <a:prstGeom prst="rect">
            <a:avLst/>
          </a:prstGeom>
          <a:noFill/>
        </p:spPr>
        <p:txBody>
          <a:bodyPr wrap="square" lIns="0" rIns="0" tIns="0" bIns="0" anchor="ctr">
            <a:spAutoFit/>
          </a:bodyPr>
          <a:lstStyle/>
          <a:p>
            <a:pPr algn="ctr"/>
            <a:r>
              <a:rPr sz="1300" b="0">
                <a:solidFill>
                  <a:srgbClr val="424242"/>
                </a:solidFill>
                <a:latin typeface="Source Code Pro"/>
              </a:rPr>
              <a:t>token</a:t>
            </a:r>
          </a:p>
        </p:txBody>
      </p:sp>
      <p:sp>
        <p:nvSpPr>
          <p:cNvPr id="39" name="Rounded Rectangle 38"/>
          <p:cNvSpPr/>
          <p:nvPr/>
        </p:nvSpPr>
        <p:spPr>
          <a:xfrm>
            <a:off x="3785616" y="2359152"/>
            <a:ext cx="94945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785616" y="2359152"/>
            <a:ext cx="949452" cy="365760"/>
          </a:xfrm>
          <a:prstGeom prst="rect">
            <a:avLst/>
          </a:prstGeom>
          <a:noFill/>
        </p:spPr>
        <p:txBody>
          <a:bodyPr wrap="square" lIns="0" rIns="0" tIns="0" bIns="0" anchor="ctr">
            <a:spAutoFit/>
          </a:bodyPr>
          <a:lstStyle/>
          <a:p>
            <a:pPr algn="ctr"/>
            <a:r>
              <a:rPr sz="1300" b="0">
                <a:solidFill>
                  <a:srgbClr val="424242"/>
                </a:solidFill>
                <a:latin typeface="Source Code Pro"/>
              </a:rPr>
              <a:t>isation</a:t>
            </a:r>
          </a:p>
        </p:txBody>
      </p:sp>
      <p:sp>
        <p:nvSpPr>
          <p:cNvPr id="41" name="Rounded Rectangle 40"/>
          <p:cNvSpPr/>
          <p:nvPr/>
        </p:nvSpPr>
        <p:spPr>
          <a:xfrm>
            <a:off x="310896" y="2825496"/>
            <a:ext cx="45415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10896" y="2825496"/>
            <a:ext cx="454152" cy="365760"/>
          </a:xfrm>
          <a:prstGeom prst="rect">
            <a:avLst/>
          </a:prstGeom>
          <a:noFill/>
        </p:spPr>
        <p:txBody>
          <a:bodyPr wrap="square" lIns="0" rIns="0" tIns="0" bIns="0" anchor="ctr">
            <a:spAutoFit/>
          </a:bodyPr>
          <a:lstStyle/>
          <a:p>
            <a:pPr algn="ctr"/>
            <a:r>
              <a:rPr sz="1300" b="0">
                <a:solidFill>
                  <a:srgbClr val="424242"/>
                </a:solidFill>
                <a:latin typeface="Source Code Pro"/>
              </a:rPr>
              <a:t>is</a:t>
            </a:r>
          </a:p>
        </p:txBody>
      </p:sp>
      <p:sp>
        <p:nvSpPr>
          <p:cNvPr id="43" name="Rounded Rectangle 42"/>
          <p:cNvSpPr/>
          <p:nvPr/>
        </p:nvSpPr>
        <p:spPr>
          <a:xfrm>
            <a:off x="847344" y="2825496"/>
            <a:ext cx="154381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47344" y="2825496"/>
            <a:ext cx="1543812" cy="365760"/>
          </a:xfrm>
          <a:prstGeom prst="rect">
            <a:avLst/>
          </a:prstGeom>
          <a:noFill/>
        </p:spPr>
        <p:txBody>
          <a:bodyPr wrap="square" lIns="0" rIns="0" tIns="0" bIns="0" anchor="ctr">
            <a:spAutoFit/>
          </a:bodyPr>
          <a:lstStyle/>
          <a:p>
            <a:pPr algn="ctr"/>
            <a:r>
              <a:rPr sz="1300" b="0">
                <a:solidFill>
                  <a:srgbClr val="424242"/>
                </a:solidFill>
                <a:latin typeface="Source Code Pro"/>
              </a:rPr>
              <a:t>unpredictable</a:t>
            </a:r>
          </a:p>
        </p:txBody>
      </p:sp>
      <p:sp>
        <p:nvSpPr>
          <p:cNvPr id="45" name="Rounded Rectangle 44"/>
          <p:cNvSpPr/>
          <p:nvPr/>
        </p:nvSpPr>
        <p:spPr>
          <a:xfrm>
            <a:off x="2473452" y="2825496"/>
            <a:ext cx="355092" cy="365760"/>
          </a:xfrm>
          <a:prstGeom prst="roundRect">
            <a:avLst>
              <a:gd name="adj" fmla="val 12875"/>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2473452" y="2825496"/>
            <a:ext cx="355092" cy="365760"/>
          </a:xfrm>
          <a:prstGeom prst="rect">
            <a:avLst/>
          </a:prstGeom>
          <a:noFill/>
        </p:spPr>
        <p:txBody>
          <a:bodyPr wrap="square" lIns="0" rIns="0" tIns="0" bIns="0" anchor="ctr">
            <a:spAutoFit/>
          </a:bodyPr>
          <a:lstStyle/>
          <a:p>
            <a:pPr algn="ctr"/>
            <a:r>
              <a:rPr sz="1300" b="0">
                <a:solidFill>
                  <a:srgbClr val="424242"/>
                </a:solidFill>
                <a:latin typeface="Source Code Pro"/>
              </a:rPr>
              <a:t>.</a:t>
            </a:r>
          </a:p>
        </p:txBody>
      </p:sp>
      <p:sp>
        <p:nvSpPr>
          <p:cNvPr id="47" name="TextBox 46"/>
          <p:cNvSpPr txBox="1"/>
          <p:nvPr/>
        </p:nvSpPr>
        <p:spPr>
          <a:xfrm>
            <a:off x="310896" y="3337560"/>
            <a:ext cx="4937760" cy="256032"/>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Four words. Nine tokens.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Count Is Never the Word Count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1920240"/>
        </p:xfrm>
        <a:graphic>
          <a:graphicData uri="http://schemas.openxmlformats.org/drawingml/2006/table">
            <a:tbl>
              <a:tblPr>
                <a:tableStyleId>{2D5ABB26-0587-4C30-8999-92F81FD0307C}</a:tableStyleId>
              </a:tblPr>
              <a:tblGrid>
                <a:gridCol w="3573829"/>
                <a:gridCol w="1557822"/>
                <a:gridCol w="1374549"/>
                <a:gridCol w="2016006"/>
              </a:tblGrid>
              <a:tr h="384048">
                <a:tc>
                  <a:txBody>
                    <a:bodyPr wrap="square"/>
                    <a:lstStyle/>
                    <a:p>
                      <a:r>
                        <a:rPr sz="1200" b="1">
                          <a:solidFill>
                            <a:srgbClr val="424242"/>
                          </a:solidFill>
                          <a:latin typeface="Source Code Pro"/>
                        </a:rPr>
                        <a:t>What you send</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Characters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Tokens</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Chars per token</a:t>
                      </a:r>
                    </a:p>
                  </a:txBody>
                  <a:tcPr marL="91440" marR="91440" marT="36576" marB="36576" anchor="ctr">
                    <a:lnT w="9525" cap="flat">
                      <a:solidFill>
                        <a:srgbClr val="D8D8DE"/>
                      </a:solidFill>
                    </a:lnT>
                    <a:lnB w="15875" cap="flat">
                      <a:solidFill>
                        <a:srgbClr val="424242"/>
                      </a:solidFill>
                    </a:lnB>
                    <a:solidFill>
                      <a:srgbClr val="FFFFFF"/>
                    </a:solidFill>
                  </a:tcPr>
                </a:tc>
              </a:tr>
              <a:tr h="384048">
                <a:tc>
                  <a:txBody>
                    <a:bodyPr wrap="square"/>
                    <a:lstStyle/>
                    <a:p>
                      <a:r>
                        <a:rPr sz="1200" b="0">
                          <a:solidFill>
                            <a:srgbClr val="424242"/>
                          </a:solidFill>
                          <a:latin typeface="Source Code Pro"/>
                        </a:rPr>
                        <a:t>A short English sentence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37</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7</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5.3</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The same sentence in Japanese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20</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16</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1.3</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One line of Python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64</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14</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4.6</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A written-out money figure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43</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14</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3.1</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52958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English runs at roughly four characters to the token. Other scripts, code and long numbers all break into smaller pieces, so the identical sentence can cost twice as many tokens in Japanese as in English.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694944"/>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5952744" y="262890"/>
            <a:ext cx="169164" cy="169164"/>
          </a:xfrm>
          <a:prstGeom prst="ellipse">
            <a:avLst/>
          </a:prstGeom>
          <a:noFill/>
          <a:ln w="13970">
            <a:solidFill>
              <a:srgbClr val="FBE4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031839" y="297180"/>
            <a:ext cx="10972" cy="50292"/>
          </a:xfrm>
          <a:prstGeom prst="rect">
            <a:avLst/>
          </a:prstGeom>
          <a:solidFill>
            <a:srgbClr val="FB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037326" y="341985"/>
            <a:ext cx="45720" cy="10972"/>
          </a:xfrm>
          <a:prstGeom prst="rect">
            <a:avLst/>
          </a:prstGeom>
          <a:solidFill>
            <a:srgbClr val="FB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240779" y="0"/>
            <a:ext cx="2455164" cy="694944"/>
          </a:xfrm>
          <a:prstGeom prst="rect">
            <a:avLst/>
          </a:prstGeom>
          <a:noFill/>
        </p:spPr>
        <p:txBody>
          <a:bodyPr wrap="none" lIns="0" rIns="0" tIns="0" bIns="0" anchor="ctr">
            <a:spAutoFit/>
          </a:bodyPr>
          <a:lstStyle/>
          <a:p>
            <a:pPr algn="l"/>
            <a:r>
              <a:rPr sz="1200" b="1" spc="180">
                <a:solidFill>
                  <a:srgbClr val="FBE4EC"/>
                </a:solidFill>
                <a:latin typeface="Source Code Pro"/>
              </a:rPr>
              <a:t>EXERCISE  ·  1 MINUTE</a:t>
            </a:r>
          </a:p>
        </p:txBody>
      </p:sp>
      <p:sp>
        <p:nvSpPr>
          <p:cNvPr id="73" name="TextBox 72"/>
          <p:cNvSpPr txBox="1"/>
          <p:nvPr/>
        </p:nvSpPr>
        <p:spPr>
          <a:xfrm>
            <a:off x="502920" y="0"/>
            <a:ext cx="5175504" cy="694944"/>
          </a:xfrm>
          <a:prstGeom prst="rect">
            <a:avLst/>
          </a:prstGeom>
          <a:noFill/>
        </p:spPr>
        <p:txBody>
          <a:bodyPr wrap="none" lIns="0" rIns="0" tIns="0" bIns="0" anchor="ctr">
            <a:spAutoFit/>
          </a:bodyPr>
          <a:lstStyle/>
          <a:p>
            <a:pPr algn="l"/>
            <a:r>
              <a:rPr sz="2600" b="0">
                <a:solidFill>
                  <a:srgbClr val="FFFFFF"/>
                </a:solidFill>
                <a:latin typeface="Oswald"/>
              </a:rPr>
              <a:t>See a Sentence Become Tokens</a:t>
            </a:r>
          </a:p>
        </p:txBody>
      </p:sp>
      <p:pic>
        <p:nvPicPr>
          <p:cNvPr id="74" name="Picture 73" descr="tokenizer-text.png"/>
          <p:cNvPicPr>
            <a:picLocks noChangeAspect="1"/>
          </p:cNvPicPr>
          <p:nvPr/>
        </p:nvPicPr>
        <p:blipFill>
          <a:blip r:embed="rId2"/>
          <a:stretch>
            <a:fillRect/>
          </a:stretch>
        </p:blipFill>
        <p:spPr>
          <a:xfrm>
            <a:off x="310896" y="1042415"/>
            <a:ext cx="3163824" cy="2449559"/>
          </a:xfrm>
          <a:prstGeom prst="rect">
            <a:avLst/>
          </a:prstGeom>
        </p:spPr>
      </p:pic>
      <p:pic>
        <p:nvPicPr>
          <p:cNvPr id="75" name="Picture 74" descr="tokenizer-ids.png"/>
          <p:cNvPicPr>
            <a:picLocks noChangeAspect="1"/>
          </p:cNvPicPr>
          <p:nvPr/>
        </p:nvPicPr>
        <p:blipFill>
          <a:blip r:embed="rId3"/>
          <a:stretch>
            <a:fillRect/>
          </a:stretch>
        </p:blipFill>
        <p:spPr>
          <a:xfrm>
            <a:off x="3639312" y="1042415"/>
            <a:ext cx="3163824" cy="2502996"/>
          </a:xfrm>
          <a:prstGeom prst="rect">
            <a:avLst/>
          </a:prstGeom>
        </p:spPr>
      </p:pic>
      <p:sp>
        <p:nvSpPr>
          <p:cNvPr id="76" name="TextBox 75"/>
          <p:cNvSpPr txBox="1"/>
          <p:nvPr/>
        </p:nvSpPr>
        <p:spPr>
          <a:xfrm>
            <a:off x="310896" y="3601703"/>
            <a:ext cx="3163824" cy="237744"/>
          </a:xfrm>
          <a:prstGeom prst="rect">
            <a:avLst/>
          </a:prstGeom>
          <a:noFill/>
        </p:spPr>
        <p:txBody>
          <a:bodyPr wrap="square" lIns="0" rIns="0" tIns="0" bIns="0" anchor="t">
            <a:spAutoFit/>
          </a:bodyPr>
          <a:lstStyle/>
          <a:p>
            <a:pPr algn="ctr"/>
            <a:r>
              <a:rPr sz="1200" b="0">
                <a:solidFill>
                  <a:srgbClr val="6B6B6B"/>
                </a:solidFill>
                <a:latin typeface="Source Code Pro"/>
              </a:rPr>
              <a:t>The same seven tokens, coloured</a:t>
            </a:r>
          </a:p>
        </p:txBody>
      </p:sp>
      <p:sp>
        <p:nvSpPr>
          <p:cNvPr id="77" name="TextBox 76"/>
          <p:cNvSpPr txBox="1"/>
          <p:nvPr/>
        </p:nvSpPr>
        <p:spPr>
          <a:xfrm>
            <a:off x="3639312" y="3601703"/>
            <a:ext cx="3163824" cy="237744"/>
          </a:xfrm>
          <a:prstGeom prst="rect">
            <a:avLst/>
          </a:prstGeom>
          <a:noFill/>
        </p:spPr>
        <p:txBody>
          <a:bodyPr wrap="square" lIns="0" rIns="0" tIns="0" bIns="0" anchor="t">
            <a:spAutoFit/>
          </a:bodyPr>
          <a:lstStyle/>
          <a:p>
            <a:pPr algn="ctr"/>
            <a:r>
              <a:rPr sz="1200" b="0">
                <a:solidFill>
                  <a:srgbClr val="6B6B6B"/>
                </a:solidFill>
                <a:latin typeface="Source Code Pro"/>
              </a:rPr>
              <a:t>and the numbers behind them</a:t>
            </a:r>
          </a:p>
        </p:txBody>
      </p:sp>
      <p:sp>
        <p:nvSpPr>
          <p:cNvPr id="78" name="Rounded Rectangle 77"/>
          <p:cNvSpPr/>
          <p:nvPr/>
        </p:nvSpPr>
        <p:spPr>
          <a:xfrm>
            <a:off x="6967728" y="1042415"/>
            <a:ext cx="1865376"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7132320" y="1042415"/>
            <a:ext cx="292608" cy="566928"/>
          </a:xfrm>
          <a:prstGeom prst="rect">
            <a:avLst/>
          </a:prstGeom>
          <a:noFill/>
        </p:spPr>
        <p:txBody>
          <a:bodyPr wrap="square" lIns="0" rIns="0" tIns="0" bIns="0" anchor="ctr">
            <a:spAutoFit/>
          </a:bodyPr>
          <a:lstStyle/>
          <a:p>
            <a:pPr algn="l"/>
            <a:r>
              <a:rPr sz="1200" b="1">
                <a:solidFill>
                  <a:srgbClr val="E91D63"/>
                </a:solidFill>
                <a:latin typeface="Source Code Pro"/>
              </a:rPr>
              <a:t>1</a:t>
            </a:r>
          </a:p>
        </p:txBody>
      </p:sp>
      <p:sp>
        <p:nvSpPr>
          <p:cNvPr id="80" name="TextBox 79"/>
          <p:cNvSpPr txBox="1"/>
          <p:nvPr/>
        </p:nvSpPr>
        <p:spPr>
          <a:xfrm>
            <a:off x="7479792" y="1042415"/>
            <a:ext cx="1188720" cy="566928"/>
          </a:xfrm>
          <a:prstGeom prst="rect">
            <a:avLst/>
          </a:prstGeom>
          <a:noFill/>
        </p:spPr>
        <p:txBody>
          <a:bodyPr wrap="square" lIns="0" rIns="0" tIns="0" bIns="0" anchor="ctr">
            <a:spAutoFit/>
          </a:bodyPr>
          <a:lstStyle/>
          <a:p>
            <a:pPr algn="l"/>
            <a:r>
              <a:rPr sz="1200" b="0">
                <a:solidFill>
                  <a:srgbClr val="424242"/>
                </a:solidFill>
                <a:latin typeface="Source Code Pro"/>
              </a:rPr>
              <a:t>Open the OpenAI tokeniser.</a:t>
            </a:r>
          </a:p>
        </p:txBody>
      </p:sp>
      <p:sp>
        <p:nvSpPr>
          <p:cNvPr id="81" name="Rounded Rectangle 80"/>
          <p:cNvSpPr/>
          <p:nvPr/>
        </p:nvSpPr>
        <p:spPr>
          <a:xfrm>
            <a:off x="6967728" y="1700784"/>
            <a:ext cx="1865376"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7132320" y="1700784"/>
            <a:ext cx="292608" cy="566928"/>
          </a:xfrm>
          <a:prstGeom prst="rect">
            <a:avLst/>
          </a:prstGeom>
          <a:noFill/>
        </p:spPr>
        <p:txBody>
          <a:bodyPr wrap="square" lIns="0" rIns="0" tIns="0" bIns="0" anchor="ctr">
            <a:spAutoFit/>
          </a:bodyPr>
          <a:lstStyle/>
          <a:p>
            <a:pPr algn="l"/>
            <a:r>
              <a:rPr sz="1200" b="1">
                <a:solidFill>
                  <a:srgbClr val="E91D63"/>
                </a:solidFill>
                <a:latin typeface="Source Code Pro"/>
              </a:rPr>
              <a:t>2</a:t>
            </a:r>
          </a:p>
        </p:txBody>
      </p:sp>
      <p:sp>
        <p:nvSpPr>
          <p:cNvPr id="83" name="TextBox 82"/>
          <p:cNvSpPr txBox="1"/>
          <p:nvPr/>
        </p:nvSpPr>
        <p:spPr>
          <a:xfrm>
            <a:off x="7479792" y="1700784"/>
            <a:ext cx="1188720" cy="566928"/>
          </a:xfrm>
          <a:prstGeom prst="rect">
            <a:avLst/>
          </a:prstGeom>
          <a:noFill/>
        </p:spPr>
        <p:txBody>
          <a:bodyPr wrap="square" lIns="0" rIns="0" tIns="0" bIns="0" anchor="ctr">
            <a:spAutoFit/>
          </a:bodyPr>
          <a:lstStyle/>
          <a:p>
            <a:pPr algn="l"/>
            <a:r>
              <a:rPr sz="1200" b="0">
                <a:solidFill>
                  <a:srgbClr val="424242"/>
                </a:solidFill>
                <a:latin typeface="Source Code Pro"/>
              </a:rPr>
              <a:t>Paste a sentence of your own.</a:t>
            </a:r>
          </a:p>
        </p:txBody>
      </p:sp>
      <p:sp>
        <p:nvSpPr>
          <p:cNvPr id="84" name="Rounded Rectangle 83"/>
          <p:cNvSpPr/>
          <p:nvPr/>
        </p:nvSpPr>
        <p:spPr>
          <a:xfrm>
            <a:off x="6967728" y="2359152"/>
            <a:ext cx="1865376"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7132320" y="2359152"/>
            <a:ext cx="292608" cy="566928"/>
          </a:xfrm>
          <a:prstGeom prst="rect">
            <a:avLst/>
          </a:prstGeom>
          <a:noFill/>
        </p:spPr>
        <p:txBody>
          <a:bodyPr wrap="square" lIns="0" rIns="0" tIns="0" bIns="0" anchor="ctr">
            <a:spAutoFit/>
          </a:bodyPr>
          <a:lstStyle/>
          <a:p>
            <a:pPr algn="l"/>
            <a:r>
              <a:rPr sz="1200" b="1">
                <a:solidFill>
                  <a:srgbClr val="E91D63"/>
                </a:solidFill>
                <a:latin typeface="Source Code Pro"/>
              </a:rPr>
              <a:t>3</a:t>
            </a:r>
          </a:p>
        </p:txBody>
      </p:sp>
      <p:sp>
        <p:nvSpPr>
          <p:cNvPr id="86" name="TextBox 85"/>
          <p:cNvSpPr txBox="1"/>
          <p:nvPr/>
        </p:nvSpPr>
        <p:spPr>
          <a:xfrm>
            <a:off x="7479792" y="2359152"/>
            <a:ext cx="1188720" cy="566928"/>
          </a:xfrm>
          <a:prstGeom prst="rect">
            <a:avLst/>
          </a:prstGeom>
          <a:noFill/>
        </p:spPr>
        <p:txBody>
          <a:bodyPr wrap="square" lIns="0" rIns="0" tIns="0" bIns="0" anchor="ctr">
            <a:spAutoFit/>
          </a:bodyPr>
          <a:lstStyle/>
          <a:p>
            <a:pPr algn="l"/>
            <a:r>
              <a:rPr sz="1200" b="0">
                <a:solidFill>
                  <a:srgbClr val="424242"/>
                </a:solidFill>
                <a:latin typeface="Source Code Pro"/>
              </a:rPr>
              <a:t>Switch to Token IDs.</a:t>
            </a:r>
          </a:p>
        </p:txBody>
      </p:sp>
      <p:sp>
        <p:nvSpPr>
          <p:cNvPr id="87" name="Rounded Rectangle 86"/>
          <p:cNvSpPr/>
          <p:nvPr/>
        </p:nvSpPr>
        <p:spPr>
          <a:xfrm>
            <a:off x="6967728" y="3017520"/>
            <a:ext cx="1865376" cy="566928"/>
          </a:xfrm>
          <a:prstGeom prst="roundRect">
            <a:avLst>
              <a:gd name="adj" fmla="val 967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132320" y="3017520"/>
            <a:ext cx="292608" cy="566928"/>
          </a:xfrm>
          <a:prstGeom prst="rect">
            <a:avLst/>
          </a:prstGeom>
          <a:noFill/>
        </p:spPr>
        <p:txBody>
          <a:bodyPr wrap="square" lIns="0" rIns="0" tIns="0" bIns="0" anchor="ctr">
            <a:spAutoFit/>
          </a:bodyPr>
          <a:lstStyle/>
          <a:p>
            <a:pPr algn="l"/>
            <a:r>
              <a:rPr sz="1200" b="1">
                <a:solidFill>
                  <a:srgbClr val="E91D63"/>
                </a:solidFill>
                <a:latin typeface="Source Code Pro"/>
              </a:rPr>
              <a:t>4</a:t>
            </a:r>
          </a:p>
        </p:txBody>
      </p:sp>
      <p:sp>
        <p:nvSpPr>
          <p:cNvPr id="89" name="TextBox 88"/>
          <p:cNvSpPr txBox="1"/>
          <p:nvPr/>
        </p:nvSpPr>
        <p:spPr>
          <a:xfrm>
            <a:off x="7479792" y="3017520"/>
            <a:ext cx="1188720" cy="566928"/>
          </a:xfrm>
          <a:prstGeom prst="rect">
            <a:avLst/>
          </a:prstGeom>
          <a:noFill/>
        </p:spPr>
        <p:txBody>
          <a:bodyPr wrap="square" lIns="0" rIns="0" tIns="0" bIns="0" anchor="ctr">
            <a:spAutoFit/>
          </a:bodyPr>
          <a:lstStyle/>
          <a:p>
            <a:pPr algn="l"/>
            <a:r>
              <a:rPr sz="1200" b="0">
                <a:solidFill>
                  <a:srgbClr val="424242"/>
                </a:solidFill>
                <a:latin typeface="Source Code Pro"/>
              </a:rPr>
              <a:t>Try it in another language.</a:t>
            </a:r>
          </a:p>
        </p:txBody>
      </p:sp>
      <p:sp>
        <p:nvSpPr>
          <p:cNvPr id="90" name="TextBox 89"/>
          <p:cNvSpPr txBox="1"/>
          <p:nvPr/>
        </p:nvSpPr>
        <p:spPr>
          <a:xfrm>
            <a:off x="6967728" y="3877056"/>
            <a:ext cx="1865376" cy="411480"/>
          </a:xfrm>
          <a:prstGeom prst="rect">
            <a:avLst/>
          </a:prstGeom>
          <a:noFill/>
        </p:spPr>
        <p:txBody>
          <a:bodyPr wrap="square" lIns="0" rIns="0" tIns="0" bIns="0" anchor="t">
            <a:spAutoFit/>
          </a:bodyPr>
          <a:lstStyle/>
          <a:p>
            <a:pPr algn="l">
              <a:lnSpc>
                <a:spcPct val="125000"/>
              </a:lnSpc>
            </a:pPr>
            <a:r>
              <a:rPr sz="1200" b="0">
                <a:solidFill>
                  <a:srgbClr val="E91D63"/>
                </a:solidFill>
                <a:latin typeface="Source Code Pro"/>
                <a:hlinkClick r:id="rId4"/>
              </a:rPr>
              <a:t>platform.openai.com/tokenizer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Token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1828800"/>
          </a:xfrm>
          <a:prstGeom prst="roundRect">
            <a:avLst>
              <a:gd name="adj" fmla="val 3000"/>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One token, one word</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The same count in every language</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Something you can eyeball</a:t>
            </a:r>
          </a:p>
        </p:txBody>
      </p:sp>
      <p:sp>
        <p:nvSpPr>
          <p:cNvPr id="31" name="Rounded Rectangle 30"/>
          <p:cNvSpPr/>
          <p:nvPr/>
        </p:nvSpPr>
        <p:spPr>
          <a:xfrm>
            <a:off x="4754880" y="1426464"/>
            <a:ext cx="4078224" cy="1828800"/>
          </a:xfrm>
          <a:prstGeom prst="roundRect">
            <a:avLst>
              <a:gd name="adj" fmla="val 3000"/>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frequent sequence of characters</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fixed vocabulary, learned once</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Countable, before you send it</a:t>
            </a:r>
          </a:p>
        </p:txBody>
      </p:sp>
      <p:sp>
        <p:nvSpPr>
          <p:cNvPr id="36" name="TextBox 35"/>
          <p:cNvSpPr txBox="1"/>
          <p:nvPr/>
        </p:nvSpPr>
        <p:spPr>
          <a:xfrm>
            <a:off x="310896" y="340156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Every model ships with its vocabulary already fixed, so a given sentence has one token count and you can know it in advance.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Split, Number, Predict, Repeat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1897380" cy="1097280"/>
          </a:xfrm>
          <a:prstGeom prst="roundRect">
            <a:avLst>
              <a:gd name="adj" fmla="val 4166"/>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67335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Your text</a:t>
            </a:r>
          </a:p>
        </p:txBody>
      </p:sp>
      <p:sp>
        <p:nvSpPr>
          <p:cNvPr id="28" name="TextBox 27"/>
          <p:cNvSpPr txBox="1"/>
          <p:nvPr/>
        </p:nvSpPr>
        <p:spPr>
          <a:xfrm>
            <a:off x="402336" y="2020824"/>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typed as normal</a:t>
            </a:r>
          </a:p>
        </p:txBody>
      </p:sp>
      <p:sp>
        <p:nvSpPr>
          <p:cNvPr id="29" name="Right Arrow 28"/>
          <p:cNvSpPr/>
          <p:nvPr/>
        </p:nvSpPr>
        <p:spPr>
          <a:xfrm>
            <a:off x="2272284" y="192938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426464"/>
            <a:ext cx="1897380" cy="1097280"/>
          </a:xfrm>
          <a:prstGeom prst="roundRect">
            <a:avLst>
              <a:gd name="adj" fmla="val 4166"/>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67335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Split</a:t>
            </a:r>
          </a:p>
        </p:txBody>
      </p:sp>
      <p:sp>
        <p:nvSpPr>
          <p:cNvPr id="32" name="TextBox 31"/>
          <p:cNvSpPr txBox="1"/>
          <p:nvPr/>
        </p:nvSpPr>
        <p:spPr>
          <a:xfrm>
            <a:off x="2610612" y="2020824"/>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into known chunks</a:t>
            </a:r>
          </a:p>
        </p:txBody>
      </p:sp>
      <p:sp>
        <p:nvSpPr>
          <p:cNvPr id="33" name="Right Arrow 32"/>
          <p:cNvSpPr/>
          <p:nvPr/>
        </p:nvSpPr>
        <p:spPr>
          <a:xfrm>
            <a:off x="4480560" y="192938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426464"/>
            <a:ext cx="1897380" cy="1097280"/>
          </a:xfrm>
          <a:prstGeom prst="roundRect">
            <a:avLst>
              <a:gd name="adj" fmla="val 4166"/>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673352"/>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Numbered</a:t>
            </a:r>
          </a:p>
        </p:txBody>
      </p:sp>
      <p:sp>
        <p:nvSpPr>
          <p:cNvPr id="36" name="TextBox 35"/>
          <p:cNvSpPr txBox="1"/>
          <p:nvPr/>
        </p:nvSpPr>
        <p:spPr>
          <a:xfrm>
            <a:off x="4818888" y="2020824"/>
            <a:ext cx="171450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one ID per chunk</a:t>
            </a:r>
          </a:p>
        </p:txBody>
      </p:sp>
      <p:sp>
        <p:nvSpPr>
          <p:cNvPr id="37" name="Right Arrow 36"/>
          <p:cNvSpPr/>
          <p:nvPr/>
        </p:nvSpPr>
        <p:spPr>
          <a:xfrm>
            <a:off x="6688836" y="1929384"/>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426464"/>
            <a:ext cx="1897380" cy="1097280"/>
          </a:xfrm>
          <a:prstGeom prst="roundRect">
            <a:avLst>
              <a:gd name="adj" fmla="val 4166"/>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626108"/>
            <a:ext cx="171450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Predicted</a:t>
            </a:r>
          </a:p>
        </p:txBody>
      </p:sp>
      <p:sp>
        <p:nvSpPr>
          <p:cNvPr id="40" name="TextBox 39"/>
          <p:cNvSpPr txBox="1"/>
          <p:nvPr/>
        </p:nvSpPr>
        <p:spPr>
          <a:xfrm>
            <a:off x="7027164" y="1973580"/>
            <a:ext cx="1714500"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next ID, then the next</a:t>
            </a:r>
          </a:p>
        </p:txBody>
      </p:sp>
      <p:sp>
        <p:nvSpPr>
          <p:cNvPr id="41" name="TextBox 40"/>
          <p:cNvSpPr txBox="1"/>
          <p:nvPr/>
        </p:nvSpPr>
        <p:spPr>
          <a:xfrm>
            <a:off x="310896" y="2706624"/>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model never sees your letters. It sees a list of numbers, and it answers by choosing the next number over and over - which is why a reply arrives in pieces rather than all at once:</a:t>
            </a:r>
          </a:p>
        </p:txBody>
      </p:sp>
      <p:sp>
        <p:nvSpPr>
          <p:cNvPr id="42" name="Rounded Rectangle 41"/>
          <p:cNvSpPr/>
          <p:nvPr/>
        </p:nvSpPr>
        <p:spPr>
          <a:xfrm>
            <a:off x="310896" y="3438144"/>
            <a:ext cx="75133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10896" y="3438144"/>
            <a:ext cx="751332" cy="365760"/>
          </a:xfrm>
          <a:prstGeom prst="rect">
            <a:avLst/>
          </a:prstGeom>
          <a:noFill/>
        </p:spPr>
        <p:txBody>
          <a:bodyPr wrap="square" lIns="0" rIns="0" tIns="0" bIns="0" anchor="ctr">
            <a:spAutoFit/>
          </a:bodyPr>
          <a:lstStyle/>
          <a:p>
            <a:pPr algn="ctr"/>
            <a:r>
              <a:rPr sz="1300" b="0">
                <a:solidFill>
                  <a:srgbClr val="424242"/>
                </a:solidFill>
                <a:latin typeface="Source Code Pro"/>
              </a:rPr>
              <a:t>Rough</a:t>
            </a:r>
          </a:p>
        </p:txBody>
      </p:sp>
      <p:sp>
        <p:nvSpPr>
          <p:cNvPr id="44" name="Rounded Rectangle 43"/>
          <p:cNvSpPr/>
          <p:nvPr/>
        </p:nvSpPr>
        <p:spPr>
          <a:xfrm>
            <a:off x="1144524" y="3438144"/>
            <a:ext cx="45415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144524" y="3438144"/>
            <a:ext cx="454152" cy="365760"/>
          </a:xfrm>
          <a:prstGeom prst="rect">
            <a:avLst/>
          </a:prstGeom>
          <a:noFill/>
        </p:spPr>
        <p:txBody>
          <a:bodyPr wrap="square" lIns="0" rIns="0" tIns="0" bIns="0" anchor="ctr">
            <a:spAutoFit/>
          </a:bodyPr>
          <a:lstStyle/>
          <a:p>
            <a:pPr algn="ctr"/>
            <a:r>
              <a:rPr sz="1300" b="0">
                <a:solidFill>
                  <a:srgbClr val="424242"/>
                </a:solidFill>
                <a:latin typeface="Source Code Pro"/>
              </a:rPr>
              <a:t>ly</a:t>
            </a:r>
          </a:p>
        </p:txBody>
      </p:sp>
      <p:sp>
        <p:nvSpPr>
          <p:cNvPr id="46" name="Rounded Rectangle 45"/>
          <p:cNvSpPr/>
          <p:nvPr/>
        </p:nvSpPr>
        <p:spPr>
          <a:xfrm>
            <a:off x="1680972" y="3438144"/>
            <a:ext cx="65227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680972" y="3438144"/>
            <a:ext cx="652272" cy="365760"/>
          </a:xfrm>
          <a:prstGeom prst="rect">
            <a:avLst/>
          </a:prstGeom>
          <a:noFill/>
        </p:spPr>
        <p:txBody>
          <a:bodyPr wrap="square" lIns="0" rIns="0" tIns="0" bIns="0" anchor="ctr">
            <a:spAutoFit/>
          </a:bodyPr>
          <a:lstStyle/>
          <a:p>
            <a:pPr algn="ctr"/>
            <a:r>
              <a:rPr sz="1300" b="0">
                <a:solidFill>
                  <a:srgbClr val="424242"/>
                </a:solidFill>
                <a:latin typeface="Source Code Pro"/>
              </a:rPr>
              <a:t>four</a:t>
            </a:r>
          </a:p>
        </p:txBody>
      </p:sp>
      <p:sp>
        <p:nvSpPr>
          <p:cNvPr id="48" name="Rounded Rectangle 47"/>
          <p:cNvSpPr/>
          <p:nvPr/>
        </p:nvSpPr>
        <p:spPr>
          <a:xfrm>
            <a:off x="2415540" y="3438144"/>
            <a:ext cx="124663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415540" y="3438144"/>
            <a:ext cx="1246632" cy="365760"/>
          </a:xfrm>
          <a:prstGeom prst="rect">
            <a:avLst/>
          </a:prstGeom>
          <a:noFill/>
        </p:spPr>
        <p:txBody>
          <a:bodyPr wrap="square" lIns="0" rIns="0" tIns="0" bIns="0" anchor="ctr">
            <a:spAutoFit/>
          </a:bodyPr>
          <a:lstStyle/>
          <a:p>
            <a:pPr algn="ctr"/>
            <a:r>
              <a:rPr sz="1300" b="0">
                <a:solidFill>
                  <a:srgbClr val="424242"/>
                </a:solidFill>
                <a:latin typeface="Source Code Pro"/>
              </a:rPr>
              <a:t>characters</a:t>
            </a:r>
          </a:p>
        </p:txBody>
      </p:sp>
      <p:sp>
        <p:nvSpPr>
          <p:cNvPr id="50" name="Rounded Rectangle 49"/>
          <p:cNvSpPr/>
          <p:nvPr/>
        </p:nvSpPr>
        <p:spPr>
          <a:xfrm>
            <a:off x="3744468" y="3438144"/>
            <a:ext cx="45415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744468" y="3438144"/>
            <a:ext cx="454152" cy="365760"/>
          </a:xfrm>
          <a:prstGeom prst="rect">
            <a:avLst/>
          </a:prstGeom>
          <a:noFill/>
        </p:spPr>
        <p:txBody>
          <a:bodyPr wrap="square" lIns="0" rIns="0" tIns="0" bIns="0" anchor="ctr">
            <a:spAutoFit/>
          </a:bodyPr>
          <a:lstStyle/>
          <a:p>
            <a:pPr algn="ctr"/>
            <a:r>
              <a:rPr sz="1300" b="0">
                <a:solidFill>
                  <a:srgbClr val="424242"/>
                </a:solidFill>
                <a:latin typeface="Source Code Pro"/>
              </a:rPr>
              <a:t>to</a:t>
            </a:r>
          </a:p>
        </p:txBody>
      </p:sp>
      <p:sp>
        <p:nvSpPr>
          <p:cNvPr id="52" name="Rounded Rectangle 51"/>
          <p:cNvSpPr/>
          <p:nvPr/>
        </p:nvSpPr>
        <p:spPr>
          <a:xfrm>
            <a:off x="4280916" y="3438144"/>
            <a:ext cx="55321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280916" y="3438144"/>
            <a:ext cx="553212" cy="365760"/>
          </a:xfrm>
          <a:prstGeom prst="rect">
            <a:avLst/>
          </a:prstGeom>
          <a:noFill/>
        </p:spPr>
        <p:txBody>
          <a:bodyPr wrap="square" lIns="0" rIns="0" tIns="0" bIns="0" anchor="ctr">
            <a:spAutoFit/>
          </a:bodyPr>
          <a:lstStyle/>
          <a:p>
            <a:pPr algn="ctr"/>
            <a:r>
              <a:rPr sz="1300" b="0">
                <a:solidFill>
                  <a:srgbClr val="424242"/>
                </a:solidFill>
                <a:latin typeface="Source Code Pro"/>
              </a:rPr>
              <a:t>the</a:t>
            </a:r>
          </a:p>
        </p:txBody>
      </p:sp>
      <p:sp>
        <p:nvSpPr>
          <p:cNvPr id="54" name="Rounded Rectangle 53"/>
          <p:cNvSpPr/>
          <p:nvPr/>
        </p:nvSpPr>
        <p:spPr>
          <a:xfrm>
            <a:off x="4916424" y="3438144"/>
            <a:ext cx="751332" cy="365760"/>
          </a:xfrm>
          <a:prstGeom prst="roundRect">
            <a:avLst>
              <a:gd name="adj" fmla="val 125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4916424" y="3438144"/>
            <a:ext cx="751332" cy="365760"/>
          </a:xfrm>
          <a:prstGeom prst="rect">
            <a:avLst/>
          </a:prstGeom>
          <a:noFill/>
        </p:spPr>
        <p:txBody>
          <a:bodyPr wrap="square" lIns="0" rIns="0" tIns="0" bIns="0" anchor="ctr">
            <a:spAutoFit/>
          </a:bodyPr>
          <a:lstStyle/>
          <a:p>
            <a:pPr algn="ctr"/>
            <a:r>
              <a:rPr sz="1300" b="0">
                <a:solidFill>
                  <a:srgbClr val="424242"/>
                </a:solidFill>
                <a:latin typeface="Source Code Pro"/>
              </a:rPr>
              <a:t>token</a:t>
            </a:r>
          </a:p>
        </p:txBody>
      </p:sp>
      <p:sp>
        <p:nvSpPr>
          <p:cNvPr id="56" name="Rounded Rectangle 55"/>
          <p:cNvSpPr/>
          <p:nvPr/>
        </p:nvSpPr>
        <p:spPr>
          <a:xfrm>
            <a:off x="5750052" y="3438144"/>
            <a:ext cx="355092" cy="365760"/>
          </a:xfrm>
          <a:prstGeom prst="roundRect">
            <a:avLst>
              <a:gd name="adj" fmla="val 12875"/>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5750052" y="3438144"/>
            <a:ext cx="355092" cy="365760"/>
          </a:xfrm>
          <a:prstGeom prst="rect">
            <a:avLst/>
          </a:prstGeom>
          <a:noFill/>
        </p:spPr>
        <p:txBody>
          <a:bodyPr wrap="square" lIns="0" rIns="0" tIns="0" bIns="0" anchor="ctr">
            <a:spAutoFit/>
          </a:bodyPr>
          <a:lstStyle/>
          <a:p>
            <a:pPr algn="ctr"/>
            <a:r>
              <a:rPr sz="1300" b="1">
                <a:solidFill>
                  <a:srgbClr val="424242"/>
                </a:solidFill>
                <a:latin typeface="Source Code Pro"/>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Has to Fit in the Context Window</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5522976" cy="3008376"/>
          </a:xfrm>
          <a:prstGeom prst="roundRect">
            <a:avLst>
              <a:gd name="adj" fmla="val 178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5522976"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5522976"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866083"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4645152"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System</a:t>
            </a:r>
          </a:p>
        </p:txBody>
      </p:sp>
      <p:sp>
        <p:nvSpPr>
          <p:cNvPr id="32" name="TextBox 31"/>
          <p:cNvSpPr txBox="1"/>
          <p:nvPr/>
        </p:nvSpPr>
        <p:spPr>
          <a:xfrm>
            <a:off x="512064" y="2057400"/>
            <a:ext cx="5230368" cy="210312"/>
          </a:xfrm>
          <a:prstGeom prst="rect">
            <a:avLst/>
          </a:prstGeom>
          <a:noFill/>
        </p:spPr>
        <p:txBody>
          <a:bodyPr wrap="none" lIns="0" rIns="0" tIns="0" bIns="0" anchor="t">
            <a:spAutoFit/>
          </a:bodyPr>
          <a:lstStyle/>
          <a:p>
            <a:pPr algn="l"/>
            <a:r>
              <a:rPr sz="1125" b="0">
                <a:solidFill>
                  <a:srgbClr val="F7F7FA"/>
                </a:solidFill>
                <a:latin typeface="Arial"/>
              </a:rPr>
              <a:t>You are a helpful assistant.</a:t>
            </a:r>
          </a:p>
        </p:txBody>
      </p:sp>
      <p:sp>
        <p:nvSpPr>
          <p:cNvPr id="33" name="TextBox 32"/>
          <p:cNvSpPr txBox="1"/>
          <p:nvPr/>
        </p:nvSpPr>
        <p:spPr>
          <a:xfrm>
            <a:off x="512064" y="23134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4" name="TextBox 33"/>
          <p:cNvSpPr txBox="1"/>
          <p:nvPr/>
        </p:nvSpPr>
        <p:spPr>
          <a:xfrm>
            <a:off x="512064" y="2514600"/>
            <a:ext cx="5230368" cy="210312"/>
          </a:xfrm>
          <a:prstGeom prst="rect">
            <a:avLst/>
          </a:prstGeom>
          <a:noFill/>
        </p:spPr>
        <p:txBody>
          <a:bodyPr wrap="none" lIns="0" rIns="0" tIns="0" bIns="0" anchor="t">
            <a:spAutoFit/>
          </a:bodyPr>
          <a:lstStyle/>
          <a:p>
            <a:pPr algn="l"/>
            <a:r>
              <a:rPr sz="1125" b="0">
                <a:solidFill>
                  <a:srgbClr val="F7F7FA"/>
                </a:solidFill>
                <a:latin typeface="Arial"/>
              </a:rPr>
              <a:t>Summarise this report in five points.</a:t>
            </a:r>
          </a:p>
        </p:txBody>
      </p:sp>
      <p:sp>
        <p:nvSpPr>
          <p:cNvPr id="37" name="Rounded Rectangle 36"/>
          <p:cNvSpPr/>
          <p:nvPr/>
        </p:nvSpPr>
        <p:spPr>
          <a:xfrm>
            <a:off x="475488" y="2770632"/>
            <a:ext cx="5303520" cy="649224"/>
          </a:xfrm>
          <a:prstGeom prst="roundRect">
            <a:avLst>
              <a:gd name="adj" fmla="val 7042"/>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 y="2889504"/>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6" name="TextBox 35"/>
          <p:cNvSpPr txBox="1"/>
          <p:nvPr/>
        </p:nvSpPr>
        <p:spPr>
          <a:xfrm>
            <a:off x="621792" y="3090672"/>
            <a:ext cx="5010912" cy="210312"/>
          </a:xfrm>
          <a:prstGeom prst="rect">
            <a:avLst/>
          </a:prstGeom>
          <a:noFill/>
        </p:spPr>
        <p:txBody>
          <a:bodyPr wrap="none" lIns="0" rIns="0" tIns="0" bIns="0" anchor="t">
            <a:spAutoFit/>
          </a:bodyPr>
          <a:lstStyle/>
          <a:p>
            <a:pPr algn="l"/>
            <a:r>
              <a:rPr sz="1125" b="0">
                <a:solidFill>
                  <a:srgbClr val="F7F7FA"/>
                </a:solidFill>
                <a:latin typeface="Arial"/>
              </a:rPr>
              <a:t>1. Revenue is flat.  2. Churn is up.  3. …</a:t>
            </a:r>
          </a:p>
        </p:txBody>
      </p:sp>
      <p:sp>
        <p:nvSpPr>
          <p:cNvPr id="38" name="TextBox 37"/>
          <p:cNvSpPr txBox="1"/>
          <p:nvPr/>
        </p:nvSpPr>
        <p:spPr>
          <a:xfrm>
            <a:off x="512064" y="350215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9" name="Rounded Rectangle 38"/>
          <p:cNvSpPr/>
          <p:nvPr/>
        </p:nvSpPr>
        <p:spPr>
          <a:xfrm>
            <a:off x="466344" y="3694176"/>
            <a:ext cx="209740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703320"/>
            <a:ext cx="5230368" cy="210312"/>
          </a:xfrm>
          <a:prstGeom prst="rect">
            <a:avLst/>
          </a:prstGeom>
          <a:noFill/>
        </p:spPr>
        <p:txBody>
          <a:bodyPr wrap="none" lIns="0" rIns="0" tIns="0" bIns="0" anchor="t">
            <a:spAutoFit/>
          </a:bodyPr>
          <a:lstStyle/>
          <a:p>
            <a:pPr algn="l"/>
            <a:r>
              <a:rPr sz="1125" b="0">
                <a:solidFill>
                  <a:srgbClr val="F7F7FA"/>
                </a:solidFill>
                <a:latin typeface="Arial"/>
              </a:rPr>
              <a:t>Now turn that into a tweet.</a:t>
            </a:r>
          </a:p>
        </p:txBody>
      </p:sp>
      <p:sp>
        <p:nvSpPr>
          <p:cNvPr id="41" name="Rounded Rectangle 40"/>
          <p:cNvSpPr/>
          <p:nvPr/>
        </p:nvSpPr>
        <p:spPr>
          <a:xfrm>
            <a:off x="512064" y="4023359"/>
            <a:ext cx="5230368"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096511"/>
            <a:ext cx="4608576"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5468112" y="4069079"/>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468112" y="4069079"/>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
        <p:nvSpPr>
          <p:cNvPr id="45" name="Rectangle 44"/>
          <p:cNvSpPr/>
          <p:nvPr/>
        </p:nvSpPr>
        <p:spPr>
          <a:xfrm>
            <a:off x="246888" y="1773936"/>
            <a:ext cx="32004" cy="2148839"/>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246888" y="1773936"/>
            <a:ext cx="146304" cy="32004"/>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246888" y="3890771"/>
            <a:ext cx="146304" cy="32004"/>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108192" y="1737360"/>
            <a:ext cx="2798064" cy="274320"/>
          </a:xfrm>
          <a:prstGeom prst="rect">
            <a:avLst/>
          </a:prstGeom>
          <a:noFill/>
        </p:spPr>
        <p:txBody>
          <a:bodyPr wrap="square" lIns="0" rIns="0" tIns="0" bIns="0" anchor="t">
            <a:spAutoFit/>
          </a:bodyPr>
          <a:lstStyle/>
          <a:p>
            <a:pPr algn="l"/>
            <a:r>
              <a:rPr sz="1300" b="1">
                <a:solidFill>
                  <a:srgbClr val="E91D63"/>
                </a:solidFill>
                <a:latin typeface="Source Code Pro"/>
              </a:rPr>
              <a:t>The context window</a:t>
            </a:r>
          </a:p>
        </p:txBody>
      </p:sp>
      <p:sp>
        <p:nvSpPr>
          <p:cNvPr id="49" name="TextBox 48"/>
          <p:cNvSpPr txBox="1"/>
          <p:nvPr/>
        </p:nvSpPr>
        <p:spPr>
          <a:xfrm>
            <a:off x="6108192" y="2084831"/>
            <a:ext cx="2798064" cy="1097280"/>
          </a:xfrm>
          <a:prstGeom prst="rect">
            <a:avLst/>
          </a:prstGeom>
          <a:noFill/>
        </p:spPr>
        <p:txBody>
          <a:bodyPr wrap="square" lIns="0" rIns="0" tIns="0" bIns="0" anchor="t">
            <a:spAutoFit/>
          </a:bodyPr>
          <a:lstStyle/>
          <a:p>
            <a:pPr algn="l">
              <a:lnSpc>
                <a:spcPct val="125000"/>
              </a:lnSpc>
            </a:pPr>
            <a:r>
              <a:rPr sz="1200" b="0">
                <a:solidFill>
                  <a:srgbClr val="424242"/>
                </a:solidFill>
                <a:latin typeface="Source Code Pro"/>
              </a:rPr>
              <a:t>Everything inside the bracket is sent again, in full, on every turn. The model remembers nothing between turns - it only has this.</a:t>
            </a:r>
          </a:p>
        </p:txBody>
      </p:sp>
      <p:sp>
        <p:nvSpPr>
          <p:cNvPr id="50" name="Left Arrow 49"/>
          <p:cNvSpPr/>
          <p:nvPr/>
        </p:nvSpPr>
        <p:spPr>
          <a:xfrm>
            <a:off x="5907024" y="3520439"/>
            <a:ext cx="164592" cy="146304"/>
          </a:xfrm>
          <a:prstGeom prst="lef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08192" y="3310128"/>
            <a:ext cx="2798064" cy="512064"/>
          </a:xfrm>
          <a:prstGeom prst="rect">
            <a:avLst/>
          </a:prstGeom>
          <a:noFill/>
        </p:spPr>
        <p:txBody>
          <a:bodyPr wrap="square" lIns="0" rIns="0" tIns="0" bIns="0" anchor="t">
            <a:spAutoFit/>
          </a:bodyPr>
          <a:lstStyle/>
          <a:p>
            <a:pPr algn="l">
              <a:lnSpc>
                <a:spcPct val="120000"/>
              </a:lnSpc>
            </a:pPr>
            <a:r>
              <a:rPr sz="1200" b="0">
                <a:solidFill>
                  <a:srgbClr val="6B6B6B"/>
                </a:solidFill>
                <a:latin typeface="Source Code Pro"/>
              </a:rPr>
              <a:t>What you just typed is one line of it.</a:t>
            </a:r>
          </a:p>
        </p:txBody>
      </p:sp>
      <p:sp>
        <p:nvSpPr>
          <p:cNvPr id="52" name="TextBox 51"/>
          <p:cNvSpPr txBox="1"/>
          <p:nvPr/>
        </p:nvSpPr>
        <p:spPr>
          <a:xfrm>
            <a:off x="6108192" y="3895344"/>
            <a:ext cx="2798064" cy="658368"/>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Fill the window and something gives: the reply is cut short, or the oldest turns stop being sent.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Turn Re-sends the Whole Thread</a:t>
            </a:r>
          </a:p>
        </p:txBody>
      </p:sp>
      <p:sp>
        <p:nvSpPr>
          <p:cNvPr id="3" name="Text Placeholder 2"/>
          <p:cNvSpPr>
            <a:spLocks noGrp="1"/>
          </p:cNvSpPr>
          <p:nvPr>
            <p:ph type="body" idx="1"/>
          </p:nvPr>
        </p:nvSpPr>
        <p:spPr>
          <a:xfrm>
            <a:off x="5349240" y="1426464"/>
            <a:ext cx="3483863" cy="3072384"/>
          </a:xfrm>
        </p:spPr>
        <p:txBody>
          <a:bodyPr wrap="square" anchor="ctr"/>
          <a:lstStyle/>
          <a:p>
            <a:pPr marL="0" indent="0">
              <a:buNone/>
            </a:pPr>
            <a:r>
              <a:t>A model holds nothing between requests. Each turn re-sends everything above it, so a long thread is counted again with every message you add.</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480560" cy="3072384"/>
          </a:xfrm>
          <a:prstGeom prst="roundRect">
            <a:avLst>
              <a:gd name="adj" fmla="val 1818"/>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48056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48056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136392"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602736" y="1527048"/>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4187952" cy="210312"/>
          </a:xfrm>
          <a:prstGeom prst="rect">
            <a:avLst/>
          </a:prstGeom>
          <a:noFill/>
        </p:spPr>
        <p:txBody>
          <a:bodyPr wrap="none" lIns="0" rIns="0" tIns="0" bIns="0" anchor="t">
            <a:spAutoFit/>
          </a:bodyPr>
          <a:lstStyle/>
          <a:p>
            <a:pPr algn="l"/>
            <a:r>
              <a:rPr sz="1125" b="0">
                <a:solidFill>
                  <a:srgbClr val="F7F7FA"/>
                </a:solidFill>
                <a:latin typeface="Arial"/>
              </a:rPr>
              <a:t>Summarise this report in five points.</a:t>
            </a:r>
          </a:p>
        </p:txBody>
      </p:sp>
      <p:sp>
        <p:nvSpPr>
          <p:cNvPr id="35" name="Rounded Rectangle 34"/>
          <p:cNvSpPr/>
          <p:nvPr/>
        </p:nvSpPr>
        <p:spPr>
          <a:xfrm>
            <a:off x="475488" y="2322576"/>
            <a:ext cx="4261104" cy="704088"/>
          </a:xfrm>
          <a:prstGeom prst="roundRect">
            <a:avLst>
              <a:gd name="adj" fmla="val 6493"/>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41448"/>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42616"/>
            <a:ext cx="3968496" cy="210312"/>
          </a:xfrm>
          <a:prstGeom prst="rect">
            <a:avLst/>
          </a:prstGeom>
          <a:noFill/>
        </p:spPr>
        <p:txBody>
          <a:bodyPr wrap="none" lIns="0" rIns="0" tIns="0" bIns="0" anchor="t">
            <a:spAutoFit/>
          </a:bodyPr>
          <a:lstStyle/>
          <a:p>
            <a:pPr algn="l"/>
            <a:r>
              <a:rPr sz="1125" b="0">
                <a:solidFill>
                  <a:srgbClr val="F7F7FA"/>
                </a:solidFill>
                <a:latin typeface="Arial"/>
              </a:rPr>
              <a:t>1. Revenue is flat.  2. Churn is up…</a:t>
            </a:r>
          </a:p>
        </p:txBody>
      </p:sp>
      <p:sp>
        <p:nvSpPr>
          <p:cNvPr id="36" name="TextBox 35"/>
          <p:cNvSpPr txBox="1"/>
          <p:nvPr/>
        </p:nvSpPr>
        <p:spPr>
          <a:xfrm>
            <a:off x="512064" y="3063240"/>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7" name="TextBox 36"/>
          <p:cNvSpPr txBox="1"/>
          <p:nvPr/>
        </p:nvSpPr>
        <p:spPr>
          <a:xfrm>
            <a:off x="512064" y="3264408"/>
            <a:ext cx="4187952" cy="210312"/>
          </a:xfrm>
          <a:prstGeom prst="rect">
            <a:avLst/>
          </a:prstGeom>
          <a:noFill/>
        </p:spPr>
        <p:txBody>
          <a:bodyPr wrap="none" lIns="0" rIns="0" tIns="0" bIns="0" anchor="t">
            <a:spAutoFit/>
          </a:bodyPr>
          <a:lstStyle/>
          <a:p>
            <a:pPr algn="l"/>
            <a:r>
              <a:rPr sz="1125" b="0">
                <a:solidFill>
                  <a:srgbClr val="F7F7FA"/>
                </a:solidFill>
                <a:latin typeface="Arial"/>
              </a:rPr>
              <a:t>Now turn that into a tweet.</a:t>
            </a:r>
          </a:p>
        </p:txBody>
      </p:sp>
      <p:sp>
        <p:nvSpPr>
          <p:cNvPr id="38" name="TextBox 37"/>
          <p:cNvSpPr txBox="1"/>
          <p:nvPr/>
        </p:nvSpPr>
        <p:spPr>
          <a:xfrm>
            <a:off x="512064" y="3566160"/>
            <a:ext cx="1737360" cy="173736"/>
          </a:xfrm>
          <a:prstGeom prst="rect">
            <a:avLst/>
          </a:prstGeom>
          <a:noFill/>
        </p:spPr>
        <p:txBody>
          <a:bodyPr wrap="square" lIns="0" rIns="0" tIns="0" bIns="0" anchor="t">
            <a:spAutoFit/>
          </a:bodyPr>
          <a:lstStyle/>
          <a:p>
            <a:pPr algn="l"/>
            <a:r>
              <a:rPr sz="885" b="1">
                <a:solidFill>
                  <a:srgbClr val="C6C7D0"/>
                </a:solidFill>
                <a:latin typeface="Arial"/>
              </a:rPr>
              <a:t>Sent with the second turn</a:t>
            </a:r>
          </a:p>
        </p:txBody>
      </p:sp>
      <p:sp>
        <p:nvSpPr>
          <p:cNvPr id="39" name="Rounded Rectangle 38"/>
          <p:cNvSpPr/>
          <p:nvPr/>
        </p:nvSpPr>
        <p:spPr>
          <a:xfrm>
            <a:off x="466344" y="3758184"/>
            <a:ext cx="291465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767328"/>
            <a:ext cx="4187952" cy="210312"/>
          </a:xfrm>
          <a:prstGeom prst="rect">
            <a:avLst/>
          </a:prstGeom>
          <a:noFill/>
        </p:spPr>
        <p:txBody>
          <a:bodyPr wrap="none" lIns="0" rIns="0" tIns="0" bIns="0" anchor="t">
            <a:spAutoFit/>
          </a:bodyPr>
          <a:lstStyle/>
          <a:p>
            <a:pPr algn="l"/>
            <a:r>
              <a:rPr sz="1125" b="0">
                <a:solidFill>
                  <a:srgbClr val="F7F7FA"/>
                </a:solidFill>
                <a:latin typeface="Arial"/>
              </a:rPr>
              <a:t>The report, both questions, the answer</a:t>
            </a:r>
          </a:p>
        </p:txBody>
      </p:sp>
      <p:sp>
        <p:nvSpPr>
          <p:cNvPr id="41" name="Rounded Rectangle 40"/>
          <p:cNvSpPr/>
          <p:nvPr/>
        </p:nvSpPr>
        <p:spPr>
          <a:xfrm>
            <a:off x="512064" y="4087368"/>
            <a:ext cx="4187952"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160520"/>
            <a:ext cx="3566160"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4425696" y="4133088"/>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425696" y="4133088"/>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 Limits - Set by the Model You Pick</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103120"/>
          </a:xfrm>
          <a:prstGeom prst="roundRect">
            <a:avLst>
              <a:gd name="adj" fmla="val 2608"/>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Input limit</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How much you may send</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Prompt, thread, files, all of it</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Hit it and the request is refused</a:t>
            </a:r>
          </a:p>
        </p:txBody>
      </p:sp>
      <p:sp>
        <p:nvSpPr>
          <p:cNvPr id="31" name="Rounded Rectangle 30"/>
          <p:cNvSpPr/>
          <p:nvPr/>
        </p:nvSpPr>
        <p:spPr>
          <a:xfrm>
            <a:off x="4754880" y="1426464"/>
            <a:ext cx="4078224" cy="2103120"/>
          </a:xfrm>
          <a:prstGeom prst="roundRect">
            <a:avLst>
              <a:gd name="adj" fmla="val 2608"/>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Output limit</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How much it may write back</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Far smaller than the input limit</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Hit it and the answer is cut off</a:t>
            </a:r>
          </a:p>
        </p:txBody>
      </p:sp>
      <p:sp>
        <p:nvSpPr>
          <p:cNvPr id="36" name="TextBox 35"/>
          <p:cNvSpPr txBox="1"/>
          <p:nvPr/>
        </p:nvSpPr>
        <p:spPr>
          <a:xfrm>
            <a:off x="310896" y="3675887"/>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These are not settings you tune - they come with the model you chose, so picking a model is picking a budget. Two failures that look alike: a refused request means you sent too much, a truncated answer means you left it too little room.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Counting Them Without Guessing</a:t>
            </a:r>
          </a:p>
        </p:txBody>
      </p:sp>
      <p:sp>
        <p:nvSpPr>
          <p:cNvPr id="3" name="Text Placeholder 2"/>
          <p:cNvSpPr>
            <a:spLocks noGrp="1"/>
          </p:cNvSpPr>
          <p:nvPr>
            <p:ph type="body" idx="1"/>
          </p:nvPr>
        </p:nvSpPr>
        <p:spPr>
          <a:xfrm>
            <a:off x="5989320" y="1389888"/>
            <a:ext cx="2843784" cy="2578608"/>
          </a:xfrm>
        </p:spPr>
        <p:txBody>
          <a:bodyPr wrap="square" anchor="ctr"/>
          <a:lstStyle/>
          <a:p>
            <a:pPr marL="0" indent="0">
              <a:buNone/>
            </a:pPr>
            <a:r>
              <a:t>The tokeniser is a library, not a mystery: the same rules the model uses, available to you. Count before you send, and a limit stops being something you discover by hitting it.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6" name="Picture 25" descr="tiktoken.png"/>
          <p:cNvPicPr>
            <a:picLocks noChangeAspect="1"/>
          </p:cNvPicPr>
          <p:nvPr/>
        </p:nvPicPr>
        <p:blipFill>
          <a:blip r:embed="rId2"/>
          <a:stretch>
            <a:fillRect/>
          </a:stretch>
        </p:blipFill>
        <p:spPr>
          <a:xfrm>
            <a:off x="365760" y="1517904"/>
            <a:ext cx="5120640" cy="1430638"/>
          </a:xfrm>
          <a:prstGeom prst="rect">
            <a:avLst/>
          </a:prstGeom>
        </p:spPr>
      </p:pic>
      <p:sp>
        <p:nvSpPr>
          <p:cNvPr id="27" name="TextBox 26"/>
          <p:cNvSpPr txBox="1"/>
          <p:nvPr/>
        </p:nvSpPr>
        <p:spPr>
          <a:xfrm>
            <a:off x="365760" y="3058270"/>
            <a:ext cx="5120640" cy="237744"/>
          </a:xfrm>
          <a:prstGeom prst="rect">
            <a:avLst/>
          </a:prstGeom>
          <a:noFill/>
        </p:spPr>
        <p:txBody>
          <a:bodyPr wrap="square" lIns="0" rIns="0" tIns="0" bIns="0" anchor="t">
            <a:spAutoFit/>
          </a:bodyPr>
          <a:lstStyle/>
          <a:p>
            <a:pPr algn="l"/>
            <a:r>
              <a:rPr sz="1200" b="0">
                <a:solidFill>
                  <a:srgbClr val="6B6B6B"/>
                </a:solidFill>
                <a:latin typeface="Source Code Pro"/>
              </a:rPr>
              <a:t>Encode to count. Decode to prove nothing was lost.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the Window Fills Up</a:t>
            </a:r>
          </a:p>
        </p:txBody>
      </p:sp>
      <p:sp>
        <p:nvSpPr>
          <p:cNvPr id="3" name="Text Placeholder 2"/>
          <p:cNvSpPr>
            <a:spLocks noGrp="1"/>
          </p:cNvSpPr>
          <p:nvPr>
            <p:ph type="body" idx="1"/>
          </p:nvPr>
        </p:nvSpPr>
        <p:spPr>
          <a:xfrm>
            <a:off x="311700" y="1874519"/>
            <a:ext cx="3999900" cy="2679191"/>
          </a:xfrm>
        </p:spPr>
        <p:txBody>
          <a:bodyPr/>
          <a:lstStyle/>
          <a:p>
            <a:r>
              <a:t>The message is refused outright</a:t>
            </a:r>
          </a:p>
          <a:p>
            <a:r>
              <a:t>Or the oldest turns quietly drop out</a:t>
            </a:r>
          </a:p>
          <a:p>
            <a:r>
              <a:t>Or they are compressed into a summary you cannot read</a:t>
            </a:r>
          </a:p>
        </p:txBody>
      </p:sp>
      <p:sp>
        <p:nvSpPr>
          <p:cNvPr id="4" name="Text Placeholder 3"/>
          <p:cNvSpPr>
            <a:spLocks noGrp="1"/>
          </p:cNvSpPr>
          <p:nvPr>
            <p:ph type="body" idx="2"/>
          </p:nvPr>
        </p:nvSpPr>
        <p:spPr>
          <a:xfrm>
            <a:off x="4832400" y="1874519"/>
            <a:ext cx="3999900" cy="2679191"/>
          </a:xfrm>
        </p:spPr>
        <p:txBody>
          <a:bodyPr/>
          <a:lstStyle/>
          <a:p>
            <a:r>
              <a:t>Send the relevant extract, not the whole file</a:t>
            </a:r>
          </a:p>
          <a:p>
            <a:r>
              <a:t>Work in chunks, then combine the results</a:t>
            </a:r>
          </a:p>
          <a:p>
            <a:r>
              <a:t>Carry a summary forward instead of the transcript</a:t>
            </a:r>
          </a:p>
          <a:p>
            <a:r>
              <a:t>Start a fresh conversation for a fresh task</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What happens</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What you do about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A Token Has Three Prices, Not One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TextBox 25"/>
          <p:cNvSpPr txBox="1"/>
          <p:nvPr/>
        </p:nvSpPr>
        <p:spPr>
          <a:xfrm>
            <a:off x="310896" y="1426464"/>
            <a:ext cx="2286000" cy="292608"/>
          </a:xfrm>
          <a:prstGeom prst="rect">
            <a:avLst/>
          </a:prstGeom>
          <a:noFill/>
        </p:spPr>
        <p:txBody>
          <a:bodyPr wrap="square" lIns="0" rIns="0" tIns="0" bIns="0" anchor="b">
            <a:spAutoFit/>
          </a:bodyPr>
          <a:lstStyle/>
          <a:p>
            <a:pPr algn="l"/>
            <a:r>
              <a:rPr sz="1300" b="1">
                <a:solidFill>
                  <a:srgbClr val="424242"/>
                </a:solidFill>
                <a:latin typeface="Source Code Pro"/>
              </a:rPr>
              <a:t>Cached input</a:t>
            </a:r>
          </a:p>
        </p:txBody>
      </p:sp>
      <p:sp>
        <p:nvSpPr>
          <p:cNvPr id="27" name="TextBox 26"/>
          <p:cNvSpPr txBox="1"/>
          <p:nvPr/>
        </p:nvSpPr>
        <p:spPr>
          <a:xfrm>
            <a:off x="310896" y="1755648"/>
            <a:ext cx="2286000" cy="292608"/>
          </a:xfrm>
          <a:prstGeom prst="rect">
            <a:avLst/>
          </a:prstGeom>
          <a:noFill/>
        </p:spPr>
        <p:txBody>
          <a:bodyPr wrap="square" lIns="0" rIns="0" tIns="0" bIns="0" anchor="t">
            <a:spAutoFit/>
          </a:bodyPr>
          <a:lstStyle/>
          <a:p>
            <a:pPr algn="l"/>
            <a:r>
              <a:rPr sz="1200" b="0">
                <a:solidFill>
                  <a:srgbClr val="6B6B6B"/>
                </a:solidFill>
                <a:latin typeface="Source Code Pro"/>
              </a:rPr>
              <a:t>an opening seen before</a:t>
            </a:r>
          </a:p>
        </p:txBody>
      </p:sp>
      <p:sp>
        <p:nvSpPr>
          <p:cNvPr id="28" name="Rounded Rectangle 27"/>
          <p:cNvSpPr/>
          <p:nvPr/>
        </p:nvSpPr>
        <p:spPr>
          <a:xfrm>
            <a:off x="2743200" y="1554480"/>
            <a:ext cx="2103120" cy="402336"/>
          </a:xfrm>
          <a:prstGeom prst="roundRect">
            <a:avLst>
              <a:gd name="adj" fmla="val 1136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889504" y="1554480"/>
            <a:ext cx="1810511" cy="402336"/>
          </a:xfrm>
          <a:prstGeom prst="rect">
            <a:avLst/>
          </a:prstGeom>
          <a:noFill/>
        </p:spPr>
        <p:txBody>
          <a:bodyPr wrap="square" lIns="0" rIns="0" tIns="0" bIns="0" anchor="ctr">
            <a:spAutoFit/>
          </a:bodyPr>
          <a:lstStyle/>
          <a:p>
            <a:pPr algn="l"/>
            <a:r>
              <a:rPr sz="1200" b="0">
                <a:solidFill>
                  <a:srgbClr val="424242"/>
                </a:solidFill>
                <a:latin typeface="Source Code Pro"/>
              </a:rPr>
              <a:t>a fraction of input</a:t>
            </a:r>
          </a:p>
        </p:txBody>
      </p:sp>
      <p:sp>
        <p:nvSpPr>
          <p:cNvPr id="30" name="TextBox 29"/>
          <p:cNvSpPr txBox="1"/>
          <p:nvPr/>
        </p:nvSpPr>
        <p:spPr>
          <a:xfrm>
            <a:off x="310896" y="2084832"/>
            <a:ext cx="2286000" cy="292608"/>
          </a:xfrm>
          <a:prstGeom prst="rect">
            <a:avLst/>
          </a:prstGeom>
          <a:noFill/>
        </p:spPr>
        <p:txBody>
          <a:bodyPr wrap="square" lIns="0" rIns="0" tIns="0" bIns="0" anchor="b">
            <a:spAutoFit/>
          </a:bodyPr>
          <a:lstStyle/>
          <a:p>
            <a:pPr algn="l"/>
            <a:r>
              <a:rPr sz="1300" b="1">
                <a:solidFill>
                  <a:srgbClr val="424242"/>
                </a:solidFill>
                <a:latin typeface="Source Code Pro"/>
              </a:rPr>
              <a:t>Input</a:t>
            </a:r>
          </a:p>
        </p:txBody>
      </p:sp>
      <p:sp>
        <p:nvSpPr>
          <p:cNvPr id="31" name="TextBox 30"/>
          <p:cNvSpPr txBox="1"/>
          <p:nvPr/>
        </p:nvSpPr>
        <p:spPr>
          <a:xfrm>
            <a:off x="310896" y="2414016"/>
            <a:ext cx="2286000" cy="292608"/>
          </a:xfrm>
          <a:prstGeom prst="rect">
            <a:avLst/>
          </a:prstGeom>
          <a:noFill/>
        </p:spPr>
        <p:txBody>
          <a:bodyPr wrap="square" lIns="0" rIns="0" tIns="0" bIns="0" anchor="t">
            <a:spAutoFit/>
          </a:bodyPr>
          <a:lstStyle/>
          <a:p>
            <a:pPr algn="l"/>
            <a:r>
              <a:rPr sz="1200" b="0">
                <a:solidFill>
                  <a:srgbClr val="6B6B6B"/>
                </a:solidFill>
                <a:latin typeface="Source Code Pro"/>
              </a:rPr>
              <a:t>your prompt and thread</a:t>
            </a:r>
          </a:p>
        </p:txBody>
      </p:sp>
      <p:sp>
        <p:nvSpPr>
          <p:cNvPr id="32" name="Rounded Rectangle 31"/>
          <p:cNvSpPr/>
          <p:nvPr/>
        </p:nvSpPr>
        <p:spPr>
          <a:xfrm>
            <a:off x="2743200" y="2212848"/>
            <a:ext cx="3200400" cy="402336"/>
          </a:xfrm>
          <a:prstGeom prst="roundRect">
            <a:avLst>
              <a:gd name="adj" fmla="val 1136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889504" y="2212848"/>
            <a:ext cx="2907792" cy="402336"/>
          </a:xfrm>
          <a:prstGeom prst="rect">
            <a:avLst/>
          </a:prstGeom>
          <a:noFill/>
        </p:spPr>
        <p:txBody>
          <a:bodyPr wrap="square" lIns="0" rIns="0" tIns="0" bIns="0" anchor="ctr">
            <a:spAutoFit/>
          </a:bodyPr>
          <a:lstStyle/>
          <a:p>
            <a:pPr algn="l"/>
            <a:r>
              <a:rPr sz="1200" b="0">
                <a:solidFill>
                  <a:srgbClr val="424242"/>
                </a:solidFill>
                <a:latin typeface="Source Code Pro"/>
              </a:rPr>
              <a:t>the baseline</a:t>
            </a:r>
          </a:p>
        </p:txBody>
      </p:sp>
      <p:sp>
        <p:nvSpPr>
          <p:cNvPr id="34" name="TextBox 33"/>
          <p:cNvSpPr txBox="1"/>
          <p:nvPr/>
        </p:nvSpPr>
        <p:spPr>
          <a:xfrm>
            <a:off x="310896" y="2743200"/>
            <a:ext cx="2286000" cy="292608"/>
          </a:xfrm>
          <a:prstGeom prst="rect">
            <a:avLst/>
          </a:prstGeom>
          <a:noFill/>
        </p:spPr>
        <p:txBody>
          <a:bodyPr wrap="square" lIns="0" rIns="0" tIns="0" bIns="0" anchor="b">
            <a:spAutoFit/>
          </a:bodyPr>
          <a:lstStyle/>
          <a:p>
            <a:pPr algn="l"/>
            <a:r>
              <a:rPr sz="1300" b="1">
                <a:solidFill>
                  <a:srgbClr val="424242"/>
                </a:solidFill>
                <a:latin typeface="Source Code Pro"/>
              </a:rPr>
              <a:t>Output</a:t>
            </a:r>
          </a:p>
        </p:txBody>
      </p:sp>
      <p:sp>
        <p:nvSpPr>
          <p:cNvPr id="35" name="TextBox 34"/>
          <p:cNvSpPr txBox="1"/>
          <p:nvPr/>
        </p:nvSpPr>
        <p:spPr>
          <a:xfrm>
            <a:off x="310896" y="3072384"/>
            <a:ext cx="2286000" cy="292608"/>
          </a:xfrm>
          <a:prstGeom prst="rect">
            <a:avLst/>
          </a:prstGeom>
          <a:noFill/>
        </p:spPr>
        <p:txBody>
          <a:bodyPr wrap="square" lIns="0" rIns="0" tIns="0" bIns="0" anchor="t">
            <a:spAutoFit/>
          </a:bodyPr>
          <a:lstStyle/>
          <a:p>
            <a:pPr algn="l"/>
            <a:r>
              <a:rPr sz="1200" b="0">
                <a:solidFill>
                  <a:srgbClr val="6B6B6B"/>
                </a:solidFill>
                <a:latin typeface="Source Code Pro"/>
              </a:rPr>
              <a:t>every word it writes back</a:t>
            </a:r>
          </a:p>
        </p:txBody>
      </p:sp>
      <p:sp>
        <p:nvSpPr>
          <p:cNvPr id="36" name="Rounded Rectangle 35"/>
          <p:cNvSpPr/>
          <p:nvPr/>
        </p:nvSpPr>
        <p:spPr>
          <a:xfrm>
            <a:off x="2743200" y="2871216"/>
            <a:ext cx="5943600" cy="402336"/>
          </a:xfrm>
          <a:prstGeom prst="roundRect">
            <a:avLst>
              <a:gd name="adj" fmla="val 11363"/>
            </a:avLst>
          </a:prstGeom>
          <a:solidFill>
            <a:srgbClr val="FBE4EC"/>
          </a:solidFill>
          <a:ln w="15875">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889504" y="2871216"/>
            <a:ext cx="5650992" cy="402336"/>
          </a:xfrm>
          <a:prstGeom prst="rect">
            <a:avLst/>
          </a:prstGeom>
          <a:noFill/>
        </p:spPr>
        <p:txBody>
          <a:bodyPr wrap="square" lIns="0" rIns="0" tIns="0" bIns="0" anchor="ctr">
            <a:spAutoFit/>
          </a:bodyPr>
          <a:lstStyle/>
          <a:p>
            <a:pPr algn="l"/>
            <a:r>
              <a:rPr sz="1200" b="0">
                <a:solidFill>
                  <a:srgbClr val="424242"/>
                </a:solidFill>
                <a:latin typeface="Source Code Pro"/>
              </a:rPr>
              <a:t>several times the input rate</a:t>
            </a:r>
          </a:p>
        </p:txBody>
      </p:sp>
      <p:sp>
        <p:nvSpPr>
          <p:cNvPr id="38" name="TextBox 37"/>
          <p:cNvSpPr txBox="1"/>
          <p:nvPr/>
        </p:nvSpPr>
        <p:spPr>
          <a:xfrm>
            <a:off x="310896" y="3529584"/>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bars show the ordering, not a scale. Providers publish these three rates separately and revise them constantly - the ordering is what has held, and it is the part worth memorising.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Caching Pays for the Part It Recognises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TextBox 25"/>
          <p:cNvSpPr txBox="1"/>
          <p:nvPr/>
        </p:nvSpPr>
        <p:spPr>
          <a:xfrm>
            <a:off x="310896" y="1463040"/>
            <a:ext cx="1517904" cy="237744"/>
          </a:xfrm>
          <a:prstGeom prst="rect">
            <a:avLst/>
          </a:prstGeom>
          <a:noFill/>
        </p:spPr>
        <p:txBody>
          <a:bodyPr wrap="square" lIns="0" rIns="0" tIns="0" bIns="0" anchor="t">
            <a:spAutoFit/>
          </a:bodyPr>
          <a:lstStyle/>
          <a:p>
            <a:pPr algn="l"/>
            <a:r>
              <a:rPr sz="1200" b="1">
                <a:solidFill>
                  <a:srgbClr val="424242"/>
                </a:solidFill>
                <a:latin typeface="Source Code Pro"/>
              </a:rPr>
              <a:t>First time</a:t>
            </a:r>
          </a:p>
        </p:txBody>
      </p:sp>
      <p:sp>
        <p:nvSpPr>
          <p:cNvPr id="27" name="TextBox 26"/>
          <p:cNvSpPr txBox="1"/>
          <p:nvPr/>
        </p:nvSpPr>
        <p:spPr>
          <a:xfrm>
            <a:off x="310896" y="1700784"/>
            <a:ext cx="1517904" cy="365760"/>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nothing to recognise</a:t>
            </a:r>
          </a:p>
        </p:txBody>
      </p:sp>
      <p:sp>
        <p:nvSpPr>
          <p:cNvPr id="28" name="Rounded Rectangle 27"/>
          <p:cNvSpPr/>
          <p:nvPr/>
        </p:nvSpPr>
        <p:spPr>
          <a:xfrm>
            <a:off x="1956816" y="1444752"/>
            <a:ext cx="6876288" cy="566928"/>
          </a:xfrm>
          <a:prstGeom prst="roundRect">
            <a:avLst>
              <a:gd name="adj" fmla="val 806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048256" y="1444752"/>
            <a:ext cx="6693408" cy="566928"/>
          </a:xfrm>
          <a:prstGeom prst="rect">
            <a:avLst/>
          </a:prstGeom>
          <a:noFill/>
        </p:spPr>
        <p:txBody>
          <a:bodyPr wrap="square" lIns="0" rIns="0" tIns="0" bIns="0" anchor="ctr">
            <a:spAutoFit/>
          </a:bodyPr>
          <a:lstStyle/>
          <a:p>
            <a:pPr algn="ctr"/>
            <a:r>
              <a:rPr sz="1200" b="0">
                <a:solidFill>
                  <a:srgbClr val="6B6B6B"/>
                </a:solidFill>
                <a:latin typeface="Source Code Pro"/>
              </a:rPr>
              <a:t>all of it new - full price</a:t>
            </a:r>
          </a:p>
        </p:txBody>
      </p:sp>
      <p:sp>
        <p:nvSpPr>
          <p:cNvPr id="30" name="TextBox 29"/>
          <p:cNvSpPr txBox="1"/>
          <p:nvPr/>
        </p:nvSpPr>
        <p:spPr>
          <a:xfrm>
            <a:off x="310896" y="2176272"/>
            <a:ext cx="1517904" cy="237744"/>
          </a:xfrm>
          <a:prstGeom prst="rect">
            <a:avLst/>
          </a:prstGeom>
          <a:noFill/>
        </p:spPr>
        <p:txBody>
          <a:bodyPr wrap="square" lIns="0" rIns="0" tIns="0" bIns="0" anchor="t">
            <a:spAutoFit/>
          </a:bodyPr>
          <a:lstStyle/>
          <a:p>
            <a:pPr algn="l"/>
            <a:r>
              <a:rPr sz="1200" b="1">
                <a:solidFill>
                  <a:srgbClr val="424242"/>
                </a:solidFill>
                <a:latin typeface="Source Code Pro"/>
              </a:rPr>
              <a:t>Ask again</a:t>
            </a:r>
          </a:p>
        </p:txBody>
      </p:sp>
      <p:sp>
        <p:nvSpPr>
          <p:cNvPr id="31" name="TextBox 30"/>
          <p:cNvSpPr txBox="1"/>
          <p:nvPr/>
        </p:nvSpPr>
        <p:spPr>
          <a:xfrm>
            <a:off x="310896" y="2414016"/>
            <a:ext cx="1517904" cy="365760"/>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same opening, new question</a:t>
            </a:r>
          </a:p>
        </p:txBody>
      </p:sp>
      <p:sp>
        <p:nvSpPr>
          <p:cNvPr id="32" name="Rounded Rectangle 31"/>
          <p:cNvSpPr/>
          <p:nvPr/>
        </p:nvSpPr>
        <p:spPr>
          <a:xfrm>
            <a:off x="1956816" y="2157984"/>
            <a:ext cx="4932639"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048256" y="2157984"/>
            <a:ext cx="4731471" cy="566928"/>
          </a:xfrm>
          <a:prstGeom prst="rect">
            <a:avLst/>
          </a:prstGeom>
          <a:noFill/>
        </p:spPr>
        <p:txBody>
          <a:bodyPr wrap="square" lIns="0" rIns="0" tIns="0" bIns="0" anchor="ctr">
            <a:spAutoFit/>
          </a:bodyPr>
          <a:lstStyle/>
          <a:p>
            <a:pPr algn="ctr"/>
            <a:r>
              <a:rPr sz="1200" b="0">
                <a:solidFill>
                  <a:srgbClr val="424242"/>
                </a:solidFill>
                <a:latin typeface="Source Code Pro"/>
              </a:rPr>
              <a:t>matched - cheap</a:t>
            </a:r>
          </a:p>
        </p:txBody>
      </p:sp>
      <p:sp>
        <p:nvSpPr>
          <p:cNvPr id="34" name="Rounded Rectangle 33"/>
          <p:cNvSpPr/>
          <p:nvPr/>
        </p:nvSpPr>
        <p:spPr>
          <a:xfrm>
            <a:off x="6907743" y="2157984"/>
            <a:ext cx="1925360" cy="566928"/>
          </a:xfrm>
          <a:prstGeom prst="roundRect">
            <a:avLst>
              <a:gd name="adj" fmla="val 8064"/>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99183" y="2157984"/>
            <a:ext cx="1742480" cy="566928"/>
          </a:xfrm>
          <a:prstGeom prst="rect">
            <a:avLst/>
          </a:prstGeom>
          <a:noFill/>
        </p:spPr>
        <p:txBody>
          <a:bodyPr wrap="square" lIns="0" rIns="0" tIns="0" bIns="0" anchor="ctr">
            <a:spAutoFit/>
          </a:bodyPr>
          <a:lstStyle/>
          <a:p>
            <a:pPr algn="ctr"/>
            <a:r>
              <a:rPr sz="1200" b="0">
                <a:solidFill>
                  <a:srgbClr val="6B6B6B"/>
                </a:solidFill>
                <a:latin typeface="Source Code Pro"/>
              </a:rPr>
              <a:t>new - full price</a:t>
            </a:r>
          </a:p>
        </p:txBody>
      </p:sp>
      <p:sp>
        <p:nvSpPr>
          <p:cNvPr id="36" name="TextBox 35"/>
          <p:cNvSpPr txBox="1"/>
          <p:nvPr/>
        </p:nvSpPr>
        <p:spPr>
          <a:xfrm>
            <a:off x="310896" y="2889504"/>
            <a:ext cx="1517904" cy="237744"/>
          </a:xfrm>
          <a:prstGeom prst="rect">
            <a:avLst/>
          </a:prstGeom>
          <a:noFill/>
        </p:spPr>
        <p:txBody>
          <a:bodyPr wrap="square" lIns="0" rIns="0" tIns="0" bIns="0" anchor="t">
            <a:spAutoFit/>
          </a:bodyPr>
          <a:lstStyle/>
          <a:p>
            <a:pPr algn="l"/>
            <a:r>
              <a:rPr sz="1200" b="1">
                <a:solidFill>
                  <a:srgbClr val="424242"/>
                </a:solidFill>
                <a:latin typeface="Source Code Pro"/>
              </a:rPr>
              <a:t>Edit the top</a:t>
            </a:r>
          </a:p>
        </p:txBody>
      </p:sp>
      <p:sp>
        <p:nvSpPr>
          <p:cNvPr id="37" name="TextBox 36"/>
          <p:cNvSpPr txBox="1"/>
          <p:nvPr/>
        </p:nvSpPr>
        <p:spPr>
          <a:xfrm>
            <a:off x="310896" y="3127248"/>
            <a:ext cx="1517904" cy="365760"/>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one word changed early</a:t>
            </a:r>
          </a:p>
        </p:txBody>
      </p:sp>
      <p:sp>
        <p:nvSpPr>
          <p:cNvPr id="38" name="Rounded Rectangle 37"/>
          <p:cNvSpPr/>
          <p:nvPr/>
        </p:nvSpPr>
        <p:spPr>
          <a:xfrm>
            <a:off x="1956816" y="2871216"/>
            <a:ext cx="806866"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2781970" y="2871216"/>
            <a:ext cx="6051133" cy="566928"/>
          </a:xfrm>
          <a:prstGeom prst="roundRect">
            <a:avLst>
              <a:gd name="adj" fmla="val 8064"/>
            </a:avLst>
          </a:prstGeom>
          <a:solidFill>
            <a:srgbClr val="F5F5F7"/>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873410" y="2871216"/>
            <a:ext cx="5868253" cy="566928"/>
          </a:xfrm>
          <a:prstGeom prst="rect">
            <a:avLst/>
          </a:prstGeom>
          <a:noFill/>
        </p:spPr>
        <p:txBody>
          <a:bodyPr wrap="square" lIns="0" rIns="0" tIns="0" bIns="0" anchor="ctr">
            <a:spAutoFit/>
          </a:bodyPr>
          <a:lstStyle/>
          <a:p>
            <a:pPr algn="ctr"/>
            <a:r>
              <a:rPr sz="1200" b="0">
                <a:solidFill>
                  <a:srgbClr val="6B6B6B"/>
                </a:solidFill>
                <a:latin typeface="Source Code Pro"/>
              </a:rPr>
              <a:t>the match broke here - full price again</a:t>
            </a:r>
          </a:p>
        </p:txBody>
      </p:sp>
      <p:sp>
        <p:nvSpPr>
          <p:cNvPr id="41" name="TextBox 40"/>
          <p:cNvSpPr txBox="1"/>
          <p:nvPr/>
        </p:nvSpPr>
        <p:spPr>
          <a:xfrm>
            <a:off x="310896" y="3675888"/>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match runs from the very first character and stops at the first difference, so a date or a reordered line near the top throws the whole discount away. Stable material first; the part that changes, last.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of These Prices Do You Actually Pay?</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304288"/>
          </a:xfrm>
          <a:prstGeom prst="roundRect">
            <a:avLst>
              <a:gd name="adj" fmla="val 2380"/>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On a ChatGPT subscription</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You never see a per-token bill</a:t>
            </a:r>
          </a:p>
        </p:txBody>
      </p:sp>
      <p:sp>
        <p:nvSpPr>
          <p:cNvPr id="29" name="TextBox 28"/>
          <p:cNvSpPr txBox="1"/>
          <p:nvPr/>
        </p:nvSpPr>
        <p:spPr>
          <a:xfrm>
            <a:off x="493776" y="2286000"/>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You get an allowance per model instead</a:t>
            </a:r>
          </a:p>
        </p:txBody>
      </p:sp>
      <p:sp>
        <p:nvSpPr>
          <p:cNvPr id="30" name="TextBox 29"/>
          <p:cNvSpPr txBox="1"/>
          <p:nvPr/>
        </p:nvSpPr>
        <p:spPr>
          <a:xfrm>
            <a:off x="493776" y="2718816"/>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Allowances refill on a rolling window, with a weekly cap on top</a:t>
            </a:r>
          </a:p>
        </p:txBody>
      </p:sp>
      <p:sp>
        <p:nvSpPr>
          <p:cNvPr id="31" name="TextBox 30"/>
          <p:cNvSpPr txBox="1"/>
          <p:nvPr/>
        </p:nvSpPr>
        <p:spPr>
          <a:xfrm>
            <a:off x="493776" y="3151631"/>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Hit one and you wait for the reset, or switch model</a:t>
            </a:r>
          </a:p>
        </p:txBody>
      </p:sp>
      <p:sp>
        <p:nvSpPr>
          <p:cNvPr id="32" name="Rounded Rectangle 31"/>
          <p:cNvSpPr/>
          <p:nvPr/>
        </p:nvSpPr>
        <p:spPr>
          <a:xfrm>
            <a:off x="4754880" y="1426464"/>
            <a:ext cx="4078224" cy="2304288"/>
          </a:xfrm>
          <a:prstGeom prst="roundRect">
            <a:avLst>
              <a:gd name="adj" fmla="val 2380"/>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Building on the API</a:t>
            </a:r>
          </a:p>
        </p:txBody>
      </p:sp>
      <p:sp>
        <p:nvSpPr>
          <p:cNvPr id="34" name="TextBox 33"/>
          <p:cNvSpPr txBox="1"/>
          <p:nvPr/>
        </p:nvSpPr>
        <p:spPr>
          <a:xfrm>
            <a:off x="4937760" y="1975104"/>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You pay per token, in the three buckets</a:t>
            </a:r>
          </a:p>
        </p:txBody>
      </p:sp>
      <p:sp>
        <p:nvSpPr>
          <p:cNvPr id="35" name="TextBox 34"/>
          <p:cNvSpPr txBox="1"/>
          <p:nvPr/>
        </p:nvSpPr>
        <p:spPr>
          <a:xfrm>
            <a:off x="4937760" y="24079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Caching is a real lever you control</a:t>
            </a:r>
          </a:p>
        </p:txBody>
      </p:sp>
      <p:sp>
        <p:nvSpPr>
          <p:cNvPr id="36" name="TextBox 35"/>
          <p:cNvSpPr txBox="1"/>
          <p:nvPr/>
        </p:nvSpPr>
        <p:spPr>
          <a:xfrm>
            <a:off x="4937760" y="2718816"/>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Prompt order becomes an engineering decision</a:t>
            </a:r>
          </a:p>
        </p:txBody>
      </p:sp>
      <p:sp>
        <p:nvSpPr>
          <p:cNvPr id="37" name="TextBox 36"/>
          <p:cNvSpPr txBox="1"/>
          <p:nvPr/>
        </p:nvSpPr>
        <p:spPr>
          <a:xfrm>
            <a:off x="4937760" y="3151631"/>
            <a:ext cx="3712463" cy="39624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We come back to this properly later in the course</a:t>
            </a:r>
          </a:p>
        </p:txBody>
      </p:sp>
      <p:sp>
        <p:nvSpPr>
          <p:cNvPr id="38" name="TextBox 37"/>
          <p:cNvSpPr txBox="1"/>
          <p:nvPr/>
        </p:nvSpPr>
        <p:spPr>
          <a:xfrm>
            <a:off x="310896" y="387705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Same tokens underneath, billed two different ways. On a subscription the cost of a long thread is not money, it is your allowance - which is why a runaway conversation quietly eats your week.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That Changes About How You Prompt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1828800"/>
          </a:xfrm>
          <a:prstGeom prst="roundRect">
            <a:avLst>
              <a:gd name="adj" fmla="val 3000"/>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Cheaper than it looks</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long brief, pasted once</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Worked examples of what you want</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Standing instructions you reuse</a:t>
            </a:r>
          </a:p>
        </p:txBody>
      </p:sp>
      <p:sp>
        <p:nvSpPr>
          <p:cNvPr id="31" name="Rounded Rectangle 30"/>
          <p:cNvSpPr/>
          <p:nvPr/>
        </p:nvSpPr>
        <p:spPr>
          <a:xfrm>
            <a:off x="4754880" y="1426464"/>
            <a:ext cx="4078224" cy="1828800"/>
          </a:xfrm>
          <a:prstGeom prst="roundRect">
            <a:avLst>
              <a:gd name="adj" fmla="val 3000"/>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Dearer than it looks</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long essay written back</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"Give me ten versions"</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Re-generating instead of editing</a:t>
            </a:r>
          </a:p>
        </p:txBody>
      </p:sp>
      <p:sp>
        <p:nvSpPr>
          <p:cNvPr id="36" name="TextBox 35"/>
          <p:cNvSpPr txBox="1"/>
          <p:nvPr/>
        </p:nvSpPr>
        <p:spPr>
          <a:xfrm>
            <a:off x="310896" y="340156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Be generous with the context you give, specific about the length you ask for, and consistent about the order you give it in. The expensive half of a conversation is the half you did not write.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go and count some tokens for real.</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Count a sentence</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paste it into a tokeniser</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Try another language</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same meaning, more tokens</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Read a price table</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three columns, not one</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