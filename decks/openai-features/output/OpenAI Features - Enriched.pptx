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6bd06473ce4389" /><Relationship Type="http://schemas.openxmlformats.org/officeDocument/2006/relationships/extended-properties" Target="/docProps/app.xml" Id="R7d47345f1c5c4da4" /><Relationship Type="http://schemas.openxmlformats.org/officeDocument/2006/relationships/officeDocument" Target="/ppt/presentation.xml" Id="Rfa5b1b5fd0734ab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c81424c04f7486b"/>
  </p:sldMasterIdLst>
  <p:notesMasterIdLst>
    <p:notesMasterId xmlns:r="http://schemas.openxmlformats.org/officeDocument/2006/relationships" r:id="Rfdbc1f79688b46d6"/>
  </p:notesMasterIdLst>
  <p:sldIdLst>
    <p:sldId xmlns:r="http://schemas.openxmlformats.org/officeDocument/2006/relationships" id="256" r:id="R82639511eeea4111"/>
    <p:sldId xmlns:r="http://schemas.openxmlformats.org/officeDocument/2006/relationships" id="257" r:id="Rc575a2e79cc74319"/>
    <p:sldId xmlns:r="http://schemas.openxmlformats.org/officeDocument/2006/relationships" id="258" r:id="R9c23fe01da3a4ff3"/>
    <p:sldId xmlns:r="http://schemas.openxmlformats.org/officeDocument/2006/relationships" id="259" r:id="R380e70cecfaf4746"/>
    <p:sldId xmlns:r="http://schemas.openxmlformats.org/officeDocument/2006/relationships" id="260" r:id="Rdd0abcdc53784bf9"/>
    <p:sldId xmlns:r="http://schemas.openxmlformats.org/officeDocument/2006/relationships" id="261" r:id="R2d87fab97cfd4537"/>
    <p:sldId xmlns:r="http://schemas.openxmlformats.org/officeDocument/2006/relationships" id="262" r:id="R03e884ca1a9148bc"/>
    <p:sldId xmlns:r="http://schemas.openxmlformats.org/officeDocument/2006/relationships" id="263" r:id="Rb001a6dc526d47e3"/>
    <p:sldId xmlns:r="http://schemas.openxmlformats.org/officeDocument/2006/relationships" id="264" r:id="R810edd33ac5f4871"/>
    <p:sldId xmlns:r="http://schemas.openxmlformats.org/officeDocument/2006/relationships" id="265" r:id="R59bf9c0f7fd1438e"/>
    <p:sldId xmlns:r="http://schemas.openxmlformats.org/officeDocument/2006/relationships" id="266" r:id="R9704f5312e9d4e73"/>
    <p:sldId xmlns:r="http://schemas.openxmlformats.org/officeDocument/2006/relationships" id="267" r:id="Re6d09e2420ee41f9"/>
    <p:sldId xmlns:r="http://schemas.openxmlformats.org/officeDocument/2006/relationships" id="268" r:id="R6f60a471af01442e"/>
    <p:sldId xmlns:r="http://schemas.openxmlformats.org/officeDocument/2006/relationships" id="269" r:id="R5f682279040c4eb1"/>
    <p:sldId xmlns:r="http://schemas.openxmlformats.org/officeDocument/2006/relationships" id="270" r:id="Rd8d583581257475a"/>
    <p:sldId xmlns:r="http://schemas.openxmlformats.org/officeDocument/2006/relationships" id="271" r:id="R178baf655d46445e"/>
    <p:sldId xmlns:r="http://schemas.openxmlformats.org/officeDocument/2006/relationships" id="272" r:id="Rea68a95f39424aec"/>
    <p:sldId xmlns:r="http://schemas.openxmlformats.org/officeDocument/2006/relationships" id="273" r:id="R307eb8f2c02a4a9d"/>
    <p:sldId xmlns:r="http://schemas.openxmlformats.org/officeDocument/2006/relationships" id="274" r:id="R8b41c8ed300e49f3"/>
  </p:sldIdLst>
  <p:sldSz cx="9144000" cy="5143500"/>
  <p:notesSz cx="6858000" cy="9144000"/>
  <p:embeddedFontLst>
    <p:embeddedFont>
      <p:font typeface="Source Code Pro"/>
      <p:regular xmlns:r="http://schemas.openxmlformats.org/officeDocument/2006/relationships" r:id="Reb9ca5845f4242de"/>
      <p:bold xmlns:r="http://schemas.openxmlformats.org/officeDocument/2006/relationships" r:id="R9eedf1b5b9ce4e40"/>
      <p:italic xmlns:r="http://schemas.openxmlformats.org/officeDocument/2006/relationships" r:id="R73a13d792c2d41ad"/>
      <p:boldItalic xmlns:r="http://schemas.openxmlformats.org/officeDocument/2006/relationships" r:id="R4d0506fbe3db463d"/>
    </p:embeddedFont>
    <p:embeddedFont>
      <p:font typeface="Oswald"/>
      <p:regular xmlns:r="http://schemas.openxmlformats.org/officeDocument/2006/relationships" r:id="Rc4fc4af40a5249d7"/>
      <p:bold xmlns:r="http://schemas.openxmlformats.org/officeDocument/2006/relationships" r:id="Rb9187124bd35449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dd15c456fb3a45e1" /><Relationship Type="http://schemas.openxmlformats.org/officeDocument/2006/relationships/slideMaster" Target="/ppt/slideMasters/slideMaster1.xml" Id="Rfc81424c04f7486b" /><Relationship Type="http://schemas.openxmlformats.org/officeDocument/2006/relationships/notesMaster" Target="/ppt/notesMasters/notesMaster1.xml" Id="Rfdbc1f79688b46d6" /><Relationship Type="http://schemas.openxmlformats.org/officeDocument/2006/relationships/presProps" Target="/ppt/presProps.xml" Id="R51f20d831b6e4ff8" /><Relationship Type="http://schemas.openxmlformats.org/officeDocument/2006/relationships/viewProps" Target="/ppt/viewProps.xml" Id="Re13812f5034f4566" /><Relationship Type="http://schemas.openxmlformats.org/officeDocument/2006/relationships/tableStyles" Target="/ppt/tableStyles.xml" Id="R0d40bd2c5b864913" /><Relationship Type="http://schemas.openxmlformats.org/officeDocument/2006/relationships/font" Target="/ppt/fonts/font.dat" Id="Reb9ca5845f4242de" /><Relationship Type="http://schemas.openxmlformats.org/officeDocument/2006/relationships/font" Target="/ppt/fonts/font2.dat" Id="R9eedf1b5b9ce4e40" /><Relationship Type="http://schemas.openxmlformats.org/officeDocument/2006/relationships/font" Target="/ppt/fonts/font3.dat" Id="R73a13d792c2d41ad" /><Relationship Type="http://schemas.openxmlformats.org/officeDocument/2006/relationships/font" Target="/ppt/fonts/font4.dat" Id="R4d0506fbe3db463d" /><Relationship Type="http://schemas.openxmlformats.org/officeDocument/2006/relationships/font" Target="/ppt/fonts/font5.dat" Id="Rc4fc4af40a5249d7" /><Relationship Type="http://schemas.openxmlformats.org/officeDocument/2006/relationships/font" Target="/ppt/fonts/font6.dat" Id="Rb9187124bd35449f" /><Relationship Type="http://schemas.openxmlformats.org/officeDocument/2006/relationships/slide" Target="/ppt/slides/slide1.xml" Id="R82639511eeea4111" /><Relationship Type="http://schemas.openxmlformats.org/officeDocument/2006/relationships/slide" Target="/ppt/slides/slide2.xml" Id="Rc575a2e79cc74319" /><Relationship Type="http://schemas.openxmlformats.org/officeDocument/2006/relationships/slide" Target="/ppt/slides/slide3.xml" Id="R9c23fe01da3a4ff3" /><Relationship Type="http://schemas.openxmlformats.org/officeDocument/2006/relationships/slide" Target="/ppt/slides/slide4.xml" Id="R380e70cecfaf4746" /><Relationship Type="http://schemas.openxmlformats.org/officeDocument/2006/relationships/slide" Target="/ppt/slides/slide5.xml" Id="Rdd0abcdc53784bf9" /><Relationship Type="http://schemas.openxmlformats.org/officeDocument/2006/relationships/slide" Target="/ppt/slides/slide6.xml" Id="R2d87fab97cfd4537" /><Relationship Type="http://schemas.openxmlformats.org/officeDocument/2006/relationships/slide" Target="/ppt/slides/slide7.xml" Id="R03e884ca1a9148bc" /><Relationship Type="http://schemas.openxmlformats.org/officeDocument/2006/relationships/slide" Target="/ppt/slides/slide8.xml" Id="Rb001a6dc526d47e3" /><Relationship Type="http://schemas.openxmlformats.org/officeDocument/2006/relationships/slide" Target="/ppt/slides/slide9.xml" Id="R810edd33ac5f4871" /><Relationship Type="http://schemas.openxmlformats.org/officeDocument/2006/relationships/slide" Target="/ppt/slides/slide10.xml" Id="R59bf9c0f7fd1438e" /><Relationship Type="http://schemas.openxmlformats.org/officeDocument/2006/relationships/slide" Target="/ppt/slides/slide11.xml" Id="R9704f5312e9d4e73" /><Relationship Type="http://schemas.openxmlformats.org/officeDocument/2006/relationships/slide" Target="/ppt/slides/slide12.xml" Id="Re6d09e2420ee41f9" /><Relationship Type="http://schemas.openxmlformats.org/officeDocument/2006/relationships/slide" Target="/ppt/slides/slide13.xml" Id="R6f60a471af01442e" /><Relationship Type="http://schemas.openxmlformats.org/officeDocument/2006/relationships/slide" Target="/ppt/slides/slide14.xml" Id="R5f682279040c4eb1" /><Relationship Type="http://schemas.openxmlformats.org/officeDocument/2006/relationships/slide" Target="/ppt/slides/slide15.xml" Id="Rd8d583581257475a" /><Relationship Type="http://schemas.openxmlformats.org/officeDocument/2006/relationships/slide" Target="/ppt/slides/slide16.xml" Id="R178baf655d46445e" /><Relationship Type="http://schemas.openxmlformats.org/officeDocument/2006/relationships/slide" Target="/ppt/slides/slide17.xml" Id="Rea68a95f39424aec" /><Relationship Type="http://schemas.openxmlformats.org/officeDocument/2006/relationships/slide" Target="/ppt/slides/slide18.xml" Id="R307eb8f2c02a4a9d" /><Relationship Type="http://schemas.openxmlformats.org/officeDocument/2006/relationships/slide" Target="/ppt/slides/slide19.xml" Id="R8b41c8ed300e49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b9d0b8262143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a91fe958814231" /><Relationship Type="http://schemas.openxmlformats.org/officeDocument/2006/relationships/notesMaster" Target="/ppt/notesMasters/notesMaster1.xml" Id="R3013fd392af045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e76d1a7a34482e" /><Relationship Type="http://schemas.openxmlformats.org/officeDocument/2006/relationships/notesMaster" Target="/ppt/notesMasters/notesMaster1.xml" Id="R6a31451d83b149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aab353e66b4e71" /><Relationship Type="http://schemas.openxmlformats.org/officeDocument/2006/relationships/notesMaster" Target="/ppt/notesMasters/notesMaster1.xml" Id="R57b1617c735b4e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049e37a61b4f54" /><Relationship Type="http://schemas.openxmlformats.org/officeDocument/2006/relationships/notesMaster" Target="/ppt/notesMasters/notesMaster1.xml" Id="R3c4499a79dd648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288db37368477a" /><Relationship Type="http://schemas.openxmlformats.org/officeDocument/2006/relationships/notesMaster" Target="/ppt/notesMasters/notesMaster1.xml" Id="R55af136a829a40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cfd4796335498c" /><Relationship Type="http://schemas.openxmlformats.org/officeDocument/2006/relationships/notesMaster" Target="/ppt/notesMasters/notesMaster1.xml" Id="R4e814626f91e40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73510fcb184749" /><Relationship Type="http://schemas.openxmlformats.org/officeDocument/2006/relationships/notesMaster" Target="/ppt/notesMasters/notesMaster1.xml" Id="Rcf2890fe08ce4e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0dd79790414a36" /><Relationship Type="http://schemas.openxmlformats.org/officeDocument/2006/relationships/notesMaster" Target="/ppt/notesMasters/notesMaster1.xml" Id="Re6325383ee3340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d0bff8c732487a" /><Relationship Type="http://schemas.openxmlformats.org/officeDocument/2006/relationships/notesMaster" Target="/ppt/notesMasters/notesMaster1.xml" Id="Rafd4706d84c949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2dc2f75f27425a" /><Relationship Type="http://schemas.openxmlformats.org/officeDocument/2006/relationships/notesMaster" Target="/ppt/notesMasters/notesMaster1.xml" Id="R5150b22131d149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4ede5afaf24634" /><Relationship Type="http://schemas.openxmlformats.org/officeDocument/2006/relationships/notesMaster" Target="/ppt/notesMasters/notesMaster1.xml" Id="Re9850d1d44a449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6ce313dc674734" /><Relationship Type="http://schemas.openxmlformats.org/officeDocument/2006/relationships/notesMaster" Target="/ppt/notesMasters/notesMaster1.xml" Id="R9e980315e01c4e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d1d3377f8f449a" /><Relationship Type="http://schemas.openxmlformats.org/officeDocument/2006/relationships/notesMaster" Target="/ppt/notesMasters/notesMaster1.xml" Id="Rb57089ff030f47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71070fbc6e48d6" /><Relationship Type="http://schemas.openxmlformats.org/officeDocument/2006/relationships/notesMaster" Target="/ppt/notesMasters/notesMaster1.xml" Id="R24d8fbc434b944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b977611a9a34e8a" /><Relationship Type="http://schemas.openxmlformats.org/officeDocument/2006/relationships/notesMaster" Target="/ppt/notesMasters/notesMaster1.xml" Id="R08cf4a659e304d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ab0f8c50f645ef" /><Relationship Type="http://schemas.openxmlformats.org/officeDocument/2006/relationships/notesMaster" Target="/ppt/notesMasters/notesMaster1.xml" Id="Rf1ad824fda96426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e3772d008045ad" /><Relationship Type="http://schemas.openxmlformats.org/officeDocument/2006/relationships/notesMaster" Target="/ppt/notesMasters/notesMaster1.xml" Id="R249ec6c158fd40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696dced723465b" /><Relationship Type="http://schemas.openxmlformats.org/officeDocument/2006/relationships/notesMaster" Target="/ppt/notesMasters/notesMaster1.xml" Id="Re885cc31dcd44ab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bdebea8a8104717" /><Relationship Type="http://schemas.openxmlformats.org/officeDocument/2006/relationships/notesMaster" Target="/ppt/notesMasters/notesMaster1.xml" Id="Rb6d2653bcd0744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this to the Computer Use lesson earlier in the course. The API gives our application the same ability to work through a visual interface. A useful example is testing a signup page: the agent looks at the screen, decides what to do, and checks the result after acting. With the Responses API, you provide and operate the environment; enabling a tool does not create a hosted desktop. The current docs recommend a code-execution integration for GPT-6 Astra, and also support the native computer tool with structured actions. Both approaches return observations to the model. The notebook uses the native computer tool to make the screenshot/action loop easy to see. Run only inside an isolated test environment, restrict the reachable destinations, and get human approval for consequential actions. This slide describes a capability; no real UI actions were performed while making the deck.</a:t>
            </a:r>
          </a:p>
          <a:p xmlns:a="http://schemas.openxmlformats.org/drawingml/2006/main">
            <a:r>
              <a:t/>
            </a:r>
          </a:p>
          <a:p xmlns:a="http://schemas.openxmlformats.org/drawingml/2006/main">
            <a:r>
              <a:t>Source: https://developers.openai.com/api/docs/guides/tools-computer-use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most useful distinction for beginners: we do not have to write every line of the analysis ourselves. Give the model a file and a task, and Code Interpreter lets it write and run Python in an OpenAI-hosted sandbox. The result can include calculations, charts, a cleaned dataset, or another downloadable file. If a code step fails, the model can revise it and rerun. The configuration shown is the tools argument for a Responses API call with a supported model. Uploaded files must be attached or passed through the container's file_ids; the quoted CSV task is an illustrative prompt, not an executed result. In the companion notebook we upload a small sales CSV, request totals and a chart, check the calculation, and download the generated files. Files live in an ephemeral container, so save the outputs you need before it expires. Tool/container usage has separate API charges. Code Interpreter runs Python; programmatic tool calling on the next slides uses JavaScript to coordinate tools.</a:t>
            </a:r>
          </a:p>
          <a:p xmlns:a="http://schemas.openxmlformats.org/drawingml/2006/main">
            <a:r>
              <a:t/>
            </a:r>
          </a:p>
          <a:p xmlns:a="http://schemas.openxmlformats.org/drawingml/2006/main">
            <a:r>
              <a:t>Source: https://developers.openai.com/api/docs/guides/tools-code-interpreter</a:t>
            </a:r>
          </a:p>
          <a:p xmlns:a="http://schemas.openxmlformats.org/drawingml/2006/main">
            <a:r>
              <a:t>Python logo source: https://www.python.org/community/logos/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Interpreter is focused on Python. Shell gives an agent a terminal for broader work: run commands, inspect files, execute scripts and run tests. OpenAI supports a hosted shell container as well as a local runtime that your application operates. Apply Patch is the file-editing interface: the model requests create, update or delete operations as structured diffs, and your application or harness applies them and returns the outcome. A practical workflow is to edit a script, run its tests, inspect failures and revise the patch. The two tools complement each other, but enabling them is not a claim that every edit or command will succeed. Check the actual results and keep the permissions appropriate for the task.</a:t>
            </a:r>
          </a:p>
          <a:p xmlns:a="http://schemas.openxmlformats.org/drawingml/2006/main">
            <a:r>
              <a:t/>
            </a:r>
          </a:p>
          <a:p xmlns:a="http://schemas.openxmlformats.org/drawingml/2006/main">
            <a:r>
              <a:t>Sources: https://developers.openai.com/api/docs/guides/tools-shell and https://developers.openai.com/api/docs/guides/tools-apply-patch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three distinct mechanisms. Tool Search reduces the need to include every full tool definition at the start: tools can be deferred and loaded when relevant. It searches the tools made available to the application, rather than discovering arbitrary services. Programmatic tool calling lets the model write JavaScript in an isolated hosted V8 runtime to coordinate enabled tools, loop over calls, filter large results and return a compact answer. This JavaScript runtime is different from Code Interpreter's Python sandbox and has no direct Node, filesystem or network access. Access goes through eligible enabled tools. Client-owned tools still run in your application. Tool Search happens at the top level before a program can invoke a newly loaded tool. Async tool calling is another option: the model can continue independent work while your application runs a slow function or custom tool, then you deliver its result later using the call ID. It is not a hosted job runner and is separate from background response generation. Current docs do not allow async calling to be configured together with programmatic calling; async is for direct function/custom calls, not built-in hosted tools. Check supported models and tool types before enabling either option.</a:t>
            </a:r>
          </a:p>
          <a:p xmlns:a="http://schemas.openxmlformats.org/drawingml/2006/main">
            <a:r>
              <a:t/>
            </a:r>
          </a:p>
          <a:p xmlns:a="http://schemas.openxmlformats.org/drawingml/2006/main">
            <a:r>
              <a:t>Sources: https://developers.openai.com/api/docs/guides/tools-tool-search, https://developers.openai.com/api/docs/guides/tools-programmatic-tool-calling, https://developers.openai.com/api/docs/guides/async-tool-calling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586b23436b4a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4c7e75611a47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6c4ed2d68e4b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cc14f510ed4f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be3e0afba44f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7f91bd7d58410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ec8238d3a324ac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9e7a779adfd42b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9232264ec2745d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7a547d1e2cc49b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695e3adbc6f453c"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24157C9D-CC74-4782-A398-A76CC4B2FA0D}"/>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 name="Google Shape;11;p2">
            <a:extLst xmlns:a="http://schemas.openxmlformats.org/drawingml/2006/main">
              <a:ext uri="{FF2B5EF4-FFF2-40B4-BE49-F238E27FC236}">
                <a16:creationId xmlns:a16="http://schemas.microsoft.com/office/drawing/2014/main" id="{5F40FFE4-4CD8-4D8A-B29F-53815E4E315F}"/>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 name="Google Shape;12;p2">
            <a:extLst xmlns:a="http://schemas.openxmlformats.org/drawingml/2006/main">
              <a:ext uri="{FF2B5EF4-FFF2-40B4-BE49-F238E27FC236}">
                <a16:creationId xmlns:a16="http://schemas.microsoft.com/office/drawing/2014/main" id="{EE721652-0EE2-4786-A639-B0F2FAB7EEF1}"/>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291F2EA-2FB5-421A-A0BA-42BC5A48B349}"/>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EB7E5C52-60D7-4A72-9C19-0E2CDA7443D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2">
            <a:extLst xmlns:a="http://schemas.openxmlformats.org/drawingml/2006/main">
              <a:ext uri="{FF2B5EF4-FFF2-40B4-BE49-F238E27FC236}">
                <a16:creationId xmlns:a16="http://schemas.microsoft.com/office/drawing/2014/main" id="{4AFE4940-1F6B-445D-92C7-4D4FFF006702}"/>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The Complete Prompt Engineering for AI Bootcamp</a:t>
            </a:r>
            <a:endParaRPr sz="1100" b="0" i="0" u="none" cap="none">
              <a:solidFill>
                <a:schemeClr val="lt1"/>
              </a:solidFill>
              <a:latin typeface="Source Code Pro"/>
              <a:ea typeface="Source Code Pro"/>
              <a:cs typeface="Source Code Pro"/>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22" name="Google Shape;17;p3"/>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8" name="Google Shape;18;p3">
            <a:extLst xmlns:a="http://schemas.openxmlformats.org/drawingml/2006/main">
              <a:ext uri="{FF2B5EF4-FFF2-40B4-BE49-F238E27FC236}">
                <a16:creationId xmlns:a16="http://schemas.microsoft.com/office/drawing/2014/main" id="{CA32B3A2-83F2-4759-9E14-8AE160D07737}"/>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9C3F73EE-41CD-432F-A3F3-9CC477D96D8D}"/>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0674DC3C-9835-437B-8A42-513A69FE89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3">
            <a:extLst xmlns:a="http://schemas.openxmlformats.org/drawingml/2006/main">
              <a:ext uri="{FF2B5EF4-FFF2-40B4-BE49-F238E27FC236}">
                <a16:creationId xmlns:a16="http://schemas.microsoft.com/office/drawing/2014/main" id="{2AAA9F8D-39A8-4721-84C6-79EF0742577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The Complete Prompt Engineering for AI Bootcamp</a:t>
            </a:r>
            <a:endParaRPr sz="900" b="0" i="0" u="none" cap="none">
              <a:solidFill>
                <a:schemeClr val="dk2"/>
              </a:solidFill>
              <a:latin typeface="Source Code Pro"/>
              <a:ea typeface="Source Code Pro"/>
              <a:cs typeface="Source Code Pro"/>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3" name="Google Shape;23;p4">
            <a:extLst xmlns:a="http://schemas.openxmlformats.org/drawingml/2006/main">
              <a:ext uri="{FF2B5EF4-FFF2-40B4-BE49-F238E27FC236}">
                <a16:creationId xmlns:a16="http://schemas.microsoft.com/office/drawing/2014/main" id="{450436FB-F414-4E1E-B8F3-5E9D6034BDC0}"/>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24" name="Google Shape;24;p4">
            <a:extLst xmlns:a="http://schemas.openxmlformats.org/drawingml/2006/main">
              <a:ext uri="{FF2B5EF4-FFF2-40B4-BE49-F238E27FC236}">
                <a16:creationId xmlns:a16="http://schemas.microsoft.com/office/drawing/2014/main" id="{627CC317-AA90-4195-B317-17CD67FFA2FE}"/>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29D05FE9-16DD-49EA-9E54-CA9CBA2E43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6" name="Google Shape;26;p4">
            <a:extLst xmlns:a="http://schemas.openxmlformats.org/drawingml/2006/main">
              <a:ext uri="{FF2B5EF4-FFF2-40B4-BE49-F238E27FC236}">
                <a16:creationId xmlns:a16="http://schemas.microsoft.com/office/drawing/2014/main" id="{09B85B54-99F7-4CD1-84DA-14D82429AC8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The Complete Prompt Engineering for AI Bootcamp</a:t>
            </a:r>
            <a:endParaRPr sz="900" b="0" i="0" u="none" cap="none">
              <a:solidFill>
                <a:schemeClr val="dk2"/>
              </a:solidFill>
              <a:latin typeface="Source Code Pro"/>
              <a:ea typeface="Source Code Pro"/>
              <a:cs typeface="Source Code Pro"/>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34" name="Google Shape;28;p5"/>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29" name="Google Shape;29;p5">
            <a:extLst xmlns:a="http://schemas.openxmlformats.org/drawingml/2006/main">
              <a:ext uri="{FF2B5EF4-FFF2-40B4-BE49-F238E27FC236}">
                <a16:creationId xmlns:a16="http://schemas.microsoft.com/office/drawing/2014/main" id="{B62D533D-CB4F-4932-8CCE-7B9752EABFDC}"/>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FC2D6AE-03F3-4D80-8FD9-178DEEBF7559}"/>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F3B3E6D5-57EB-450F-80A4-439D823CFB3F}"/>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E30D1649-445C-46EB-AC95-BB67BF5D1BB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3" name="Google Shape;33;p5">
            <a:extLst xmlns:a="http://schemas.openxmlformats.org/drawingml/2006/main">
              <a:ext uri="{FF2B5EF4-FFF2-40B4-BE49-F238E27FC236}">
                <a16:creationId xmlns:a16="http://schemas.microsoft.com/office/drawing/2014/main" id="{01F0D6F2-CDFF-4907-BB11-91B6BC32E368}"/>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The Complete Prompt Engineering for AI Bootcamp</a:t>
            </a:r>
            <a:endParaRPr sz="900" b="0" i="0" u="none" cap="none">
              <a:solidFill>
                <a:schemeClr val="dk2"/>
              </a:solidFill>
              <a:latin typeface="Source Code Pro"/>
              <a:ea typeface="Source Code Pro"/>
              <a:cs typeface="Source Code Pro"/>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5" name="Google Shape;35;p6">
            <a:extLst xmlns:a="http://schemas.openxmlformats.org/drawingml/2006/main">
              <a:ext uri="{FF2B5EF4-FFF2-40B4-BE49-F238E27FC236}">
                <a16:creationId xmlns:a16="http://schemas.microsoft.com/office/drawing/2014/main" id="{FF053B0B-0F06-4365-8AA3-CB136FEB0A31}"/>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F864F1CB-68B9-4FBB-AE61-C31DABAD561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7" name="Google Shape;37;p6">
            <a:extLst xmlns:a="http://schemas.openxmlformats.org/drawingml/2006/main">
              <a:ext uri="{FF2B5EF4-FFF2-40B4-BE49-F238E27FC236}">
                <a16:creationId xmlns:a16="http://schemas.microsoft.com/office/drawing/2014/main" id="{A42C25FC-1A84-45AE-AAB7-021162EA6132}"/>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The Complete Prompt Engineering for AI Bootcamp</a:t>
            </a:r>
            <a:endParaRPr sz="900" b="0" i="0" u="none" cap="none">
              <a:solidFill>
                <a:schemeClr val="dk2"/>
              </a:solidFill>
              <a:latin typeface="Source Code Pro"/>
              <a:ea typeface="Source Code Pro"/>
              <a:cs typeface="Source Code Pro"/>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44" name="Google Shape;39;p7"/>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40" name="Google Shape;40;p7">
            <a:extLst xmlns:a="http://schemas.openxmlformats.org/drawingml/2006/main">
              <a:ext uri="{FF2B5EF4-FFF2-40B4-BE49-F238E27FC236}">
                <a16:creationId xmlns:a16="http://schemas.microsoft.com/office/drawing/2014/main" id="{E8CE15C9-6A0A-41C4-8348-668F78DAD0A2}"/>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41" name="Google Shape;41;p7">
            <a:extLst xmlns:a="http://schemas.openxmlformats.org/drawingml/2006/main">
              <a:ext uri="{FF2B5EF4-FFF2-40B4-BE49-F238E27FC236}">
                <a16:creationId xmlns:a16="http://schemas.microsoft.com/office/drawing/2014/main" id="{3769537B-17D7-46CE-8AB9-1FAEB39AC9A5}"/>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6E1CD1CA-9D40-4F0D-9289-8534C08A10D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3" name="Google Shape;43;p7">
            <a:extLst xmlns:a="http://schemas.openxmlformats.org/drawingml/2006/main">
              <a:ext uri="{FF2B5EF4-FFF2-40B4-BE49-F238E27FC236}">
                <a16:creationId xmlns:a16="http://schemas.microsoft.com/office/drawing/2014/main" id="{8FC503F9-B9A6-4C28-9825-466AB45075B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The Complete Prompt Engineering for AI Bootcamp</a:t>
            </a:r>
            <a:endParaRPr sz="900" b="0" i="0" u="none" cap="none">
              <a:solidFill>
                <a:schemeClr val="dk2"/>
              </a:solidFill>
              <a:latin typeface="Source Code Pro"/>
              <a:ea typeface="Source Code Pro"/>
              <a:cs typeface="Source Code Pro"/>
            </a:endParaRPr>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45" name="Google Shape;45;p8">
            <a:extLst xmlns:a="http://schemas.openxmlformats.org/drawingml/2006/main">
              <a:ext uri="{FF2B5EF4-FFF2-40B4-BE49-F238E27FC236}">
                <a16:creationId xmlns:a16="http://schemas.microsoft.com/office/drawing/2014/main" id="{14217C4E-E932-4AE9-A23A-BA4F5AC143B3}"/>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46" name="Google Shape;46;p8">
            <a:extLst xmlns:a="http://schemas.openxmlformats.org/drawingml/2006/main">
              <a:ext uri="{FF2B5EF4-FFF2-40B4-BE49-F238E27FC236}">
                <a16:creationId xmlns:a16="http://schemas.microsoft.com/office/drawing/2014/main" id="{0723FFED-FF18-44FB-A2DA-B3A425675EF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7" name="Google Shape;47;p8">
            <a:extLst xmlns:a="http://schemas.openxmlformats.org/drawingml/2006/main">
              <a:ext uri="{FF2B5EF4-FFF2-40B4-BE49-F238E27FC236}">
                <a16:creationId xmlns:a16="http://schemas.microsoft.com/office/drawing/2014/main" id="{144D9744-9E60-4724-937F-E98292DC779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The Complete Prompt Engineering for AI Bootcamp (2023)</a:t>
            </a:r>
            <a:endParaRPr sz="900" b="0" i="0" u="none" cap="none">
              <a:solidFill>
                <a:schemeClr val="lt1"/>
              </a:solidFill>
              <a:latin typeface="Source Code Pro"/>
              <a:ea typeface="Source Code Pro"/>
              <a:cs typeface="Source Code Pro"/>
            </a:endParaRPr>
          </a:p>
        </p:txBody>
      </p:sp>
    </p:spTree>
  </p:cSld>
</p:sldLayout>
</file>

<file path=ppt/slideLayouts/slideLayout8.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49" name="Google Shape;49;p9">
            <a:extLst xmlns:a="http://schemas.openxmlformats.org/drawingml/2006/main">
              <a:ext uri="{FF2B5EF4-FFF2-40B4-BE49-F238E27FC236}">
                <a16:creationId xmlns:a16="http://schemas.microsoft.com/office/drawing/2014/main" id="{E00D6951-625C-491F-B81F-08D5865D8E8D}"/>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57" name="Google Shape;50;p9"/>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51" name="Google Shape;51;p9">
            <a:extLst xmlns:a="http://schemas.openxmlformats.org/drawingml/2006/main">
              <a:ext uri="{FF2B5EF4-FFF2-40B4-BE49-F238E27FC236}">
                <a16:creationId xmlns:a16="http://schemas.microsoft.com/office/drawing/2014/main" id="{BA373FA4-D518-40B9-B625-D3BEF3C35DDC}"/>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52" name="Google Shape;52;p9">
            <a:extLst xmlns:a="http://schemas.openxmlformats.org/drawingml/2006/main">
              <a:ext uri="{FF2B5EF4-FFF2-40B4-BE49-F238E27FC236}">
                <a16:creationId xmlns:a16="http://schemas.microsoft.com/office/drawing/2014/main" id="{7AFFDF82-CD0B-4B9F-B2B0-841F6EF85459}"/>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53" name="Google Shape;53;p9">
            <a:extLst xmlns:a="http://schemas.openxmlformats.org/drawingml/2006/main">
              <a:ext uri="{FF2B5EF4-FFF2-40B4-BE49-F238E27FC236}">
                <a16:creationId xmlns:a16="http://schemas.microsoft.com/office/drawing/2014/main" id="{4521E96E-60D4-4E57-9C39-731FAF10D629}"/>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54" name="Google Shape;54;p9">
            <a:extLst xmlns:a="http://schemas.openxmlformats.org/drawingml/2006/main">
              <a:ext uri="{FF2B5EF4-FFF2-40B4-BE49-F238E27FC236}">
                <a16:creationId xmlns:a16="http://schemas.microsoft.com/office/drawing/2014/main" id="{02690A87-9F9E-41E4-A605-A68070FE36E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5" name="Google Shape;55;p9">
            <a:extLst xmlns:a="http://schemas.openxmlformats.org/drawingml/2006/main">
              <a:ext uri="{FF2B5EF4-FFF2-40B4-BE49-F238E27FC236}">
                <a16:creationId xmlns:a16="http://schemas.microsoft.com/office/drawing/2014/main" id="{95DC1989-5DEC-4BC9-94CD-15D6E6D00E3B}"/>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The Complete Prompt Engineering for AI Bootcamp</a:t>
            </a:r>
            <a:endParaRPr sz="900" b="0" i="0" u="none" cap="none">
              <a:solidFill>
                <a:schemeClr val="dk2"/>
              </a:solidFill>
              <a:latin typeface="Source Code Pro"/>
              <a:ea typeface="Source Code Pro"/>
              <a:cs typeface="Source Code Pro"/>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7" name="Google Shape;57;p10">
            <a:extLst xmlns:a="http://schemas.openxmlformats.org/drawingml/2006/main">
              <a:ext uri="{FF2B5EF4-FFF2-40B4-BE49-F238E27FC236}">
                <a16:creationId xmlns:a16="http://schemas.microsoft.com/office/drawing/2014/main" id="{194371D6-4DF4-4B0A-B536-824687484D2B}"/>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58" name="Google Shape;58;p10">
            <a:extLst xmlns:a="http://schemas.openxmlformats.org/drawingml/2006/main">
              <a:ext uri="{FF2B5EF4-FFF2-40B4-BE49-F238E27FC236}">
                <a16:creationId xmlns:a16="http://schemas.microsoft.com/office/drawing/2014/main" id="{82A3B39D-CA3F-4050-BE6C-54112484D6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9" name="Google Shape;59;p10">
            <a:extLst xmlns:a="http://schemas.openxmlformats.org/drawingml/2006/main">
              <a:ext uri="{FF2B5EF4-FFF2-40B4-BE49-F238E27FC236}">
                <a16:creationId xmlns:a16="http://schemas.microsoft.com/office/drawing/2014/main" id="{C3B28407-893C-4535-91CA-CFA68A8A2FC4}"/>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The Complete Prompt Engineering for AI Bootcamp</a:t>
            </a:r>
            <a:endParaRPr sz="900" b="0" i="0" u="none" cap="none">
              <a:solidFill>
                <a:schemeClr val="dk2"/>
              </a:solidFill>
              <a:latin typeface="Source Code Pro"/>
              <a:ea typeface="Source Code Pro"/>
              <a:cs typeface="Source Code Pro"/>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66" name="Google Shape;61;p11"/>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62" name="Google Shape;62;p11">
            <a:extLst xmlns:a="http://schemas.openxmlformats.org/drawingml/2006/main">
              <a:ext uri="{FF2B5EF4-FFF2-40B4-BE49-F238E27FC236}">
                <a16:creationId xmlns:a16="http://schemas.microsoft.com/office/drawing/2014/main" id="{9467DE9D-E512-45BA-B771-0090211292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63" name="Google Shape;63;p11">
            <a:extLst xmlns:a="http://schemas.openxmlformats.org/drawingml/2006/main">
              <a:ext uri="{FF2B5EF4-FFF2-40B4-BE49-F238E27FC236}">
                <a16:creationId xmlns:a16="http://schemas.microsoft.com/office/drawing/2014/main" id="{C4469540-D88A-4647-984A-6233C256049D}"/>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64" name="Google Shape;64;p11">
            <a:extLst xmlns:a="http://schemas.openxmlformats.org/drawingml/2006/main">
              <a:ext uri="{FF2B5EF4-FFF2-40B4-BE49-F238E27FC236}">
                <a16:creationId xmlns:a16="http://schemas.microsoft.com/office/drawing/2014/main" id="{A8C940C6-73CA-4B23-9018-D7D47A0E20A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5" name="Google Shape;65;p11">
            <a:extLst xmlns:a="http://schemas.openxmlformats.org/drawingml/2006/main">
              <a:ext uri="{FF2B5EF4-FFF2-40B4-BE49-F238E27FC236}">
                <a16:creationId xmlns:a16="http://schemas.microsoft.com/office/drawing/2014/main" id="{24953636-D2C7-45B7-8C46-434C244C8A8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The Complete Prompt Engineering for AI Bootcamp</a:t>
            </a:r>
            <a:endParaRPr sz="900" b="0" i="0" u="none" cap="none">
              <a:solidFill>
                <a:schemeClr val="dk2"/>
              </a:solidFill>
              <a:latin typeface="Source Code Pro"/>
              <a:ea typeface="Source Code Pro"/>
              <a:cs typeface="Source Code Pro"/>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67" name="Google Shape;67;p12">
            <a:extLst xmlns:a="http://schemas.openxmlformats.org/drawingml/2006/main">
              <a:ext uri="{FF2B5EF4-FFF2-40B4-BE49-F238E27FC236}">
                <a16:creationId xmlns:a16="http://schemas.microsoft.com/office/drawing/2014/main" id="{27BF57BB-8DD4-40FB-97F2-D4A6E115498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8" name="Google Shape;68;p12">
            <a:extLst xmlns:a="http://schemas.openxmlformats.org/drawingml/2006/main">
              <a:ext uri="{FF2B5EF4-FFF2-40B4-BE49-F238E27FC236}">
                <a16:creationId xmlns:a16="http://schemas.microsoft.com/office/drawing/2014/main" id="{797A6165-26C4-458E-9280-0F48DAD2C946}"/>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The Complete Prompt Engineering for AI Bootcamp</a:t>
            </a:r>
            <a:endParaRPr sz="900" b="0" i="0" u="none" cap="none">
              <a:solidFill>
                <a:schemeClr val="dk2"/>
              </a:solidFill>
              <a:latin typeface="Source Code Pro"/>
              <a:ea typeface="Source Code Pro"/>
              <a:cs typeface="Source Code Pr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284a09913f43e9" /><Relationship Type="http://schemas.openxmlformats.org/officeDocument/2006/relationships/slideLayout" Target="/ppt/slideLayouts/slideLayout1.xml" Id="Re2820b7ee66646a6" /><Relationship Type="http://schemas.openxmlformats.org/officeDocument/2006/relationships/slideLayout" Target="/ppt/slideLayouts/slideLayout2.xml" Id="R4ac7437fc40d4fd2" /><Relationship Type="http://schemas.openxmlformats.org/officeDocument/2006/relationships/slideLayout" Target="/ppt/slideLayouts/slideLayout3.xml" Id="R26ee1bf22ecb4234" /><Relationship Type="http://schemas.openxmlformats.org/officeDocument/2006/relationships/slideLayout" Target="/ppt/slideLayouts/slideLayout4.xml" Id="Rfe139b3bea1b4965" /><Relationship Type="http://schemas.openxmlformats.org/officeDocument/2006/relationships/slideLayout" Target="/ppt/slideLayouts/slideLayout5.xml" Id="Rd5d3bbef8f5e42f9" /><Relationship Type="http://schemas.openxmlformats.org/officeDocument/2006/relationships/slideLayout" Target="/ppt/slideLayouts/slideLayout6.xml" Id="R33a55c83009b42bb" /><Relationship Type="http://schemas.openxmlformats.org/officeDocument/2006/relationships/slideLayout" Target="/ppt/slideLayouts/slideLayout7.xml" Id="R167331f55909400c" /><Relationship Type="http://schemas.openxmlformats.org/officeDocument/2006/relationships/slideLayout" Target="/ppt/slideLayouts/slideLayout8.xml" Id="Rfccf992f90114c14" /><Relationship Type="http://schemas.openxmlformats.org/officeDocument/2006/relationships/slideLayout" Target="/ppt/slideLayouts/slideLayout9.xml" Id="Rfba3251e6ecc4c8f" /><Relationship Type="http://schemas.openxmlformats.org/officeDocument/2006/relationships/slideLayout" Target="/ppt/slideLayouts/slideLayout10.xml" Id="Rc4516d4cd0ab4613" /><Relationship Type="http://schemas.openxmlformats.org/officeDocument/2006/relationships/slideLayout" Target="/ppt/slideLayouts/slideLayout11.xml" Id="Re811b5c5c1ee4f08" /></Relationships>
</file>

<file path=ppt/slideMasters/slideMaster1.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C6045D72-D32C-4A87-890B-68EDB1513BB5}"/>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5F26F73-C3CA-46B4-ADE7-3D2800DE8292}"/>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AA1AE3A-A737-485F-9904-BC46651B39C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2820b7ee66646a6"/>
    <p:sldLayoutId xmlns:r="http://schemas.openxmlformats.org/officeDocument/2006/relationships" id="2147483650" r:id="R4ac7437fc40d4fd2"/>
    <p:sldLayoutId xmlns:r="http://schemas.openxmlformats.org/officeDocument/2006/relationships" id="2147483651" r:id="R26ee1bf22ecb4234"/>
    <p:sldLayoutId xmlns:r="http://schemas.openxmlformats.org/officeDocument/2006/relationships" id="2147483652" r:id="Rfe139b3bea1b4965"/>
    <p:sldLayoutId xmlns:r="http://schemas.openxmlformats.org/officeDocument/2006/relationships" id="2147483653" r:id="Rd5d3bbef8f5e42f9"/>
    <p:sldLayoutId xmlns:r="http://schemas.openxmlformats.org/officeDocument/2006/relationships" id="2147483654" r:id="R33a55c83009b42bb"/>
    <p:sldLayoutId xmlns:r="http://schemas.openxmlformats.org/officeDocument/2006/relationships" id="2147483655" r:id="R167331f55909400c"/>
    <p:sldLayoutId xmlns:r="http://schemas.openxmlformats.org/officeDocument/2006/relationships" id="2147483656" r:id="Rfccf992f90114c14"/>
    <p:sldLayoutId xmlns:r="http://schemas.openxmlformats.org/officeDocument/2006/relationships" id="2147483657" r:id="Rfba3251e6ecc4c8f"/>
    <p:sldLayoutId xmlns:r="http://schemas.openxmlformats.org/officeDocument/2006/relationships" id="2147483658" r:id="Rc4516d4cd0ab4613"/>
    <p:sldLayoutId xmlns:r="http://schemas.openxmlformats.org/officeDocument/2006/relationships" id="2147483659" r:id="Re811b5c5c1ee4f0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00a42502214646" /><Relationship Type="http://schemas.openxmlformats.org/officeDocument/2006/relationships/notesSlide" Target="/ppt/notesSlides/notesSlide1.xml" Id="Ra214ef041d304b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356ad08a82f4574" /><Relationship Type="http://schemas.openxmlformats.org/officeDocument/2006/relationships/notesSlide" Target="/ppt/notesSlides/notesSlide2.xml" Id="R08042ff63b6440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f1b3804499b4c7a" /><Relationship Type="http://schemas.openxmlformats.org/officeDocument/2006/relationships/image" Target="/ppt/media/image.png" Id="R4196495a2b6d416e" /><Relationship Type="http://schemas.openxmlformats.org/officeDocument/2006/relationships/notesSlide" Target="/ppt/notesSlides/notesSlide3.xml" Id="R23ae4a182e6449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75ef0c634504e9f" /><Relationship Type="http://schemas.openxmlformats.org/officeDocument/2006/relationships/image" Target="/ppt/media/image2.png" Id="R79362dd2cc104907" /><Relationship Type="http://schemas.openxmlformats.org/officeDocument/2006/relationships/notesSlide" Target="/ppt/notesSlides/notesSlide4.xml" Id="Rc6ff62e3a4224e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43499b12f2a483c" /><Relationship Type="http://schemas.openxmlformats.org/officeDocument/2006/relationships/image" Target="/ppt/media/image3.png" Id="R1cfd6b4016a84dd6" /><Relationship Type="http://schemas.openxmlformats.org/officeDocument/2006/relationships/notesSlide" Target="/ppt/notesSlides/notesSlide5.xml" Id="Rebedbf90eb0944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334efbdfb1b477a" /><Relationship Type="http://schemas.openxmlformats.org/officeDocument/2006/relationships/image" Target="/ppt/media/image4.png" Id="R4829a40d65f24f64" /><Relationship Type="http://schemas.openxmlformats.org/officeDocument/2006/relationships/notesSlide" Target="/ppt/notesSlides/notesSlide6.xml" Id="Rf77761352a444c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9169304f5af4357" /><Relationship Type="http://schemas.openxmlformats.org/officeDocument/2006/relationships/image" Target="/ppt/media/image5.png" Id="R4a6a9548aac9402c" /><Relationship Type="http://schemas.openxmlformats.org/officeDocument/2006/relationships/image" Target="/ppt/media/image6.png" Id="R58c7ab84d5ba4336" /><Relationship Type="http://schemas.openxmlformats.org/officeDocument/2006/relationships/notesSlide" Target="/ppt/notesSlides/notesSlide7.xml" Id="R6f0198b629444f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5dad24cb4504338" /><Relationship Type="http://schemas.openxmlformats.org/officeDocument/2006/relationships/image" Target="/ppt/media/image7.png" Id="R006ca41509e346f1" /><Relationship Type="http://schemas.openxmlformats.org/officeDocument/2006/relationships/notesSlide" Target="/ppt/notesSlides/notesSlide8.xml" Id="R6eb814fd1c9348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3dc4fc1b0274d31" /><Relationship Type="http://schemas.openxmlformats.org/officeDocument/2006/relationships/image" Target="/ppt/media/image8.png" Id="Rb2a591aedb204800" /><Relationship Type="http://schemas.openxmlformats.org/officeDocument/2006/relationships/notesSlide" Target="/ppt/notesSlides/notesSlide9.xml" Id="Rf8f9ae2f94544e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6197f7da863459d" /><Relationship Type="http://schemas.openxmlformats.org/officeDocument/2006/relationships/image" Target="/ppt/media/image9.png" Id="R9615e63536494948" /><Relationship Type="http://schemas.openxmlformats.org/officeDocument/2006/relationships/notesSlide" Target="/ppt/notesSlides/notesSlide10.xml" Id="R0301bf57660f4f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e07466366894127" /><Relationship Type="http://schemas.openxmlformats.org/officeDocument/2006/relationships/image" Target="/ppt/media/image10.png" Id="Rf6858dade1b44898" /><Relationship Type="http://schemas.openxmlformats.org/officeDocument/2006/relationships/notesSlide" Target="/ppt/notesSlides/notesSlide11.xml" Id="R7b05d4f2ba2843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47dc5d5f29949f9" /><Relationship Type="http://schemas.openxmlformats.org/officeDocument/2006/relationships/image" Target="/ppt/media/image11.png" Id="Ra17781d893cd41c4" /><Relationship Type="http://schemas.openxmlformats.org/officeDocument/2006/relationships/notesSlide" Target="/ppt/notesSlides/notesSlide12.xml" Id="R3a9c4fbadff54b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3652373614b40e2" /><Relationship Type="http://schemas.openxmlformats.org/officeDocument/2006/relationships/hyperlink" Target="https://developers.openai.com/api/docs/guides/tools-computer-use" TargetMode="External" Id="Ra8b3c14e61d04c03" /><Relationship Type="http://schemas.openxmlformats.org/officeDocument/2006/relationships/notesSlide" Target="/ppt/notesSlides/notesSlide13.xml" Id="R45612060f18444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46d48b27f6444f1" /><Relationship Type="http://schemas.openxmlformats.org/officeDocument/2006/relationships/image" Target="/ppt/media/image12.png" Id="R18257b9b5749407e" /><Relationship Type="http://schemas.openxmlformats.org/officeDocument/2006/relationships/hyperlink" Target="https://developers.openai.com/api/docs/guides/tools-code-interpreter" TargetMode="External" Id="Rf91031a32eb044f8" /><Relationship Type="http://schemas.openxmlformats.org/officeDocument/2006/relationships/notesSlide" Target="/ppt/notesSlides/notesSlide14.xml" Id="R2ddbd4bd5cd949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ed38ddf77724d51" /><Relationship Type="http://schemas.openxmlformats.org/officeDocument/2006/relationships/hyperlink" Target="https://developers.openai.com/api/docs/guides/tools-shell" TargetMode="External" Id="Racf23aeca53c4a65" /><Relationship Type="http://schemas.openxmlformats.org/officeDocument/2006/relationships/hyperlink" Target="https://developers.openai.com/api/docs/guides/tools-apply-patch" TargetMode="External" Id="R9da1ec2ea1674a3c" /><Relationship Type="http://schemas.openxmlformats.org/officeDocument/2006/relationships/notesSlide" Target="/ppt/notesSlides/notesSlide15.xml" Id="Rb07358d44c99470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b0fcff3ff8d4582" /><Relationship Type="http://schemas.openxmlformats.org/officeDocument/2006/relationships/hyperlink" Target="https://developers.openai.com/api/docs/guides/tools-tool-search" TargetMode="External" Id="R3d5d3ffda31745ae" /><Relationship Type="http://schemas.openxmlformats.org/officeDocument/2006/relationships/hyperlink" Target="https://developers.openai.com/api/docs/guides/tools-programmatic-tool-calling" TargetMode="External" Id="R2ad91aca3e714e41" /><Relationship Type="http://schemas.openxmlformats.org/officeDocument/2006/relationships/hyperlink" Target="https://developers.openai.com/api/docs/guides/async-tool-calling" TargetMode="External" Id="Rc327c4a9188e475e" /><Relationship Type="http://schemas.openxmlformats.org/officeDocument/2006/relationships/notesSlide" Target="/ppt/notesSlides/notesSlide16.xml" Id="R9266df5ed8f14d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85be07a5f214844" /><Relationship Type="http://schemas.openxmlformats.org/officeDocument/2006/relationships/hyperlink" Target="https://platform.openai.com/docs/guides/fine-tuning" TargetMode="External" Id="R642c03abd2c14aa2" /><Relationship Type="http://schemas.openxmlformats.org/officeDocument/2006/relationships/hyperlink" Target="https://platform.openai.com/docs/guides/evals" TargetMode="External" Id="Rc76855e73745411f" /><Relationship Type="http://schemas.openxmlformats.org/officeDocument/2006/relationships/hyperlink" Target="https://platform.openai.com/docs/guides/distillation" TargetMode="External" Id="Rf8cdb93ed32c4425" /><Relationship Type="http://schemas.openxmlformats.org/officeDocument/2006/relationships/notesSlide" Target="/ppt/notesSlides/notesSlide17.xml" Id="Rd62a945b0b56423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01e780850298431a" /><Relationship Type="http://schemas.openxmlformats.org/officeDocument/2006/relationships/hyperlink" Target="https://platform.openai.com/docs/api-reference/introduction" TargetMode="External" Id="R6c6a596eea0c4c68" /><Relationship Type="http://schemas.openxmlformats.org/officeDocument/2006/relationships/hyperlink" Target="https://github.com/openai/openai-cookbook/tree/main/examples" TargetMode="External" Id="R186b3eac617441a2" /><Relationship Type="http://schemas.openxmlformats.org/officeDocument/2006/relationships/hyperlink" Target="https://community.openai.com/" TargetMode="External" Id="R6e5bbe914e6a4888" /><Relationship Type="http://schemas.openxmlformats.org/officeDocument/2006/relationships/hyperlink" Target="https://platform.openai.com/docs/guides/rate-limits" TargetMode="External" Id="R81b26af3b0f74b4d" /><Relationship Type="http://schemas.openxmlformats.org/officeDocument/2006/relationships/notesSlide" Target="/ppt/notesSlides/notesSlide18.xml" Id="Rd4c84052003f46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0908564d8bc4f84" /><Relationship Type="http://schemas.openxmlformats.org/officeDocument/2006/relationships/hyperlink" Target="http://platform.openai.com/" TargetMode="External" Id="Rbda47ef9b5724172" /><Relationship Type="http://schemas.openxmlformats.org/officeDocument/2006/relationships/hyperlink" Target="https://platform.openai.com/settings/organization/api-keys" TargetMode="External" Id="R1ebfcdebb7b54cba" /><Relationship Type="http://schemas.openxmlformats.org/officeDocument/2006/relationships/hyperlink" Target="https://platform.openai.com/docs/models" TargetMode="External" Id="Rafa92bb1554f417e" /><Relationship Type="http://schemas.openxmlformats.org/officeDocument/2006/relationships/hyperlink" Target="https://pypi.org/project/openai/" TargetMode="External" Id="R893e61d85eda4037" /><Relationship Type="http://schemas.openxmlformats.org/officeDocument/2006/relationships/notesSlide" Target="/ppt/notesSlides/notesSlide19.xml" Id="Rc6bef480c99e49b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3" name="Google Shape;73;p13">
            <a:extLst xmlns:a="http://schemas.openxmlformats.org/drawingml/2006/main">
              <a:ext uri="{FF2B5EF4-FFF2-40B4-BE49-F238E27FC236}">
                <a16:creationId xmlns:a16="http://schemas.microsoft.com/office/drawing/2014/main" id="{5207FB51-034D-49F6-98B6-CDDD86C98754}"/>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ctr">
              <a:lnSpc>
                <a:spcPct val="100000"/>
              </a:lnSpc>
              <a:spcBef>
                <a:spcPts val="0"/>
              </a:spcBef>
              <a:spcAft>
                <a:spcPts val="0"/>
              </a:spcAft>
              <a:buSzPts val="6000"/>
              <a:buNone/>
            </a:pPr>
            <a:r>
              <a:t>OpenAI API Features</a:t>
            </a:r>
            <a:endParaRPr/>
          </a:p>
        </p:txBody>
      </p:sp>
      <p:sp>
        <p:nvSpPr>
          <p:cNvPr id="74" name="Google Shape;74;p13">
            <a:extLst xmlns:a="http://schemas.openxmlformats.org/drawingml/2006/main">
              <a:ext uri="{FF2B5EF4-FFF2-40B4-BE49-F238E27FC236}">
                <a16:creationId xmlns:a16="http://schemas.microsoft.com/office/drawing/2014/main" id="{616E53EA-B64D-4AA9-B03D-AE18B586C5C5}"/>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lnSpcReduction="10000"/>
          </a:bodyPr>
          <a:lstStyle xmlns:a="http://schemas.openxmlformats.org/drawingml/2006/main"/>
          <a:p xmlns:a="http://schemas.openxmlformats.org/drawingml/2006/main">
            <a:pPr marL="0" lvl="0" indent="0" algn="ctr">
              <a:lnSpc>
                <a:spcPct val="100000"/>
              </a:lnSpc>
              <a:spcBef>
                <a:spcPts val="0"/>
              </a:spcBef>
              <a:spcAft>
                <a:spcPts val="0"/>
              </a:spcAft>
              <a:buSzPts val="3600"/>
              <a:buNone/>
            </a:pPr>
            <a:r>
              <a:t>Explore all of the core features that OpenAI offers</a:t>
            </a:r>
            <a:endParaRPr/>
          </a:p>
        </p:txBody>
      </p:sp>
    </p:spTree>
    <p:extLst>
      <p:ext uri="{BB962C8B-B14F-4D97-AF65-F5344CB8AC3E}">
        <p14:creationId xmlns:p14="http://schemas.microsoft.com/office/powerpoint/2010/main" val="18097534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14">
            <a:extLst xmlns:a="http://schemas.openxmlformats.org/drawingml/2006/main">
              <a:ext uri="{FF2B5EF4-FFF2-40B4-BE49-F238E27FC236}">
                <a16:creationId xmlns:a16="http://schemas.microsoft.com/office/drawing/2014/main" id="{634FDD63-533E-40DD-955C-9C5C44AC235B}"/>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Overview of OpenAI Platform</a:t>
            </a:r>
            <a:endParaRPr/>
          </a:p>
        </p:txBody>
      </p:sp>
      <p:sp>
        <p:nvSpPr>
          <p:cNvPr id="80" name="Google Shape;80;p14">
            <a:extLst xmlns:a="http://schemas.openxmlformats.org/drawingml/2006/main">
              <a:ext uri="{FF2B5EF4-FFF2-40B4-BE49-F238E27FC236}">
                <a16:creationId xmlns:a16="http://schemas.microsoft.com/office/drawing/2014/main" id="{CFF2FE01-8E2F-4C7F-BA7D-84D8379541D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81" name="Google Shape;81;p14">
            <a:extLst xmlns:a="http://schemas.openxmlformats.org/drawingml/2006/main">
              <a:ext uri="{FF2B5EF4-FFF2-40B4-BE49-F238E27FC236}">
                <a16:creationId xmlns:a16="http://schemas.microsoft.com/office/drawing/2014/main" id="{C0737522-9077-463C-B5AA-E389E3974CF6}"/>
              </a:ext>
            </a:extLst>
          </p:cNvPr>
          <p:cNvSpPr>
            <a:spLocks xmlns:a="http://schemas.openxmlformats.org/drawingml/2006/main" noGrp="1"/>
          </p:cNvSpPr>
          <p:nvPr>
            <p:ph type="body" idx="1"/>
          </p:nvPr>
        </p:nvSpPr>
        <p:spPr>
          <a:xfrm xmlns:a="http://schemas.openxmlformats.org/drawingml/2006/main">
            <a:off x="311700" y="1468825"/>
            <a:ext cx="7354800" cy="304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330200" algn="l">
              <a:lnSpc>
                <a:spcPct val="115000"/>
              </a:lnSpc>
              <a:spcBef>
                <a:spcPts val="0"/>
              </a:spcBef>
              <a:spcAft>
                <a:spcPts val="0"/>
              </a:spcAft>
              <a:buClr>
                <a:srgbClr val="000000"/>
              </a:buClr>
              <a:buSzPts val="1600"/>
              <a:buChar char="●"/>
            </a:pPr>
            <a:r>
              <a:rPr sz="1600" b="1">
                <a:solidFill>
                  <a:srgbClr val="000000"/>
                </a:solidFill>
              </a:rPr>
              <a:t>Developer Platform:</a:t>
            </a:r>
            <a:r>
              <a:rPr sz="1600">
                <a:solidFill>
                  <a:srgbClr val="000000"/>
                </a:solidFill>
              </a:rPr>
              <a:t> Comprehensive suite of AI models and tools.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Char char="●"/>
            </a:pPr>
            <a:r>
              <a:rPr sz="1600" b="1">
                <a:solidFill>
                  <a:srgbClr val="000000"/>
                </a:solidFill>
              </a:rPr>
              <a:t>Use Cases:</a:t>
            </a:r>
            <a:r>
              <a:rPr sz="1600">
                <a:solidFill>
                  <a:srgbClr val="000000"/>
                </a:solidFill>
              </a:rPr>
              <a:t> From simple text generation to complex reasoning and multimodal applications.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Char char="●"/>
            </a:pPr>
            <a:r>
              <a:rPr sz="1600" b="1">
                <a:solidFill>
                  <a:srgbClr val="000000"/>
                </a:solidFill>
              </a:rPr>
              <a:t>Integration Options: </a:t>
            </a:r>
            <a:r>
              <a:rPr sz="1600">
                <a:solidFill>
                  <a:srgbClr val="000000"/>
                </a:solidFill>
              </a:rPr>
              <a:t>SDKs available for Python, Node.js, and other languages.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Char char="●"/>
            </a:pPr>
            <a:r>
              <a:rPr sz="1600" b="1">
                <a:solidFill>
                  <a:srgbClr val="000000"/>
                </a:solidFill>
              </a:rPr>
              <a:t>API-First Design:</a:t>
            </a:r>
            <a:r>
              <a:rPr sz="1600">
                <a:solidFill>
                  <a:srgbClr val="000000"/>
                </a:solidFill>
              </a:rPr>
              <a:t> Build AI capabilities directly into your applications.</a:t>
            </a:r>
            <a:endParaRPr sz="1600" i="1"/>
          </a:p>
        </p:txBody>
      </p:sp>
    </p:spTree>
    <p:extLst>
      <p:ext uri="{BB962C8B-B14F-4D97-AF65-F5344CB8AC3E}">
        <p14:creationId xmlns:p14="http://schemas.microsoft.com/office/powerpoint/2010/main" val="133270990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86" name="Google Shape;86;p15">
            <a:extLst xmlns:a="http://schemas.openxmlformats.org/drawingml/2006/main">
              <a:ext uri="{FF2B5EF4-FFF2-40B4-BE49-F238E27FC236}">
                <a16:creationId xmlns:a16="http://schemas.microsoft.com/office/drawing/2014/main" id="{03491012-05A6-4FCC-B56E-18B78EC85C5B}"/>
              </a:ext>
            </a:extLst>
          </p:cNvPr>
          <p:cNvSpPr>
            <a:spLocks xmlns:a="http://schemas.openxmlformats.org/drawingml/2006/main" noGrp="1"/>
          </p:cNvSpPr>
          <p:nvPr>
            <p:ph type="title" idx="0"/>
          </p:nvPr>
        </p:nvSpPr>
        <p:spPr>
          <a:xfrm xmlns:a="http://schemas.openxmlformats.org/drawingml/2006/main">
            <a:off x="311700" y="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Core Language Capabilities</a:t>
            </a:r>
            <a:endParaRPr/>
          </a:p>
        </p:txBody>
      </p:sp>
      <p:sp>
        <p:nvSpPr>
          <p:cNvPr id="87" name="Google Shape;87;p15">
            <a:extLst xmlns:a="http://schemas.openxmlformats.org/drawingml/2006/main">
              <a:ext uri="{FF2B5EF4-FFF2-40B4-BE49-F238E27FC236}">
                <a16:creationId xmlns:a16="http://schemas.microsoft.com/office/drawing/2014/main" id="{8B14A823-31EB-423D-AA02-B346BFA6462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88" name="Google Shape;88;p15">
            <a:extLst xmlns:a="http://schemas.openxmlformats.org/drawingml/2006/main">
              <a:ext uri="{FF2B5EF4-FFF2-40B4-BE49-F238E27FC236}">
                <a16:creationId xmlns:a16="http://schemas.microsoft.com/office/drawing/2014/main" id="{DCA6CE18-3D23-47FF-A116-2B9C3FA11BC0}"/>
              </a:ext>
            </a:extLst>
          </p:cNvPr>
          <p:cNvSpPr>
            <a:spLocks xmlns:a="http://schemas.openxmlformats.org/drawingml/2006/main" noGrp="1"/>
          </p:cNvSpPr>
          <p:nvPr>
            <p:ph type="body" idx="1"/>
          </p:nvPr>
        </p:nvSpPr>
        <p:spPr>
          <a:xfrm xmlns:a="http://schemas.openxmlformats.org/drawingml/2006/main">
            <a:off x="5234625" y="1322150"/>
            <a:ext cx="3741900" cy="295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330200" algn="l">
              <a:lnSpc>
                <a:spcPct val="115000"/>
              </a:lnSpc>
              <a:spcBef>
                <a:spcPts val="0"/>
              </a:spcBef>
              <a:spcAft>
                <a:spcPts val="0"/>
              </a:spcAft>
              <a:buClr>
                <a:srgbClr val="000000"/>
              </a:buClr>
              <a:buSzPts val="1600"/>
              <a:buChar char="●"/>
            </a:pPr>
            <a:r>
              <a:rPr sz="1600">
                <a:solidFill>
                  <a:srgbClr val="000000"/>
                </a:solidFill>
              </a:rPr>
              <a:t>Models range from lightweight to advanced reasoning models.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Char char="●"/>
            </a:pPr>
            <a:r>
              <a:rPr sz="1600" b="1">
                <a:solidFill>
                  <a:srgbClr val="000000"/>
                </a:solidFill>
              </a:rPr>
              <a:t>Control parameters: </a:t>
            </a:r>
            <a:r>
              <a:rPr sz="1600">
                <a:solidFill>
                  <a:srgbClr val="000000"/>
                </a:solidFill>
              </a:rPr>
              <a:t>temperature, max tokens, top_p.</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Char char="●"/>
            </a:pPr>
            <a:r>
              <a:rPr sz="1600">
                <a:solidFill>
                  <a:srgbClr val="000000"/>
                </a:solidFill>
              </a:rPr>
              <a:t>Content filtering and safety measures built-in.</a:t>
            </a:r>
            <a:endParaRPr sz="1600">
              <a:solidFill>
                <a:srgbClr val="000000"/>
              </a:solidFill>
            </a:endParaRPr>
          </a:p>
          <a:p xmlns:a="http://schemas.openxmlformats.org/drawingml/2006/main">
            <a:pPr marL="0" lvl="0" indent="0" algn="l">
              <a:lnSpc>
                <a:spcPct val="115000"/>
              </a:lnSpc>
              <a:spcBef>
                <a:spcPts val="1200"/>
              </a:spcBef>
              <a:spcAft>
                <a:spcPts val="1200"/>
              </a:spcAft>
              <a:buSzPts val="1800"/>
              <a:buNone/>
            </a:pPr>
            <a:r>
              <a:t/>
            </a:r>
            <a:endParaRPr sz="1600">
              <a:solidFill>
                <a:srgbClr val="000000"/>
              </a:solidFill>
            </a:endParaRPr>
          </a:p>
        </p:txBody>
      </p:sp>
      <p:sp>
        <p:nvSpPr>
          <p:cNvPr id="89" name="Google Shape;89;p15">
            <a:extLst xmlns:a="http://schemas.openxmlformats.org/drawingml/2006/main">
              <a:ext uri="{FF2B5EF4-FFF2-40B4-BE49-F238E27FC236}">
                <a16:creationId xmlns:a16="http://schemas.microsoft.com/office/drawing/2014/main" id="{8D603526-E4E0-4092-8715-64B2BD753DCC}"/>
              </a:ext>
            </a:extLst>
          </p:cNvPr>
          <p:cNvSpPr>
            <a:spLocks xmlns:a="http://schemas.openxmlformats.org/drawingml/2006/main" noGrp="1"/>
          </p:cNvSpPr>
          <p:nvPr/>
        </p:nvSpPr>
        <p:spPr>
          <a:xfrm xmlns:a="http://schemas.openxmlformats.org/drawingml/2006/main">
            <a:off x="311700" y="655150"/>
            <a:ext cx="5632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0" i="0" u="none" cap="none">
                <a:solidFill>
                  <a:schemeClr val="dk2"/>
                </a:solidFill>
                <a:latin typeface="Source Code Pro"/>
                <a:ea typeface="Source Code Pro"/>
                <a:cs typeface="Source Code Pro"/>
              </a:rPr>
              <a:t>Text Generation &amp; Completion</a:t>
            </a:r>
            <a:endParaRPr sz="1800" b="0" i="0" u="none" cap="none">
              <a:solidFill>
                <a:schemeClr val="dk2"/>
              </a:solidFill>
              <a:latin typeface="Source Code Pro"/>
              <a:ea typeface="Source Code Pro"/>
              <a:cs typeface="Source Code Pro"/>
            </a:endParaRPr>
          </a:p>
        </p:txBody>
      </p:sp>
      <p:pic>
        <p:nvPicPr>
          <p:cNvPr id="95" name="Google Shape;90;p15"/>
          <p:cNvPicPr>
            <a:picLocks xmlns:a="http://schemas.openxmlformats.org/drawingml/2006/main" noChangeAspect="1"/>
          </p:cNvPicPr>
          <p:nvPr/>
        </p:nvPicPr>
        <p:blipFill>
          <a:blip xmlns:r="http://schemas.openxmlformats.org/officeDocument/2006/relationships" xmlns:a="http://schemas.openxmlformats.org/drawingml/2006/main" r:embed="R4196495a2b6d416e">
            <a:alphaModFix/>
          </a:blip>
          <a:stretch xmlns:a="http://schemas.openxmlformats.org/drawingml/2006/main">
            <a:fillRect l="0" t="0" r="0" b="0"/>
          </a:stretch>
        </p:blipFill>
        <p:spPr>
          <a:xfrm xmlns:a="http://schemas.openxmlformats.org/drawingml/2006/main">
            <a:off x="413850" y="1434200"/>
            <a:ext cx="4972675" cy="16186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2866267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5" name="Google Shape;95;p16">
            <a:extLst xmlns:a="http://schemas.openxmlformats.org/drawingml/2006/main">
              <a:ext uri="{FF2B5EF4-FFF2-40B4-BE49-F238E27FC236}">
                <a16:creationId xmlns:a16="http://schemas.microsoft.com/office/drawing/2014/main" id="{920EDACF-F97D-4BC7-84F4-BA96F00EBD4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96" name="Google Shape;96;p16">
            <a:extLst xmlns:a="http://schemas.openxmlformats.org/drawingml/2006/main">
              <a:ext uri="{FF2B5EF4-FFF2-40B4-BE49-F238E27FC236}">
                <a16:creationId xmlns:a16="http://schemas.microsoft.com/office/drawing/2014/main" id="{6BF013B6-1888-4D4F-96BC-AC390F3BCA17}"/>
              </a:ext>
            </a:extLst>
          </p:cNvPr>
          <p:cNvSpPr>
            <a:spLocks xmlns:a="http://schemas.openxmlformats.org/drawingml/2006/main" noGrp="1"/>
          </p:cNvSpPr>
          <p:nvPr>
            <p:ph type="body" idx="1"/>
          </p:nvPr>
        </p:nvSpPr>
        <p:spPr>
          <a:xfrm xmlns:a="http://schemas.openxmlformats.org/drawingml/2006/main">
            <a:off x="5255125" y="1351475"/>
            <a:ext cx="3765900" cy="295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330200" algn="l">
              <a:lnSpc>
                <a:spcPct val="115000"/>
              </a:lnSpc>
              <a:spcBef>
                <a:spcPts val="0"/>
              </a:spcBef>
              <a:spcAft>
                <a:spcPts val="0"/>
              </a:spcAft>
              <a:buClr>
                <a:srgbClr val="000000"/>
              </a:buClr>
              <a:buSzPts val="1600"/>
              <a:buChar char="●"/>
            </a:pPr>
            <a:r>
              <a:rPr sz="1600">
                <a:solidFill>
                  <a:srgbClr val="000000"/>
                </a:solidFill>
              </a:rPr>
              <a:t>Perfect for data extraction and structured information retrieval.</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Char char="●"/>
            </a:pPr>
            <a:r>
              <a:rPr sz="1600">
                <a:solidFill>
                  <a:srgbClr val="000000"/>
                </a:solidFill>
              </a:rPr>
              <a:t>Enforces output format validation.</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Char char="●"/>
            </a:pPr>
            <a:r>
              <a:rPr sz="1600">
                <a:solidFill>
                  <a:srgbClr val="000000"/>
                </a:solidFill>
              </a:rPr>
              <a:t>Reduces post-processing effort.</a:t>
            </a:r>
            <a:endParaRPr sz="1600">
              <a:solidFill>
                <a:srgbClr val="000000"/>
              </a:solidFill>
            </a:endParaRPr>
          </a:p>
          <a:p xmlns:a="http://schemas.openxmlformats.org/drawingml/2006/main">
            <a:pPr marL="0" lvl="0" indent="0" algn="l">
              <a:lnSpc>
                <a:spcPct val="115000"/>
              </a:lnSpc>
              <a:spcBef>
                <a:spcPts val="1200"/>
              </a:spcBef>
              <a:spcAft>
                <a:spcPts val="1200"/>
              </a:spcAft>
              <a:buSzPts val="1800"/>
              <a:buNone/>
            </a:pPr>
            <a:r>
              <a:t/>
            </a:r>
            <a:endParaRPr sz="1600">
              <a:solidFill>
                <a:srgbClr val="000000"/>
              </a:solidFill>
            </a:endParaRPr>
          </a:p>
        </p:txBody>
      </p:sp>
      <p:sp>
        <p:nvSpPr>
          <p:cNvPr id="97" name="Google Shape;97;p16">
            <a:extLst xmlns:a="http://schemas.openxmlformats.org/drawingml/2006/main">
              <a:ext uri="{FF2B5EF4-FFF2-40B4-BE49-F238E27FC236}">
                <a16:creationId xmlns:a16="http://schemas.microsoft.com/office/drawing/2014/main" id="{BFC1D871-FC6F-49E3-B289-9BBD1B924D76}"/>
              </a:ext>
            </a:extLst>
          </p:cNvPr>
          <p:cNvSpPr>
            <a:spLocks xmlns:a="http://schemas.openxmlformats.org/drawingml/2006/main" noGrp="1"/>
          </p:cNvSpPr>
          <p:nvPr>
            <p:ph type="title" idx="0"/>
          </p:nvPr>
        </p:nvSpPr>
        <p:spPr>
          <a:xfrm xmlns:a="http://schemas.openxmlformats.org/drawingml/2006/main">
            <a:off x="311700" y="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Structured Outputs</a:t>
            </a:r>
            <a:endParaRPr/>
          </a:p>
        </p:txBody>
      </p:sp>
      <p:sp>
        <p:nvSpPr>
          <p:cNvPr id="98" name="Google Shape;98;p16">
            <a:extLst xmlns:a="http://schemas.openxmlformats.org/drawingml/2006/main">
              <a:ext uri="{FF2B5EF4-FFF2-40B4-BE49-F238E27FC236}">
                <a16:creationId xmlns:a16="http://schemas.microsoft.com/office/drawing/2014/main" id="{2CB64654-28E5-4009-B13A-E72282A05522}"/>
              </a:ext>
            </a:extLst>
          </p:cNvPr>
          <p:cNvSpPr>
            <a:spLocks xmlns:a="http://schemas.openxmlformats.org/drawingml/2006/main" noGrp="1"/>
          </p:cNvSpPr>
          <p:nvPr/>
        </p:nvSpPr>
        <p:spPr>
          <a:xfrm xmlns:a="http://schemas.openxmlformats.org/drawingml/2006/main">
            <a:off x="311700" y="655150"/>
            <a:ext cx="5632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0" i="0" u="none" cap="none">
                <a:solidFill>
                  <a:schemeClr val="dk2"/>
                </a:solidFill>
                <a:latin typeface="Source Code Pro"/>
                <a:ea typeface="Source Code Pro"/>
                <a:cs typeface="Source Code Pro"/>
              </a:rPr>
              <a:t>Getting Predictable JSON Responses</a:t>
            </a:r>
            <a:endParaRPr sz="1800" b="0" i="0" u="none" cap="none">
              <a:solidFill>
                <a:schemeClr val="dk2"/>
              </a:solidFill>
              <a:latin typeface="Source Code Pro"/>
              <a:ea typeface="Source Code Pro"/>
              <a:cs typeface="Source Code Pro"/>
            </a:endParaRPr>
          </a:p>
        </p:txBody>
      </p:sp>
      <p:pic>
        <p:nvPicPr>
          <p:cNvPr id="104" name="Google Shape;99;p16"/>
          <p:cNvPicPr>
            <a:picLocks xmlns:a="http://schemas.openxmlformats.org/drawingml/2006/main" noChangeAspect="1"/>
          </p:cNvPicPr>
          <p:nvPr/>
        </p:nvPicPr>
        <p:blipFill>
          <a:blip xmlns:r="http://schemas.openxmlformats.org/officeDocument/2006/relationships" xmlns:a="http://schemas.openxmlformats.org/drawingml/2006/main" r:embed="R79362dd2cc104907">
            <a:alphaModFix/>
          </a:blip>
          <a:stretch xmlns:a="http://schemas.openxmlformats.org/drawingml/2006/main">
            <a:fillRect l="0" t="0" r="0" b="0"/>
          </a:stretch>
        </p:blipFill>
        <p:spPr>
          <a:xfrm xmlns:a="http://schemas.openxmlformats.org/drawingml/2006/main">
            <a:off x="404600" y="1419050"/>
            <a:ext cx="4950325" cy="332611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56585523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4" name="Google Shape;104;p17">
            <a:extLst xmlns:a="http://schemas.openxmlformats.org/drawingml/2006/main">
              <a:ext uri="{FF2B5EF4-FFF2-40B4-BE49-F238E27FC236}">
                <a16:creationId xmlns:a16="http://schemas.microsoft.com/office/drawing/2014/main" id="{5DF0B065-AEAA-42A8-BC3B-DE7A9FD6355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05" name="Google Shape;105;p17">
            <a:extLst xmlns:a="http://schemas.openxmlformats.org/drawingml/2006/main">
              <a:ext uri="{FF2B5EF4-FFF2-40B4-BE49-F238E27FC236}">
                <a16:creationId xmlns:a16="http://schemas.microsoft.com/office/drawing/2014/main" id="{BEA368B0-C014-4E35-B80B-D86A2A3C0EF0}"/>
              </a:ext>
            </a:extLst>
          </p:cNvPr>
          <p:cNvSpPr>
            <a:spLocks xmlns:a="http://schemas.openxmlformats.org/drawingml/2006/main" noGrp="1"/>
          </p:cNvSpPr>
          <p:nvPr>
            <p:ph type="title" idx="0"/>
          </p:nvPr>
        </p:nvSpPr>
        <p:spPr>
          <a:xfrm xmlns:a="http://schemas.openxmlformats.org/drawingml/2006/main">
            <a:off x="311700" y="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Multimodal Capabilities</a:t>
            </a:r>
            <a:endParaRPr/>
          </a:p>
        </p:txBody>
      </p:sp>
      <p:sp>
        <p:nvSpPr>
          <p:cNvPr id="106" name="Google Shape;106;p17">
            <a:extLst xmlns:a="http://schemas.openxmlformats.org/drawingml/2006/main">
              <a:ext uri="{FF2B5EF4-FFF2-40B4-BE49-F238E27FC236}">
                <a16:creationId xmlns:a16="http://schemas.microsoft.com/office/drawing/2014/main" id="{A3A8F917-C067-4471-82C6-12D50384B966}"/>
              </a:ext>
            </a:extLst>
          </p:cNvPr>
          <p:cNvSpPr>
            <a:spLocks xmlns:a="http://schemas.openxmlformats.org/drawingml/2006/main" noGrp="1"/>
          </p:cNvSpPr>
          <p:nvPr/>
        </p:nvSpPr>
        <p:spPr>
          <a:xfrm xmlns:a="http://schemas.openxmlformats.org/drawingml/2006/main">
            <a:off x="311700" y="655150"/>
            <a:ext cx="5632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0" i="0" u="none" cap="none">
                <a:solidFill>
                  <a:schemeClr val="dk2"/>
                </a:solidFill>
                <a:latin typeface="Source Code Pro"/>
                <a:ea typeface="Source Code Pro"/>
                <a:cs typeface="Source Code Pro"/>
              </a:rPr>
              <a:t>Vision &amp; Image Analysis</a:t>
            </a:r>
            <a:endParaRPr sz="1800" b="0" i="0" u="none" cap="none">
              <a:solidFill>
                <a:schemeClr val="dk2"/>
              </a:solidFill>
              <a:latin typeface="Source Code Pro"/>
              <a:ea typeface="Source Code Pro"/>
              <a:cs typeface="Source Code Pro"/>
            </a:endParaRPr>
          </a:p>
        </p:txBody>
      </p:sp>
      <p:pic>
        <p:nvPicPr>
          <p:cNvPr id="111" name="Google Shape;107;p17"/>
          <p:cNvPicPr>
            <a:picLocks xmlns:a="http://schemas.openxmlformats.org/drawingml/2006/main" noChangeAspect="1"/>
          </p:cNvPicPr>
          <p:nvPr/>
        </p:nvPicPr>
        <p:blipFill>
          <a:blip xmlns:r="http://schemas.openxmlformats.org/officeDocument/2006/relationships" xmlns:a="http://schemas.openxmlformats.org/drawingml/2006/main" r:embed="R1cfd6b4016a84dd6">
            <a:alphaModFix/>
          </a:blip>
          <a:stretch xmlns:a="http://schemas.openxmlformats.org/drawingml/2006/main">
            <a:fillRect l="0" t="0" r="0" b="0"/>
          </a:stretch>
        </p:blipFill>
        <p:spPr>
          <a:xfrm xmlns:a="http://schemas.openxmlformats.org/drawingml/2006/main">
            <a:off x="388875" y="1497275"/>
            <a:ext cx="6019800" cy="33432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50298064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12" name="Google Shape;112;p18">
            <a:extLst xmlns:a="http://schemas.openxmlformats.org/drawingml/2006/main">
              <a:ext uri="{FF2B5EF4-FFF2-40B4-BE49-F238E27FC236}">
                <a16:creationId xmlns:a16="http://schemas.microsoft.com/office/drawing/2014/main" id="{19A5432F-47E1-4298-B9A2-EFE2C41C9DB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13" name="Google Shape;113;p18">
            <a:extLst xmlns:a="http://schemas.openxmlformats.org/drawingml/2006/main">
              <a:ext uri="{FF2B5EF4-FFF2-40B4-BE49-F238E27FC236}">
                <a16:creationId xmlns:a16="http://schemas.microsoft.com/office/drawing/2014/main" id="{F19B22E2-1ACC-41AC-B5C2-76612BFE5080}"/>
              </a:ext>
            </a:extLst>
          </p:cNvPr>
          <p:cNvSpPr>
            <a:spLocks xmlns:a="http://schemas.openxmlformats.org/drawingml/2006/main" noGrp="1"/>
          </p:cNvSpPr>
          <p:nvPr>
            <p:ph type="title" idx="0"/>
          </p:nvPr>
        </p:nvSpPr>
        <p:spPr>
          <a:xfrm xmlns:a="http://schemas.openxmlformats.org/drawingml/2006/main">
            <a:off x="311700" y="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Multimodal Capabilities</a:t>
            </a:r>
            <a:endParaRPr/>
          </a:p>
        </p:txBody>
      </p:sp>
      <p:sp>
        <p:nvSpPr>
          <p:cNvPr id="114" name="Google Shape;114;p18">
            <a:extLst xmlns:a="http://schemas.openxmlformats.org/drawingml/2006/main">
              <a:ext uri="{FF2B5EF4-FFF2-40B4-BE49-F238E27FC236}">
                <a16:creationId xmlns:a16="http://schemas.microsoft.com/office/drawing/2014/main" id="{16EF7A59-DC84-44CF-B033-6A319A910C1E}"/>
              </a:ext>
            </a:extLst>
          </p:cNvPr>
          <p:cNvSpPr>
            <a:spLocks xmlns:a="http://schemas.openxmlformats.org/drawingml/2006/main" noGrp="1"/>
          </p:cNvSpPr>
          <p:nvPr/>
        </p:nvSpPr>
        <p:spPr>
          <a:xfrm xmlns:a="http://schemas.openxmlformats.org/drawingml/2006/main">
            <a:off x="311700" y="672800"/>
            <a:ext cx="5632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0" i="0" u="none" cap="none">
                <a:solidFill>
                  <a:schemeClr val="dk2"/>
                </a:solidFill>
                <a:latin typeface="Source Code Pro"/>
                <a:ea typeface="Source Code Pro"/>
                <a:cs typeface="Source Code Pro"/>
              </a:rPr>
              <a:t>Image Generation with GPT Image</a:t>
            </a:r>
            <a:endParaRPr sz="1800" b="0" i="0" u="none" cap="none">
              <a:solidFill>
                <a:schemeClr val="dk2"/>
              </a:solidFill>
              <a:latin typeface="Source Code Pro"/>
              <a:ea typeface="Source Code Pro"/>
              <a:cs typeface="Source Code Pro"/>
            </a:endParaRPr>
          </a:p>
        </p:txBody>
      </p:sp>
      <p:pic>
        <p:nvPicPr>
          <p:cNvPr id="119" name="Google Shape;115;p18"/>
          <p:cNvPicPr>
            <a:picLocks xmlns:a="http://schemas.openxmlformats.org/drawingml/2006/main" noChangeAspect="1"/>
          </p:cNvPicPr>
          <p:nvPr/>
        </p:nvPicPr>
        <p:blipFill>
          <a:blip xmlns:r="http://schemas.openxmlformats.org/officeDocument/2006/relationships" xmlns:a="http://schemas.openxmlformats.org/drawingml/2006/main" r:embed="R4829a40d65f24f64">
            <a:alphaModFix/>
          </a:blip>
          <a:stretch xmlns:a="http://schemas.openxmlformats.org/drawingml/2006/main">
            <a:fillRect l="0" t="0" r="0" b="0"/>
          </a:stretch>
        </p:blipFill>
        <p:spPr>
          <a:xfrm xmlns:a="http://schemas.openxmlformats.org/drawingml/2006/main">
            <a:off x="390975" y="1467525"/>
            <a:ext cx="4676526" cy="33950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6345894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20" name="Google Shape;120;p19">
            <a:extLst xmlns:a="http://schemas.openxmlformats.org/drawingml/2006/main">
              <a:ext uri="{FF2B5EF4-FFF2-40B4-BE49-F238E27FC236}">
                <a16:creationId xmlns:a16="http://schemas.microsoft.com/office/drawing/2014/main" id="{FC72A9B5-81BD-4F3C-B07F-E96821F90B3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21" name="Google Shape;121;p19">
            <a:extLst xmlns:a="http://schemas.openxmlformats.org/drawingml/2006/main">
              <a:ext uri="{FF2B5EF4-FFF2-40B4-BE49-F238E27FC236}">
                <a16:creationId xmlns:a16="http://schemas.microsoft.com/office/drawing/2014/main" id="{E57D82B4-F6AC-435E-8FB4-66C06A271936}"/>
              </a:ext>
            </a:extLst>
          </p:cNvPr>
          <p:cNvSpPr>
            <a:spLocks xmlns:a="http://schemas.openxmlformats.org/drawingml/2006/main" noGrp="1"/>
          </p:cNvSpPr>
          <p:nvPr>
            <p:ph type="title" idx="0"/>
          </p:nvPr>
        </p:nvSpPr>
        <p:spPr>
          <a:xfrm xmlns:a="http://schemas.openxmlformats.org/drawingml/2006/main">
            <a:off x="311700" y="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Audio &amp; Speech Capabilities</a:t>
            </a:r>
            <a:endParaRPr/>
          </a:p>
        </p:txBody>
      </p:sp>
      <p:sp>
        <p:nvSpPr>
          <p:cNvPr id="122" name="Google Shape;122;p19">
            <a:extLst xmlns:a="http://schemas.openxmlformats.org/drawingml/2006/main">
              <a:ext uri="{FF2B5EF4-FFF2-40B4-BE49-F238E27FC236}">
                <a16:creationId xmlns:a16="http://schemas.microsoft.com/office/drawing/2014/main" id="{4154868C-4CD8-4735-A250-A2A1F1CDE254}"/>
              </a:ext>
            </a:extLst>
          </p:cNvPr>
          <p:cNvSpPr>
            <a:spLocks xmlns:a="http://schemas.openxmlformats.org/drawingml/2006/main" noGrp="1"/>
          </p:cNvSpPr>
          <p:nvPr/>
        </p:nvSpPr>
        <p:spPr>
          <a:xfrm xmlns:a="http://schemas.openxmlformats.org/drawingml/2006/main">
            <a:off x="311700" y="655150"/>
            <a:ext cx="5632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0" i="0" u="none" cap="none">
                <a:solidFill>
                  <a:schemeClr val="dk2"/>
                </a:solidFill>
                <a:latin typeface="Source Code Pro"/>
                <a:ea typeface="Source Code Pro"/>
                <a:cs typeface="Source Code Pro"/>
              </a:rPr>
              <a:t>Text-to-Speech</a:t>
            </a:r>
            <a:endParaRPr sz="1800" b="0" i="0" u="none" cap="none">
              <a:solidFill>
                <a:schemeClr val="dk2"/>
              </a:solidFill>
              <a:latin typeface="Source Code Pro"/>
              <a:ea typeface="Source Code Pro"/>
              <a:cs typeface="Source Code Pro"/>
            </a:endParaRPr>
          </a:p>
        </p:txBody>
      </p:sp>
      <p:sp>
        <p:nvSpPr>
          <p:cNvPr id="123" name="Google Shape;123;p19">
            <a:extLst xmlns:a="http://schemas.openxmlformats.org/drawingml/2006/main">
              <a:ext uri="{FF2B5EF4-FFF2-40B4-BE49-F238E27FC236}">
                <a16:creationId xmlns:a16="http://schemas.microsoft.com/office/drawing/2014/main" id="{C96E35E7-D0C3-4930-8C6E-265D5C3135CD}"/>
              </a:ext>
            </a:extLst>
          </p:cNvPr>
          <p:cNvSpPr>
            <a:spLocks xmlns:a="http://schemas.openxmlformats.org/drawingml/2006/main" noGrp="1"/>
          </p:cNvSpPr>
          <p:nvPr/>
        </p:nvSpPr>
        <p:spPr>
          <a:xfrm xmlns:a="http://schemas.openxmlformats.org/drawingml/2006/main">
            <a:off x="311700" y="2976050"/>
            <a:ext cx="5632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0" i="0" u="none" cap="none">
                <a:solidFill>
                  <a:schemeClr val="dk2"/>
                </a:solidFill>
                <a:latin typeface="Source Code Pro"/>
                <a:ea typeface="Source Code Pro"/>
                <a:cs typeface="Source Code Pro"/>
              </a:rPr>
              <a:t>Speech-to-Text (Transcription)</a:t>
            </a:r>
            <a:endParaRPr sz="1800" b="0" i="0" u="none" cap="none">
              <a:solidFill>
                <a:schemeClr val="dk2"/>
              </a:solidFill>
              <a:latin typeface="Source Code Pro"/>
              <a:ea typeface="Source Code Pro"/>
              <a:cs typeface="Source Code Pro"/>
            </a:endParaRPr>
          </a:p>
        </p:txBody>
      </p:sp>
      <p:pic>
        <p:nvPicPr>
          <p:cNvPr id="130" name="Google Shape;124;p19"/>
          <p:cNvPicPr>
            <a:picLocks xmlns:a="http://schemas.openxmlformats.org/drawingml/2006/main" noChangeAspect="1"/>
          </p:cNvPicPr>
          <p:nvPr/>
        </p:nvPicPr>
        <p:blipFill>
          <a:blip xmlns:r="http://schemas.openxmlformats.org/officeDocument/2006/relationships" xmlns:a="http://schemas.openxmlformats.org/drawingml/2006/main" r:embed="R4a6a9548aac9402c">
            <a:alphaModFix/>
          </a:blip>
          <a:stretch xmlns:a="http://schemas.openxmlformats.org/drawingml/2006/main">
            <a:fillRect l="0" t="0" r="0" b="0"/>
          </a:stretch>
        </p:blipFill>
        <p:spPr>
          <a:xfrm xmlns:a="http://schemas.openxmlformats.org/drawingml/2006/main">
            <a:off x="419621" y="3437750"/>
            <a:ext cx="3021700" cy="1554400"/>
          </a:xfrm>
          <a:prstGeom xmlns:a="http://schemas.openxmlformats.org/drawingml/2006/main" prst="rect">
            <a:avLst/>
          </a:prstGeom>
          <a:ln xmlns:a="http://schemas.openxmlformats.org/drawingml/2006/main">
            <a:noFill/>
          </a:ln>
        </p:spPr>
      </p:pic>
      <p:pic>
        <p:nvPicPr>
          <p:cNvPr id="131" name="Google Shape;125;p19"/>
          <p:cNvPicPr>
            <a:picLocks xmlns:a="http://schemas.openxmlformats.org/drawingml/2006/main" noChangeAspect="1"/>
          </p:cNvPicPr>
          <p:nvPr/>
        </p:nvPicPr>
        <p:blipFill>
          <a:blip xmlns:r="http://schemas.openxmlformats.org/officeDocument/2006/relationships" xmlns:a="http://schemas.openxmlformats.org/drawingml/2006/main" r:embed="R58c7ab84d5ba4336">
            <a:alphaModFix/>
          </a:blip>
          <a:stretch xmlns:a="http://schemas.openxmlformats.org/drawingml/2006/main">
            <a:fillRect l="0" t="0" r="0" b="0"/>
          </a:stretch>
        </p:blipFill>
        <p:spPr>
          <a:xfrm xmlns:a="http://schemas.openxmlformats.org/drawingml/2006/main">
            <a:off x="419625" y="1396650"/>
            <a:ext cx="3441057" cy="15544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50737043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0" name="Google Shape;130;p20">
            <a:extLst xmlns:a="http://schemas.openxmlformats.org/drawingml/2006/main">
              <a:ext uri="{FF2B5EF4-FFF2-40B4-BE49-F238E27FC236}">
                <a16:creationId xmlns:a16="http://schemas.microsoft.com/office/drawing/2014/main" id="{5F1026CB-8C14-424E-A734-7842A60D81C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31" name="Google Shape;131;p20">
            <a:extLst xmlns:a="http://schemas.openxmlformats.org/drawingml/2006/main">
              <a:ext uri="{FF2B5EF4-FFF2-40B4-BE49-F238E27FC236}">
                <a16:creationId xmlns:a16="http://schemas.microsoft.com/office/drawing/2014/main" id="{F8458C54-E1EF-4670-A6BC-A36759FBB037}"/>
              </a:ext>
            </a:extLst>
          </p:cNvPr>
          <p:cNvSpPr>
            <a:spLocks xmlns:a="http://schemas.openxmlformats.org/drawingml/2006/main" noGrp="1"/>
          </p:cNvSpPr>
          <p:nvPr>
            <p:ph type="title" idx="0"/>
          </p:nvPr>
        </p:nvSpPr>
        <p:spPr>
          <a:xfrm xmlns:a="http://schemas.openxmlformats.org/drawingml/2006/main">
            <a:off x="311700" y="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Advanced Features - Function Calling &amp; Tools</a:t>
            </a:r>
            <a:endParaRPr/>
          </a:p>
        </p:txBody>
      </p:sp>
      <p:sp>
        <p:nvSpPr>
          <p:cNvPr id="132" name="Google Shape;132;p20">
            <a:extLst xmlns:a="http://schemas.openxmlformats.org/drawingml/2006/main">
              <a:ext uri="{FF2B5EF4-FFF2-40B4-BE49-F238E27FC236}">
                <a16:creationId xmlns:a16="http://schemas.microsoft.com/office/drawing/2014/main" id="{0932CB4E-03E6-4EAD-9E37-907DDB41DF7E}"/>
              </a:ext>
            </a:extLst>
          </p:cNvPr>
          <p:cNvSpPr>
            <a:spLocks xmlns:a="http://schemas.openxmlformats.org/drawingml/2006/main" noGrp="1"/>
          </p:cNvSpPr>
          <p:nvPr>
            <p:ph type="body" idx="1"/>
          </p:nvPr>
        </p:nvSpPr>
        <p:spPr>
          <a:xfrm xmlns:a="http://schemas.openxmlformats.org/drawingml/2006/main">
            <a:off x="5147575" y="920800"/>
            <a:ext cx="3771900" cy="295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330200" algn="l">
              <a:lnSpc>
                <a:spcPct val="115000"/>
              </a:lnSpc>
              <a:spcBef>
                <a:spcPts val="0"/>
              </a:spcBef>
              <a:spcAft>
                <a:spcPts val="0"/>
              </a:spcAft>
              <a:buClr>
                <a:srgbClr val="000000"/>
              </a:buClr>
              <a:buSzPts val="1600"/>
              <a:buChar char="●"/>
            </a:pPr>
            <a:r>
              <a:rPr sz="1600">
                <a:solidFill>
                  <a:srgbClr val="000000"/>
                </a:solidFill>
              </a:rPr>
              <a:t>Models can determine when to call functions.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Char char="●"/>
            </a:pPr>
            <a:r>
              <a:rPr sz="1600">
                <a:solidFill>
                  <a:srgbClr val="000000"/>
                </a:solidFill>
              </a:rPr>
              <a:t>Enables connection to external APIs and databases.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Char char="●"/>
            </a:pPr>
            <a:r>
              <a:rPr sz="1600">
                <a:solidFill>
                  <a:srgbClr val="000000"/>
                </a:solidFill>
              </a:rPr>
              <a:t>Build complex workflows and agents.</a:t>
            </a:r>
            <a:endParaRPr sz="1600">
              <a:solidFill>
                <a:srgbClr val="000000"/>
              </a:solidFill>
            </a:endParaRPr>
          </a:p>
          <a:p xmlns:a="http://schemas.openxmlformats.org/drawingml/2006/main">
            <a:pPr marL="0" lvl="0" indent="0" algn="l">
              <a:lnSpc>
                <a:spcPct val="115000"/>
              </a:lnSpc>
              <a:spcBef>
                <a:spcPts val="1200"/>
              </a:spcBef>
              <a:spcAft>
                <a:spcPts val="1200"/>
              </a:spcAft>
              <a:buSzPts val="1800"/>
              <a:buNone/>
            </a:pPr>
            <a:r>
              <a:t/>
            </a:r>
            <a:endParaRPr sz="1600">
              <a:solidFill>
                <a:srgbClr val="000000"/>
              </a:solidFill>
            </a:endParaRPr>
          </a:p>
        </p:txBody>
      </p:sp>
      <p:pic>
        <p:nvPicPr>
          <p:cNvPr id="137" name="Google Shape;133;p20"/>
          <p:cNvPicPr>
            <a:picLocks xmlns:a="http://schemas.openxmlformats.org/drawingml/2006/main" noChangeAspect="1"/>
          </p:cNvPicPr>
          <p:nvPr/>
        </p:nvPicPr>
        <p:blipFill>
          <a:blip xmlns:r="http://schemas.openxmlformats.org/officeDocument/2006/relationships" xmlns:a="http://schemas.openxmlformats.org/drawingml/2006/main" r:embed="R006ca41509e346f1">
            <a:alphaModFix/>
          </a:blip>
          <a:stretch xmlns:a="http://schemas.openxmlformats.org/drawingml/2006/main">
            <a:fillRect l="0" t="0" r="0" b="0"/>
          </a:stretch>
        </p:blipFill>
        <p:spPr>
          <a:xfrm xmlns:a="http://schemas.openxmlformats.org/drawingml/2006/main">
            <a:off x="397350" y="777225"/>
            <a:ext cx="2934034" cy="42227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7986008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8" name="Google Shape;138;p21">
            <a:extLst xmlns:a="http://schemas.openxmlformats.org/drawingml/2006/main">
              <a:ext uri="{FF2B5EF4-FFF2-40B4-BE49-F238E27FC236}">
                <a16:creationId xmlns:a16="http://schemas.microsoft.com/office/drawing/2014/main" id="{E4DB8739-2D8A-46C8-BDE8-E6193E105ED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39" name="Google Shape;139;p21">
            <a:extLst xmlns:a="http://schemas.openxmlformats.org/drawingml/2006/main">
              <a:ext uri="{FF2B5EF4-FFF2-40B4-BE49-F238E27FC236}">
                <a16:creationId xmlns:a16="http://schemas.microsoft.com/office/drawing/2014/main" id="{BBA51197-6AA1-42C9-B624-31C8ACD49193}"/>
              </a:ext>
            </a:extLst>
          </p:cNvPr>
          <p:cNvSpPr>
            <a:spLocks xmlns:a="http://schemas.openxmlformats.org/drawingml/2006/main" noGrp="1"/>
          </p:cNvSpPr>
          <p:nvPr>
            <p:ph type="title" idx="0"/>
          </p:nvPr>
        </p:nvSpPr>
        <p:spPr>
          <a:xfrm xmlns:a="http://schemas.openxmlformats.org/drawingml/2006/main">
            <a:off x="311700" y="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Advanced Features - Function Calling &amp; Tools</a:t>
            </a:r>
            <a:endParaRPr/>
          </a:p>
        </p:txBody>
      </p:sp>
      <p:pic>
        <p:nvPicPr>
          <p:cNvPr id="143" name="Google Shape;140;p21"/>
          <p:cNvPicPr>
            <a:picLocks xmlns:a="http://schemas.openxmlformats.org/drawingml/2006/main" noChangeAspect="1"/>
          </p:cNvPicPr>
          <p:nvPr/>
        </p:nvPicPr>
        <p:blipFill>
          <a:blip xmlns:r="http://schemas.openxmlformats.org/officeDocument/2006/relationships" xmlns:a="http://schemas.openxmlformats.org/drawingml/2006/main" r:embed="Rb2a591aedb204800">
            <a:alphaModFix/>
          </a:blip>
          <a:stretch xmlns:a="http://schemas.openxmlformats.org/drawingml/2006/main">
            <a:fillRect l="0" t="0" r="0" b="0"/>
          </a:stretch>
        </p:blipFill>
        <p:spPr>
          <a:xfrm xmlns:a="http://schemas.openxmlformats.org/drawingml/2006/main">
            <a:off x="422650" y="733500"/>
            <a:ext cx="3912951" cy="42410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3921146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5" name="Google Shape;145;p22">
            <a:extLst xmlns:a="http://schemas.openxmlformats.org/drawingml/2006/main">
              <a:ext uri="{FF2B5EF4-FFF2-40B4-BE49-F238E27FC236}">
                <a16:creationId xmlns:a16="http://schemas.microsoft.com/office/drawing/2014/main" id="{393C3CD6-EC40-4DAC-A980-B6EE52BBEBD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46" name="Google Shape;146;p22">
            <a:extLst xmlns:a="http://schemas.openxmlformats.org/drawingml/2006/main">
              <a:ext uri="{FF2B5EF4-FFF2-40B4-BE49-F238E27FC236}">
                <a16:creationId xmlns:a16="http://schemas.microsoft.com/office/drawing/2014/main" id="{8389F20A-10FB-49CC-AD71-5C4B09C64DDC}"/>
              </a:ext>
            </a:extLst>
          </p:cNvPr>
          <p:cNvSpPr>
            <a:spLocks xmlns:a="http://schemas.openxmlformats.org/drawingml/2006/main" noGrp="1"/>
          </p:cNvSpPr>
          <p:nvPr>
            <p:ph type="title" idx="0"/>
          </p:nvPr>
        </p:nvSpPr>
        <p:spPr>
          <a:xfrm xmlns:a="http://schemas.openxmlformats.org/drawingml/2006/main">
            <a:off x="311700" y="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Reasoning Models</a:t>
            </a:r>
            <a:endParaRPr/>
          </a:p>
        </p:txBody>
      </p:sp>
      <p:sp>
        <p:nvSpPr>
          <p:cNvPr id="147" name="Google Shape;147;p22">
            <a:extLst xmlns:a="http://schemas.openxmlformats.org/drawingml/2006/main">
              <a:ext uri="{FF2B5EF4-FFF2-40B4-BE49-F238E27FC236}">
                <a16:creationId xmlns:a16="http://schemas.microsoft.com/office/drawing/2014/main" id="{8FA35395-5B69-471B-8784-596BBD90E5E9}"/>
              </a:ext>
            </a:extLst>
          </p:cNvPr>
          <p:cNvSpPr>
            <a:spLocks xmlns:a="http://schemas.openxmlformats.org/drawingml/2006/main" noGrp="1"/>
          </p:cNvSpPr>
          <p:nvPr/>
        </p:nvSpPr>
        <p:spPr>
          <a:xfrm xmlns:a="http://schemas.openxmlformats.org/drawingml/2006/main">
            <a:off x="311700" y="655150"/>
            <a:ext cx="68757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0" i="0" u="none" cap="none">
                <a:solidFill>
                  <a:schemeClr val="dk2"/>
                </a:solidFill>
                <a:latin typeface="Source Code Pro"/>
                <a:ea typeface="Source Code Pro"/>
                <a:cs typeface="Source Code Pro"/>
              </a:rPr>
              <a:t>Complex Problem-Solving with </a:t>
            </a:r>
            <a:r>
              <a:rPr sz="1800">
                <a:solidFill>
                  <a:schemeClr val="dk2"/>
                </a:solidFill>
                <a:latin typeface="Source Code Pro"/>
                <a:ea typeface="Source Code Pro"/>
                <a:cs typeface="Source Code Pro"/>
              </a:rPr>
              <a:t>Reasoning Models</a:t>
            </a:r>
            <a:endParaRPr sz="1800" b="0" i="0" u="none" cap="none">
              <a:solidFill>
                <a:schemeClr val="dk2"/>
              </a:solidFill>
              <a:latin typeface="Source Code Pro"/>
              <a:ea typeface="Source Code Pro"/>
              <a:cs typeface="Source Code Pro"/>
            </a:endParaRPr>
          </a:p>
        </p:txBody>
      </p:sp>
      <p:sp>
        <p:nvSpPr>
          <p:cNvPr id="148" name="Google Shape;148;p22">
            <a:extLst xmlns:a="http://schemas.openxmlformats.org/drawingml/2006/main">
              <a:ext uri="{FF2B5EF4-FFF2-40B4-BE49-F238E27FC236}">
                <a16:creationId xmlns:a16="http://schemas.microsoft.com/office/drawing/2014/main" id="{AE9D039F-1478-4B26-9EE8-2B83F8F985D6}"/>
              </a:ext>
            </a:extLst>
          </p:cNvPr>
          <p:cNvSpPr>
            <a:spLocks xmlns:a="http://schemas.openxmlformats.org/drawingml/2006/main" noGrp="1"/>
          </p:cNvSpPr>
          <p:nvPr>
            <p:ph type="body" idx="1"/>
          </p:nvPr>
        </p:nvSpPr>
        <p:spPr>
          <a:xfrm xmlns:a="http://schemas.openxmlformats.org/drawingml/2006/main">
            <a:off x="5164450" y="1491075"/>
            <a:ext cx="3771900" cy="295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330200" algn="l">
              <a:lnSpc>
                <a:spcPct val="115000"/>
              </a:lnSpc>
              <a:spcBef>
                <a:spcPts val="0"/>
              </a:spcBef>
              <a:spcAft>
                <a:spcPts val="0"/>
              </a:spcAft>
              <a:buClr>
                <a:srgbClr val="000000"/>
              </a:buClr>
              <a:buSzPts val="1600"/>
              <a:buChar char="●"/>
            </a:pPr>
            <a:r>
              <a:rPr sz="1600" b="1">
                <a:solidFill>
                  <a:srgbClr val="000000"/>
                </a:solidFill>
              </a:rPr>
              <a:t>Tackle complex tasks </a:t>
            </a:r>
            <a:r>
              <a:rPr sz="1600">
                <a:solidFill>
                  <a:srgbClr val="000000"/>
                </a:solidFill>
              </a:rPr>
              <a:t>requiring multi-step reasoning.</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Char char="●"/>
            </a:pPr>
            <a:r>
              <a:rPr sz="1600">
                <a:solidFill>
                  <a:srgbClr val="000000"/>
                </a:solidFill>
              </a:rPr>
              <a:t>Suitable for technical problem-solving and analysis.</a:t>
            </a:r>
            <a:endParaRPr sz="1600">
              <a:solidFill>
                <a:srgbClr val="000000"/>
              </a:solidFill>
            </a:endParaRPr>
          </a:p>
          <a:p xmlns:a="http://schemas.openxmlformats.org/drawingml/2006/main">
            <a:pPr marL="0" lvl="0" indent="0" algn="l">
              <a:lnSpc>
                <a:spcPct val="115000"/>
              </a:lnSpc>
              <a:spcBef>
                <a:spcPts val="1200"/>
              </a:spcBef>
              <a:spcAft>
                <a:spcPts val="1200"/>
              </a:spcAft>
              <a:buSzPts val="1800"/>
              <a:buNone/>
            </a:pPr>
            <a:r>
              <a:t/>
            </a:r>
            <a:endParaRPr sz="1600">
              <a:solidFill>
                <a:srgbClr val="000000"/>
              </a:solidFill>
            </a:endParaRPr>
          </a:p>
        </p:txBody>
      </p:sp>
      <p:pic>
        <p:nvPicPr>
          <p:cNvPr id="154" name="Google Shape;149;p22"/>
          <p:cNvPicPr>
            <a:picLocks xmlns:a="http://schemas.openxmlformats.org/drawingml/2006/main" noChangeAspect="1"/>
          </p:cNvPicPr>
          <p:nvPr/>
        </p:nvPicPr>
        <p:blipFill>
          <a:blip xmlns:r="http://schemas.openxmlformats.org/officeDocument/2006/relationships" xmlns:a="http://schemas.openxmlformats.org/drawingml/2006/main" r:embed="R9615e63536494948">
            <a:alphaModFix/>
          </a:blip>
          <a:stretch xmlns:a="http://schemas.openxmlformats.org/drawingml/2006/main">
            <a:fillRect l="0" t="0" r="0" b="0"/>
          </a:stretch>
        </p:blipFill>
        <p:spPr>
          <a:xfrm xmlns:a="http://schemas.openxmlformats.org/drawingml/2006/main">
            <a:off x="414225" y="1421275"/>
            <a:ext cx="4596918" cy="32419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2224087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54" name="Google Shape;154;p23">
            <a:extLst xmlns:a="http://schemas.openxmlformats.org/drawingml/2006/main">
              <a:ext uri="{FF2B5EF4-FFF2-40B4-BE49-F238E27FC236}">
                <a16:creationId xmlns:a16="http://schemas.microsoft.com/office/drawing/2014/main" id="{1DF5EE81-418F-4980-8E49-6B8B358A91A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55" name="Google Shape;155;p23">
            <a:extLst xmlns:a="http://schemas.openxmlformats.org/drawingml/2006/main">
              <a:ext uri="{FF2B5EF4-FFF2-40B4-BE49-F238E27FC236}">
                <a16:creationId xmlns:a16="http://schemas.microsoft.com/office/drawing/2014/main" id="{393C6F17-1821-46B4-9719-6C890C6644ED}"/>
              </a:ext>
            </a:extLst>
          </p:cNvPr>
          <p:cNvSpPr>
            <a:spLocks xmlns:a="http://schemas.openxmlformats.org/drawingml/2006/main" noGrp="1"/>
          </p:cNvSpPr>
          <p:nvPr>
            <p:ph type="title" idx="0"/>
          </p:nvPr>
        </p:nvSpPr>
        <p:spPr>
          <a:xfrm xmlns:a="http://schemas.openxmlformats.org/drawingml/2006/main">
            <a:off x="311700" y="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Embeddings</a:t>
            </a:r>
            <a:endParaRPr/>
          </a:p>
        </p:txBody>
      </p:sp>
      <p:sp>
        <p:nvSpPr>
          <p:cNvPr id="156" name="Google Shape;156;p23">
            <a:extLst xmlns:a="http://schemas.openxmlformats.org/drawingml/2006/main">
              <a:ext uri="{FF2B5EF4-FFF2-40B4-BE49-F238E27FC236}">
                <a16:creationId xmlns:a16="http://schemas.microsoft.com/office/drawing/2014/main" id="{C3998EFB-690D-4C52-AD47-8CD95BD02436}"/>
              </a:ext>
            </a:extLst>
          </p:cNvPr>
          <p:cNvSpPr>
            <a:spLocks xmlns:a="http://schemas.openxmlformats.org/drawingml/2006/main" noGrp="1"/>
          </p:cNvSpPr>
          <p:nvPr/>
        </p:nvSpPr>
        <p:spPr>
          <a:xfrm xmlns:a="http://schemas.openxmlformats.org/drawingml/2006/main">
            <a:off x="311700" y="655150"/>
            <a:ext cx="87096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0" i="0" u="none" cap="none">
                <a:solidFill>
                  <a:schemeClr val="dk2"/>
                </a:solidFill>
                <a:latin typeface="Source Code Pro"/>
                <a:ea typeface="Source Code Pro"/>
                <a:cs typeface="Source Code Pro"/>
              </a:rPr>
              <a:t>Vector Representations for Semantic Search and Similarity</a:t>
            </a:r>
            <a:endParaRPr sz="1800" b="0" i="0" u="none" cap="none">
              <a:solidFill>
                <a:schemeClr val="dk2"/>
              </a:solidFill>
              <a:latin typeface="Source Code Pro"/>
              <a:ea typeface="Source Code Pro"/>
              <a:cs typeface="Source Code Pro"/>
            </a:endParaRPr>
          </a:p>
        </p:txBody>
      </p:sp>
      <p:sp>
        <p:nvSpPr>
          <p:cNvPr id="157" name="Google Shape;157;p23">
            <a:extLst xmlns:a="http://schemas.openxmlformats.org/drawingml/2006/main">
              <a:ext uri="{FF2B5EF4-FFF2-40B4-BE49-F238E27FC236}">
                <a16:creationId xmlns:a16="http://schemas.microsoft.com/office/drawing/2014/main" id="{2FF112AE-1C50-4C29-A95C-5B97DBE5D73F}"/>
              </a:ext>
            </a:extLst>
          </p:cNvPr>
          <p:cNvSpPr>
            <a:spLocks xmlns:a="http://schemas.openxmlformats.org/drawingml/2006/main" noGrp="1"/>
          </p:cNvSpPr>
          <p:nvPr>
            <p:ph type="body" idx="1"/>
          </p:nvPr>
        </p:nvSpPr>
        <p:spPr>
          <a:xfrm xmlns:a="http://schemas.openxmlformats.org/drawingml/2006/main">
            <a:off x="5172900" y="1322150"/>
            <a:ext cx="3771900" cy="295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311150" algn="l">
              <a:lnSpc>
                <a:spcPct val="115000"/>
              </a:lnSpc>
              <a:spcBef>
                <a:spcPts val="0"/>
              </a:spcBef>
              <a:spcAft>
                <a:spcPts val="0"/>
              </a:spcAft>
              <a:buClr>
                <a:srgbClr val="000000"/>
              </a:buClr>
              <a:buSzPts val="1300"/>
              <a:buChar char="●"/>
            </a:pPr>
            <a:r>
              <a:rPr sz="1300">
                <a:solidFill>
                  <a:srgbClr val="000000"/>
                </a:solidFill>
              </a:rPr>
              <a:t>Convert text into numerical vector representations</a:t>
            </a:r>
            <a:endParaRPr sz="1300">
              <a:solidFill>
                <a:srgbClr val="000000"/>
              </a:solidFill>
            </a:endParaRPr>
          </a:p>
          <a:p xmlns:a="http://schemas.openxmlformats.org/drawingml/2006/main">
            <a:pPr marL="457200" lvl="0" indent="-311150" algn="l">
              <a:lnSpc>
                <a:spcPct val="115000"/>
              </a:lnSpc>
              <a:spcBef>
                <a:spcPts val="0"/>
              </a:spcBef>
              <a:spcAft>
                <a:spcPts val="0"/>
              </a:spcAft>
              <a:buClr>
                <a:srgbClr val="000000"/>
              </a:buClr>
              <a:buSzPts val="1300"/>
              <a:buChar char="●"/>
            </a:pPr>
            <a:r>
              <a:rPr sz="1300">
                <a:solidFill>
                  <a:srgbClr val="000000"/>
                </a:solidFill>
              </a:rPr>
              <a:t>Enable semantic search and content recommendation</a:t>
            </a:r>
            <a:endParaRPr sz="1300">
              <a:solidFill>
                <a:srgbClr val="000000"/>
              </a:solidFill>
            </a:endParaRPr>
          </a:p>
          <a:p xmlns:a="http://schemas.openxmlformats.org/drawingml/2006/main">
            <a:pPr marL="0" lvl="0" indent="0" algn="l">
              <a:lnSpc>
                <a:spcPct val="115000"/>
              </a:lnSpc>
              <a:spcBef>
                <a:spcPts val="1200"/>
              </a:spcBef>
              <a:spcAft>
                <a:spcPts val="0"/>
              </a:spcAft>
              <a:buSzPts val="1800"/>
              <a:buNone/>
            </a:pPr>
            <a:r>
              <a:rPr sz="1300" b="1">
                <a:solidFill>
                  <a:srgbClr val="000000"/>
                </a:solidFill>
              </a:rPr>
              <a:t>Applications:</a:t>
            </a:r>
            <a:endParaRPr sz="1300" b="1">
              <a:solidFill>
                <a:srgbClr val="000000"/>
              </a:solidFill>
            </a:endParaRPr>
          </a:p>
          <a:p xmlns:a="http://schemas.openxmlformats.org/drawingml/2006/main">
            <a:pPr marL="457200" lvl="0" indent="-279400" algn="l">
              <a:lnSpc>
                <a:spcPct val="115000"/>
              </a:lnSpc>
              <a:spcBef>
                <a:spcPts val="1200"/>
              </a:spcBef>
              <a:spcAft>
                <a:spcPts val="0"/>
              </a:spcAft>
              <a:buClr>
                <a:srgbClr val="000000"/>
              </a:buClr>
              <a:buSzPts val="800"/>
              <a:buFont typeface="Arial"/>
              <a:buChar char="●"/>
            </a:pPr>
            <a:r>
              <a:rPr sz="1300">
                <a:solidFill>
                  <a:srgbClr val="000000"/>
                </a:solidFill>
              </a:rPr>
              <a:t>Similarity matching</a:t>
            </a:r>
            <a:endParaRPr sz="1300">
              <a:solidFill>
                <a:srgbClr val="000000"/>
              </a:solidFill>
            </a:endParaRPr>
          </a:p>
          <a:p xmlns:a="http://schemas.openxmlformats.org/drawingml/2006/main">
            <a:pPr marL="457200" lvl="0" indent="-279400" algn="l">
              <a:lnSpc>
                <a:spcPct val="115000"/>
              </a:lnSpc>
              <a:spcBef>
                <a:spcPts val="0"/>
              </a:spcBef>
              <a:spcAft>
                <a:spcPts val="0"/>
              </a:spcAft>
              <a:buClr>
                <a:srgbClr val="000000"/>
              </a:buClr>
              <a:buSzPts val="800"/>
              <a:buFont typeface="Arial"/>
              <a:buChar char="●"/>
            </a:pPr>
            <a:r>
              <a:rPr sz="1300">
                <a:solidFill>
                  <a:srgbClr val="000000"/>
                </a:solidFill>
              </a:rPr>
              <a:t>Content retrieval</a:t>
            </a:r>
            <a:endParaRPr sz="1300">
              <a:solidFill>
                <a:srgbClr val="000000"/>
              </a:solidFill>
            </a:endParaRPr>
          </a:p>
          <a:p xmlns:a="http://schemas.openxmlformats.org/drawingml/2006/main">
            <a:pPr marL="457200" lvl="0" indent="-279400" algn="l">
              <a:lnSpc>
                <a:spcPct val="115000"/>
              </a:lnSpc>
              <a:spcBef>
                <a:spcPts val="0"/>
              </a:spcBef>
              <a:spcAft>
                <a:spcPts val="0"/>
              </a:spcAft>
              <a:buClr>
                <a:srgbClr val="000000"/>
              </a:buClr>
              <a:buSzPts val="800"/>
              <a:buFont typeface="Arial"/>
              <a:buChar char="●"/>
            </a:pPr>
            <a:r>
              <a:rPr sz="1300">
                <a:solidFill>
                  <a:srgbClr val="000000"/>
                </a:solidFill>
              </a:rPr>
              <a:t>Clustering and classification</a:t>
            </a:r>
            <a:endParaRPr sz="1300">
              <a:solidFill>
                <a:srgbClr val="000000"/>
              </a:solidFill>
            </a:endParaRPr>
          </a:p>
          <a:p xmlns:a="http://schemas.openxmlformats.org/drawingml/2006/main">
            <a:pPr marL="457200" lvl="0" indent="-279400" algn="l">
              <a:lnSpc>
                <a:spcPct val="115000"/>
              </a:lnSpc>
              <a:spcBef>
                <a:spcPts val="0"/>
              </a:spcBef>
              <a:spcAft>
                <a:spcPts val="0"/>
              </a:spcAft>
              <a:buClr>
                <a:srgbClr val="000000"/>
              </a:buClr>
              <a:buSzPts val="800"/>
              <a:buFont typeface="Arial"/>
              <a:buChar char="●"/>
            </a:pPr>
            <a:r>
              <a:rPr sz="1300">
                <a:solidFill>
                  <a:srgbClr val="000000"/>
                </a:solidFill>
              </a:rPr>
              <a:t>Knowledge bases and RAG (Retrieval Augmented Generation)</a:t>
            </a:r>
            <a:endParaRPr sz="1300">
              <a:solidFill>
                <a:srgbClr val="000000"/>
              </a:solidFill>
            </a:endParaRPr>
          </a:p>
          <a:p xmlns:a="http://schemas.openxmlformats.org/drawingml/2006/main">
            <a:pPr marL="0" lvl="0" indent="0" algn="l">
              <a:lnSpc>
                <a:spcPct val="115000"/>
              </a:lnSpc>
              <a:spcBef>
                <a:spcPts val="1200"/>
              </a:spcBef>
              <a:spcAft>
                <a:spcPts val="1200"/>
              </a:spcAft>
              <a:buSzPts val="1800"/>
              <a:buNone/>
            </a:pPr>
            <a:r>
              <a:t/>
            </a:r>
            <a:endParaRPr sz="1300">
              <a:solidFill>
                <a:srgbClr val="000000"/>
              </a:solidFill>
            </a:endParaRPr>
          </a:p>
        </p:txBody>
      </p:sp>
      <p:pic>
        <p:nvPicPr>
          <p:cNvPr id="163" name="Google Shape;158;p23"/>
          <p:cNvPicPr>
            <a:picLocks xmlns:a="http://schemas.openxmlformats.org/drawingml/2006/main" noChangeAspect="1"/>
          </p:cNvPicPr>
          <p:nvPr/>
        </p:nvPicPr>
        <p:blipFill>
          <a:blip xmlns:r="http://schemas.openxmlformats.org/officeDocument/2006/relationships" xmlns:a="http://schemas.openxmlformats.org/drawingml/2006/main" r:embed="Rf6858dade1b44898">
            <a:alphaModFix/>
          </a:blip>
          <a:stretch xmlns:a="http://schemas.openxmlformats.org/drawingml/2006/main">
            <a:fillRect l="0" t="0" r="0" b="0"/>
          </a:stretch>
        </p:blipFill>
        <p:spPr>
          <a:xfrm xmlns:a="http://schemas.openxmlformats.org/drawingml/2006/main">
            <a:off x="397325" y="1455075"/>
            <a:ext cx="3521950" cy="19654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8094209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3" name="Google Shape;163;p24">
            <a:extLst xmlns:a="http://schemas.openxmlformats.org/drawingml/2006/main">
              <a:ext uri="{FF2B5EF4-FFF2-40B4-BE49-F238E27FC236}">
                <a16:creationId xmlns:a16="http://schemas.microsoft.com/office/drawing/2014/main" id="{70AE5EF5-CA07-436D-9D6E-C2A9A373CD2F}"/>
              </a:ext>
            </a:extLst>
          </p:cNvPr>
          <p:cNvSpPr>
            <a:spLocks xmlns:a="http://schemas.openxmlformats.org/drawingml/2006/main" noGrp="1"/>
          </p:cNvSpPr>
          <p:nvPr>
            <p:ph type="body" idx="1"/>
          </p:nvPr>
        </p:nvSpPr>
        <p:spPr>
          <a:xfrm xmlns:a="http://schemas.openxmlformats.org/drawingml/2006/main">
            <a:off x="5172900" y="1322150"/>
            <a:ext cx="3771900" cy="295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15000"/>
              </a:lnSpc>
              <a:spcBef>
                <a:spcPts val="1200"/>
              </a:spcBef>
              <a:spcAft>
                <a:spcPts val="0"/>
              </a:spcAft>
              <a:buSzPts val="1800"/>
              <a:buNone/>
            </a:pPr>
            <a:r>
              <a:rPr sz="1300">
                <a:solidFill>
                  <a:srgbClr val="000000"/>
                </a:solidFill>
              </a:rPr>
              <a:t>Benefits</a:t>
            </a:r>
            <a:r>
              <a:rPr sz="1300">
                <a:solidFill>
                  <a:srgbClr val="000000"/>
                </a:solidFill>
              </a:rPr>
              <a:t>:</a:t>
            </a:r>
            <a:endParaRPr sz="1300">
              <a:solidFill>
                <a:srgbClr val="000000"/>
              </a:solidFill>
            </a:endParaRPr>
          </a:p>
          <a:p xmlns:a="http://schemas.openxmlformats.org/drawingml/2006/main">
            <a:pPr marL="457200" lvl="0" indent="-279400" algn="l">
              <a:lnSpc>
                <a:spcPct val="115000"/>
              </a:lnSpc>
              <a:spcBef>
                <a:spcPts val="0"/>
              </a:spcBef>
              <a:spcAft>
                <a:spcPts val="0"/>
              </a:spcAft>
              <a:buClr>
                <a:srgbClr val="000000"/>
              </a:buClr>
              <a:buSzPts val="800"/>
              <a:buFont typeface="Arial"/>
              <a:buChar char="●"/>
            </a:pPr>
            <a:r>
              <a:rPr sz="1300" b="1">
                <a:solidFill>
                  <a:srgbClr val="000000"/>
                </a:solidFill>
              </a:rPr>
              <a:t>Reduced boilerplate code</a:t>
            </a:r>
            <a:r>
              <a:rPr sz="1300">
                <a:solidFill>
                  <a:srgbClr val="000000"/>
                </a:solidFill>
              </a:rPr>
              <a:t>, let OpenAI focus on the harness code whilst you focus on business logic.</a:t>
            </a:r>
            <a:endParaRPr sz="1300">
              <a:solidFill>
                <a:srgbClr val="000000"/>
              </a:solidFill>
            </a:endParaRPr>
          </a:p>
          <a:p xmlns:a="http://schemas.openxmlformats.org/drawingml/2006/main">
            <a:pPr marL="457200" lvl="0" indent="-311150" algn="l">
              <a:lnSpc>
                <a:spcPct val="115000"/>
              </a:lnSpc>
              <a:spcBef>
                <a:spcPts val="0"/>
              </a:spcBef>
              <a:spcAft>
                <a:spcPts val="0"/>
              </a:spcAft>
              <a:buClr>
                <a:srgbClr val="000000"/>
              </a:buClr>
              <a:buSzPts val="1300"/>
              <a:buChar char="●"/>
            </a:pPr>
            <a:r>
              <a:rPr sz="1300" b="1">
                <a:solidFill>
                  <a:srgbClr val="000000"/>
                </a:solidFill>
              </a:rPr>
              <a:t>Durable agents</a:t>
            </a:r>
            <a:r>
              <a:rPr sz="1300">
                <a:solidFill>
                  <a:srgbClr val="000000"/>
                </a:solidFill>
              </a:rPr>
              <a:t> that can recover from failure.</a:t>
            </a:r>
            <a:endParaRPr sz="1300">
              <a:solidFill>
                <a:srgbClr val="000000"/>
              </a:solidFill>
            </a:endParaRPr>
          </a:p>
          <a:p xmlns:a="http://schemas.openxmlformats.org/drawingml/2006/main">
            <a:pPr marL="457200" lvl="0" indent="-311150" algn="l">
              <a:lnSpc>
                <a:spcPct val="115000"/>
              </a:lnSpc>
              <a:spcBef>
                <a:spcPts val="0"/>
              </a:spcBef>
              <a:spcAft>
                <a:spcPts val="0"/>
              </a:spcAft>
              <a:buClr>
                <a:srgbClr val="000000"/>
              </a:buClr>
              <a:buSzPts val="1300"/>
              <a:buChar char="●"/>
            </a:pPr>
            <a:r>
              <a:rPr sz="1300" b="1">
                <a:solidFill>
                  <a:srgbClr val="000000"/>
                </a:solidFill>
              </a:rPr>
              <a:t>Programmatically create, edit, update or delete agents</a:t>
            </a:r>
            <a:r>
              <a:rPr sz="1300">
                <a:solidFill>
                  <a:srgbClr val="000000"/>
                </a:solidFill>
              </a:rPr>
              <a:t> without custom infrastructure.</a:t>
            </a:r>
            <a:endParaRPr sz="1300">
              <a:solidFill>
                <a:srgbClr val="000000"/>
              </a:solidFill>
            </a:endParaRPr>
          </a:p>
          <a:p xmlns:a="http://schemas.openxmlformats.org/drawingml/2006/main">
            <a:pPr marL="0" lvl="0" indent="0" algn="l">
              <a:lnSpc>
                <a:spcPct val="115000"/>
              </a:lnSpc>
              <a:spcBef>
                <a:spcPts val="0"/>
              </a:spcBef>
              <a:spcAft>
                <a:spcPts val="0"/>
              </a:spcAft>
              <a:buNone/>
            </a:pPr>
            <a:r>
              <a:t/>
            </a:r>
            <a:endParaRPr sz="1300">
              <a:solidFill>
                <a:srgbClr val="000000"/>
              </a:solidFill>
            </a:endParaRPr>
          </a:p>
        </p:txBody>
      </p:sp>
      <p:sp>
        <p:nvSpPr>
          <p:cNvPr id="164" name="Google Shape;164;p24">
            <a:extLst xmlns:a="http://schemas.openxmlformats.org/drawingml/2006/main">
              <a:ext uri="{FF2B5EF4-FFF2-40B4-BE49-F238E27FC236}">
                <a16:creationId xmlns:a16="http://schemas.microsoft.com/office/drawing/2014/main" id="{217E7E03-C006-4870-8CD9-BB3B912E35D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65" name="Google Shape;165;p24">
            <a:extLst xmlns:a="http://schemas.openxmlformats.org/drawingml/2006/main">
              <a:ext uri="{FF2B5EF4-FFF2-40B4-BE49-F238E27FC236}">
                <a16:creationId xmlns:a16="http://schemas.microsoft.com/office/drawing/2014/main" id="{6EEABA08-A009-4F13-9E3E-67A4DDC706CE}"/>
              </a:ext>
            </a:extLst>
          </p:cNvPr>
          <p:cNvSpPr>
            <a:spLocks xmlns:a="http://schemas.openxmlformats.org/drawingml/2006/main" noGrp="1"/>
          </p:cNvSpPr>
          <p:nvPr>
            <p:ph type="title" idx="0"/>
          </p:nvPr>
        </p:nvSpPr>
        <p:spPr>
          <a:xfrm xmlns:a="http://schemas.openxmlformats.org/drawingml/2006/main">
            <a:off x="311700" y="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Managed Agents - Harness as a Service</a:t>
            </a:r>
            <a:endParaRPr/>
          </a:p>
        </p:txBody>
      </p:sp>
      <p:sp>
        <p:nvSpPr>
          <p:cNvPr id="166" name="Google Shape;166;p24">
            <a:extLst xmlns:a="http://schemas.openxmlformats.org/drawingml/2006/main">
              <a:ext uri="{FF2B5EF4-FFF2-40B4-BE49-F238E27FC236}">
                <a16:creationId xmlns:a16="http://schemas.microsoft.com/office/drawing/2014/main" id="{55B8BABB-6BB9-4113-9D9F-CAB0C0BB3264}"/>
              </a:ext>
            </a:extLst>
          </p:cNvPr>
          <p:cNvSpPr>
            <a:spLocks xmlns:a="http://schemas.openxmlformats.org/drawingml/2006/main" noGrp="1"/>
          </p:cNvSpPr>
          <p:nvPr/>
        </p:nvSpPr>
        <p:spPr>
          <a:xfrm xmlns:a="http://schemas.openxmlformats.org/drawingml/2006/main">
            <a:off x="311700" y="655150"/>
            <a:ext cx="87096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a:solidFill>
                  <a:schemeClr val="dk2"/>
                </a:solidFill>
                <a:latin typeface="Source Code Pro"/>
                <a:ea typeface="Source Code Pro"/>
                <a:cs typeface="Source Code Pro"/>
              </a:rPr>
              <a:t>Agents API - Easily create agents in cloud/local environments</a:t>
            </a:r>
            <a:endParaRPr sz="1800" b="0" i="0" u="none" cap="none">
              <a:solidFill>
                <a:schemeClr val="dk2"/>
              </a:solidFill>
              <a:latin typeface="Source Code Pro"/>
              <a:ea typeface="Source Code Pro"/>
              <a:cs typeface="Source Code Pro"/>
            </a:endParaRPr>
          </a:p>
        </p:txBody>
      </p:sp>
      <p:pic>
        <p:nvPicPr>
          <p:cNvPr id="172" name="Google Shape;167;p24"/>
          <p:cNvPicPr>
            <a:picLocks xmlns:a="http://schemas.openxmlformats.org/drawingml/2006/main" noChangeAspect="1"/>
          </p:cNvPicPr>
          <p:nvPr/>
        </p:nvPicPr>
        <p:blipFill>
          <a:blip xmlns:r="http://schemas.openxmlformats.org/officeDocument/2006/relationships" xmlns:a="http://schemas.openxmlformats.org/drawingml/2006/main" r:embed="Ra17781d893cd41c4">
            <a:alphaModFix/>
          </a:blip>
          <a:stretch xmlns:a="http://schemas.openxmlformats.org/drawingml/2006/main">
            <a:fillRect l="0" t="0" r="0" b="0"/>
          </a:stretch>
        </p:blipFill>
        <p:spPr>
          <a:xfrm xmlns:a="http://schemas.openxmlformats.org/drawingml/2006/main">
            <a:off x="429700" y="1161675"/>
            <a:ext cx="3272350" cy="37931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99050810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Computer Use, Now Through the API</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The same idea we saw earlier: an AI operates a visual interface.">
            <a:extLst xmlns:a="http://schemas.openxmlformats.org/drawingml/2006/main">
              <a:ext uri="{FF2B5EF4-FFF2-40B4-BE49-F238E27FC236}">
                <a16:creationId xmlns:a16="http://schemas.microsoft.com/office/drawing/2014/main" id="{5CDCDD94-220C-451A-B227-797283818FCB}"/>
              </a:ext>
            </a:extLst>
          </p:cNvPr>
          <p:cNvSpPr>
            <a:spLocks xmlns:a="http://schemas.openxmlformats.org/drawingml/2006/main" noGrp="1"/>
          </p:cNvSpPr>
          <p:nvPr/>
        </p:nvSpPr>
        <p:spPr>
          <a:xfrm xmlns:a="http://schemas.openxmlformats.org/drawingml/2006/main">
            <a:off x="400050" y="1514475"/>
            <a:ext cx="833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The same idea we saw earlier: an AI operates a visual interface.</a:t>
            </a:r>
          </a:p>
        </p:txBody>
      </p:sp>
      <p:sp>
        <p:nvSpPr>
          <p:cNvPr id="185" name="A practical example">
            <a:extLst xmlns:a="http://schemas.openxmlformats.org/drawingml/2006/main">
              <a:ext uri="{FF2B5EF4-FFF2-40B4-BE49-F238E27FC236}">
                <a16:creationId xmlns:a16="http://schemas.microsoft.com/office/drawing/2014/main" id="{CB23D36B-9865-405C-9A21-51F27BBCA8D0}"/>
              </a:ext>
            </a:extLst>
          </p:cNvPr>
          <p:cNvSpPr>
            <a:spLocks xmlns:a="http://schemas.openxmlformats.org/drawingml/2006/main" noGrp="1"/>
          </p:cNvSpPr>
          <p:nvPr/>
        </p:nvSpPr>
        <p:spPr>
          <a:xfrm xmlns:a="http://schemas.openxmlformats.org/drawingml/2006/main">
            <a:off x="400050" y="2343150"/>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75" b="0">
                <a:solidFill>
                  <a:srgbClr val="E91D63"/>
                </a:solidFill>
                <a:latin typeface="Oswald"/>
                <a:ea typeface="Oswald"/>
                <a:cs typeface="Oswald"/>
              </a:defRPr>
            </a:pPr>
            <a:r>
              <a:rPr sz="2175" b="0">
                <a:solidFill>
                  <a:srgbClr val="E91D63"/>
                </a:solidFill>
                <a:latin typeface="Oswald"/>
                <a:ea typeface="Oswald"/>
                <a:cs typeface="Oswald"/>
              </a:rPr>
              <a:t>A practical example</a:t>
            </a:r>
          </a:p>
        </p:txBody>
      </p:sp>
      <p:sp>
        <p:nvSpPr>
          <p:cNvPr id="186" name="Test a signup flow in an">
            <a:extLst xmlns:a="http://schemas.openxmlformats.org/drawingml/2006/main">
              <a:ext uri="{FF2B5EF4-FFF2-40B4-BE49-F238E27FC236}">
                <a16:creationId xmlns:a16="http://schemas.microsoft.com/office/drawing/2014/main" id="{54C7C507-18A4-45C0-BDC9-B2B73AC6510B}"/>
              </a:ext>
            </a:extLst>
          </p:cNvPr>
          <p:cNvSpPr>
            <a:spLocks xmlns:a="http://schemas.openxmlformats.org/drawingml/2006/main" noGrp="1"/>
          </p:cNvSpPr>
          <p:nvPr/>
        </p:nvSpPr>
        <p:spPr>
          <a:xfrm xmlns:a="http://schemas.openxmlformats.org/drawingml/2006/main">
            <a:off x="400050" y="2876550"/>
            <a:ext cx="4171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Test a signup flow in an</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isolated browser and report</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where the user gets stuck.</a:t>
            </a:r>
          </a:p>
        </p:txBody>
      </p:sp>
      <p:sp>
        <p:nvSpPr>
          <p:cNvPr id="187" name="The application runs the loop">
            <a:extLst xmlns:a="http://schemas.openxmlformats.org/drawingml/2006/main">
              <a:ext uri="{FF2B5EF4-FFF2-40B4-BE49-F238E27FC236}">
                <a16:creationId xmlns:a16="http://schemas.microsoft.com/office/drawing/2014/main" id="{C56D8501-D7CB-4A7C-A8CA-63DE6CC46E03}"/>
              </a:ext>
            </a:extLst>
          </p:cNvPr>
          <p:cNvSpPr>
            <a:spLocks xmlns:a="http://schemas.openxmlformats.org/drawingml/2006/main" noGrp="1"/>
          </p:cNvSpPr>
          <p:nvPr/>
        </p:nvSpPr>
        <p:spPr>
          <a:xfrm xmlns:a="http://schemas.openxmlformats.org/drawingml/2006/main">
            <a:off x="5076825" y="23431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75" b="0">
                <a:solidFill>
                  <a:srgbClr val="E91D63"/>
                </a:solidFill>
                <a:latin typeface="Oswald"/>
                <a:ea typeface="Oswald"/>
                <a:cs typeface="Oswald"/>
              </a:defRPr>
            </a:pPr>
            <a:r>
              <a:rPr sz="2175" b="0">
                <a:solidFill>
                  <a:srgbClr val="E91D63"/>
                </a:solidFill>
                <a:latin typeface="Oswald"/>
                <a:ea typeface="Oswald"/>
                <a:cs typeface="Oswald"/>
              </a:rPr>
              <a:t>The application runs the loop</a:t>
            </a:r>
          </a:p>
        </p:txBody>
      </p:sp>
      <p:sp>
        <p:nvSpPr>
          <p:cNvPr id="188" name="1  Send a screenshot">
            <a:extLst xmlns:a="http://schemas.openxmlformats.org/drawingml/2006/main">
              <a:ext uri="{FF2B5EF4-FFF2-40B4-BE49-F238E27FC236}">
                <a16:creationId xmlns:a16="http://schemas.microsoft.com/office/drawing/2014/main" id="{E95C3FC8-A270-4095-8A1C-7618E1CA23F6}"/>
              </a:ext>
            </a:extLst>
          </p:cNvPr>
          <p:cNvSpPr>
            <a:spLocks xmlns:a="http://schemas.openxmlformats.org/drawingml/2006/main" noGrp="1"/>
          </p:cNvSpPr>
          <p:nvPr/>
        </p:nvSpPr>
        <p:spPr>
          <a:xfrm xmlns:a="http://schemas.openxmlformats.org/drawingml/2006/main">
            <a:off x="5076825" y="2876550"/>
            <a:ext cx="3771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1  Send a screenshot</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2  Model chooses the next action</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3  Your app clicks or types</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4  Send the new screen; repeat</a:t>
            </a:r>
          </a:p>
        </p:txBody>
      </p:sp>
      <p:sp>
        <p:nvSpPr>
          <p:cNvPr id="189" name="You supply the browser or desktop environment.">
            <a:extLst xmlns:a="http://schemas.openxmlformats.org/drawingml/2006/main">
              <a:ext uri="{FF2B5EF4-FFF2-40B4-BE49-F238E27FC236}">
                <a16:creationId xmlns:a16="http://schemas.microsoft.com/office/drawing/2014/main" id="{50074EE3-49B5-40F4-AED6-0DDFEECCC476}"/>
              </a:ext>
            </a:extLst>
          </p:cNvPr>
          <p:cNvSpPr>
            <a:spLocks xmlns:a="http://schemas.openxmlformats.org/drawingml/2006/main" noGrp="1"/>
          </p:cNvSpPr>
          <p:nvPr/>
        </p:nvSpPr>
        <p:spPr>
          <a:xfrm xmlns:a="http://schemas.openxmlformats.org/drawingml/2006/main">
            <a:off x="400050" y="410527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1">
                <a:solidFill>
                  <a:srgbClr val="424242"/>
                </a:solidFill>
                <a:latin typeface="Source Code Pro"/>
                <a:ea typeface="Source Code Pro"/>
                <a:cs typeface="Source Code Pro"/>
              </a:defRPr>
            </a:pPr>
            <a:r>
              <a:rPr sz="1425" b="1">
                <a:solidFill>
                  <a:srgbClr val="424242"/>
                </a:solidFill>
                <a:latin typeface="Source Code Pro"/>
                <a:ea typeface="Source Code Pro"/>
                <a:cs typeface="Source Code Pro"/>
              </a:rPr>
              <a:t>You supply the browser or desktop environment.</a:t>
            </a:r>
          </a:p>
        </p:txBody>
      </p:sp>
      <p:sp>
        <p:nvSpPr>
          <p:cNvPr id="190" name="Computer Use guide">
            <a:extLst xmlns:a="http://schemas.openxmlformats.org/drawingml/2006/main">
              <a:ext uri="{FF2B5EF4-FFF2-40B4-BE49-F238E27FC236}">
                <a16:creationId xmlns:a16="http://schemas.microsoft.com/office/drawing/2014/main" id="{6C80EBDD-5C10-4FD0-9570-8B282C3FDE2F}"/>
              </a:ext>
            </a:extLst>
          </p:cNvPr>
          <p:cNvSpPr>
            <a:spLocks xmlns:a="http://schemas.openxmlformats.org/drawingml/2006/main" noGrp="1"/>
          </p:cNvSpPr>
          <p:nvPr/>
        </p:nvSpPr>
        <p:spPr>
          <a:xfrm xmlns:a="http://schemas.openxmlformats.org/drawingml/2006/main">
            <a:off x="400050" y="4476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a8b3c14e61d04c03"/>
              </a:rPr>
              <a:t>Computer Use guide</a:t>
            </a:r>
          </a:p>
        </p:txBody>
      </p:sp>
    </p:spTree>
    <p:extLst>
      <p:ext uri="{BB962C8B-B14F-4D97-AF65-F5344CB8AC3E}">
        <p14:creationId xmlns:p14="http://schemas.microsoft.com/office/powerpoint/2010/main" val="202610010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Code Interpreter: Python in a Sandbox</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The model writes, runs and refines Python code for your task.">
            <a:extLst xmlns:a="http://schemas.openxmlformats.org/drawingml/2006/main">
              <a:ext uri="{FF2B5EF4-FFF2-40B4-BE49-F238E27FC236}">
                <a16:creationId xmlns:a16="http://schemas.microsoft.com/office/drawing/2014/main" id="{BEE3FE3F-9979-4372-B7DD-3B59C664C618}"/>
              </a:ext>
            </a:extLst>
          </p:cNvPr>
          <p:cNvSpPr>
            <a:spLocks xmlns:a="http://schemas.openxmlformats.org/drawingml/2006/main" noGrp="1"/>
          </p:cNvSpPr>
          <p:nvPr/>
        </p:nvSpPr>
        <p:spPr>
          <a:xfrm xmlns:a="http://schemas.openxmlformats.org/drawingml/2006/main">
            <a:off x="400050" y="1514475"/>
            <a:ext cx="834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The model writes, runs and refines Python code for your task.</a:t>
            </a:r>
          </a:p>
        </p:txBody>
      </p:sp>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18257b9b5749407e"/>
          <a:stretch xmlns:a="http://schemas.openxmlformats.org/drawingml/2006/main"/>
        </p:blipFill>
        <p:spPr>
          <a:xfrm xmlns:a="http://schemas.openxmlformats.org/drawingml/2006/main">
            <a:off x="409984" y="2343150"/>
            <a:ext cx="723082" cy="876300"/>
          </a:xfrm>
          <a:prstGeom xmlns:a="http://schemas.openxmlformats.org/drawingml/2006/main" prst="rect">
            <a:avLst/>
          </a:prstGeom>
        </p:spPr>
      </p:pic>
      <p:sp>
        <p:nvSpPr>
          <p:cNvPr id="186" name="OpenAI runs the code">
            <a:extLst xmlns:a="http://schemas.openxmlformats.org/drawingml/2006/main">
              <a:ext uri="{FF2B5EF4-FFF2-40B4-BE49-F238E27FC236}">
                <a16:creationId xmlns:a16="http://schemas.microsoft.com/office/drawing/2014/main" id="{4BEEE667-D1D2-4571-9DA4-ED9187C4E8CD}"/>
              </a:ext>
            </a:extLst>
          </p:cNvPr>
          <p:cNvSpPr>
            <a:spLocks xmlns:a="http://schemas.openxmlformats.org/drawingml/2006/main" noGrp="1"/>
          </p:cNvSpPr>
          <p:nvPr/>
        </p:nvSpPr>
        <p:spPr>
          <a:xfrm xmlns:a="http://schemas.openxmlformats.org/drawingml/2006/main">
            <a:off x="1428750" y="23812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75" b="0">
                <a:solidFill>
                  <a:srgbClr val="E91D63"/>
                </a:solidFill>
                <a:latin typeface="Oswald"/>
                <a:ea typeface="Oswald"/>
                <a:cs typeface="Oswald"/>
              </a:defRPr>
            </a:pPr>
            <a:r>
              <a:rPr sz="2175" b="0">
                <a:solidFill>
                  <a:srgbClr val="E91D63"/>
                </a:solidFill>
                <a:latin typeface="Oswald"/>
                <a:ea typeface="Oswald"/>
                <a:cs typeface="Oswald"/>
              </a:rPr>
              <a:t>OpenAI runs the code</a:t>
            </a:r>
          </a:p>
        </p:txBody>
      </p:sp>
      <p:sp>
        <p:nvSpPr>
          <p:cNvPr id="187" name="Analyse files and calculate.">
            <a:extLst xmlns:a="http://schemas.openxmlformats.org/drawingml/2006/main">
              <a:ext uri="{FF2B5EF4-FFF2-40B4-BE49-F238E27FC236}">
                <a16:creationId xmlns:a16="http://schemas.microsoft.com/office/drawing/2014/main" id="{F357E645-10AC-4568-BFB6-E2CB5F27C793}"/>
              </a:ext>
            </a:extLst>
          </p:cNvPr>
          <p:cNvSpPr>
            <a:spLocks xmlns:a="http://schemas.openxmlformats.org/drawingml/2006/main" noGrp="1"/>
          </p:cNvSpPr>
          <p:nvPr/>
        </p:nvSpPr>
        <p:spPr>
          <a:xfrm xmlns:a="http://schemas.openxmlformats.org/drawingml/2006/main">
            <a:off x="400050" y="3352800"/>
            <a:ext cx="4305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Analyse files and calculate.</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Create charts and new files.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Download the results.</a:t>
            </a:r>
          </a:p>
        </p:txBody>
      </p:sp>
      <p:sp>
        <p:nvSpPr>
          <p:cNvPr id="188" name="Responses API tool configuration">
            <a:extLst xmlns:a="http://schemas.openxmlformats.org/drawingml/2006/main">
              <a:ext uri="{FF2B5EF4-FFF2-40B4-BE49-F238E27FC236}">
                <a16:creationId xmlns:a16="http://schemas.microsoft.com/office/drawing/2014/main" id="{529A185F-839F-4B8C-80FC-08FC413D1ED0}"/>
              </a:ext>
            </a:extLst>
          </p:cNvPr>
          <p:cNvSpPr>
            <a:spLocks xmlns:a="http://schemas.openxmlformats.org/drawingml/2006/main" noGrp="1"/>
          </p:cNvSpPr>
          <p:nvPr/>
        </p:nvSpPr>
        <p:spPr>
          <a:xfrm xmlns:a="http://schemas.openxmlformats.org/drawingml/2006/main">
            <a:off x="5124450" y="2305050"/>
            <a:ext cx="366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1">
                <a:solidFill>
                  <a:srgbClr val="424242"/>
                </a:solidFill>
                <a:latin typeface="Source Code Pro"/>
                <a:ea typeface="Source Code Pro"/>
                <a:cs typeface="Source Code Pro"/>
              </a:defRPr>
            </a:pPr>
            <a:r>
              <a:rPr sz="1350" b="1">
                <a:solidFill>
                  <a:srgbClr val="424242"/>
                </a:solidFill>
                <a:latin typeface="Source Code Pro"/>
                <a:ea typeface="Source Code Pro"/>
                <a:cs typeface="Source Code Pro"/>
              </a:rPr>
              <a:t>Responses API tool configuration</a:t>
            </a:r>
          </a:p>
        </p:txBody>
      </p:sp>
      <p:sp>
        <p:nvSpPr>
          <p:cNvPr id="189" name="tools=[{">
            <a:extLst xmlns:a="http://schemas.openxmlformats.org/drawingml/2006/main">
              <a:ext uri="{FF2B5EF4-FFF2-40B4-BE49-F238E27FC236}">
                <a16:creationId xmlns:a16="http://schemas.microsoft.com/office/drawing/2014/main" id="{C893B5C7-16C7-40B4-BADD-47ABB34E217A}"/>
              </a:ext>
            </a:extLst>
          </p:cNvPr>
          <p:cNvSpPr>
            <a:spLocks xmlns:a="http://schemas.openxmlformats.org/drawingml/2006/main" noGrp="1"/>
          </p:cNvSpPr>
          <p:nvPr/>
        </p:nvSpPr>
        <p:spPr>
          <a:xfrm xmlns:a="http://schemas.openxmlformats.org/drawingml/2006/main">
            <a:off x="5124450" y="2762250"/>
            <a:ext cx="36671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tools=[{</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"type": "code_interpreter",</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"container": {</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"type": "auto"</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a:t>
            </a:r>
          </a:p>
        </p:txBody>
      </p:sp>
      <p:sp>
        <p:nvSpPr>
          <p:cNvPr id="190" name="Try: “Use Python to analyse this CSV and create a chart.”">
            <a:extLst xmlns:a="http://schemas.openxmlformats.org/drawingml/2006/main">
              <a:ext uri="{FF2B5EF4-FFF2-40B4-BE49-F238E27FC236}">
                <a16:creationId xmlns:a16="http://schemas.microsoft.com/office/drawing/2014/main" id="{CD24C56A-EFD1-4F0C-8F16-AD6F88BC9332}"/>
              </a:ext>
            </a:extLst>
          </p:cNvPr>
          <p:cNvSpPr>
            <a:spLocks xmlns:a="http://schemas.openxmlformats.org/drawingml/2006/main" noGrp="1"/>
          </p:cNvSpPr>
          <p:nvPr/>
        </p:nvSpPr>
        <p:spPr>
          <a:xfrm xmlns:a="http://schemas.openxmlformats.org/drawingml/2006/main">
            <a:off x="400050" y="4314825"/>
            <a:ext cx="836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00838F"/>
                </a:solidFill>
                <a:latin typeface="Source Code Pro"/>
                <a:ea typeface="Source Code Pro"/>
                <a:cs typeface="Source Code Pro"/>
              </a:defRPr>
            </a:pPr>
            <a:r>
              <a:rPr sz="1350" b="0" u="sng">
                <a:solidFill>
                  <a:srgbClr val="00838F"/>
                </a:solidFill>
                <a:latin typeface="Source Code Pro"/>
                <a:ea typeface="Source Code Pro"/>
                <a:cs typeface="Source Code Pro"/>
                <a:hlinkClick xmlns:r="http://schemas.openxmlformats.org/officeDocument/2006/relationships" r:id="Rf91031a32eb044f8"/>
              </a:rPr>
              <a:t>Try: “Use Python to analyse this CSV and create a chart.”</a:t>
            </a:r>
          </a:p>
        </p:txBody>
      </p:sp>
    </p:spTree>
    <p:extLst>
      <p:ext uri="{BB962C8B-B14F-4D97-AF65-F5344CB8AC3E}">
        <p14:creationId xmlns:p14="http://schemas.microsoft.com/office/powerpoint/2010/main" val="202610010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Shell Commands + File Edits</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Tools let agents work on real files and verify their changes.">
            <a:extLst xmlns:a="http://schemas.openxmlformats.org/drawingml/2006/main">
              <a:ext uri="{FF2B5EF4-FFF2-40B4-BE49-F238E27FC236}">
                <a16:creationId xmlns:a16="http://schemas.microsoft.com/office/drawing/2014/main" id="{C223E7BB-F675-49C5-9CA9-0B7D72994B36}"/>
              </a:ext>
            </a:extLst>
          </p:cNvPr>
          <p:cNvSpPr>
            <a:spLocks xmlns:a="http://schemas.openxmlformats.org/drawingml/2006/main" noGrp="1"/>
          </p:cNvSpPr>
          <p:nvPr/>
        </p:nvSpPr>
        <p:spPr>
          <a:xfrm xmlns:a="http://schemas.openxmlformats.org/drawingml/2006/main">
            <a:off x="400050" y="1514475"/>
            <a:ext cx="834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Tools let agents work on real files and verify their changes.</a:t>
            </a:r>
          </a:p>
        </p:txBody>
      </p:sp>
      <p:sp>
        <p:nvSpPr>
          <p:cNvPr id="185" name="Shell">
            <a:extLst xmlns:a="http://schemas.openxmlformats.org/drawingml/2006/main">
              <a:ext uri="{FF2B5EF4-FFF2-40B4-BE49-F238E27FC236}">
                <a16:creationId xmlns:a16="http://schemas.microsoft.com/office/drawing/2014/main" id="{DD9E68EA-233F-4591-A52D-556883261ED0}"/>
              </a:ext>
            </a:extLst>
          </p:cNvPr>
          <p:cNvSpPr>
            <a:spLocks xmlns:a="http://schemas.openxmlformats.org/drawingml/2006/main" noGrp="1"/>
          </p:cNvSpPr>
          <p:nvPr/>
        </p:nvSpPr>
        <p:spPr>
          <a:xfrm xmlns:a="http://schemas.openxmlformats.org/drawingml/2006/main">
            <a:off x="400050" y="2381250"/>
            <a:ext cx="381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325" b="0">
                <a:solidFill>
                  <a:srgbClr val="E91D63"/>
                </a:solidFill>
                <a:latin typeface="Oswald"/>
                <a:ea typeface="Oswald"/>
                <a:cs typeface="Oswald"/>
              </a:defRPr>
            </a:pPr>
            <a:r>
              <a:rPr sz="2325" b="0">
                <a:solidFill>
                  <a:srgbClr val="E91D63"/>
                </a:solidFill>
                <a:latin typeface="Oswald"/>
                <a:ea typeface="Oswald"/>
                <a:cs typeface="Oswald"/>
              </a:rPr>
              <a:t>Shell</a:t>
            </a:r>
          </a:p>
        </p:txBody>
      </p:sp>
      <p:sp>
        <p:nvSpPr>
          <p:cNvPr id="186" name="Run terminal commands.">
            <a:extLst xmlns:a="http://schemas.openxmlformats.org/drawingml/2006/main">
              <a:ext uri="{FF2B5EF4-FFF2-40B4-BE49-F238E27FC236}">
                <a16:creationId xmlns:a16="http://schemas.microsoft.com/office/drawing/2014/main" id="{90807D52-D16F-405E-AC32-6A661FDC7A25}"/>
              </a:ext>
            </a:extLst>
          </p:cNvPr>
          <p:cNvSpPr>
            <a:spLocks xmlns:a="http://schemas.openxmlformats.org/drawingml/2006/main" noGrp="1"/>
          </p:cNvSpPr>
          <p:nvPr/>
        </p:nvSpPr>
        <p:spPr>
          <a:xfrm xmlns:a="http://schemas.openxmlformats.org/drawingml/2006/main">
            <a:off x="400050" y="2952750"/>
            <a:ext cx="4076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Run terminal commands.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Process files, run scripts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and check code with tests.</a:t>
            </a:r>
          </a:p>
        </p:txBody>
      </p:sp>
      <p:sp>
        <p:nvSpPr>
          <p:cNvPr id="187" name="Apply Patch">
            <a:extLst xmlns:a="http://schemas.openxmlformats.org/drawingml/2006/main">
              <a:ext uri="{FF2B5EF4-FFF2-40B4-BE49-F238E27FC236}">
                <a16:creationId xmlns:a16="http://schemas.microsoft.com/office/drawing/2014/main" id="{6FF057F6-48E6-49E8-8A5C-114ED5157DB7}"/>
              </a:ext>
            </a:extLst>
          </p:cNvPr>
          <p:cNvSpPr>
            <a:spLocks xmlns:a="http://schemas.openxmlformats.org/drawingml/2006/main" noGrp="1"/>
          </p:cNvSpPr>
          <p:nvPr/>
        </p:nvSpPr>
        <p:spPr>
          <a:xfrm xmlns:a="http://schemas.openxmlformats.org/drawingml/2006/main">
            <a:off x="5076825" y="2381250"/>
            <a:ext cx="381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325" b="0">
                <a:solidFill>
                  <a:srgbClr val="E91D63"/>
                </a:solidFill>
                <a:latin typeface="Oswald"/>
                <a:ea typeface="Oswald"/>
                <a:cs typeface="Oswald"/>
              </a:defRPr>
            </a:pPr>
            <a:r>
              <a:rPr sz="2325" b="0">
                <a:solidFill>
                  <a:srgbClr val="E91D63"/>
                </a:solidFill>
                <a:latin typeface="Oswald"/>
                <a:ea typeface="Oswald"/>
                <a:cs typeface="Oswald"/>
              </a:rPr>
              <a:t>Apply Patch</a:t>
            </a:r>
          </a:p>
        </p:txBody>
      </p:sp>
      <p:sp>
        <p:nvSpPr>
          <p:cNvPr id="188" name="Create, update or delete files">
            <a:extLst xmlns:a="http://schemas.openxmlformats.org/drawingml/2006/main">
              <a:ext uri="{FF2B5EF4-FFF2-40B4-BE49-F238E27FC236}">
                <a16:creationId xmlns:a16="http://schemas.microsoft.com/office/drawing/2014/main" id="{B720BF25-E831-4DA7-92C0-781C62B8541B}"/>
              </a:ext>
            </a:extLst>
          </p:cNvPr>
          <p:cNvSpPr>
            <a:spLocks xmlns:a="http://schemas.openxmlformats.org/drawingml/2006/main" noGrp="1"/>
          </p:cNvSpPr>
          <p:nvPr/>
        </p:nvSpPr>
        <p:spPr>
          <a:xfrm xmlns:a="http://schemas.openxmlformats.org/drawingml/2006/main">
            <a:off x="5076825" y="2952750"/>
            <a:ext cx="37814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Create, update or delete files</a:t>
            </a:r>
          </a:p>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using structured patches.</a:t>
            </a:r>
          </a:p>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Your app applies the edits.</a:t>
            </a:r>
          </a:p>
        </p:txBody>
      </p:sp>
      <p:sp>
        <p:nvSpPr>
          <p:cNvPr id="189" name="Shell: use an OpenAI-hosted container or your own runtime.">
            <a:extLst xmlns:a="http://schemas.openxmlformats.org/drawingml/2006/main">
              <a:ext uri="{FF2B5EF4-FFF2-40B4-BE49-F238E27FC236}">
                <a16:creationId xmlns:a16="http://schemas.microsoft.com/office/drawing/2014/main" id="{466778FD-E1FF-4EB3-B631-C62283983FC3}"/>
              </a:ext>
            </a:extLst>
          </p:cNvPr>
          <p:cNvSpPr>
            <a:spLocks xmlns:a="http://schemas.openxmlformats.org/drawingml/2006/main" noGrp="1"/>
          </p:cNvSpPr>
          <p:nvPr/>
        </p:nvSpPr>
        <p:spPr>
          <a:xfrm xmlns:a="http://schemas.openxmlformats.org/drawingml/2006/main">
            <a:off x="400050" y="4114800"/>
            <a:ext cx="834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Shell: use an OpenAI-hosted container or your own runtime.</a:t>
            </a:r>
          </a:p>
        </p:txBody>
      </p:sp>
      <p:sp>
        <p:nvSpPr>
          <p:cNvPr id="190" name="Shell guide">
            <a:extLst xmlns:a="http://schemas.openxmlformats.org/drawingml/2006/main">
              <a:ext uri="{FF2B5EF4-FFF2-40B4-BE49-F238E27FC236}">
                <a16:creationId xmlns:a16="http://schemas.microsoft.com/office/drawing/2014/main" id="{76C7B817-C51B-4C77-B49D-B83B255E02ED}"/>
              </a:ext>
            </a:extLst>
          </p:cNvPr>
          <p:cNvSpPr>
            <a:spLocks xmlns:a="http://schemas.openxmlformats.org/drawingml/2006/main" noGrp="1"/>
          </p:cNvSpPr>
          <p:nvPr/>
        </p:nvSpPr>
        <p:spPr>
          <a:xfrm xmlns:a="http://schemas.openxmlformats.org/drawingml/2006/main">
            <a:off x="400050" y="44767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acf23aeca53c4a65"/>
              </a:rPr>
              <a:t>Shell guide</a:t>
            </a:r>
          </a:p>
        </p:txBody>
      </p:sp>
      <p:sp>
        <p:nvSpPr>
          <p:cNvPr id="191" name="File edits: Apply Patch">
            <a:extLst xmlns:a="http://schemas.openxmlformats.org/drawingml/2006/main">
              <a:ext uri="{FF2B5EF4-FFF2-40B4-BE49-F238E27FC236}">
                <a16:creationId xmlns:a16="http://schemas.microsoft.com/office/drawing/2014/main" id="{4D4C222B-DFAA-4194-886D-2A023729B84B}"/>
              </a:ext>
            </a:extLst>
          </p:cNvPr>
          <p:cNvSpPr>
            <a:spLocks xmlns:a="http://schemas.openxmlformats.org/drawingml/2006/main" noGrp="1"/>
          </p:cNvSpPr>
          <p:nvPr/>
        </p:nvSpPr>
        <p:spPr>
          <a:xfrm xmlns:a="http://schemas.openxmlformats.org/drawingml/2006/main">
            <a:off x="5076825" y="44767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9da1ec2ea1674a3c"/>
              </a:rPr>
              <a:t>File edits: Apply Patch</a:t>
            </a:r>
          </a:p>
        </p:txBody>
      </p:sp>
    </p:spTree>
    <p:extLst>
      <p:ext uri="{BB962C8B-B14F-4D97-AF65-F5344CB8AC3E}">
        <p14:creationId xmlns:p14="http://schemas.microsoft.com/office/powerpoint/2010/main" val="20261001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Making Tool Use More Efficient</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Choose the mechanism that fits the work.">
            <a:extLst xmlns:a="http://schemas.openxmlformats.org/drawingml/2006/main">
              <a:ext uri="{FF2B5EF4-FFF2-40B4-BE49-F238E27FC236}">
                <a16:creationId xmlns:a16="http://schemas.microsoft.com/office/drawing/2014/main" id="{3C4F3D96-88E0-4DC9-91DE-028A1B85B569}"/>
              </a:ext>
            </a:extLst>
          </p:cNvPr>
          <p:cNvSpPr>
            <a:spLocks xmlns:a="http://schemas.openxmlformats.org/drawingml/2006/main" noGrp="1"/>
          </p:cNvSpPr>
          <p:nvPr/>
        </p:nvSpPr>
        <p:spPr>
          <a:xfrm xmlns:a="http://schemas.openxmlformats.org/drawingml/2006/main">
            <a:off x="400050" y="1514475"/>
            <a:ext cx="8343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Choose the mechanism that fits the work.</a:t>
            </a:r>
          </a:p>
        </p:txBody>
      </p:sp>
      <p:sp>
        <p:nvSpPr>
          <p:cNvPr id="185" name="Tool Search">
            <a:extLst xmlns:a="http://schemas.openxmlformats.org/drawingml/2006/main">
              <a:ext uri="{FF2B5EF4-FFF2-40B4-BE49-F238E27FC236}">
                <a16:creationId xmlns:a16="http://schemas.microsoft.com/office/drawing/2014/main" id="{F5DB5A8A-4404-4FB1-BC02-C2B36AFE4E88}"/>
              </a:ext>
            </a:extLst>
          </p:cNvPr>
          <p:cNvSpPr>
            <a:spLocks xmlns:a="http://schemas.openxmlformats.org/drawingml/2006/main" noGrp="1"/>
          </p:cNvSpPr>
          <p:nvPr/>
        </p:nvSpPr>
        <p:spPr>
          <a:xfrm xmlns:a="http://schemas.openxmlformats.org/drawingml/2006/main">
            <a:off x="400050" y="219075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Tool Search</a:t>
            </a:r>
          </a:p>
        </p:txBody>
      </p:sp>
      <p:sp>
        <p:nvSpPr>
          <p:cNvPr id="186" name="Load deferred tool definitions only when needed.">
            <a:extLst xmlns:a="http://schemas.openxmlformats.org/drawingml/2006/main">
              <a:ext uri="{FF2B5EF4-FFF2-40B4-BE49-F238E27FC236}">
                <a16:creationId xmlns:a16="http://schemas.microsoft.com/office/drawing/2014/main" id="{4D8CBA02-9D10-4979-8E92-2A7E05D49556}"/>
              </a:ext>
            </a:extLst>
          </p:cNvPr>
          <p:cNvSpPr>
            <a:spLocks xmlns:a="http://schemas.openxmlformats.org/drawingml/2006/main" noGrp="1"/>
          </p:cNvSpPr>
          <p:nvPr/>
        </p:nvSpPr>
        <p:spPr>
          <a:xfrm xmlns:a="http://schemas.openxmlformats.org/drawingml/2006/main">
            <a:off x="2857500" y="2171700"/>
            <a:ext cx="5905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Load deferred tool definitions only when needed.</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Useful when an agent has a large tool library.</a:t>
            </a:r>
          </a:p>
        </p:txBody>
      </p:sp>
      <p:sp>
        <p:nvSpPr>
          <p:cNvPr id="187" name="Programmatic Calling">
            <a:extLst xmlns:a="http://schemas.openxmlformats.org/drawingml/2006/main">
              <a:ext uri="{FF2B5EF4-FFF2-40B4-BE49-F238E27FC236}">
                <a16:creationId xmlns:a16="http://schemas.microsoft.com/office/drawing/2014/main" id="{DCDFA775-0AC7-4031-98BF-680E2E7E9209}"/>
              </a:ext>
            </a:extLst>
          </p:cNvPr>
          <p:cNvSpPr>
            <a:spLocks xmlns:a="http://schemas.openxmlformats.org/drawingml/2006/main" noGrp="1"/>
          </p:cNvSpPr>
          <p:nvPr/>
        </p:nvSpPr>
        <p:spPr>
          <a:xfrm xmlns:a="http://schemas.openxmlformats.org/drawingml/2006/main">
            <a:off x="400050" y="3105150"/>
            <a:ext cx="228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025" b="0">
                <a:solidFill>
                  <a:srgbClr val="E91D63"/>
                </a:solidFill>
                <a:latin typeface="Oswald"/>
                <a:ea typeface="Oswald"/>
                <a:cs typeface="Oswald"/>
              </a:defRPr>
            </a:pPr>
            <a:r>
              <a:rPr sz="2025" b="0">
                <a:solidFill>
                  <a:srgbClr val="E91D63"/>
                </a:solidFill>
                <a:latin typeface="Oswald"/>
                <a:ea typeface="Oswald"/>
                <a:cs typeface="Oswald"/>
              </a:rPr>
              <a:t>Programmatic Calling</a:t>
            </a:r>
          </a:p>
        </p:txBody>
      </p:sp>
      <p:sp>
        <p:nvSpPr>
          <p:cNvPr id="188" name="Use JavaScript to coordinate calls and filter results.">
            <a:extLst xmlns:a="http://schemas.openxmlformats.org/drawingml/2006/main">
              <a:ext uri="{FF2B5EF4-FFF2-40B4-BE49-F238E27FC236}">
                <a16:creationId xmlns:a16="http://schemas.microsoft.com/office/drawing/2014/main" id="{D5CCBF1B-0FB5-4A5A-853B-B70208CF06DE}"/>
              </a:ext>
            </a:extLst>
          </p:cNvPr>
          <p:cNvSpPr>
            <a:spLocks xmlns:a="http://schemas.openxmlformats.org/drawingml/2006/main" noGrp="1"/>
          </p:cNvSpPr>
          <p:nvPr/>
        </p:nvSpPr>
        <p:spPr>
          <a:xfrm xmlns:a="http://schemas.openxmlformats.org/drawingml/2006/main">
            <a:off x="2857500" y="3086100"/>
            <a:ext cx="5905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Use JavaScript to coordinate calls and filter results.</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Useful for loops, batching and combining outputs.</a:t>
            </a:r>
          </a:p>
        </p:txBody>
      </p:sp>
      <p:sp>
        <p:nvSpPr>
          <p:cNvPr id="189" name="Async Calling">
            <a:extLst xmlns:a="http://schemas.openxmlformats.org/drawingml/2006/main">
              <a:ext uri="{FF2B5EF4-FFF2-40B4-BE49-F238E27FC236}">
                <a16:creationId xmlns:a16="http://schemas.microsoft.com/office/drawing/2014/main" id="{6614EC88-6C3B-4E78-8E9F-FFB50DE7D42E}"/>
              </a:ext>
            </a:extLst>
          </p:cNvPr>
          <p:cNvSpPr>
            <a:spLocks xmlns:a="http://schemas.openxmlformats.org/drawingml/2006/main" noGrp="1"/>
          </p:cNvSpPr>
          <p:nvPr/>
        </p:nvSpPr>
        <p:spPr>
          <a:xfrm xmlns:a="http://schemas.openxmlformats.org/drawingml/2006/main">
            <a:off x="400050" y="40005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Async Calling</a:t>
            </a:r>
          </a:p>
        </p:txBody>
      </p:sp>
      <p:sp>
        <p:nvSpPr>
          <p:cNvPr id="190" name="Continue independent work while your app runs a slow tool.">
            <a:extLst xmlns:a="http://schemas.openxmlformats.org/drawingml/2006/main">
              <a:ext uri="{FF2B5EF4-FFF2-40B4-BE49-F238E27FC236}">
                <a16:creationId xmlns:a16="http://schemas.microsoft.com/office/drawing/2014/main" id="{F70F52C7-E2C6-452E-A4F2-BA0789AEA90B}"/>
              </a:ext>
            </a:extLst>
          </p:cNvPr>
          <p:cNvSpPr>
            <a:spLocks xmlns:a="http://schemas.openxmlformats.org/drawingml/2006/main" noGrp="1"/>
          </p:cNvSpPr>
          <p:nvPr/>
        </p:nvSpPr>
        <p:spPr>
          <a:xfrm xmlns:a="http://schemas.openxmlformats.org/drawingml/2006/main">
            <a:off x="2857500" y="398145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424242"/>
                </a:solidFill>
                <a:latin typeface="Source Code Pro"/>
                <a:ea typeface="Source Code Pro"/>
                <a:cs typeface="Source Code Pro"/>
              </a:defRPr>
            </a:pPr>
            <a:r>
              <a:rPr sz="1275" b="0">
                <a:solidFill>
                  <a:srgbClr val="424242"/>
                </a:solidFill>
                <a:latin typeface="Source Code Pro"/>
                <a:ea typeface="Source Code Pro"/>
                <a:cs typeface="Source Code Pro"/>
              </a:rPr>
              <a:t>Continue independent work while your app runs a slow tool.</a:t>
            </a:r>
          </a:p>
          <a:p xmlns:a="http://schemas.openxmlformats.org/drawingml/2006/main">
            <a:pPr algn="l">
              <a:lnSpc>
                <a:spcPct val="120000"/>
              </a:lnSpc>
              <a:buNone/>
              <a:defRPr sz="1275" b="0">
                <a:solidFill>
                  <a:srgbClr val="424242"/>
                </a:solidFill>
                <a:latin typeface="Source Code Pro"/>
                <a:ea typeface="Source Code Pro"/>
                <a:cs typeface="Source Code Pro"/>
              </a:defRPr>
            </a:pPr>
            <a:r>
              <a:rPr sz="1275" b="0">
                <a:solidFill>
                  <a:srgbClr val="424242"/>
                </a:solidFill>
                <a:latin typeface="Source Code Pro"/>
                <a:ea typeface="Source Code Pro"/>
                <a:cs typeface="Source Code Pro"/>
              </a:rPr>
              <a:t>Async uses direct calls, separate from programmatic calling.</a:t>
            </a:r>
          </a:p>
        </p:txBody>
      </p:sp>
      <p:sp>
        <p:nvSpPr>
          <p:cNvPr id="191" name="Tool Search">
            <a:extLst xmlns:a="http://schemas.openxmlformats.org/drawingml/2006/main">
              <a:ext uri="{FF2B5EF4-FFF2-40B4-BE49-F238E27FC236}">
                <a16:creationId xmlns:a16="http://schemas.microsoft.com/office/drawing/2014/main" id="{434859E1-C483-49CF-9307-0A9D366CDF55}"/>
              </a:ext>
            </a:extLst>
          </p:cNvPr>
          <p:cNvSpPr>
            <a:spLocks xmlns:a="http://schemas.openxmlformats.org/drawingml/2006/main" noGrp="1"/>
          </p:cNvSpPr>
          <p:nvPr/>
        </p:nvSpPr>
        <p:spPr>
          <a:xfrm xmlns:a="http://schemas.openxmlformats.org/drawingml/2006/main">
            <a:off x="400050" y="458152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3d5d3ffda31745ae"/>
              </a:rPr>
              <a:t>Tool Search</a:t>
            </a:r>
          </a:p>
        </p:txBody>
      </p:sp>
      <p:sp>
        <p:nvSpPr>
          <p:cNvPr id="192" name="Programmatic Calling">
            <a:extLst xmlns:a="http://schemas.openxmlformats.org/drawingml/2006/main">
              <a:ext uri="{FF2B5EF4-FFF2-40B4-BE49-F238E27FC236}">
                <a16:creationId xmlns:a16="http://schemas.microsoft.com/office/drawing/2014/main" id="{54CB8D78-AD13-41FC-908B-36924C9BAFFD}"/>
              </a:ext>
            </a:extLst>
          </p:cNvPr>
          <p:cNvSpPr>
            <a:spLocks xmlns:a="http://schemas.openxmlformats.org/drawingml/2006/main" noGrp="1"/>
          </p:cNvSpPr>
          <p:nvPr/>
        </p:nvSpPr>
        <p:spPr>
          <a:xfrm xmlns:a="http://schemas.openxmlformats.org/drawingml/2006/main">
            <a:off x="2857500" y="458152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2ad91aca3e714e41"/>
              </a:rPr>
              <a:t>Programmatic Calling</a:t>
            </a:r>
          </a:p>
        </p:txBody>
      </p:sp>
      <p:sp>
        <p:nvSpPr>
          <p:cNvPr id="193" name="Async Calling">
            <a:extLst xmlns:a="http://schemas.openxmlformats.org/drawingml/2006/main">
              <a:ext uri="{FF2B5EF4-FFF2-40B4-BE49-F238E27FC236}">
                <a16:creationId xmlns:a16="http://schemas.microsoft.com/office/drawing/2014/main" id="{C2F50DD1-DFDE-45A4-9ADC-25A84A491B5E}"/>
              </a:ext>
            </a:extLst>
          </p:cNvPr>
          <p:cNvSpPr>
            <a:spLocks xmlns:a="http://schemas.openxmlformats.org/drawingml/2006/main" noGrp="1"/>
          </p:cNvSpPr>
          <p:nvPr/>
        </p:nvSpPr>
        <p:spPr>
          <a:xfrm xmlns:a="http://schemas.openxmlformats.org/drawingml/2006/main">
            <a:off x="6438900" y="4581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c327c4a9188e475e"/>
              </a:rPr>
              <a:t>Async Calling</a:t>
            </a:r>
          </a:p>
        </p:txBody>
      </p:sp>
    </p:spTree>
    <p:extLst>
      <p:ext uri="{BB962C8B-B14F-4D97-AF65-F5344CB8AC3E}">
        <p14:creationId xmlns:p14="http://schemas.microsoft.com/office/powerpoint/2010/main" val="202610010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Customization Options</a:t>
            </a:r>
            <a:endParaRPr/>
          </a:p>
        </p:txBody>
      </p:sp>
      <p:sp>
        <p:nvSpPr>
          <p:cNvPr id="182" name="Google Shape;182;p26">
            <a:extLst xmlns:a="http://schemas.openxmlformats.org/drawingml/2006/main">
              <a:ext uri="{FF2B5EF4-FFF2-40B4-BE49-F238E27FC236}">
                <a16:creationId xmlns:a16="http://schemas.microsoft.com/office/drawing/2014/main" id="{383C8876-F0E2-434B-B35D-0432D0CE9F0D}"/>
              </a:ext>
            </a:extLst>
          </p:cNvPr>
          <p:cNvSpPr>
            <a:spLocks xmlns:a="http://schemas.openxmlformats.org/drawingml/2006/main" noGrp="1"/>
          </p:cNvSpPr>
          <p:nvPr>
            <p:ph type="body" idx="1"/>
          </p:nvPr>
        </p:nvSpPr>
        <p:spPr>
          <a:xfrm xmlns:a="http://schemas.openxmlformats.org/drawingml/2006/main">
            <a:off x="311700" y="1468825"/>
            <a:ext cx="8520600" cy="344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15000"/>
              </a:lnSpc>
              <a:spcBef>
                <a:spcPts val="1400"/>
              </a:spcBef>
              <a:spcAft>
                <a:spcPts val="0"/>
              </a:spcAft>
              <a:buSzPts val="1800"/>
              <a:buNone/>
            </a:pPr>
            <a:r>
              <a:rPr sz="1200" b="1" u="sng">
                <a:solidFill>
                  <a:schemeClr val="hlink"/>
                </a:solidFill>
                <a:hlinkClick xmlns:r="http://schemas.openxmlformats.org/officeDocument/2006/relationships" r:id="R642c03abd2c14aa2"/>
              </a:rPr>
              <a:t>Fine-tuning</a:t>
            </a:r>
            <a:endParaRPr sz="1200" b="1">
              <a:solidFill>
                <a:srgbClr val="000000"/>
              </a:solidFill>
            </a:endParaRPr>
          </a:p>
          <a:p xmlns:a="http://schemas.openxmlformats.org/drawingml/2006/main">
            <a:pPr marL="457200" lvl="0" indent="-304800" algn="l">
              <a:lnSpc>
                <a:spcPct val="115000"/>
              </a:lnSpc>
              <a:spcBef>
                <a:spcPts val="1200"/>
              </a:spcBef>
              <a:spcAft>
                <a:spcPts val="0"/>
              </a:spcAft>
              <a:buClr>
                <a:srgbClr val="000000"/>
              </a:buClr>
              <a:buSzPts val="1200"/>
              <a:buFont typeface="Source Code Pro"/>
              <a:buChar char="●"/>
            </a:pPr>
            <a:r>
              <a:rPr sz="1200">
                <a:solidFill>
                  <a:srgbClr val="000000"/>
                </a:solidFill>
              </a:rPr>
              <a:t>Train models on your specific data.</a:t>
            </a:r>
            <a:endParaRPr sz="1200">
              <a:solidFill>
                <a:srgbClr val="000000"/>
              </a:solidFill>
            </a:endParaRPr>
          </a:p>
          <a:p xmlns:a="http://schemas.openxmlformats.org/drawingml/2006/main">
            <a:pPr marL="457200" lvl="0" indent="-304800" algn="l">
              <a:lnSpc>
                <a:spcPct val="115000"/>
              </a:lnSpc>
              <a:spcBef>
                <a:spcPts val="0"/>
              </a:spcBef>
              <a:spcAft>
                <a:spcPts val="0"/>
              </a:spcAft>
              <a:buClr>
                <a:srgbClr val="000000"/>
              </a:buClr>
              <a:buSzPts val="1200"/>
              <a:buFont typeface="Source Code Pro"/>
              <a:buChar char="●"/>
            </a:pPr>
            <a:r>
              <a:rPr sz="1200">
                <a:solidFill>
                  <a:srgbClr val="000000"/>
                </a:solidFill>
              </a:rPr>
              <a:t>Improve performance on domain-specific tasks.</a:t>
            </a:r>
            <a:endParaRPr sz="1200">
              <a:solidFill>
                <a:srgbClr val="000000"/>
              </a:solidFill>
            </a:endParaRPr>
          </a:p>
          <a:p xmlns:a="http://schemas.openxmlformats.org/drawingml/2006/main">
            <a:pPr marL="457200" lvl="0" indent="-304800" algn="l">
              <a:lnSpc>
                <a:spcPct val="115000"/>
              </a:lnSpc>
              <a:spcBef>
                <a:spcPts val="0"/>
              </a:spcBef>
              <a:spcAft>
                <a:spcPts val="0"/>
              </a:spcAft>
              <a:buClr>
                <a:srgbClr val="000000"/>
              </a:buClr>
              <a:buSzPts val="1200"/>
              <a:buFont typeface="Source Code Pro"/>
              <a:buChar char="●"/>
            </a:pPr>
            <a:r>
              <a:rPr sz="1200">
                <a:solidFill>
                  <a:srgbClr val="000000"/>
                </a:solidFill>
              </a:rPr>
              <a:t>Reduce prompt engineering requirements.</a:t>
            </a:r>
            <a:endParaRPr sz="1200">
              <a:solidFill>
                <a:srgbClr val="000000"/>
              </a:solidFill>
            </a:endParaRPr>
          </a:p>
          <a:p xmlns:a="http://schemas.openxmlformats.org/drawingml/2006/main">
            <a:pPr marL="0" lvl="0" indent="0" algn="l">
              <a:lnSpc>
                <a:spcPct val="115000"/>
              </a:lnSpc>
              <a:spcBef>
                <a:spcPts val="1400"/>
              </a:spcBef>
              <a:spcAft>
                <a:spcPts val="0"/>
              </a:spcAft>
              <a:buSzPts val="1800"/>
              <a:buNone/>
            </a:pPr>
            <a:r>
              <a:rPr sz="1200" b="1" u="sng">
                <a:solidFill>
                  <a:schemeClr val="hlink"/>
                </a:solidFill>
                <a:hlinkClick xmlns:r="http://schemas.openxmlformats.org/officeDocument/2006/relationships" r:id="Rc76855e73745411f"/>
              </a:rPr>
              <a:t>Evals</a:t>
            </a:r>
            <a:endParaRPr sz="1200" b="1">
              <a:solidFill>
                <a:srgbClr val="000000"/>
              </a:solidFill>
            </a:endParaRPr>
          </a:p>
          <a:p xmlns:a="http://schemas.openxmlformats.org/drawingml/2006/main">
            <a:pPr marL="457200" lvl="0" indent="-304800" algn="l">
              <a:lnSpc>
                <a:spcPct val="115000"/>
              </a:lnSpc>
              <a:spcBef>
                <a:spcPts val="1200"/>
              </a:spcBef>
              <a:spcAft>
                <a:spcPts val="0"/>
              </a:spcAft>
              <a:buClr>
                <a:srgbClr val="000000"/>
              </a:buClr>
              <a:buSzPts val="1200"/>
              <a:buFont typeface="Source Code Pro"/>
              <a:buChar char="●"/>
            </a:pPr>
            <a:r>
              <a:rPr sz="1200">
                <a:solidFill>
                  <a:srgbClr val="000000"/>
                </a:solidFill>
              </a:rPr>
              <a:t>Systematically evaluate model performance.</a:t>
            </a:r>
            <a:endParaRPr sz="1200">
              <a:solidFill>
                <a:srgbClr val="000000"/>
              </a:solidFill>
            </a:endParaRPr>
          </a:p>
          <a:p xmlns:a="http://schemas.openxmlformats.org/drawingml/2006/main">
            <a:pPr marL="457200" lvl="0" indent="-304800" algn="l">
              <a:lnSpc>
                <a:spcPct val="115000"/>
              </a:lnSpc>
              <a:spcBef>
                <a:spcPts val="0"/>
              </a:spcBef>
              <a:spcAft>
                <a:spcPts val="0"/>
              </a:spcAft>
              <a:buClr>
                <a:srgbClr val="000000"/>
              </a:buClr>
              <a:buSzPts val="1200"/>
              <a:buFont typeface="Source Code Pro"/>
              <a:buChar char="●"/>
            </a:pPr>
            <a:r>
              <a:rPr sz="1200">
                <a:solidFill>
                  <a:srgbClr val="000000"/>
                </a:solidFill>
              </a:rPr>
              <a:t>Create benchmarks for your specific use cases.</a:t>
            </a:r>
            <a:endParaRPr sz="1200">
              <a:solidFill>
                <a:srgbClr val="000000"/>
              </a:solidFill>
            </a:endParaRPr>
          </a:p>
          <a:p xmlns:a="http://schemas.openxmlformats.org/drawingml/2006/main">
            <a:pPr marL="457200" lvl="0" indent="-304800" algn="l">
              <a:lnSpc>
                <a:spcPct val="115000"/>
              </a:lnSpc>
              <a:spcBef>
                <a:spcPts val="0"/>
              </a:spcBef>
              <a:spcAft>
                <a:spcPts val="0"/>
              </a:spcAft>
              <a:buClr>
                <a:srgbClr val="000000"/>
              </a:buClr>
              <a:buSzPts val="1200"/>
              <a:buFont typeface="Source Code Pro"/>
              <a:buChar char="●"/>
            </a:pPr>
            <a:r>
              <a:rPr sz="1200">
                <a:solidFill>
                  <a:srgbClr val="000000"/>
                </a:solidFill>
              </a:rPr>
              <a:t>Identify areas for improvement.</a:t>
            </a:r>
            <a:endParaRPr sz="1200">
              <a:solidFill>
                <a:srgbClr val="000000"/>
              </a:solidFill>
            </a:endParaRPr>
          </a:p>
          <a:p xmlns:a="http://schemas.openxmlformats.org/drawingml/2006/main">
            <a:pPr marL="0" lvl="0" indent="0" algn="l">
              <a:lnSpc>
                <a:spcPct val="115000"/>
              </a:lnSpc>
              <a:spcBef>
                <a:spcPts val="1400"/>
              </a:spcBef>
              <a:spcAft>
                <a:spcPts val="0"/>
              </a:spcAft>
              <a:buSzPts val="1800"/>
              <a:buNone/>
            </a:pPr>
            <a:r>
              <a:rPr sz="1200" b="1" u="sng">
                <a:solidFill>
                  <a:schemeClr val="hlink"/>
                </a:solidFill>
                <a:hlinkClick xmlns:r="http://schemas.openxmlformats.org/officeDocument/2006/relationships" r:id="Rf8cdb93ed32c4425"/>
              </a:rPr>
              <a:t>Distillation</a:t>
            </a:r>
            <a:endParaRPr sz="1200" b="1">
              <a:solidFill>
                <a:srgbClr val="000000"/>
              </a:solidFill>
            </a:endParaRPr>
          </a:p>
          <a:p xmlns:a="http://schemas.openxmlformats.org/drawingml/2006/main">
            <a:pPr marL="457200" lvl="0" indent="-304800" algn="l">
              <a:lnSpc>
                <a:spcPct val="115000"/>
              </a:lnSpc>
              <a:spcBef>
                <a:spcPts val="1200"/>
              </a:spcBef>
              <a:spcAft>
                <a:spcPts val="0"/>
              </a:spcAft>
              <a:buClr>
                <a:srgbClr val="000000"/>
              </a:buClr>
              <a:buSzPts val="1200"/>
              <a:buFont typeface="Source Code Pro"/>
              <a:buChar char="●"/>
            </a:pPr>
            <a:r>
              <a:rPr sz="1200">
                <a:solidFill>
                  <a:srgbClr val="000000"/>
                </a:solidFill>
              </a:rPr>
              <a:t>Create smaller, specialized models.</a:t>
            </a:r>
            <a:endParaRPr sz="1200">
              <a:solidFill>
                <a:srgbClr val="000000"/>
              </a:solidFill>
            </a:endParaRPr>
          </a:p>
          <a:p xmlns:a="http://schemas.openxmlformats.org/drawingml/2006/main">
            <a:pPr marL="457200" lvl="0" indent="-304800" algn="l">
              <a:lnSpc>
                <a:spcPct val="115000"/>
              </a:lnSpc>
              <a:spcBef>
                <a:spcPts val="0"/>
              </a:spcBef>
              <a:spcAft>
                <a:spcPts val="0"/>
              </a:spcAft>
              <a:buClr>
                <a:srgbClr val="000000"/>
              </a:buClr>
              <a:buSzPts val="1200"/>
              <a:buFont typeface="Source Code Pro"/>
              <a:buChar char="●"/>
            </a:pPr>
            <a:r>
              <a:rPr sz="1200">
                <a:solidFill>
                  <a:srgbClr val="000000"/>
                </a:solidFill>
              </a:rPr>
              <a:t>Reduce inference costs and latency.</a:t>
            </a:r>
            <a:endParaRPr sz="1200"/>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Tree>
    <p:extLst>
      <p:ext uri="{BB962C8B-B14F-4D97-AF65-F5344CB8AC3E}">
        <p14:creationId xmlns:p14="http://schemas.microsoft.com/office/powerpoint/2010/main" val="79326123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88" name="Google Shape;188;p27">
            <a:extLst xmlns:a="http://schemas.openxmlformats.org/drawingml/2006/main">
              <a:ext uri="{FF2B5EF4-FFF2-40B4-BE49-F238E27FC236}">
                <a16:creationId xmlns:a16="http://schemas.microsoft.com/office/drawing/2014/main" id="{A442EC3B-4D77-4675-AA15-885DF3B808A9}"/>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Developer Resources</a:t>
            </a:r>
            <a:endParaRPr/>
          </a:p>
        </p:txBody>
      </p:sp>
      <p:sp>
        <p:nvSpPr>
          <p:cNvPr id="189" name="Google Shape;189;p27">
            <a:extLst xmlns:a="http://schemas.openxmlformats.org/drawingml/2006/main">
              <a:ext uri="{FF2B5EF4-FFF2-40B4-BE49-F238E27FC236}">
                <a16:creationId xmlns:a16="http://schemas.microsoft.com/office/drawing/2014/main" id="{45AEB17E-5C5D-448B-BB6D-F7CEBB9C0D49}"/>
              </a:ext>
            </a:extLst>
          </p:cNvPr>
          <p:cNvSpPr>
            <a:spLocks xmlns:a="http://schemas.openxmlformats.org/drawingml/2006/main" noGrp="1"/>
          </p:cNvSpPr>
          <p:nvPr>
            <p:ph type="body" idx="1"/>
          </p:nvPr>
        </p:nvSpPr>
        <p:spPr>
          <a:xfrm xmlns:a="http://schemas.openxmlformats.org/drawingml/2006/main">
            <a:off x="311700" y="1468825"/>
            <a:ext cx="8520600" cy="344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330200" algn="l">
              <a:lnSpc>
                <a:spcPct val="115000"/>
              </a:lnSpc>
              <a:spcBef>
                <a:spcPts val="1200"/>
              </a:spcBef>
              <a:spcAft>
                <a:spcPts val="0"/>
              </a:spcAft>
              <a:buClr>
                <a:srgbClr val="000000"/>
              </a:buClr>
              <a:buSzPts val="1600"/>
              <a:buFont typeface="Source Code Pro"/>
              <a:buChar char="●"/>
            </a:pPr>
            <a:r>
              <a:rPr sz="1600" b="1" u="sng">
                <a:solidFill>
                  <a:schemeClr val="hlink"/>
                </a:solidFill>
                <a:hlinkClick xmlns:r="http://schemas.openxmlformats.org/officeDocument/2006/relationships" r:id="R6c6a596eea0c4c68"/>
              </a:rPr>
              <a:t>Documentation:</a:t>
            </a:r>
            <a:r>
              <a:rPr sz="1600">
                <a:solidFill>
                  <a:srgbClr val="000000"/>
                </a:solidFill>
              </a:rPr>
              <a:t> Comprehensive guides and API references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Font typeface="Source Code Pro"/>
              <a:buChar char="●"/>
            </a:pPr>
            <a:r>
              <a:rPr sz="1600" b="1" u="sng">
                <a:solidFill>
                  <a:schemeClr val="hlink"/>
                </a:solidFill>
                <a:hlinkClick xmlns:r="http://schemas.openxmlformats.org/officeDocument/2006/relationships" r:id="R186b3eac617441a2"/>
              </a:rPr>
              <a:t>Cookbook:</a:t>
            </a:r>
            <a:r>
              <a:rPr sz="1600">
                <a:solidFill>
                  <a:srgbClr val="000000"/>
                </a:solidFill>
              </a:rPr>
              <a:t> Open-source code examples and tutorials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Font typeface="Source Code Pro"/>
              <a:buChar char="●"/>
            </a:pPr>
            <a:r>
              <a:rPr sz="1600" b="1" u="sng">
                <a:solidFill>
                  <a:schemeClr val="hlink"/>
                </a:solidFill>
                <a:hlinkClick xmlns:r="http://schemas.openxmlformats.org/officeDocument/2006/relationships" r:id="R6e5bbe914e6a4888"/>
              </a:rPr>
              <a:t>Developer Forum:</a:t>
            </a:r>
            <a:r>
              <a:rPr sz="1600">
                <a:solidFill>
                  <a:srgbClr val="000000"/>
                </a:solidFill>
              </a:rPr>
              <a:t> Community support and discussions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Font typeface="Source Code Pro"/>
              <a:buChar char="●"/>
            </a:pPr>
            <a:r>
              <a:rPr sz="1600" b="1">
                <a:solidFill>
                  <a:srgbClr val="000000"/>
                </a:solidFill>
              </a:rPr>
              <a:t>SDKs:</a:t>
            </a:r>
            <a:r>
              <a:rPr sz="1600">
                <a:solidFill>
                  <a:srgbClr val="000000"/>
                </a:solidFill>
              </a:rPr>
              <a:t> Official libraries for multiple programming languages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Font typeface="Source Code Pro"/>
              <a:buChar char="●"/>
            </a:pPr>
            <a:r>
              <a:rPr sz="1600" b="1" u="sng">
                <a:solidFill>
                  <a:schemeClr val="hlink"/>
                </a:solidFill>
                <a:hlinkClick xmlns:r="http://schemas.openxmlformats.org/officeDocument/2006/relationships" r:id="R81b26af3b0f74b4d"/>
              </a:rPr>
              <a:t>Rate Limits &amp; Quotas</a:t>
            </a:r>
            <a:r>
              <a:rPr sz="1600" b="1">
                <a:solidFill>
                  <a:srgbClr val="000000"/>
                </a:solidFill>
              </a:rPr>
              <a:t>:</a:t>
            </a:r>
            <a:r>
              <a:rPr sz="1600">
                <a:solidFill>
                  <a:srgbClr val="000000"/>
                </a:solidFill>
              </a:rPr>
              <a:t> Understand usage limitations</a:t>
            </a:r>
            <a:endParaRPr sz="1600">
              <a:solidFill>
                <a:srgbClr val="000000"/>
              </a:solidFill>
            </a:endParaRPr>
          </a:p>
          <a:p xmlns:a="http://schemas.openxmlformats.org/drawingml/2006/main">
            <a:pPr marL="0" lvl="0" indent="0" algn="l">
              <a:lnSpc>
                <a:spcPct val="115000"/>
              </a:lnSpc>
              <a:spcBef>
                <a:spcPts val="1200"/>
              </a:spcBef>
              <a:spcAft>
                <a:spcPts val="1200"/>
              </a:spcAft>
              <a:buSzPts val="1800"/>
              <a:buNone/>
            </a:pPr>
            <a:r>
              <a:t/>
            </a:r>
            <a:endParaRPr sz="1600">
              <a:solidFill>
                <a:srgbClr val="000000"/>
              </a:solidFill>
            </a:endParaRPr>
          </a:p>
        </p:txBody>
      </p:sp>
      <p:sp>
        <p:nvSpPr>
          <p:cNvPr id="190" name="Google Shape;190;p27">
            <a:extLst xmlns:a="http://schemas.openxmlformats.org/drawingml/2006/main">
              <a:ext uri="{FF2B5EF4-FFF2-40B4-BE49-F238E27FC236}">
                <a16:creationId xmlns:a16="http://schemas.microsoft.com/office/drawing/2014/main" id="{254C5637-9C96-45F5-A576-BA2D610C42D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Tree>
    <p:extLst>
      <p:ext uri="{BB962C8B-B14F-4D97-AF65-F5344CB8AC3E}">
        <p14:creationId xmlns:p14="http://schemas.microsoft.com/office/powerpoint/2010/main" val="186312460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95" name="Google Shape;195;p28">
            <a:extLst xmlns:a="http://schemas.openxmlformats.org/drawingml/2006/main">
              <a:ext uri="{FF2B5EF4-FFF2-40B4-BE49-F238E27FC236}">
                <a16:creationId xmlns:a16="http://schemas.microsoft.com/office/drawing/2014/main" id="{26A20592-0EBA-40C0-830A-9804929EA204}"/>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l">
              <a:lnSpc>
                <a:spcPct val="100000"/>
              </a:lnSpc>
              <a:spcBef>
                <a:spcPts val="0"/>
              </a:spcBef>
              <a:spcAft>
                <a:spcPts val="0"/>
              </a:spcAft>
              <a:buSzPts val="3000"/>
              <a:buNone/>
            </a:pPr>
            <a:r>
              <a:t>Getting Started</a:t>
            </a:r>
            <a:endParaRPr/>
          </a:p>
        </p:txBody>
      </p:sp>
      <p:sp>
        <p:nvSpPr>
          <p:cNvPr id="196" name="Google Shape;196;p28">
            <a:extLst xmlns:a="http://schemas.openxmlformats.org/drawingml/2006/main">
              <a:ext uri="{FF2B5EF4-FFF2-40B4-BE49-F238E27FC236}">
                <a16:creationId xmlns:a16="http://schemas.microsoft.com/office/drawing/2014/main" id="{3E4FC21E-A35E-485B-81D5-74CECA6F5DB7}"/>
              </a:ext>
            </a:extLst>
          </p:cNvPr>
          <p:cNvSpPr>
            <a:spLocks xmlns:a="http://schemas.openxmlformats.org/drawingml/2006/main" noGrp="1"/>
          </p:cNvSpPr>
          <p:nvPr>
            <p:ph type="body" idx="1"/>
          </p:nvPr>
        </p:nvSpPr>
        <p:spPr>
          <a:xfrm xmlns:a="http://schemas.openxmlformats.org/drawingml/2006/main">
            <a:off x="311700" y="1468825"/>
            <a:ext cx="8520600" cy="344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330200" algn="l">
              <a:lnSpc>
                <a:spcPct val="115000"/>
              </a:lnSpc>
              <a:spcBef>
                <a:spcPts val="1200"/>
              </a:spcBef>
              <a:spcAft>
                <a:spcPts val="0"/>
              </a:spcAft>
              <a:buClr>
                <a:srgbClr val="000000"/>
              </a:buClr>
              <a:buSzPts val="1600"/>
              <a:buAutoNum type="arabicPeriod"/>
            </a:pPr>
            <a:r>
              <a:rPr sz="1600" b="1">
                <a:solidFill>
                  <a:srgbClr val="000000"/>
                </a:solidFill>
              </a:rPr>
              <a:t>Create Account:</a:t>
            </a:r>
            <a:r>
              <a:rPr sz="1600">
                <a:solidFill>
                  <a:srgbClr val="000000"/>
                </a:solidFill>
              </a:rPr>
              <a:t> Sign up at </a:t>
            </a:r>
            <a:r>
              <a:rPr sz="1600" u="sng">
                <a:solidFill>
                  <a:schemeClr val="hlink"/>
                </a:solidFill>
                <a:hlinkClick xmlns:r="http://schemas.openxmlformats.org/officeDocument/2006/relationships" r:id="Rbda47ef9b5724172"/>
              </a:rPr>
              <a:t>platform.openai.com</a:t>
            </a:r>
            <a:r>
              <a:rPr sz="1600">
                <a:solidFill>
                  <a:srgbClr val="000000"/>
                </a:solidFill>
              </a:rPr>
              <a:t>.</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AutoNum type="arabicPeriod"/>
            </a:pPr>
            <a:r>
              <a:rPr sz="1600" b="1" u="sng">
                <a:solidFill>
                  <a:schemeClr val="hlink"/>
                </a:solidFill>
                <a:hlinkClick xmlns:r="http://schemas.openxmlformats.org/officeDocument/2006/relationships" r:id="R1ebfcdebb7b54cba"/>
              </a:rPr>
              <a:t>Generate API Key</a:t>
            </a:r>
            <a:r>
              <a:rPr sz="1600" b="1">
                <a:solidFill>
                  <a:srgbClr val="000000"/>
                </a:solidFill>
              </a:rPr>
              <a:t>:</a:t>
            </a:r>
            <a:r>
              <a:rPr sz="1600">
                <a:solidFill>
                  <a:srgbClr val="000000"/>
                </a:solidFill>
              </a:rPr>
              <a:t> Secure authentication for API requests.</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AutoNum type="arabicPeriod"/>
            </a:pPr>
            <a:r>
              <a:rPr sz="1600" b="1" u="sng">
                <a:solidFill>
                  <a:schemeClr val="hlink"/>
                </a:solidFill>
                <a:hlinkClick xmlns:r="http://schemas.openxmlformats.org/officeDocument/2006/relationships" r:id="Rafa92bb1554f417e"/>
              </a:rPr>
              <a:t>Choose a Model</a:t>
            </a:r>
            <a:r>
              <a:rPr sz="1600" b="1">
                <a:solidFill>
                  <a:srgbClr val="000000"/>
                </a:solidFill>
              </a:rPr>
              <a:t>:</a:t>
            </a:r>
            <a:r>
              <a:rPr sz="1600">
                <a:solidFill>
                  <a:srgbClr val="000000"/>
                </a:solidFill>
              </a:rPr>
              <a:t> Select based on your use case and budget.</a:t>
            </a:r>
            <a:endParaRPr sz="1600">
              <a:solidFill>
                <a:srgbClr val="000000"/>
              </a:solidFill>
            </a:endParaRPr>
          </a:p>
          <a:p xmlns:a="http://schemas.openxmlformats.org/drawingml/2006/main">
            <a:pPr marL="457200" lvl="0" indent="-330200" algn="l">
              <a:lnSpc>
                <a:spcPct val="115000"/>
              </a:lnSpc>
              <a:spcBef>
                <a:spcPts val="0"/>
              </a:spcBef>
              <a:spcAft>
                <a:spcPts val="0"/>
              </a:spcAft>
              <a:buSzPts val="1600"/>
              <a:buAutoNum type="arabicPeriod"/>
            </a:pPr>
            <a:r>
              <a:rPr sz="1600" b="1" u="sng">
                <a:solidFill>
                  <a:schemeClr val="hlink"/>
                </a:solidFill>
                <a:hlinkClick xmlns:r="http://schemas.openxmlformats.org/officeDocument/2006/relationships" r:id="R893e61d85eda4037"/>
              </a:rPr>
              <a:t>Install SDK</a:t>
            </a:r>
            <a:r>
              <a:rPr sz="1600" b="1">
                <a:solidFill>
                  <a:srgbClr val="000000"/>
                </a:solidFill>
              </a:rPr>
              <a:t>:</a:t>
            </a:r>
            <a:r>
              <a:rPr sz="1600">
                <a:solidFill>
                  <a:srgbClr val="000000"/>
                </a:solidFill>
              </a:rPr>
              <a:t> </a:t>
            </a:r>
            <a:r>
              <a:rPr sz="1600">
                <a:solidFill>
                  <a:srgbClr val="188038"/>
                </a:solidFill>
              </a:rPr>
              <a:t>pip install openai</a:t>
            </a:r>
            <a:r>
              <a:rPr sz="1600">
                <a:solidFill>
                  <a:srgbClr val="000000"/>
                </a:solidFill>
              </a:rPr>
              <a:t> or use another language SDK.</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AutoNum type="arabicPeriod"/>
            </a:pPr>
            <a:r>
              <a:rPr sz="1600" b="1">
                <a:solidFill>
                  <a:srgbClr val="000000"/>
                </a:solidFill>
              </a:rPr>
              <a:t>Make Your First Call:</a:t>
            </a:r>
            <a:r>
              <a:rPr sz="1600">
                <a:solidFill>
                  <a:srgbClr val="000000"/>
                </a:solidFill>
              </a:rPr>
              <a:t> Follow quickstart guide documentation.</a:t>
            </a:r>
            <a:endParaRPr sz="1600">
              <a:solidFill>
                <a:srgbClr val="000000"/>
              </a:solidFill>
            </a:endParaRPr>
          </a:p>
          <a:p xmlns:a="http://schemas.openxmlformats.org/drawingml/2006/main">
            <a:pPr marL="457200" lvl="0" indent="-330200" algn="l">
              <a:lnSpc>
                <a:spcPct val="115000"/>
              </a:lnSpc>
              <a:spcBef>
                <a:spcPts val="0"/>
              </a:spcBef>
              <a:spcAft>
                <a:spcPts val="0"/>
              </a:spcAft>
              <a:buClr>
                <a:srgbClr val="000000"/>
              </a:buClr>
              <a:buSzPts val="1600"/>
              <a:buAutoNum type="arabicPeriod"/>
            </a:pPr>
            <a:r>
              <a:rPr sz="1600" b="1">
                <a:solidFill>
                  <a:srgbClr val="000000"/>
                </a:solidFill>
              </a:rPr>
              <a:t>Scale Gradually:</a:t>
            </a:r>
            <a:r>
              <a:rPr sz="1600">
                <a:solidFill>
                  <a:srgbClr val="000000"/>
                </a:solidFill>
              </a:rPr>
              <a:t> Monitor usage and optimize as you grow.</a:t>
            </a:r>
            <a:endParaRPr sz="1600">
              <a:solidFill>
                <a:srgbClr val="000000"/>
              </a:solidFill>
            </a:endParaRPr>
          </a:p>
        </p:txBody>
      </p:sp>
      <p:sp>
        <p:nvSpPr>
          <p:cNvPr id="197" name="Google Shape;197;p28">
            <a:extLst xmlns:a="http://schemas.openxmlformats.org/drawingml/2006/main">
              <a:ext uri="{FF2B5EF4-FFF2-40B4-BE49-F238E27FC236}">
                <a16:creationId xmlns:a16="http://schemas.microsoft.com/office/drawing/2014/main" id="{2A481D28-4B81-4C06-8965-B87B9460200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Tree>
    <p:extLst>
      <p:ext uri="{BB962C8B-B14F-4D97-AF65-F5344CB8AC3E}">
        <p14:creationId xmlns:p14="http://schemas.microsoft.com/office/powerpoint/2010/main" val="166275499"/>
      </p:ext>
    </p:extLst>
  </p:cSld>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2026-10-01T11:13:40.8680000Z</dcterms:created>
  <dcterms:modified xsi:type="dcterms:W3CDTF">2026-10-01T11:13:40.8680000Z</dcterms:modified>
</coreProperties>
</file>