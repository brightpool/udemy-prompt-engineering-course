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hyperlink" Target="https://claude.com/pricing" TargetMode="External"/><Relationship Id="rId4" Type="http://schemas.openxmlformats.org/officeDocument/2006/relationships/hyperlink" Target="https://claude.com/pricing#api" TargetMode="External"/><Relationship Id="rId5" Type="http://schemas.openxmlformats.org/officeDocument/2006/relationships/image" Target="../media/image2.png"/><Relationship Id="rId6" Type="http://schemas.openxmlformats.org/officeDocument/2006/relationships/hyperlink" Target="https://gemini.google/subscriptions/" TargetMode="External"/><Relationship Id="rId7" Type="http://schemas.openxmlformats.org/officeDocument/2006/relationships/hyperlink" Target="https://ai.google.dev/gemini-api/docs/pricing" TargetMode="External"/><Relationship Id="rId8" Type="http://schemas.openxmlformats.org/officeDocument/2006/relationships/image" Target="../media/image3.png"/><Relationship Id="rId9" Type="http://schemas.openxmlformats.org/officeDocument/2006/relationships/hyperlink" Target="https://grok.com/plans" TargetMode="External"/><Relationship Id="rId10" Type="http://schemas.openxmlformats.org/officeDocument/2006/relationships/hyperlink" Target="https://docs.x.ai/developers/models" TargetMode="External"/><Relationship Id="rId11" Type="http://schemas.openxmlformats.org/officeDocument/2006/relationships/image" Target="../media/image4.png"/><Relationship Id="rId12" Type="http://schemas.openxmlformats.org/officeDocument/2006/relationships/hyperlink" Target="https://chatgpt.com/pricing" TargetMode="External"/><Relationship Id="rId13" Type="http://schemas.openxmlformats.org/officeDocument/2006/relationships/hyperlink" Target="https://openai.com/api/pricing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hyperlink" Target="https://arena.ai/leaderboard" TargetMode="External"/><Relationship Id="rId8" Type="http://schemas.openxmlformats.org/officeDocument/2006/relationships/hyperlink" Target="https://artificialanalysis.ai/leaderboards/models" TargetMode="External"/><Relationship Id="rId9" Type="http://schemas.openxmlformats.org/officeDocument/2006/relationships/hyperlink" Target="https://openrouter.ai/rankings" TargetMode="External"/><Relationship Id="rId10" Type="http://schemas.openxmlformats.org/officeDocument/2006/relationships/hyperlink" Target="https://epoch.ai/benchmark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Exploring Other Model Providers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Several labs build these assistants, and they all expose the same handful of controls.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Kind of Assistant, from Several Labs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426464"/>
            <a:ext cx="4206240" cy="2788920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426464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619585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508760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57400"/>
            <a:ext cx="39136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>
                <a:solidFill>
                  <a:srgbClr val="F7F7FA"/>
                </a:solidFill>
                <a:latin typeface="Arial"/>
              </a:rPr>
              <a:t>Read the attached contract and list anything that commits us beyond twelve months.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2587752"/>
            <a:ext cx="3986783" cy="1069848"/>
          </a:xfrm>
          <a:prstGeom prst="roundRect">
            <a:avLst>
              <a:gd name="adj" fmla="val 4273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792" y="270662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2907792"/>
            <a:ext cx="354787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Section 4.2 - renews automatically each year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3118104"/>
            <a:ext cx="354787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Section 9 - data retained for 36 months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3328416"/>
            <a:ext cx="354787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Section 12 - exit needs 90 days' notice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" y="3803904"/>
            <a:ext cx="3913631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0936" y="3877056"/>
            <a:ext cx="32918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51376" y="3849624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151376" y="384962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1499616"/>
            <a:ext cx="3758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Same Shape, Four Labs</a:t>
            </a:r>
          </a:p>
        </p:txBody>
      </p:sp>
      <p:grpSp>
        <p:nvGrpSpPr>
          <p:cNvPr id="4" name="Claude"/>
          <p:cNvGrpSpPr/>
          <p:nvPr/>
        </p:nvGrpSpPr>
        <p:grpSpPr>
          <a:xfrm>
            <a:off x="4892040" y="1956816"/>
            <a:ext cx="932688" cy="859536"/>
            <a:chOff x="4892040" y="1956816"/>
            <a:chExt cx="932688" cy="859536"/>
          </a:xfrm>
        </p:grpSpPr>
        <p:pic>
          <p:nvPicPr>
            <p:cNvPr id="43" name="Picture 42" descr="claud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74920" y="1956816"/>
              <a:ext cx="566928" cy="566928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4892040" y="2578608"/>
              <a:ext cx="93268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Claude</a:t>
              </a:r>
            </a:p>
          </p:txBody>
        </p:sp>
      </p:grpSp>
      <p:grpSp>
        <p:nvGrpSpPr>
          <p:cNvPr id="5" name="Gemini"/>
          <p:cNvGrpSpPr/>
          <p:nvPr/>
        </p:nvGrpSpPr>
        <p:grpSpPr>
          <a:xfrm>
            <a:off x="6373368" y="2030516"/>
            <a:ext cx="932688" cy="785836"/>
            <a:chOff x="6373368" y="2030516"/>
            <a:chExt cx="932688" cy="785836"/>
          </a:xfrm>
        </p:grpSpPr>
        <p:pic>
          <p:nvPicPr>
            <p:cNvPr id="45" name="Picture 44" descr="gemini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9948" y="2030516"/>
              <a:ext cx="419526" cy="419526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6373368" y="2578608"/>
              <a:ext cx="93268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Gemini</a:t>
              </a:r>
            </a:p>
          </p:txBody>
        </p:sp>
      </p:grpSp>
      <p:grpSp>
        <p:nvGrpSpPr>
          <p:cNvPr id="6" name="Grok"/>
          <p:cNvGrpSpPr/>
          <p:nvPr/>
        </p:nvGrpSpPr>
        <p:grpSpPr>
          <a:xfrm>
            <a:off x="4892040" y="3043306"/>
            <a:ext cx="932688" cy="797174"/>
            <a:chOff x="4892040" y="3043306"/>
            <a:chExt cx="932688" cy="797174"/>
          </a:xfrm>
        </p:grpSpPr>
        <p:pic>
          <p:nvPicPr>
            <p:cNvPr id="47" name="Picture 46" descr="grok-mar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37282" y="3043306"/>
              <a:ext cx="442203" cy="442203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4892040" y="3602736"/>
              <a:ext cx="93268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Grok</a:t>
              </a:r>
            </a:p>
          </p:txBody>
        </p:sp>
      </p:grpSp>
      <p:grpSp>
        <p:nvGrpSpPr>
          <p:cNvPr id="7" name="ChatGPT"/>
          <p:cNvGrpSpPr/>
          <p:nvPr/>
        </p:nvGrpSpPr>
        <p:grpSpPr>
          <a:xfrm>
            <a:off x="6373368" y="2980944"/>
            <a:ext cx="932688" cy="859536"/>
            <a:chOff x="6373368" y="2980944"/>
            <a:chExt cx="932688" cy="859536"/>
          </a:xfrm>
        </p:grpSpPr>
        <p:pic>
          <p:nvPicPr>
            <p:cNvPr id="49" name="Picture 48" descr="chatgp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56248" y="2980944"/>
              <a:ext cx="566928" cy="566928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6373368" y="3602736"/>
              <a:ext cx="93268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ChatGPT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5074920" y="4059936"/>
            <a:ext cx="37581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Source Code Pro"/>
              </a:rPr>
              <a:t>Swap the lab. The prompt needs no edit.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Labs, and What Shaped Each One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" name="Picture 25" descr="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1554480"/>
            <a:ext cx="1005840" cy="10058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02336" y="2724912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424242"/>
                </a:solidFill>
                <a:latin typeface="Source Code Pro"/>
              </a:rPr>
              <a:t>Claude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3035808"/>
            <a:ext cx="1947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91D63"/>
                </a:solidFill>
                <a:latin typeface="Source Code Pro"/>
              </a:rPr>
              <a:t>Anthropic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01568"/>
            <a:ext cx="18379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Safety and behaviour at the centre of its pitch.</a:t>
            </a:r>
          </a:p>
        </p:txBody>
      </p:sp>
      <p:pic>
        <p:nvPicPr>
          <p:cNvPr id="30" name="Picture 29" descr="ge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563" y="1685239"/>
            <a:ext cx="744321" cy="74432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532888" y="2724912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424242"/>
                </a:solidFill>
                <a:latin typeface="Source Code Pro"/>
              </a:rPr>
              <a:t>Gemini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32888" y="3035808"/>
            <a:ext cx="1947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91D63"/>
                </a:solidFill>
                <a:latin typeface="Source Code Pro"/>
              </a:rPr>
              <a:t>Google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87752" y="3401568"/>
            <a:ext cx="18379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Sits beside your search, mail and documents.</a:t>
            </a:r>
          </a:p>
        </p:txBody>
      </p:sp>
      <p:pic>
        <p:nvPicPr>
          <p:cNvPr id="34" name="Picture 33" descr="grok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998" y="1665122"/>
            <a:ext cx="784555" cy="78455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63440" y="2724912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424242"/>
                </a:solidFill>
                <a:latin typeface="Source Code Pro"/>
              </a:rPr>
              <a:t>Grok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035808"/>
            <a:ext cx="1947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91D63"/>
                </a:solidFill>
                <a:latin typeface="Source Code Pro"/>
              </a:rPr>
              <a:t>xAI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8304" y="3401568"/>
            <a:ext cx="18379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Leans on what is being posted right now.</a:t>
            </a:r>
          </a:p>
        </p:txBody>
      </p:sp>
      <p:pic>
        <p:nvPicPr>
          <p:cNvPr id="38" name="Picture 37" descr="chatg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908" y="1554480"/>
            <a:ext cx="1005840" cy="100584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93992" y="2724912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424242"/>
                </a:solidFill>
                <a:latin typeface="Source Code Pro"/>
              </a:rPr>
              <a:t>ChatGPT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93992" y="3035808"/>
            <a:ext cx="1947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91D63"/>
                </a:solidFill>
                <a:latin typeface="Source Code Pro"/>
              </a:rPr>
              <a:t>OpenAI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8856" y="3401568"/>
            <a:ext cx="18379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Took chat mainstream. The one we demo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Every Request Is Assembled the Same Way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System instruction"/>
          <p:cNvGrpSpPr/>
          <p:nvPr/>
        </p:nvGrpSpPr>
        <p:grpSpPr>
          <a:xfrm>
            <a:off x="310896" y="1426464"/>
            <a:ext cx="4663440" cy="475488"/>
            <a:chOff x="310896" y="1426464"/>
            <a:chExt cx="4663440" cy="475488"/>
          </a:xfrm>
        </p:grpSpPr>
        <p:sp>
          <p:nvSpPr>
            <p:cNvPr id="26" name="Rounded Rectangle 25"/>
            <p:cNvSpPr/>
            <p:nvPr/>
          </p:nvSpPr>
          <p:spPr>
            <a:xfrm>
              <a:off x="310896" y="1426464"/>
              <a:ext cx="4663440" cy="475488"/>
            </a:xfrm>
            <a:prstGeom prst="roundRect">
              <a:avLst>
                <a:gd name="adj" fmla="val 961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Oval 26"/>
            <p:cNvSpPr/>
            <p:nvPr/>
          </p:nvSpPr>
          <p:spPr>
            <a:xfrm>
              <a:off x="420624" y="1472184"/>
              <a:ext cx="384048" cy="3840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icon-scroll-text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14" y="1556674"/>
              <a:ext cx="215066" cy="215066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932688" y="1426464"/>
              <a:ext cx="228600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System Instruction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55264" y="1426464"/>
              <a:ext cx="1591055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Standing Rules</a:t>
              </a:r>
            </a:p>
          </p:txBody>
        </p:sp>
      </p:grpSp>
      <p:grpSp>
        <p:nvGrpSpPr>
          <p:cNvPr id="5" name="The conversation so far"/>
          <p:cNvGrpSpPr/>
          <p:nvPr/>
        </p:nvGrpSpPr>
        <p:grpSpPr>
          <a:xfrm>
            <a:off x="310896" y="1956816"/>
            <a:ext cx="4663440" cy="475488"/>
            <a:chOff x="310896" y="1956816"/>
            <a:chExt cx="4663440" cy="475488"/>
          </a:xfrm>
        </p:grpSpPr>
        <p:sp>
          <p:nvSpPr>
            <p:cNvPr id="31" name="Rounded Rectangle 30"/>
            <p:cNvSpPr/>
            <p:nvPr/>
          </p:nvSpPr>
          <p:spPr>
            <a:xfrm>
              <a:off x="310896" y="1956816"/>
              <a:ext cx="4663440" cy="475488"/>
            </a:xfrm>
            <a:prstGeom prst="roundRect">
              <a:avLst>
                <a:gd name="adj" fmla="val 961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Oval 31"/>
            <p:cNvSpPr/>
            <p:nvPr/>
          </p:nvSpPr>
          <p:spPr>
            <a:xfrm>
              <a:off x="420624" y="2002536"/>
              <a:ext cx="384048" cy="3840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3" name="Picture 32" descr="icon-messages-square-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114" y="2087026"/>
              <a:ext cx="215066" cy="215066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932688" y="1956816"/>
              <a:ext cx="228600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The Conversation So Far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55264" y="1956816"/>
              <a:ext cx="1591055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Earlier Turns</a:t>
              </a:r>
            </a:p>
          </p:txBody>
        </p:sp>
      </p:grpSp>
      <p:grpSp>
        <p:nvGrpSpPr>
          <p:cNvPr id="6" name="Files and tool results"/>
          <p:cNvGrpSpPr/>
          <p:nvPr/>
        </p:nvGrpSpPr>
        <p:grpSpPr>
          <a:xfrm>
            <a:off x="310896" y="2487168"/>
            <a:ext cx="4663440" cy="475488"/>
            <a:chOff x="310896" y="2487168"/>
            <a:chExt cx="4663440" cy="475488"/>
          </a:xfrm>
        </p:grpSpPr>
        <p:sp>
          <p:nvSpPr>
            <p:cNvPr id="36" name="Rounded Rectangle 35"/>
            <p:cNvSpPr/>
            <p:nvPr/>
          </p:nvSpPr>
          <p:spPr>
            <a:xfrm>
              <a:off x="310896" y="2487168"/>
              <a:ext cx="4663440" cy="475488"/>
            </a:xfrm>
            <a:prstGeom prst="roundRect">
              <a:avLst>
                <a:gd name="adj" fmla="val 961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7" name="Oval 36"/>
            <p:cNvSpPr/>
            <p:nvPr/>
          </p:nvSpPr>
          <p:spPr>
            <a:xfrm>
              <a:off x="420624" y="2532888"/>
              <a:ext cx="384048" cy="3840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37" descr="icon-paperclip-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5114" y="2617378"/>
              <a:ext cx="215066" cy="215066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932688" y="2487168"/>
              <a:ext cx="228600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Files and Tool Results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55264" y="2487168"/>
              <a:ext cx="1591055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What It Fetched</a:t>
              </a:r>
            </a:p>
          </p:txBody>
        </p:sp>
      </p:grpSp>
      <p:grpSp>
        <p:nvGrpSpPr>
          <p:cNvPr id="7" name="Your message"/>
          <p:cNvGrpSpPr/>
          <p:nvPr/>
        </p:nvGrpSpPr>
        <p:grpSpPr>
          <a:xfrm>
            <a:off x="310896" y="3017520"/>
            <a:ext cx="4663440" cy="475488"/>
            <a:chOff x="310896" y="3017520"/>
            <a:chExt cx="4663440" cy="475488"/>
          </a:xfrm>
        </p:grpSpPr>
        <p:sp>
          <p:nvSpPr>
            <p:cNvPr id="41" name="Rounded Rectangle 40"/>
            <p:cNvSpPr/>
            <p:nvPr/>
          </p:nvSpPr>
          <p:spPr>
            <a:xfrm>
              <a:off x="310896" y="3017520"/>
              <a:ext cx="4663440" cy="475488"/>
            </a:xfrm>
            <a:prstGeom prst="roundRect">
              <a:avLst>
                <a:gd name="adj" fmla="val 961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2" name="Oval 41"/>
            <p:cNvSpPr/>
            <p:nvPr/>
          </p:nvSpPr>
          <p:spPr>
            <a:xfrm>
              <a:off x="420624" y="3063240"/>
              <a:ext cx="384048" cy="3840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3" name="Picture 42" descr="icon-send-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5114" y="3147730"/>
              <a:ext cx="215066" cy="215066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932688" y="3017520"/>
              <a:ext cx="228600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Your Message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255264" y="3017520"/>
              <a:ext cx="1591055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Typed Just Now</a:t>
              </a:r>
            </a:p>
          </p:txBody>
        </p:sp>
      </p:grpSp>
      <p:sp>
        <p:nvSpPr>
          <p:cNvPr id="46" name="Down Arrow 45"/>
          <p:cNvSpPr/>
          <p:nvPr/>
        </p:nvSpPr>
        <p:spPr>
          <a:xfrm>
            <a:off x="2487168" y="3566160"/>
            <a:ext cx="310896" cy="201168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10896" y="3822192"/>
            <a:ext cx="4663440" cy="512064"/>
          </a:xfrm>
          <a:prstGeom prst="roundRect">
            <a:avLst>
              <a:gd name="adj" fmla="val 8928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02336" y="3822192"/>
            <a:ext cx="448055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One Request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74336" y="4072737"/>
            <a:ext cx="603504" cy="10972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5572353" y="1664208"/>
            <a:ext cx="10972" cy="2414016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8" name="Claude"/>
          <p:cNvGrpSpPr/>
          <p:nvPr/>
        </p:nvGrpSpPr>
        <p:grpSpPr>
          <a:xfrm>
            <a:off x="5577840" y="1408176"/>
            <a:ext cx="3200400" cy="512064"/>
            <a:chOff x="5577840" y="1408176"/>
            <a:chExt cx="3200400" cy="512064"/>
          </a:xfrm>
        </p:grpSpPr>
        <p:sp>
          <p:nvSpPr>
            <p:cNvPr id="51" name="Right Arrow 50"/>
            <p:cNvSpPr/>
            <p:nvPr/>
          </p:nvSpPr>
          <p:spPr>
            <a:xfrm>
              <a:off x="5577840" y="1618488"/>
              <a:ext cx="548640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2" name="Picture 51" descr="claud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17920" y="1408176"/>
              <a:ext cx="512064" cy="512064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6858000" y="1527048"/>
              <a:ext cx="19202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Claude</a:t>
              </a:r>
            </a:p>
          </p:txBody>
        </p:sp>
      </p:grpSp>
      <p:grpSp>
        <p:nvGrpSpPr>
          <p:cNvPr id="9" name="Gemini"/>
          <p:cNvGrpSpPr/>
          <p:nvPr/>
        </p:nvGrpSpPr>
        <p:grpSpPr>
          <a:xfrm>
            <a:off x="5577840" y="2169688"/>
            <a:ext cx="3200400" cy="378927"/>
            <a:chOff x="5577840" y="2169688"/>
            <a:chExt cx="3200400" cy="378927"/>
          </a:xfrm>
        </p:grpSpPr>
        <p:sp>
          <p:nvSpPr>
            <p:cNvPr id="54" name="Right Arrow 53"/>
            <p:cNvSpPr/>
            <p:nvPr/>
          </p:nvSpPr>
          <p:spPr>
            <a:xfrm>
              <a:off x="5577840" y="2313432"/>
              <a:ext cx="548640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5" name="Picture 54" descr="gemini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84488" y="2169688"/>
              <a:ext cx="378927" cy="378927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6858000" y="2221992"/>
              <a:ext cx="19202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Gemini</a:t>
              </a:r>
            </a:p>
          </p:txBody>
        </p:sp>
      </p:grpSp>
      <p:grpSp>
        <p:nvGrpSpPr>
          <p:cNvPr id="10" name="Grok"/>
          <p:cNvGrpSpPr/>
          <p:nvPr/>
        </p:nvGrpSpPr>
        <p:grpSpPr>
          <a:xfrm>
            <a:off x="5577840" y="2854391"/>
            <a:ext cx="3200400" cy="399409"/>
            <a:chOff x="5577840" y="2854391"/>
            <a:chExt cx="3200400" cy="399409"/>
          </a:xfrm>
        </p:grpSpPr>
        <p:sp>
          <p:nvSpPr>
            <p:cNvPr id="57" name="Right Arrow 56"/>
            <p:cNvSpPr/>
            <p:nvPr/>
          </p:nvSpPr>
          <p:spPr>
            <a:xfrm>
              <a:off x="5577840" y="3008376"/>
              <a:ext cx="548640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8" name="Picture 57" descr="grok-mark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74247" y="2854391"/>
              <a:ext cx="399409" cy="399409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6858000" y="2916936"/>
              <a:ext cx="19202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Grok</a:t>
              </a:r>
            </a:p>
          </p:txBody>
        </p:sp>
      </p:grpSp>
      <p:grpSp>
        <p:nvGrpSpPr>
          <p:cNvPr id="11" name="ChatGPT"/>
          <p:cNvGrpSpPr/>
          <p:nvPr/>
        </p:nvGrpSpPr>
        <p:grpSpPr>
          <a:xfrm>
            <a:off x="5577840" y="3493008"/>
            <a:ext cx="3200400" cy="512064"/>
            <a:chOff x="5577840" y="3493008"/>
            <a:chExt cx="3200400" cy="512064"/>
          </a:xfrm>
        </p:grpSpPr>
        <p:sp>
          <p:nvSpPr>
            <p:cNvPr id="60" name="Right Arrow 59"/>
            <p:cNvSpPr/>
            <p:nvPr/>
          </p:nvSpPr>
          <p:spPr>
            <a:xfrm>
              <a:off x="5577840" y="3703320"/>
              <a:ext cx="548640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1" name="Picture 60" descr="chatgpt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17920" y="3493008"/>
              <a:ext cx="512064" cy="512064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6858000" y="3611880"/>
              <a:ext cx="19202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ChatGPT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6217920" y="4187952"/>
            <a:ext cx="26151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Source Code Pro"/>
              </a:rPr>
              <a:t>The lab changes. The request does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Dials, Under Different Names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" y="14264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24242"/>
                </a:solidFill>
                <a:latin typeface="Source Code Pro"/>
              </a:rPr>
              <a:t>Dial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14264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24242"/>
                </a:solidFill>
                <a:latin typeface="Source Code Pro"/>
              </a:rPr>
              <a:t>What It Controls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14264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24242"/>
                </a:solidFill>
                <a:latin typeface="Source Code Pro"/>
              </a:rPr>
              <a:t>What Differs Between Labs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" y="1719072"/>
            <a:ext cx="8522208" cy="10972"/>
          </a:xfrm>
          <a:prstGeom prst="rect">
            <a:avLst/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4" name="Tokens"/>
          <p:cNvGrpSpPr/>
          <p:nvPr/>
        </p:nvGrpSpPr>
        <p:grpSpPr>
          <a:xfrm>
            <a:off x="310896" y="1792224"/>
            <a:ext cx="8522208" cy="534009"/>
            <a:chOff x="310896" y="1792224"/>
            <a:chExt cx="8522208" cy="534009"/>
          </a:xfrm>
        </p:grpSpPr>
        <p:sp>
          <p:nvSpPr>
            <p:cNvPr id="30" name="Oval 29"/>
            <p:cNvSpPr/>
            <p:nvPr/>
          </p:nvSpPr>
          <p:spPr>
            <a:xfrm>
              <a:off x="310896" y="1865376"/>
              <a:ext cx="384048" cy="384048"/>
            </a:xfrm>
            <a:prstGeom prst="ellipse">
              <a:avLst/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1" name="Picture 30" descr="icon-hash-p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386" y="1949866"/>
              <a:ext cx="215066" cy="215066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822960" y="1792224"/>
              <a:ext cx="1920240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Tokens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743200" y="1792224"/>
              <a:ext cx="2962656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How your text is counted and billed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52160" y="1792224"/>
              <a:ext cx="2980944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The tokenizer, so counts differ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" y="2318918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5" name="Context window"/>
          <p:cNvGrpSpPr/>
          <p:nvPr/>
        </p:nvGrpSpPr>
        <p:grpSpPr>
          <a:xfrm>
            <a:off x="310896" y="2322576"/>
            <a:ext cx="8522208" cy="534009"/>
            <a:chOff x="310896" y="2322576"/>
            <a:chExt cx="8522208" cy="534009"/>
          </a:xfrm>
        </p:grpSpPr>
        <p:sp>
          <p:nvSpPr>
            <p:cNvPr id="36" name="Oval 35"/>
            <p:cNvSpPr/>
            <p:nvPr/>
          </p:nvSpPr>
          <p:spPr>
            <a:xfrm>
              <a:off x="310896" y="2395728"/>
              <a:ext cx="384048" cy="384048"/>
            </a:xfrm>
            <a:prstGeom prst="ellipse">
              <a:avLst/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7" name="Picture 36" descr="icon-book-open-p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386" y="2480218"/>
              <a:ext cx="215066" cy="215066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822960" y="2322576"/>
              <a:ext cx="1920240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Context Window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743200" y="2322576"/>
              <a:ext cx="2962656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How much it holds at once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852160" y="2322576"/>
              <a:ext cx="2980944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The size, and how it behaves at the edge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" y="2849270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6" name="System instruction"/>
          <p:cNvGrpSpPr/>
          <p:nvPr/>
        </p:nvGrpSpPr>
        <p:grpSpPr>
          <a:xfrm>
            <a:off x="310896" y="2852928"/>
            <a:ext cx="8522208" cy="534009"/>
            <a:chOff x="310896" y="2852928"/>
            <a:chExt cx="8522208" cy="534009"/>
          </a:xfrm>
        </p:grpSpPr>
        <p:sp>
          <p:nvSpPr>
            <p:cNvPr id="42" name="Oval 41"/>
            <p:cNvSpPr/>
            <p:nvPr/>
          </p:nvSpPr>
          <p:spPr>
            <a:xfrm>
              <a:off x="310896" y="2926080"/>
              <a:ext cx="384048" cy="384048"/>
            </a:xfrm>
            <a:prstGeom prst="ellipse">
              <a:avLst/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3" name="Picture 42" descr="icon-scroll-text-p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386" y="3010570"/>
              <a:ext cx="215066" cy="215066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822960" y="2852928"/>
              <a:ext cx="1920240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System Instruction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743200" y="2852928"/>
              <a:ext cx="2962656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The standing rules for every turn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852160" y="2852928"/>
              <a:ext cx="2980944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Where in the product you write it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10896" y="3379622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7" name="Tools"/>
          <p:cNvGrpSpPr/>
          <p:nvPr/>
        </p:nvGrpSpPr>
        <p:grpSpPr>
          <a:xfrm>
            <a:off x="310896" y="3383280"/>
            <a:ext cx="8522208" cy="534009"/>
            <a:chOff x="310896" y="3383280"/>
            <a:chExt cx="8522208" cy="534009"/>
          </a:xfrm>
        </p:grpSpPr>
        <p:sp>
          <p:nvSpPr>
            <p:cNvPr id="48" name="Oval 47"/>
            <p:cNvSpPr/>
            <p:nvPr/>
          </p:nvSpPr>
          <p:spPr>
            <a:xfrm>
              <a:off x="310896" y="3456432"/>
              <a:ext cx="384048" cy="384048"/>
            </a:xfrm>
            <a:prstGeom prst="ellipse">
              <a:avLst/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48" descr="icon-wrench-p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5386" y="3540922"/>
              <a:ext cx="215066" cy="215066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822960" y="3383280"/>
              <a:ext cx="1920240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Tools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743200" y="3383280"/>
              <a:ext cx="2962656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What it can call out to and act on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852160" y="3383280"/>
              <a:ext cx="2980944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Which ones ship built in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10896" y="3909974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8" name="Reasoning effort"/>
          <p:cNvGrpSpPr/>
          <p:nvPr/>
        </p:nvGrpSpPr>
        <p:grpSpPr>
          <a:xfrm>
            <a:off x="310896" y="3913632"/>
            <a:ext cx="8522208" cy="534009"/>
            <a:chOff x="310896" y="3913632"/>
            <a:chExt cx="8522208" cy="534009"/>
          </a:xfrm>
        </p:grpSpPr>
        <p:sp>
          <p:nvSpPr>
            <p:cNvPr id="54" name="Oval 53"/>
            <p:cNvSpPr/>
            <p:nvPr/>
          </p:nvSpPr>
          <p:spPr>
            <a:xfrm>
              <a:off x="310896" y="3986784"/>
              <a:ext cx="384048" cy="384048"/>
            </a:xfrm>
            <a:prstGeom prst="ellipse">
              <a:avLst/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5" name="Picture 54" descr="icon-gauge-pin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5386" y="4071274"/>
              <a:ext cx="215066" cy="215066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822960" y="3913632"/>
              <a:ext cx="1920240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Reasoning Effort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743200" y="3913632"/>
              <a:ext cx="2962656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How long it thinks before replying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852160" y="3913632"/>
              <a:ext cx="2980944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The name of the setting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10896" y="4440326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5838444" y="262890"/>
            <a:ext cx="169164" cy="169164"/>
          </a:xfrm>
          <a:prstGeom prst="ellipse">
            <a:avLst/>
          </a:prstGeom>
          <a:noFill/>
          <a:ln w="13970">
            <a:solidFill>
              <a:srgbClr val="FB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5917539" y="297180"/>
            <a:ext cx="10972" cy="50292"/>
          </a:xfrm>
          <a:prstGeom prst="rect">
            <a:avLst/>
          </a:prstGeom>
          <a:solidFill>
            <a:srgbClr val="FB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5923026" y="341985"/>
            <a:ext cx="45720" cy="10972"/>
          </a:xfrm>
          <a:prstGeom prst="rect">
            <a:avLst/>
          </a:prstGeom>
          <a:solidFill>
            <a:srgbClr val="FB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126479" y="0"/>
            <a:ext cx="2569464" cy="6949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spc="180">
                <a:solidFill>
                  <a:srgbClr val="FBE4EC"/>
                </a:solidFill>
                <a:latin typeface="Source Code Pro"/>
              </a:rPr>
              <a:t>EXERCISE  ·  3 MINUTES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0"/>
            <a:ext cx="5061204" cy="6949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Oswald"/>
              </a:rPr>
              <a:t>Compare What Four Labs Charge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100584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24242"/>
                </a:solidFill>
                <a:latin typeface="Source Code Pro"/>
              </a:rPr>
              <a:t>For each lab, find the cheapest paid plan per month, and the API price per million input and output tokens.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15727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24242"/>
                </a:solidFill>
                <a:latin typeface="Source Code Pro"/>
              </a:rPr>
              <a:t>Lab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31720" y="15727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24242"/>
                </a:solidFill>
                <a:latin typeface="Source Code Pro"/>
              </a:rPr>
              <a:t>Subscription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0" y="15727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24242"/>
                </a:solidFill>
                <a:latin typeface="Source Code Pro"/>
              </a:rPr>
              <a:t>API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1883664"/>
            <a:ext cx="8138160" cy="10972"/>
          </a:xfrm>
          <a:prstGeom prst="rect">
            <a:avLst/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2" name="Claude pricing"/>
          <p:cNvGrpSpPr/>
          <p:nvPr/>
        </p:nvGrpSpPr>
        <p:grpSpPr>
          <a:xfrm>
            <a:off x="502920" y="1975104"/>
            <a:ext cx="8138160" cy="501091"/>
            <a:chOff x="502920" y="1975104"/>
            <a:chExt cx="8138160" cy="501091"/>
          </a:xfrm>
        </p:grpSpPr>
        <p:pic>
          <p:nvPicPr>
            <p:cNvPr id="79" name="Picture 78" descr="claud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2920" y="2011680"/>
              <a:ext cx="365760" cy="365760"/>
            </a:xfrm>
            <a:prstGeom prst="rect">
              <a:avLst/>
            </a:prstGeom>
          </p:spPr>
        </p:pic>
        <p:sp>
          <p:nvSpPr>
            <p:cNvPr id="80" name="TextBox 79"/>
            <p:cNvSpPr txBox="1"/>
            <p:nvPr/>
          </p:nvSpPr>
          <p:spPr>
            <a:xfrm>
              <a:off x="1005840" y="1975104"/>
              <a:ext cx="1280160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Claude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331720" y="1975104"/>
              <a:ext cx="3017520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 u="sng">
                  <a:solidFill>
                    <a:srgbClr val="E91D63"/>
                  </a:solidFill>
                  <a:latin typeface="Source Code Pro"/>
                  <a:hlinkClick r:id="rId3"/>
                </a:rPr>
                <a:t>claude.com/pricing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486400" y="1975104"/>
              <a:ext cx="3017520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 u="sng">
                  <a:solidFill>
                    <a:srgbClr val="E91D63"/>
                  </a:solidFill>
                  <a:latin typeface="Source Code Pro"/>
                  <a:hlinkClick r:id="rId4"/>
                </a:rPr>
                <a:t>claude.com/pricing#api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502920" y="2468880"/>
              <a:ext cx="8138160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3" name="Gemini pricing"/>
          <p:cNvGrpSpPr/>
          <p:nvPr/>
        </p:nvGrpSpPr>
        <p:grpSpPr>
          <a:xfrm>
            <a:off x="502920" y="2487168"/>
            <a:ext cx="8138160" cy="501091"/>
            <a:chOff x="502920" y="2487168"/>
            <a:chExt cx="8138160" cy="501091"/>
          </a:xfrm>
        </p:grpSpPr>
        <p:pic>
          <p:nvPicPr>
            <p:cNvPr id="84" name="Picture 83" descr="gemini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0468" y="2571292"/>
              <a:ext cx="270662" cy="270662"/>
            </a:xfrm>
            <a:prstGeom prst="rect">
              <a:avLst/>
            </a:prstGeom>
          </p:spPr>
        </p:pic>
        <p:sp>
          <p:nvSpPr>
            <p:cNvPr id="85" name="TextBox 84"/>
            <p:cNvSpPr txBox="1"/>
            <p:nvPr/>
          </p:nvSpPr>
          <p:spPr>
            <a:xfrm>
              <a:off x="1005840" y="2487168"/>
              <a:ext cx="1280160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Gemini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2331720" y="2487168"/>
              <a:ext cx="3017520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 u="sng">
                  <a:solidFill>
                    <a:srgbClr val="E91D63"/>
                  </a:solidFill>
                  <a:latin typeface="Source Code Pro"/>
                  <a:hlinkClick r:id="rId6"/>
                </a:rPr>
                <a:t>gemini.google/subscriptions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486400" y="2487168"/>
              <a:ext cx="3017520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 u="sng">
                  <a:solidFill>
                    <a:srgbClr val="E91D63"/>
                  </a:solidFill>
                  <a:latin typeface="Source Code Pro"/>
                  <a:hlinkClick r:id="rId7"/>
                </a:rPr>
                <a:t>ai.google.dev/.../pricing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502920" y="2980944"/>
              <a:ext cx="8138160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4" name="Grok pricing"/>
          <p:cNvGrpSpPr/>
          <p:nvPr/>
        </p:nvGrpSpPr>
        <p:grpSpPr>
          <a:xfrm>
            <a:off x="502920" y="2999232"/>
            <a:ext cx="8138160" cy="501091"/>
            <a:chOff x="502920" y="2999232"/>
            <a:chExt cx="8138160" cy="501091"/>
          </a:xfrm>
        </p:grpSpPr>
        <p:pic>
          <p:nvPicPr>
            <p:cNvPr id="89" name="Picture 88" descr="grok-mark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3153" y="3076041"/>
              <a:ext cx="285292" cy="285292"/>
            </a:xfrm>
            <a:prstGeom prst="rect">
              <a:avLst/>
            </a:prstGeom>
          </p:spPr>
        </p:pic>
        <p:sp>
          <p:nvSpPr>
            <p:cNvPr id="90" name="TextBox 89"/>
            <p:cNvSpPr txBox="1"/>
            <p:nvPr/>
          </p:nvSpPr>
          <p:spPr>
            <a:xfrm>
              <a:off x="1005840" y="2999232"/>
              <a:ext cx="1280160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Grok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2331720" y="2999232"/>
              <a:ext cx="3017520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 u="sng">
                  <a:solidFill>
                    <a:srgbClr val="E91D63"/>
                  </a:solidFill>
                  <a:latin typeface="Source Code Pro"/>
                  <a:hlinkClick r:id="rId9"/>
                </a:rPr>
                <a:t>grok.com/plans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486400" y="2999232"/>
              <a:ext cx="3017520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 u="sng">
                  <a:solidFill>
                    <a:srgbClr val="E91D63"/>
                  </a:solidFill>
                  <a:latin typeface="Source Code Pro"/>
                  <a:hlinkClick r:id="rId10"/>
                </a:rPr>
                <a:t>docs.x.ai/.../models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502920" y="3493008"/>
              <a:ext cx="8138160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5" name="ChatGPT pricing"/>
          <p:cNvGrpSpPr/>
          <p:nvPr/>
        </p:nvGrpSpPr>
        <p:grpSpPr>
          <a:xfrm>
            <a:off x="502920" y="3511296"/>
            <a:ext cx="8138160" cy="501091"/>
            <a:chOff x="502920" y="3511296"/>
            <a:chExt cx="8138160" cy="501091"/>
          </a:xfrm>
        </p:grpSpPr>
        <p:pic>
          <p:nvPicPr>
            <p:cNvPr id="94" name="Picture 93" descr="chatgpt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02920" y="3547872"/>
              <a:ext cx="365760" cy="365760"/>
            </a:xfrm>
            <a:prstGeom prst="rect">
              <a:avLst/>
            </a:prstGeom>
          </p:spPr>
        </p:pic>
        <p:sp>
          <p:nvSpPr>
            <p:cNvPr id="95" name="TextBox 94"/>
            <p:cNvSpPr txBox="1"/>
            <p:nvPr/>
          </p:nvSpPr>
          <p:spPr>
            <a:xfrm>
              <a:off x="1005840" y="3511296"/>
              <a:ext cx="1280160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ChatGPT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2331720" y="3511296"/>
              <a:ext cx="3017520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 u="sng">
                  <a:solidFill>
                    <a:srgbClr val="E91D63"/>
                  </a:solidFill>
                  <a:latin typeface="Source Code Pro"/>
                  <a:hlinkClick r:id="rId12"/>
                </a:rPr>
                <a:t>chatgpt.com/pricing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486400" y="3511296"/>
              <a:ext cx="3017520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 u="sng">
                  <a:solidFill>
                    <a:srgbClr val="E91D63"/>
                  </a:solidFill>
                  <a:latin typeface="Source Code Pro"/>
                  <a:hlinkClick r:id="rId13"/>
                </a:rPr>
                <a:t>openai.com/api/pricing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502920" y="4005072"/>
              <a:ext cx="8138160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sp>
        <p:nvSpPr>
          <p:cNvPr id="99" name="TextBox 98"/>
          <p:cNvSpPr txBox="1"/>
          <p:nvPr/>
        </p:nvSpPr>
        <p:spPr>
          <a:xfrm>
            <a:off x="502920" y="41696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Source Code Pro"/>
              </a:rPr>
              <a:t>Then decide: for your use, is a flat plan or pay-per-use cheaper?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Transfers, and What You Relearn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Transfers unchanged"/>
          <p:cNvGrpSpPr/>
          <p:nvPr/>
        </p:nvGrpSpPr>
        <p:grpSpPr>
          <a:xfrm>
            <a:off x="310896" y="1426464"/>
            <a:ext cx="4160520" cy="2779776"/>
            <a:chOff x="310896" y="1426464"/>
            <a:chExt cx="4160520" cy="2779776"/>
          </a:xfrm>
        </p:grpSpPr>
        <p:sp>
          <p:nvSpPr>
            <p:cNvPr id="26" name="Rounded Rectangle 25"/>
            <p:cNvSpPr/>
            <p:nvPr/>
          </p:nvSpPr>
          <p:spPr>
            <a:xfrm>
              <a:off x="310896" y="1426464"/>
              <a:ext cx="4160520" cy="2779776"/>
            </a:xfrm>
            <a:prstGeom prst="roundRect">
              <a:avLst>
                <a:gd name="adj" fmla="val 1644"/>
              </a:avLst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TextBox 26"/>
            <p:cNvSpPr txBox="1"/>
            <p:nvPr/>
          </p:nvSpPr>
          <p:spPr>
            <a:xfrm>
              <a:off x="530352" y="1554480"/>
              <a:ext cx="3721608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E91D63"/>
                  </a:solidFill>
                  <a:latin typeface="Source Code Pro"/>
                </a:rPr>
                <a:t>Transfers Unchanged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530352" y="2011680"/>
              <a:ext cx="384048" cy="384048"/>
            </a:xfrm>
            <a:prstGeom prst="ellipse">
              <a:avLst/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9" name="Picture 28" descr="icon-layout-list-p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4842" y="2096170"/>
              <a:ext cx="215066" cy="215066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1060704" y="2011680"/>
              <a:ext cx="3191256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0">
                  <a:solidFill>
                    <a:srgbClr val="424242"/>
                  </a:solidFill>
                  <a:latin typeface="Source Code Pro"/>
                </a:rPr>
                <a:t>Prompt Structure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530352" y="2578608"/>
              <a:ext cx="384048" cy="384048"/>
            </a:xfrm>
            <a:prstGeom prst="ellipse">
              <a:avLst/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Picture 31" descr="icon-users-p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842" y="2663098"/>
              <a:ext cx="215066" cy="215066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1060704" y="2578608"/>
              <a:ext cx="3191256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0">
                  <a:solidFill>
                    <a:srgbClr val="424242"/>
                  </a:solidFill>
                  <a:latin typeface="Source Code Pro"/>
                </a:rPr>
                <a:t>Examples and Roles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530352" y="3145536"/>
              <a:ext cx="384048" cy="384048"/>
            </a:xfrm>
            <a:prstGeom prst="ellipse">
              <a:avLst/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5" name="Picture 34" descr="icon-coins-p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842" y="3230026"/>
              <a:ext cx="215066" cy="215066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1060704" y="3145536"/>
              <a:ext cx="3191256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0">
                  <a:solidFill>
                    <a:srgbClr val="424242"/>
                  </a:solidFill>
                  <a:latin typeface="Source Code Pro"/>
                </a:rPr>
                <a:t>Token and Context Budgeting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530352" y="3712464"/>
              <a:ext cx="384048" cy="384048"/>
            </a:xfrm>
            <a:prstGeom prst="ellipse">
              <a:avLst/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37" descr="icon-scale-p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4842" y="3796954"/>
              <a:ext cx="215066" cy="215066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1060704" y="3712464"/>
              <a:ext cx="3191256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0">
                  <a:solidFill>
                    <a:srgbClr val="424242"/>
                  </a:solidFill>
                  <a:latin typeface="Source Code Pro"/>
                </a:rPr>
                <a:t>Judging an Answer</a:t>
              </a:r>
            </a:p>
          </p:txBody>
        </p:sp>
      </p:grpSp>
      <p:grpSp>
        <p:nvGrpSpPr>
          <p:cNvPr id="5" name="You relearn"/>
          <p:cNvGrpSpPr/>
          <p:nvPr/>
        </p:nvGrpSpPr>
        <p:grpSpPr>
          <a:xfrm>
            <a:off x="4672583" y="1426464"/>
            <a:ext cx="4160520" cy="2779776"/>
            <a:chOff x="4672583" y="1426464"/>
            <a:chExt cx="4160520" cy="2779776"/>
          </a:xfrm>
        </p:grpSpPr>
        <p:sp>
          <p:nvSpPr>
            <p:cNvPr id="40" name="Rounded Rectangle 39"/>
            <p:cNvSpPr/>
            <p:nvPr/>
          </p:nvSpPr>
          <p:spPr>
            <a:xfrm>
              <a:off x="4672583" y="1426464"/>
              <a:ext cx="4160520" cy="2779776"/>
            </a:xfrm>
            <a:prstGeom prst="roundRect">
              <a:avLst>
                <a:gd name="adj" fmla="val 1644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1" name="TextBox 40"/>
            <p:cNvSpPr txBox="1"/>
            <p:nvPr/>
          </p:nvSpPr>
          <p:spPr>
            <a:xfrm>
              <a:off x="4892040" y="1554480"/>
              <a:ext cx="3721608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You Relearn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4892040" y="2011680"/>
              <a:ext cx="384048" cy="384048"/>
            </a:xfrm>
            <a:prstGeom prst="ellipse">
              <a:avLst/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3" name="Picture 42" descr="icon-settings-in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76530" y="2096170"/>
              <a:ext cx="215066" cy="215066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5422392" y="2011680"/>
              <a:ext cx="3191256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0">
                  <a:solidFill>
                    <a:srgbClr val="424242"/>
                  </a:solidFill>
                  <a:latin typeface="Source Code Pro"/>
                </a:rPr>
                <a:t>Where the Settings Live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4892040" y="2578608"/>
              <a:ext cx="384048" cy="384048"/>
            </a:xfrm>
            <a:prstGeom prst="ellipse">
              <a:avLst/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6" name="Picture 45" descr="icon-tag-ink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76530" y="2663098"/>
              <a:ext cx="215066" cy="215066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5422392" y="2578608"/>
              <a:ext cx="3191256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0">
                  <a:solidFill>
                    <a:srgbClr val="424242"/>
                  </a:solidFill>
                  <a:latin typeface="Source Code Pro"/>
                </a:rPr>
                <a:t>What Features Are Called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4892040" y="3145536"/>
              <a:ext cx="384048" cy="384048"/>
            </a:xfrm>
            <a:prstGeom prst="ellipse">
              <a:avLst/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48" descr="icon-plug-ink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6530" y="3230026"/>
              <a:ext cx="215066" cy="215066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5422392" y="3145536"/>
              <a:ext cx="3191256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0">
                  <a:solidFill>
                    <a:srgbClr val="424242"/>
                  </a:solidFill>
                  <a:latin typeface="Source Code Pro"/>
                </a:rPr>
                <a:t>Which Tools It Can Reach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4892040" y="3712464"/>
              <a:ext cx="384048" cy="384048"/>
            </a:xfrm>
            <a:prstGeom prst="ellipse">
              <a:avLst/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2" name="Picture 51" descr="icon-palette-ink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76530" y="3796954"/>
              <a:ext cx="215066" cy="215066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5422392" y="3712464"/>
              <a:ext cx="3191256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0">
                  <a:solidFill>
                    <a:srgbClr val="424242"/>
                  </a:solidFill>
                  <a:latin typeface="Source Code Pro"/>
                </a:rPr>
                <a:t>Its House Style and Tone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per Task, Not Once and for All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Can it reach the data and tools you need?"/>
          <p:cNvGrpSpPr/>
          <p:nvPr/>
        </p:nvGrpSpPr>
        <p:grpSpPr>
          <a:xfrm>
            <a:off x="310896" y="1426464"/>
            <a:ext cx="4846320" cy="603504"/>
            <a:chOff x="310896" y="1426464"/>
            <a:chExt cx="4846320" cy="603504"/>
          </a:xfrm>
        </p:grpSpPr>
        <p:sp>
          <p:nvSpPr>
            <p:cNvPr id="26" name="Rounded Rectangle 25"/>
            <p:cNvSpPr/>
            <p:nvPr/>
          </p:nvSpPr>
          <p:spPr>
            <a:xfrm>
              <a:off x="310896" y="1426464"/>
              <a:ext cx="4846320" cy="603504"/>
            </a:xfrm>
            <a:prstGeom prst="roundRect">
              <a:avLst>
                <a:gd name="adj" fmla="val 757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Oval 26"/>
            <p:cNvSpPr/>
            <p:nvPr/>
          </p:nvSpPr>
          <p:spPr>
            <a:xfrm>
              <a:off x="438912" y="1536192"/>
              <a:ext cx="384048" cy="3840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icon-plug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402" y="1620682"/>
              <a:ext cx="215066" cy="215066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950976" y="1426464"/>
              <a:ext cx="4078224" cy="60350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Can it reach the data and tools you need?</a:t>
              </a:r>
            </a:p>
          </p:txBody>
        </p:sp>
      </p:grpSp>
      <p:grpSp>
        <p:nvGrpSpPr>
          <p:cNvPr id="5" name="What is your organisation allowed to send it?"/>
          <p:cNvGrpSpPr/>
          <p:nvPr/>
        </p:nvGrpSpPr>
        <p:grpSpPr>
          <a:xfrm>
            <a:off x="310896" y="2139696"/>
            <a:ext cx="4846320" cy="603504"/>
            <a:chOff x="310896" y="2139696"/>
            <a:chExt cx="4846320" cy="603504"/>
          </a:xfrm>
        </p:grpSpPr>
        <p:sp>
          <p:nvSpPr>
            <p:cNvPr id="30" name="Rounded Rectangle 29"/>
            <p:cNvSpPr/>
            <p:nvPr/>
          </p:nvSpPr>
          <p:spPr>
            <a:xfrm>
              <a:off x="310896" y="2139696"/>
              <a:ext cx="4846320" cy="603504"/>
            </a:xfrm>
            <a:prstGeom prst="roundRect">
              <a:avLst>
                <a:gd name="adj" fmla="val 757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1" name="Oval 30"/>
            <p:cNvSpPr/>
            <p:nvPr/>
          </p:nvSpPr>
          <p:spPr>
            <a:xfrm>
              <a:off x="438912" y="2249424"/>
              <a:ext cx="384048" cy="3840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Picture 31" descr="icon-shield-check-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3402" y="2333914"/>
              <a:ext cx="215066" cy="215066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950976" y="2139696"/>
              <a:ext cx="4078224" cy="60350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What is your organisation allowed to send it?</a:t>
              </a:r>
            </a:p>
          </p:txBody>
        </p:sp>
      </p:grpSp>
      <p:grpSp>
        <p:nvGrpSpPr>
          <p:cNvPr id="6" name="Do you want a fast answer or a considered one?"/>
          <p:cNvGrpSpPr/>
          <p:nvPr/>
        </p:nvGrpSpPr>
        <p:grpSpPr>
          <a:xfrm>
            <a:off x="310896" y="2852928"/>
            <a:ext cx="4846320" cy="603504"/>
            <a:chOff x="310896" y="2852928"/>
            <a:chExt cx="4846320" cy="603504"/>
          </a:xfrm>
        </p:grpSpPr>
        <p:sp>
          <p:nvSpPr>
            <p:cNvPr id="34" name="Rounded Rectangle 33"/>
            <p:cNvSpPr/>
            <p:nvPr/>
          </p:nvSpPr>
          <p:spPr>
            <a:xfrm>
              <a:off x="310896" y="2852928"/>
              <a:ext cx="4846320" cy="603504"/>
            </a:xfrm>
            <a:prstGeom prst="roundRect">
              <a:avLst>
                <a:gd name="adj" fmla="val 757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5" name="Oval 34"/>
            <p:cNvSpPr/>
            <p:nvPr/>
          </p:nvSpPr>
          <p:spPr>
            <a:xfrm>
              <a:off x="438912" y="2962656"/>
              <a:ext cx="384048" cy="3840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" name="Picture 35" descr="icon-timer-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3402" y="3047146"/>
              <a:ext cx="215066" cy="215066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950976" y="2852928"/>
              <a:ext cx="4078224" cy="60350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Do you want a fast answer or a considered one?</a:t>
              </a:r>
            </a:p>
          </p:txBody>
        </p:sp>
      </p:grpSp>
      <p:grpSp>
        <p:nvGrpSpPr>
          <p:cNvPr id="7" name="Run your own prompt on two of them and compare."/>
          <p:cNvGrpSpPr/>
          <p:nvPr/>
        </p:nvGrpSpPr>
        <p:grpSpPr>
          <a:xfrm>
            <a:off x="310896" y="3566160"/>
            <a:ext cx="4846320" cy="603504"/>
            <a:chOff x="310896" y="3566160"/>
            <a:chExt cx="4846320" cy="603504"/>
          </a:xfrm>
        </p:grpSpPr>
        <p:sp>
          <p:nvSpPr>
            <p:cNvPr id="38" name="Rounded Rectangle 37"/>
            <p:cNvSpPr/>
            <p:nvPr/>
          </p:nvSpPr>
          <p:spPr>
            <a:xfrm>
              <a:off x="310896" y="3566160"/>
              <a:ext cx="4846320" cy="603504"/>
            </a:xfrm>
            <a:prstGeom prst="roundRect">
              <a:avLst>
                <a:gd name="adj" fmla="val 757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9" name="Oval 38"/>
            <p:cNvSpPr/>
            <p:nvPr/>
          </p:nvSpPr>
          <p:spPr>
            <a:xfrm>
              <a:off x="438912" y="3675888"/>
              <a:ext cx="384048" cy="3840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0" name="Picture 39" descr="icon-git-compare-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3402" y="3760378"/>
              <a:ext cx="215066" cy="215066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950976" y="3566160"/>
              <a:ext cx="4078224" cy="60350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Run your own prompt on two of them and compare.</a:t>
              </a:r>
            </a:p>
          </p:txBody>
        </p:sp>
      </p:grpSp>
      <p:pic>
        <p:nvPicPr>
          <p:cNvPr id="42" name="Picture 41" descr="icon-trophy-p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976" y="1444752"/>
            <a:ext cx="256032" cy="2560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52160" y="1426464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Check the Leaderboards</a:t>
            </a:r>
          </a:p>
        </p:txBody>
      </p:sp>
      <p:grpSp>
        <p:nvGrpSpPr>
          <p:cNvPr id="8" name="LMArena"/>
          <p:cNvGrpSpPr/>
          <p:nvPr/>
        </p:nvGrpSpPr>
        <p:grpSpPr>
          <a:xfrm>
            <a:off x="5522976" y="1828800"/>
            <a:ext cx="3310128" cy="438912"/>
            <a:chOff x="5522976" y="1828800"/>
            <a:chExt cx="3310128" cy="438912"/>
          </a:xfrm>
        </p:grpSpPr>
        <p:sp>
          <p:nvSpPr>
            <p:cNvPr id="44" name="TextBox 43"/>
            <p:cNvSpPr txBox="1"/>
            <p:nvPr/>
          </p:nvSpPr>
          <p:spPr>
            <a:xfrm>
              <a:off x="5522976" y="1828800"/>
              <a:ext cx="331012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 u="sng">
                  <a:solidFill>
                    <a:srgbClr val="E91D63"/>
                  </a:solidFill>
                  <a:latin typeface="Source Code Pro"/>
                  <a:hlinkClick r:id="rId7"/>
                </a:rPr>
                <a:t>LMArena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522976" y="2048256"/>
              <a:ext cx="3310128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People Vote on Answers</a:t>
              </a:r>
            </a:p>
          </p:txBody>
        </p:sp>
      </p:grpSp>
      <p:grpSp>
        <p:nvGrpSpPr>
          <p:cNvPr id="9" name="Artificial Analysis"/>
          <p:cNvGrpSpPr/>
          <p:nvPr/>
        </p:nvGrpSpPr>
        <p:grpSpPr>
          <a:xfrm>
            <a:off x="5522976" y="2395728"/>
            <a:ext cx="3310128" cy="438912"/>
            <a:chOff x="5522976" y="2395728"/>
            <a:chExt cx="3310128" cy="438912"/>
          </a:xfrm>
        </p:grpSpPr>
        <p:sp>
          <p:nvSpPr>
            <p:cNvPr id="46" name="TextBox 45"/>
            <p:cNvSpPr txBox="1"/>
            <p:nvPr/>
          </p:nvSpPr>
          <p:spPr>
            <a:xfrm>
              <a:off x="5522976" y="2395728"/>
              <a:ext cx="331012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 u="sng">
                  <a:solidFill>
                    <a:srgbClr val="E91D63"/>
                  </a:solidFill>
                  <a:latin typeface="Source Code Pro"/>
                  <a:hlinkClick r:id="rId8"/>
                </a:rPr>
                <a:t>Artificial Analysis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522976" y="2615184"/>
              <a:ext cx="3310128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Speed, Price, Quality</a:t>
              </a:r>
            </a:p>
          </p:txBody>
        </p:sp>
      </p:grpSp>
      <p:grpSp>
        <p:nvGrpSpPr>
          <p:cNvPr id="10" name="OpenRouter"/>
          <p:cNvGrpSpPr/>
          <p:nvPr/>
        </p:nvGrpSpPr>
        <p:grpSpPr>
          <a:xfrm>
            <a:off x="5522976" y="2962656"/>
            <a:ext cx="3310128" cy="438912"/>
            <a:chOff x="5522976" y="2962656"/>
            <a:chExt cx="3310128" cy="438912"/>
          </a:xfrm>
        </p:grpSpPr>
        <p:sp>
          <p:nvSpPr>
            <p:cNvPr id="48" name="TextBox 47"/>
            <p:cNvSpPr txBox="1"/>
            <p:nvPr/>
          </p:nvSpPr>
          <p:spPr>
            <a:xfrm>
              <a:off x="5522976" y="2962656"/>
              <a:ext cx="331012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 u="sng">
                  <a:solidFill>
                    <a:srgbClr val="E91D63"/>
                  </a:solidFill>
                  <a:latin typeface="Source Code Pro"/>
                  <a:hlinkClick r:id="rId9"/>
                </a:rPr>
                <a:t>OpenRouter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522976" y="3182112"/>
              <a:ext cx="3310128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What People Actually Use</a:t>
              </a:r>
            </a:p>
          </p:txBody>
        </p:sp>
      </p:grpSp>
      <p:grpSp>
        <p:nvGrpSpPr>
          <p:cNvPr id="11" name="Epoch AI"/>
          <p:cNvGrpSpPr/>
          <p:nvPr/>
        </p:nvGrpSpPr>
        <p:grpSpPr>
          <a:xfrm>
            <a:off x="5522976" y="3529584"/>
            <a:ext cx="3310128" cy="438912"/>
            <a:chOff x="5522976" y="3529584"/>
            <a:chExt cx="3310128" cy="438912"/>
          </a:xfrm>
        </p:grpSpPr>
        <p:sp>
          <p:nvSpPr>
            <p:cNvPr id="50" name="TextBox 49"/>
            <p:cNvSpPr txBox="1"/>
            <p:nvPr/>
          </p:nvSpPr>
          <p:spPr>
            <a:xfrm>
              <a:off x="5522976" y="3529584"/>
              <a:ext cx="331012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 u="sng">
                  <a:solidFill>
                    <a:srgbClr val="E91D63"/>
                  </a:solidFill>
                  <a:latin typeface="Source Code Pro"/>
                  <a:hlinkClick r:id="rId10"/>
                </a:rPr>
                <a:t>Epoch AI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522976" y="3749040"/>
              <a:ext cx="3310128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Test Scores Over Time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5522976" y="4133088"/>
            <a:ext cx="33101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Source Code Pro"/>
              </a:rPr>
              <a:t>Rankings shift weekly. Test your own prompt.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Next, we run one prompt through two different labs.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Open Another Lab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With the Prompt You Just Used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Find the Controls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Instructions, Tools, Effort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Compare Answers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For Style, Not for a Score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