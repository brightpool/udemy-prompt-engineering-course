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0" r:id="rId5"/>
    <p:sldMasterId id="2147483671" r:id="rId6"/>
  </p:sldMasterIdLst>
  <p:notesMasterIdLst>
    <p:notesMasterId r:id="rId7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13"/>
    <p:sldId id="267" r:id="rId12"/>
    <p:sldId id="268" r:id="rId11"/>
  </p:sldIdLst>
  <p:sldSz cy="5143500" cx="9144000"/>
  <p:notesSz cx="6858000" cy="9144000"/>
  <p:embeddedFontLst>
    <p:embeddedFont>
      <p:font typeface="Source Code Pro"/>
      <p:regular r:id="rId24"/>
      <p:bold r:id="rId25"/>
      <p:italic r:id="rId26"/>
      <p:boldItalic r:id="rId27"/>
    </p:embeddedFont>
    <p:embeddedFont>
      <p:font typeface="Oswald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73574E-313A-4E41-A38C-36F247BE0EA5}">
  <a:tblStyle styleId="{3673574E-313A-4E41-A38C-36F247BE0EA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09F496F-DB3D-4476-992D-8F9A65F7952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11" Type="http://schemas.openxmlformats.org/officeDocument/2006/relationships/slide" Target="slides/slide13.xml"/><Relationship Id="rId12" Type="http://schemas.openxmlformats.org/officeDocument/2006/relationships/slide" Target="slides/slide12.xml"/><Relationship Id="rId13" Type="http://schemas.openxmlformats.org/officeDocument/2006/relationships/slide" Target="slides/slide1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font" Target="fonts/SourceCodePro-regular.fntdata"/><Relationship Id="rId25" Type="http://schemas.openxmlformats.org/officeDocument/2006/relationships/font" Target="fonts/SourceCodePro-bold.fntdata"/><Relationship Id="rId26" Type="http://schemas.openxmlformats.org/officeDocument/2006/relationships/font" Target="fonts/SourceCodePro-italic.fntdata"/><Relationship Id="rId27" Type="http://schemas.openxmlformats.org/officeDocument/2006/relationships/font" Target="fonts/SourceCodePro-boldItalic.fntdata"/><Relationship Id="rId28" Type="http://schemas.openxmlformats.org/officeDocument/2006/relationships/font" Target="fonts/Oswald-regular.fntdata"/><Relationship Id="rId29" Type="http://schemas.openxmlformats.org/officeDocument/2006/relationships/font" Target="fonts/Oswa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" name="Google Shape;15;p2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11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3" name="Google Shape;23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0" name="Google Shape;4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1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4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14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4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11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81;p1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82" name="Google Shape;82;p1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7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5" name="Google Shape;95;p17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Google Shape;103;p19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1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" name="Google Shape;114;p21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15" name="Google Shape;115;p21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21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122" name="Google Shape;12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" name="Google Shape;125;p23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26" name="Google Shape;126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2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b="0" i="0" sz="18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A/B Testing Your Skills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t>How to tell whether a change to a skill made it better, or only made it different.</a:t>
            </a:r>
          </a:p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Same Job, Two Versions, One Line Apart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4920" y="1389888"/>
            <a:ext cx="3758184" cy="2688336"/>
          </a:xfrm>
        </p:spPr>
        <p:txBody>
          <a:bodyPr wrap="square" anchor="ctr"/>
          <a:lstStyle/>
          <a:p>
            <a:pPr marL="0" indent="0">
              <a:buNone/>
            </a:pPr>
            <a:r>
              <a:t>Two versions, one line apart. Judged over a set of cases, against criteria written first.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65760" y="1389888"/>
            <a:ext cx="4206240" cy="2688336"/>
          </a:xfrm>
          <a:prstGeom prst="roundRect">
            <a:avLst>
              <a:gd name="adj" fmla="val 1675"/>
            </a:avLst>
          </a:prstGeom>
          <a:solidFill>
            <a:srgbClr val="3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365760" y="1389888"/>
            <a:ext cx="4206240" cy="301752"/>
          </a:xfrm>
          <a:prstGeom prst="roundRect">
            <a:avLst>
              <a:gd name="adj" fmla="val 18181"/>
            </a:avLst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65760" y="1583009"/>
            <a:ext cx="4206240" cy="108630"/>
          </a:xfrm>
          <a:prstGeom prst="rect">
            <a:avLst/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12064" y="1472184"/>
            <a:ext cx="29443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7F7FA"/>
                </a:solidFill>
                <a:latin typeface="Arial"/>
              </a:rPr>
              <a:t>AI Assistant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28415" y="1490472"/>
            <a:ext cx="10972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5" b="0">
                <a:solidFill>
                  <a:srgbClr val="C6C7D0"/>
                </a:solidFill>
                <a:latin typeface="Arial"/>
              </a:rPr>
              <a:t>Example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" y="1819656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Two versions, one job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" y="2020824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User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" y="2221992"/>
            <a:ext cx="391363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Turn this transcript into notes.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2064" y="2523744"/>
            <a:ext cx="3913631" cy="9144"/>
          </a:xfrm>
          <a:prstGeom prst="rect">
            <a:avLst/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12064" y="2615184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Version 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" y="2816352"/>
            <a:ext cx="391363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- Chased the vendor about pricing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" y="3026664"/>
            <a:ext cx="391363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- Someone to redo the deck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" y="3310128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Version B - one line added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" y="3511296"/>
            <a:ext cx="391363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Decisions: ship on the 14th; drop tier 3.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6344" y="3712464"/>
            <a:ext cx="3137535" cy="201168"/>
          </a:xfrm>
          <a:prstGeom prst="roundRect">
            <a:avLst>
              <a:gd name="adj" fmla="val 18181"/>
            </a:avLst>
          </a:prstGeom>
          <a:solidFill>
            <a:srgbClr val="71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12064" y="3721608"/>
            <a:ext cx="391363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Actions: Priya - redo the deck by Friday.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One Good Answer Proves Nothing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" name="Same input strip"/>
          <p:cNvGrpSpPr/>
          <p:nvPr/>
        </p:nvGrpSpPr>
        <p:grpSpPr>
          <a:xfrm>
            <a:off x="310896" y="1389888"/>
            <a:ext cx="8522208" cy="402336"/>
            <a:chOff x="310896" y="1389888"/>
            <a:chExt cx="8522208" cy="402336"/>
          </a:xfrm>
        </p:grpSpPr>
        <p:sp>
          <p:nvSpPr>
            <p:cNvPr id="26" name="Rounded Rectangle 25"/>
            <p:cNvSpPr/>
            <p:nvPr/>
          </p:nvSpPr>
          <p:spPr>
            <a:xfrm>
              <a:off x="310896" y="1389888"/>
              <a:ext cx="8522208" cy="402336"/>
            </a:xfrm>
            <a:prstGeom prst="roundRect">
              <a:avLst>
                <a:gd name="adj" fmla="val 22727"/>
              </a:avLst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pic>
          <p:nvPicPr>
            <p:cNvPr id="27" name="Picture 26" descr="icon-dices-424242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200" y="1463040"/>
              <a:ext cx="256032" cy="256032"/>
            </a:xfrm>
            <a:prstGeom prst="rect">
              <a:avLst/>
            </a:prstGeom>
          </p:spPr>
        </p:pic>
        <p:sp>
          <p:nvSpPr>
            <p:cNvPr id="28" name="TextBox 27"/>
            <p:cNvSpPr txBox="1"/>
            <p:nvPr/>
          </p:nvSpPr>
          <p:spPr>
            <a:xfrm>
              <a:off x="822960" y="1389888"/>
              <a:ext cx="7863840" cy="40233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Same transcript. Same skill. Nothing changed between runs.</a:t>
              </a:r>
            </a:p>
          </p:txBody>
        </p:sp>
      </p:grpSp>
      <p:grpSp>
        <p:nvGrpSpPr>
          <p:cNvPr id="5" name="Run 1"/>
          <p:cNvGrpSpPr/>
          <p:nvPr/>
        </p:nvGrpSpPr>
        <p:grpSpPr>
          <a:xfrm>
            <a:off x="310896" y="1938528"/>
            <a:ext cx="2706624" cy="2103120"/>
            <a:chOff x="310896" y="1938528"/>
            <a:chExt cx="2706624" cy="2103120"/>
          </a:xfrm>
        </p:grpSpPr>
        <p:sp>
          <p:nvSpPr>
            <p:cNvPr id="29" name="Rounded Rectangle 28"/>
            <p:cNvSpPr/>
            <p:nvPr/>
          </p:nvSpPr>
          <p:spPr>
            <a:xfrm>
              <a:off x="310896" y="1938528"/>
              <a:ext cx="2706624" cy="2103120"/>
            </a:xfrm>
            <a:prstGeom prst="roundRect">
              <a:avLst>
                <a:gd name="adj" fmla="val 2608"/>
              </a:avLst>
            </a:prstGeom>
            <a:solidFill>
              <a:srgbClr val="FFFFFF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0" name="TextBox 29"/>
            <p:cNvSpPr txBox="1"/>
            <p:nvPr/>
          </p:nvSpPr>
          <p:spPr>
            <a:xfrm>
              <a:off x="475488" y="2066544"/>
              <a:ext cx="2377440" cy="31089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400" b="1">
                  <a:solidFill>
                    <a:srgbClr val="424242"/>
                  </a:solidFill>
                  <a:latin typeface="Source Code Pro"/>
                </a:rPr>
                <a:t>Run 1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75488" y="2505456"/>
              <a:ext cx="1005840" cy="23774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Decisions</a:t>
              </a:r>
            </a:p>
          </p:txBody>
        </p:sp>
        <p:sp>
          <p:nvSpPr>
            <p:cNvPr id="32" name="Oval 31"/>
            <p:cNvSpPr/>
            <p:nvPr/>
          </p:nvSpPr>
          <p:spPr>
            <a:xfrm>
              <a:off x="1499616" y="2560320"/>
              <a:ext cx="128016" cy="128016"/>
            </a:xfrm>
            <a:prstGeom prst="ellipse">
              <a:avLst/>
            </a:prstGeom>
            <a:solidFill>
              <a:srgbClr val="42424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>
              <a:off x="1682496" y="2560320"/>
              <a:ext cx="128016" cy="128016"/>
            </a:xfrm>
            <a:prstGeom prst="ellipse">
              <a:avLst/>
            </a:prstGeom>
            <a:solidFill>
              <a:srgbClr val="42424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Oval 33"/>
            <p:cNvSpPr/>
            <p:nvPr/>
          </p:nvSpPr>
          <p:spPr>
            <a:xfrm>
              <a:off x="1865376" y="2560320"/>
              <a:ext cx="128016" cy="128016"/>
            </a:xfrm>
            <a:prstGeom prst="ellipse">
              <a:avLst/>
            </a:prstGeom>
            <a:solidFill>
              <a:srgbClr val="42424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75488" y="2871216"/>
              <a:ext cx="1005840" cy="23774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Actions</a:t>
              </a:r>
            </a:p>
          </p:txBody>
        </p:sp>
        <p:sp>
          <p:nvSpPr>
            <p:cNvPr id="36" name="Oval 35"/>
            <p:cNvSpPr/>
            <p:nvPr/>
          </p:nvSpPr>
          <p:spPr>
            <a:xfrm>
              <a:off x="1499616" y="2926080"/>
              <a:ext cx="128016" cy="128016"/>
            </a:xfrm>
            <a:prstGeom prst="ellipse">
              <a:avLst/>
            </a:prstGeom>
            <a:solidFill>
              <a:srgbClr val="42424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Oval 36"/>
            <p:cNvSpPr/>
            <p:nvPr/>
          </p:nvSpPr>
          <p:spPr>
            <a:xfrm>
              <a:off x="1682496" y="2926080"/>
              <a:ext cx="128016" cy="128016"/>
            </a:xfrm>
            <a:prstGeom prst="ellipse">
              <a:avLst/>
            </a:prstGeom>
            <a:solidFill>
              <a:srgbClr val="42424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1865376" y="2926080"/>
              <a:ext cx="128016" cy="128016"/>
            </a:xfrm>
            <a:prstGeom prst="ellipse">
              <a:avLst/>
            </a:prstGeom>
            <a:solidFill>
              <a:srgbClr val="42424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Oval 38"/>
            <p:cNvSpPr/>
            <p:nvPr/>
          </p:nvSpPr>
          <p:spPr>
            <a:xfrm>
              <a:off x="2048256" y="2926080"/>
              <a:ext cx="128016" cy="128016"/>
            </a:xfrm>
            <a:prstGeom prst="ellipse">
              <a:avLst/>
            </a:prstGeom>
            <a:solidFill>
              <a:srgbClr val="42424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Oval 39"/>
            <p:cNvSpPr/>
            <p:nvPr/>
          </p:nvSpPr>
          <p:spPr>
            <a:xfrm>
              <a:off x="2231136" y="2926080"/>
              <a:ext cx="128016" cy="128016"/>
            </a:xfrm>
            <a:prstGeom prst="ellipse">
              <a:avLst/>
            </a:prstGeom>
            <a:solidFill>
              <a:srgbClr val="42424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75488" y="3236976"/>
              <a:ext cx="1005840" cy="23774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Unowned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499616" y="3236976"/>
              <a:ext cx="548640" cy="23774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none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75488" y="3639312"/>
              <a:ext cx="237744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All actions owned</a:t>
              </a:r>
            </a:p>
          </p:txBody>
        </p:sp>
      </p:grpSp>
      <p:grpSp>
        <p:nvGrpSpPr>
          <p:cNvPr id="6" name="Run 2"/>
          <p:cNvGrpSpPr/>
          <p:nvPr/>
        </p:nvGrpSpPr>
        <p:grpSpPr>
          <a:xfrm>
            <a:off x="3218688" y="1938528"/>
            <a:ext cx="2706624" cy="2103120"/>
            <a:chOff x="3218688" y="1938528"/>
            <a:chExt cx="2706624" cy="2103120"/>
          </a:xfrm>
        </p:grpSpPr>
        <p:sp>
          <p:nvSpPr>
            <p:cNvPr id="44" name="Rounded Rectangle 43"/>
            <p:cNvSpPr/>
            <p:nvPr/>
          </p:nvSpPr>
          <p:spPr>
            <a:xfrm>
              <a:off x="3218688" y="1938528"/>
              <a:ext cx="2706624" cy="2103120"/>
            </a:xfrm>
            <a:prstGeom prst="roundRect">
              <a:avLst>
                <a:gd name="adj" fmla="val 2608"/>
              </a:avLst>
            </a:prstGeom>
            <a:solidFill>
              <a:srgbClr val="FFFFFF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5" name="TextBox 44"/>
            <p:cNvSpPr txBox="1"/>
            <p:nvPr/>
          </p:nvSpPr>
          <p:spPr>
            <a:xfrm>
              <a:off x="3383280" y="2066544"/>
              <a:ext cx="2377440" cy="31089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400" b="1">
                  <a:solidFill>
                    <a:srgbClr val="424242"/>
                  </a:solidFill>
                  <a:latin typeface="Source Code Pro"/>
                </a:rPr>
                <a:t>Run 2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3383280" y="2505456"/>
              <a:ext cx="1005840" cy="23774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Decisions</a:t>
              </a:r>
            </a:p>
          </p:txBody>
        </p:sp>
        <p:sp>
          <p:nvSpPr>
            <p:cNvPr id="47" name="Oval 46"/>
            <p:cNvSpPr/>
            <p:nvPr/>
          </p:nvSpPr>
          <p:spPr>
            <a:xfrm>
              <a:off x="4407408" y="2560320"/>
              <a:ext cx="128016" cy="128016"/>
            </a:xfrm>
            <a:prstGeom prst="ellipse">
              <a:avLst/>
            </a:prstGeom>
            <a:solidFill>
              <a:srgbClr val="42424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Oval 47"/>
            <p:cNvSpPr/>
            <p:nvPr/>
          </p:nvSpPr>
          <p:spPr>
            <a:xfrm>
              <a:off x="4590288" y="2560320"/>
              <a:ext cx="128016" cy="128016"/>
            </a:xfrm>
            <a:prstGeom prst="ellipse">
              <a:avLst/>
            </a:prstGeom>
            <a:solidFill>
              <a:srgbClr val="42424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Oval 48"/>
            <p:cNvSpPr/>
            <p:nvPr/>
          </p:nvSpPr>
          <p:spPr>
            <a:xfrm>
              <a:off x="4773168" y="2560320"/>
              <a:ext cx="128016" cy="128016"/>
            </a:xfrm>
            <a:prstGeom prst="ellipse">
              <a:avLst/>
            </a:prstGeom>
            <a:solidFill>
              <a:srgbClr val="42424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383280" y="2871216"/>
              <a:ext cx="1005840" cy="23774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Actions</a:t>
              </a:r>
            </a:p>
          </p:txBody>
        </p:sp>
        <p:sp>
          <p:nvSpPr>
            <p:cNvPr id="51" name="Oval 50"/>
            <p:cNvSpPr/>
            <p:nvPr/>
          </p:nvSpPr>
          <p:spPr>
            <a:xfrm>
              <a:off x="4407408" y="2926080"/>
              <a:ext cx="128016" cy="128016"/>
            </a:xfrm>
            <a:prstGeom prst="ellipse">
              <a:avLst/>
            </a:prstGeom>
            <a:solidFill>
              <a:srgbClr val="42424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Oval 51"/>
            <p:cNvSpPr/>
            <p:nvPr/>
          </p:nvSpPr>
          <p:spPr>
            <a:xfrm>
              <a:off x="4590288" y="2926080"/>
              <a:ext cx="128016" cy="128016"/>
            </a:xfrm>
            <a:prstGeom prst="ellipse">
              <a:avLst/>
            </a:prstGeom>
            <a:solidFill>
              <a:srgbClr val="42424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Oval 52"/>
            <p:cNvSpPr/>
            <p:nvPr/>
          </p:nvSpPr>
          <p:spPr>
            <a:xfrm>
              <a:off x="4773168" y="2926080"/>
              <a:ext cx="128016" cy="128016"/>
            </a:xfrm>
            <a:prstGeom prst="ellipse">
              <a:avLst/>
            </a:prstGeom>
            <a:solidFill>
              <a:srgbClr val="42424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Oval 53"/>
            <p:cNvSpPr/>
            <p:nvPr/>
          </p:nvSpPr>
          <p:spPr>
            <a:xfrm>
              <a:off x="4956048" y="2926080"/>
              <a:ext cx="128016" cy="128016"/>
            </a:xfrm>
            <a:prstGeom prst="ellipse">
              <a:avLst/>
            </a:prstGeom>
            <a:solidFill>
              <a:srgbClr val="42424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Oval 54"/>
            <p:cNvSpPr/>
            <p:nvPr/>
          </p:nvSpPr>
          <p:spPr>
            <a:xfrm>
              <a:off x="5138928" y="2926080"/>
              <a:ext cx="128016" cy="128016"/>
            </a:xfrm>
            <a:prstGeom prst="ellipse">
              <a:avLst/>
            </a:prstGeom>
            <a:solidFill>
              <a:srgbClr val="42424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Oval 55"/>
            <p:cNvSpPr/>
            <p:nvPr/>
          </p:nvSpPr>
          <p:spPr>
            <a:xfrm>
              <a:off x="5321808" y="2926080"/>
              <a:ext cx="128016" cy="128016"/>
            </a:xfrm>
            <a:prstGeom prst="ellipse">
              <a:avLst/>
            </a:prstGeom>
            <a:solidFill>
              <a:srgbClr val="42424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Oval 56"/>
            <p:cNvSpPr/>
            <p:nvPr/>
          </p:nvSpPr>
          <p:spPr>
            <a:xfrm>
              <a:off x="5504688" y="2926080"/>
              <a:ext cx="128016" cy="128016"/>
            </a:xfrm>
            <a:prstGeom prst="ellipse">
              <a:avLst/>
            </a:prstGeom>
            <a:solidFill>
              <a:srgbClr val="42424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3383280" y="3236976"/>
              <a:ext cx="1005840" cy="23774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Unowned</a:t>
              </a:r>
            </a:p>
          </p:txBody>
        </p:sp>
        <p:sp>
          <p:nvSpPr>
            <p:cNvPr id="59" name="Oval 58"/>
            <p:cNvSpPr/>
            <p:nvPr/>
          </p:nvSpPr>
          <p:spPr>
            <a:xfrm>
              <a:off x="4407408" y="3291840"/>
              <a:ext cx="128016" cy="128016"/>
            </a:xfrm>
            <a:prstGeom prst="ellipse">
              <a:avLst/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3383280" y="3639312"/>
              <a:ext cx="237744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1">
                  <a:solidFill>
                    <a:srgbClr val="E91D63"/>
                  </a:solidFill>
                  <a:latin typeface="Source Code Pro"/>
                </a:rPr>
                <a:t>One action unowned</a:t>
              </a:r>
            </a:p>
          </p:txBody>
        </p:sp>
      </p:grpSp>
      <p:grpSp>
        <p:nvGrpSpPr>
          <p:cNvPr id="7" name="Run 3"/>
          <p:cNvGrpSpPr/>
          <p:nvPr/>
        </p:nvGrpSpPr>
        <p:grpSpPr>
          <a:xfrm>
            <a:off x="6126480" y="1938528"/>
            <a:ext cx="2706624" cy="2103120"/>
            <a:chOff x="6126480" y="1938528"/>
            <a:chExt cx="2706624" cy="2103120"/>
          </a:xfrm>
        </p:grpSpPr>
        <p:sp>
          <p:nvSpPr>
            <p:cNvPr id="61" name="Rounded Rectangle 60"/>
            <p:cNvSpPr/>
            <p:nvPr/>
          </p:nvSpPr>
          <p:spPr>
            <a:xfrm>
              <a:off x="6126480" y="1938528"/>
              <a:ext cx="2706624" cy="2103120"/>
            </a:xfrm>
            <a:prstGeom prst="roundRect">
              <a:avLst>
                <a:gd name="adj" fmla="val 2608"/>
              </a:avLst>
            </a:prstGeom>
            <a:solidFill>
              <a:srgbClr val="FFFFFF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62" name="TextBox 61"/>
            <p:cNvSpPr txBox="1"/>
            <p:nvPr/>
          </p:nvSpPr>
          <p:spPr>
            <a:xfrm>
              <a:off x="6291072" y="2066544"/>
              <a:ext cx="2377440" cy="31089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400" b="1">
                  <a:solidFill>
                    <a:srgbClr val="424242"/>
                  </a:solidFill>
                  <a:latin typeface="Source Code Pro"/>
                </a:rPr>
                <a:t>Run 3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6291072" y="2505456"/>
              <a:ext cx="1005840" cy="23774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Decisions</a:t>
              </a:r>
            </a:p>
          </p:txBody>
        </p:sp>
        <p:sp>
          <p:nvSpPr>
            <p:cNvPr id="64" name="Oval 63"/>
            <p:cNvSpPr/>
            <p:nvPr/>
          </p:nvSpPr>
          <p:spPr>
            <a:xfrm>
              <a:off x="7315200" y="2560320"/>
              <a:ext cx="128016" cy="128016"/>
            </a:xfrm>
            <a:prstGeom prst="ellipse">
              <a:avLst/>
            </a:prstGeom>
            <a:solidFill>
              <a:srgbClr val="42424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Oval 64"/>
            <p:cNvSpPr/>
            <p:nvPr/>
          </p:nvSpPr>
          <p:spPr>
            <a:xfrm>
              <a:off x="7498079" y="2560320"/>
              <a:ext cx="128016" cy="128016"/>
            </a:xfrm>
            <a:prstGeom prst="ellipse">
              <a:avLst/>
            </a:prstGeom>
            <a:solidFill>
              <a:srgbClr val="42424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6291072" y="2871216"/>
              <a:ext cx="1005840" cy="23774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Actions</a:t>
              </a:r>
            </a:p>
          </p:txBody>
        </p:sp>
        <p:sp>
          <p:nvSpPr>
            <p:cNvPr id="67" name="Oval 66"/>
            <p:cNvSpPr/>
            <p:nvPr/>
          </p:nvSpPr>
          <p:spPr>
            <a:xfrm>
              <a:off x="7315200" y="2926080"/>
              <a:ext cx="128016" cy="128016"/>
            </a:xfrm>
            <a:prstGeom prst="ellipse">
              <a:avLst/>
            </a:prstGeom>
            <a:solidFill>
              <a:srgbClr val="42424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Oval 67"/>
            <p:cNvSpPr/>
            <p:nvPr/>
          </p:nvSpPr>
          <p:spPr>
            <a:xfrm>
              <a:off x="7498079" y="2926080"/>
              <a:ext cx="128016" cy="128016"/>
            </a:xfrm>
            <a:prstGeom prst="ellipse">
              <a:avLst/>
            </a:prstGeom>
            <a:solidFill>
              <a:srgbClr val="42424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Oval 68"/>
            <p:cNvSpPr/>
            <p:nvPr/>
          </p:nvSpPr>
          <p:spPr>
            <a:xfrm>
              <a:off x="7680960" y="2926080"/>
              <a:ext cx="128016" cy="128016"/>
            </a:xfrm>
            <a:prstGeom prst="ellipse">
              <a:avLst/>
            </a:prstGeom>
            <a:solidFill>
              <a:srgbClr val="42424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Oval 69"/>
            <p:cNvSpPr/>
            <p:nvPr/>
          </p:nvSpPr>
          <p:spPr>
            <a:xfrm>
              <a:off x="7863840" y="2926080"/>
              <a:ext cx="128016" cy="128016"/>
            </a:xfrm>
            <a:prstGeom prst="ellipse">
              <a:avLst/>
            </a:prstGeom>
            <a:solidFill>
              <a:srgbClr val="42424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Oval 70"/>
            <p:cNvSpPr/>
            <p:nvPr/>
          </p:nvSpPr>
          <p:spPr>
            <a:xfrm>
              <a:off x="8046720" y="2926080"/>
              <a:ext cx="128016" cy="128016"/>
            </a:xfrm>
            <a:prstGeom prst="ellipse">
              <a:avLst/>
            </a:prstGeom>
            <a:solidFill>
              <a:srgbClr val="42424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6291072" y="3236976"/>
              <a:ext cx="1005840" cy="23774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Unowned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7315200" y="3236976"/>
              <a:ext cx="548640" cy="23774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none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6291072" y="3639312"/>
              <a:ext cx="237744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1">
                  <a:solidFill>
                    <a:srgbClr val="E91D63"/>
                  </a:solidFill>
                  <a:latin typeface="Source Code Pro"/>
                </a:rPr>
                <a:t>Merged two decisions</a:t>
              </a:r>
            </a:p>
          </p:txBody>
        </p:sp>
      </p:grpSp>
      <p:sp>
        <p:nvSpPr>
          <p:cNvPr id="75" name="TextBox 74"/>
          <p:cNvSpPr txBox="1"/>
          <p:nvPr/>
        </p:nvSpPr>
        <p:spPr>
          <a:xfrm>
            <a:off x="310896" y="4206240"/>
            <a:ext cx="8522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One run is a draw, not a result. Judge how often each version gets it right.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Choosing the Ten Cases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" name="Ten that teach you nothing"/>
          <p:cNvGrpSpPr/>
          <p:nvPr/>
        </p:nvGrpSpPr>
        <p:grpSpPr>
          <a:xfrm>
            <a:off x="310896" y="1389888"/>
            <a:ext cx="8522208" cy="749808"/>
            <a:chOff x="310896" y="1389888"/>
            <a:chExt cx="8522208" cy="749808"/>
          </a:xfrm>
        </p:grpSpPr>
        <p:sp>
          <p:nvSpPr>
            <p:cNvPr id="26" name="TextBox 25"/>
            <p:cNvSpPr txBox="1"/>
            <p:nvPr/>
          </p:nvSpPr>
          <p:spPr>
            <a:xfrm>
              <a:off x="310896" y="1389888"/>
              <a:ext cx="8522208" cy="25603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300" b="1">
                  <a:solidFill>
                    <a:srgbClr val="6B6B6B"/>
                  </a:solidFill>
                  <a:latin typeface="Source Code Pro"/>
                </a:rPr>
                <a:t>Ten That Teach You Nothing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310896" y="1719072"/>
              <a:ext cx="786384" cy="420624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8" name="TextBox 27"/>
            <p:cNvSpPr txBox="1"/>
            <p:nvPr/>
          </p:nvSpPr>
          <p:spPr>
            <a:xfrm>
              <a:off x="310896" y="1719072"/>
              <a:ext cx="786384" cy="42062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Easy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1164945" y="1719072"/>
              <a:ext cx="786384" cy="420624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0" name="TextBox 29"/>
            <p:cNvSpPr txBox="1"/>
            <p:nvPr/>
          </p:nvSpPr>
          <p:spPr>
            <a:xfrm>
              <a:off x="1164945" y="1719072"/>
              <a:ext cx="786384" cy="42062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Easy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2018995" y="1719072"/>
              <a:ext cx="786384" cy="420624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2" name="TextBox 31"/>
            <p:cNvSpPr txBox="1"/>
            <p:nvPr/>
          </p:nvSpPr>
          <p:spPr>
            <a:xfrm>
              <a:off x="2018995" y="1719072"/>
              <a:ext cx="786384" cy="42062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Easy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2873044" y="1719072"/>
              <a:ext cx="786384" cy="420624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4" name="TextBox 33"/>
            <p:cNvSpPr txBox="1"/>
            <p:nvPr/>
          </p:nvSpPr>
          <p:spPr>
            <a:xfrm>
              <a:off x="2873044" y="1719072"/>
              <a:ext cx="786384" cy="42062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Easy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3727094" y="1719072"/>
              <a:ext cx="786384" cy="420624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6" name="TextBox 35"/>
            <p:cNvSpPr txBox="1"/>
            <p:nvPr/>
          </p:nvSpPr>
          <p:spPr>
            <a:xfrm>
              <a:off x="3727094" y="1719072"/>
              <a:ext cx="786384" cy="42062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Easy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4581144" y="1719072"/>
              <a:ext cx="786384" cy="420624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8" name="TextBox 37"/>
            <p:cNvSpPr txBox="1"/>
            <p:nvPr/>
          </p:nvSpPr>
          <p:spPr>
            <a:xfrm>
              <a:off x="4581144" y="1719072"/>
              <a:ext cx="786384" cy="42062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Easy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5435193" y="1719072"/>
              <a:ext cx="786384" cy="420624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0" name="TextBox 39"/>
            <p:cNvSpPr txBox="1"/>
            <p:nvPr/>
          </p:nvSpPr>
          <p:spPr>
            <a:xfrm>
              <a:off x="5435193" y="1719072"/>
              <a:ext cx="786384" cy="42062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Easy</a:t>
              </a: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6289243" y="1719072"/>
              <a:ext cx="786384" cy="420624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2" name="TextBox 41"/>
            <p:cNvSpPr txBox="1"/>
            <p:nvPr/>
          </p:nvSpPr>
          <p:spPr>
            <a:xfrm>
              <a:off x="6289243" y="1719072"/>
              <a:ext cx="786384" cy="42062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Easy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7143292" y="1719072"/>
              <a:ext cx="786384" cy="420624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4" name="TextBox 43"/>
            <p:cNvSpPr txBox="1"/>
            <p:nvPr/>
          </p:nvSpPr>
          <p:spPr>
            <a:xfrm>
              <a:off x="7143292" y="1719072"/>
              <a:ext cx="786384" cy="42062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Easy</a:t>
              </a: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7997342" y="1719072"/>
              <a:ext cx="786384" cy="420624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6" name="TextBox 45"/>
            <p:cNvSpPr txBox="1"/>
            <p:nvPr/>
          </p:nvSpPr>
          <p:spPr>
            <a:xfrm>
              <a:off x="7997342" y="1719072"/>
              <a:ext cx="786384" cy="42062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Easy</a:t>
              </a:r>
            </a:p>
          </p:txBody>
        </p:sp>
      </p:grpSp>
      <p:grpSp>
        <p:nvGrpSpPr>
          <p:cNvPr id="5" name="Ten worth running"/>
          <p:cNvGrpSpPr/>
          <p:nvPr/>
        </p:nvGrpSpPr>
        <p:grpSpPr>
          <a:xfrm>
            <a:off x="310896" y="2304288"/>
            <a:ext cx="8522208" cy="749808"/>
            <a:chOff x="310896" y="2304288"/>
            <a:chExt cx="8522208" cy="749808"/>
          </a:xfrm>
        </p:grpSpPr>
        <p:sp>
          <p:nvSpPr>
            <p:cNvPr id="47" name="TextBox 46"/>
            <p:cNvSpPr txBox="1"/>
            <p:nvPr/>
          </p:nvSpPr>
          <p:spPr>
            <a:xfrm>
              <a:off x="310896" y="2304288"/>
              <a:ext cx="8522208" cy="25603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300" b="1">
                  <a:solidFill>
                    <a:srgbClr val="E91D63"/>
                  </a:solidFill>
                  <a:latin typeface="Source Code Pro"/>
                </a:rPr>
                <a:t>Ten Worth Running</a:t>
              </a:r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310896" y="2633472"/>
              <a:ext cx="786384" cy="420624"/>
            </a:xfrm>
            <a:prstGeom prst="roundRect">
              <a:avLst>
                <a:gd name="adj" fmla="val 21739"/>
              </a:avLst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9" name="TextBox 48"/>
            <p:cNvSpPr txBox="1"/>
            <p:nvPr/>
          </p:nvSpPr>
          <p:spPr>
            <a:xfrm>
              <a:off x="310896" y="2633472"/>
              <a:ext cx="786384" cy="42062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1">
                  <a:solidFill>
                    <a:srgbClr val="424242"/>
                  </a:solidFill>
                  <a:latin typeface="Source Code Pro"/>
                </a:rPr>
                <a:t>Real</a:t>
              </a:r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1164945" y="2633472"/>
              <a:ext cx="786384" cy="420624"/>
            </a:xfrm>
            <a:prstGeom prst="roundRect">
              <a:avLst>
                <a:gd name="adj" fmla="val 21739"/>
              </a:avLst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1" name="TextBox 50"/>
            <p:cNvSpPr txBox="1"/>
            <p:nvPr/>
          </p:nvSpPr>
          <p:spPr>
            <a:xfrm>
              <a:off x="1164945" y="2633472"/>
              <a:ext cx="786384" cy="42062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1">
                  <a:solidFill>
                    <a:srgbClr val="424242"/>
                  </a:solidFill>
                  <a:latin typeface="Source Code Pro"/>
                </a:rPr>
                <a:t>Real</a:t>
              </a:r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2018995" y="2633472"/>
              <a:ext cx="786384" cy="420624"/>
            </a:xfrm>
            <a:prstGeom prst="roundRect">
              <a:avLst>
                <a:gd name="adj" fmla="val 21739"/>
              </a:avLst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3" name="TextBox 52"/>
            <p:cNvSpPr txBox="1"/>
            <p:nvPr/>
          </p:nvSpPr>
          <p:spPr>
            <a:xfrm>
              <a:off x="2018995" y="2633472"/>
              <a:ext cx="786384" cy="42062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1">
                  <a:solidFill>
                    <a:srgbClr val="424242"/>
                  </a:solidFill>
                  <a:latin typeface="Source Code Pro"/>
                </a:rPr>
                <a:t>Real</a:t>
              </a:r>
            </a:p>
          </p:txBody>
        </p:sp>
        <p:sp>
          <p:nvSpPr>
            <p:cNvPr id="54" name="Rounded Rectangle 53"/>
            <p:cNvSpPr/>
            <p:nvPr/>
          </p:nvSpPr>
          <p:spPr>
            <a:xfrm>
              <a:off x="2873044" y="2633472"/>
              <a:ext cx="786384" cy="420624"/>
            </a:xfrm>
            <a:prstGeom prst="roundRect">
              <a:avLst>
                <a:gd name="adj" fmla="val 21739"/>
              </a:avLst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5" name="TextBox 54"/>
            <p:cNvSpPr txBox="1"/>
            <p:nvPr/>
          </p:nvSpPr>
          <p:spPr>
            <a:xfrm>
              <a:off x="2873044" y="2633472"/>
              <a:ext cx="786384" cy="42062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1">
                  <a:solidFill>
                    <a:srgbClr val="424242"/>
                  </a:solidFill>
                  <a:latin typeface="Source Code Pro"/>
                </a:rPr>
                <a:t>Real</a:t>
              </a:r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3727094" y="2633472"/>
              <a:ext cx="786384" cy="420624"/>
            </a:xfrm>
            <a:prstGeom prst="roundRect">
              <a:avLst>
                <a:gd name="adj" fmla="val 21739"/>
              </a:avLst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7" name="TextBox 56"/>
            <p:cNvSpPr txBox="1"/>
            <p:nvPr/>
          </p:nvSpPr>
          <p:spPr>
            <a:xfrm>
              <a:off x="3727094" y="2633472"/>
              <a:ext cx="786384" cy="42062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1">
                  <a:solidFill>
                    <a:srgbClr val="424242"/>
                  </a:solidFill>
                  <a:latin typeface="Source Code Pro"/>
                </a:rPr>
                <a:t>Real</a:t>
              </a:r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4581144" y="2633472"/>
              <a:ext cx="786384" cy="420624"/>
            </a:xfrm>
            <a:prstGeom prst="roundRect">
              <a:avLst>
                <a:gd name="adj" fmla="val 21739"/>
              </a:avLst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9" name="TextBox 58"/>
            <p:cNvSpPr txBox="1"/>
            <p:nvPr/>
          </p:nvSpPr>
          <p:spPr>
            <a:xfrm>
              <a:off x="4581144" y="2633472"/>
              <a:ext cx="786384" cy="42062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1">
                  <a:solidFill>
                    <a:srgbClr val="424242"/>
                  </a:solidFill>
                  <a:latin typeface="Source Code Pro"/>
                </a:rPr>
                <a:t>Real</a:t>
              </a:r>
            </a:p>
          </p:txBody>
        </p:sp>
        <p:sp>
          <p:nvSpPr>
            <p:cNvPr id="60" name="Rounded Rectangle 59"/>
            <p:cNvSpPr/>
            <p:nvPr/>
          </p:nvSpPr>
          <p:spPr>
            <a:xfrm>
              <a:off x="5435193" y="2633472"/>
              <a:ext cx="786384" cy="420624"/>
            </a:xfrm>
            <a:prstGeom prst="roundRect">
              <a:avLst>
                <a:gd name="adj" fmla="val 21739"/>
              </a:avLst>
            </a:prstGeom>
            <a:solidFill>
              <a:srgbClr val="FBE4EC"/>
            </a:solidFill>
            <a:ln w="9525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61" name="TextBox 60"/>
            <p:cNvSpPr txBox="1"/>
            <p:nvPr/>
          </p:nvSpPr>
          <p:spPr>
            <a:xfrm>
              <a:off x="5435193" y="2633472"/>
              <a:ext cx="786384" cy="42062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1">
                  <a:solidFill>
                    <a:srgbClr val="E91D63"/>
                  </a:solidFill>
                  <a:latin typeface="Source Code Pro"/>
                </a:rPr>
                <a:t>Hard</a:t>
              </a:r>
            </a:p>
          </p:txBody>
        </p:sp>
        <p:sp>
          <p:nvSpPr>
            <p:cNvPr id="62" name="Rounded Rectangle 61"/>
            <p:cNvSpPr/>
            <p:nvPr/>
          </p:nvSpPr>
          <p:spPr>
            <a:xfrm>
              <a:off x="6289243" y="2633472"/>
              <a:ext cx="786384" cy="420624"/>
            </a:xfrm>
            <a:prstGeom prst="roundRect">
              <a:avLst>
                <a:gd name="adj" fmla="val 21739"/>
              </a:avLst>
            </a:prstGeom>
            <a:solidFill>
              <a:srgbClr val="FBE4EC"/>
            </a:solidFill>
            <a:ln w="9525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63" name="TextBox 62"/>
            <p:cNvSpPr txBox="1"/>
            <p:nvPr/>
          </p:nvSpPr>
          <p:spPr>
            <a:xfrm>
              <a:off x="6289243" y="2633472"/>
              <a:ext cx="786384" cy="42062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1">
                  <a:solidFill>
                    <a:srgbClr val="E91D63"/>
                  </a:solidFill>
                  <a:latin typeface="Source Code Pro"/>
                </a:rPr>
                <a:t>Hard</a:t>
              </a:r>
            </a:p>
          </p:txBody>
        </p:sp>
        <p:sp>
          <p:nvSpPr>
            <p:cNvPr id="64" name="Rounded Rectangle 63"/>
            <p:cNvSpPr/>
            <p:nvPr/>
          </p:nvSpPr>
          <p:spPr>
            <a:xfrm>
              <a:off x="7143292" y="2633472"/>
              <a:ext cx="786384" cy="420624"/>
            </a:xfrm>
            <a:prstGeom prst="roundRect">
              <a:avLst>
                <a:gd name="adj" fmla="val 21739"/>
              </a:avLst>
            </a:prstGeom>
            <a:solidFill>
              <a:srgbClr val="FBE4EC"/>
            </a:solidFill>
            <a:ln w="9525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65" name="TextBox 64"/>
            <p:cNvSpPr txBox="1"/>
            <p:nvPr/>
          </p:nvSpPr>
          <p:spPr>
            <a:xfrm>
              <a:off x="7143292" y="2633472"/>
              <a:ext cx="786384" cy="42062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1">
                  <a:solidFill>
                    <a:srgbClr val="E91D63"/>
                  </a:solidFill>
                  <a:latin typeface="Source Code Pro"/>
                </a:rPr>
                <a:t>Hard</a:t>
              </a:r>
            </a:p>
          </p:txBody>
        </p:sp>
        <p:sp>
          <p:nvSpPr>
            <p:cNvPr id="66" name="Rounded Rectangle 65"/>
            <p:cNvSpPr/>
            <p:nvPr/>
          </p:nvSpPr>
          <p:spPr>
            <a:xfrm>
              <a:off x="7997342" y="2633472"/>
              <a:ext cx="786384" cy="420624"/>
            </a:xfrm>
            <a:prstGeom prst="roundRect">
              <a:avLst>
                <a:gd name="adj" fmla="val 21739"/>
              </a:avLst>
            </a:prstGeom>
            <a:solidFill>
              <a:srgbClr val="E91D63"/>
            </a:solidFill>
            <a:ln w="9525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67" name="TextBox 66"/>
            <p:cNvSpPr txBox="1"/>
            <p:nvPr/>
          </p:nvSpPr>
          <p:spPr>
            <a:xfrm>
              <a:off x="7997342" y="2633472"/>
              <a:ext cx="786384" cy="42062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Source Code Pro"/>
                </a:rPr>
                <a:t>Failed</a:t>
              </a:r>
            </a:p>
          </p:txBody>
        </p:sp>
      </p:grpSp>
      <p:grpSp>
        <p:nvGrpSpPr>
          <p:cNvPr id="6" name="Legend"/>
          <p:cNvGrpSpPr/>
          <p:nvPr/>
        </p:nvGrpSpPr>
        <p:grpSpPr>
          <a:xfrm>
            <a:off x="310896" y="3145536"/>
            <a:ext cx="8577072" cy="292608"/>
            <a:chOff x="310896" y="3145536"/>
            <a:chExt cx="8577072" cy="292608"/>
          </a:xfrm>
        </p:grpSpPr>
        <p:sp>
          <p:nvSpPr>
            <p:cNvPr id="68" name="Rounded Rectangle 67"/>
            <p:cNvSpPr/>
            <p:nvPr/>
          </p:nvSpPr>
          <p:spPr>
            <a:xfrm>
              <a:off x="310896" y="3200400"/>
              <a:ext cx="182880" cy="182880"/>
            </a:xfrm>
            <a:prstGeom prst="roundRect">
              <a:avLst>
                <a:gd name="adj" fmla="val 20000"/>
              </a:avLst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69" name="TextBox 68"/>
            <p:cNvSpPr txBox="1"/>
            <p:nvPr/>
          </p:nvSpPr>
          <p:spPr>
            <a:xfrm>
              <a:off x="566928" y="3145536"/>
              <a:ext cx="2651760" cy="29260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Real work you did</a:t>
              </a:r>
            </a:p>
          </p:txBody>
        </p:sp>
        <p:sp>
          <p:nvSpPr>
            <p:cNvPr id="70" name="Rounded Rectangle 69"/>
            <p:cNvSpPr/>
            <p:nvPr/>
          </p:nvSpPr>
          <p:spPr>
            <a:xfrm>
              <a:off x="3145536" y="3200400"/>
              <a:ext cx="182880" cy="182880"/>
            </a:xfrm>
            <a:prstGeom prst="roundRect">
              <a:avLst>
                <a:gd name="adj" fmla="val 20000"/>
              </a:avLst>
            </a:prstGeom>
            <a:solidFill>
              <a:srgbClr val="FBE4EC"/>
            </a:solidFill>
            <a:ln w="9525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1" name="TextBox 70"/>
            <p:cNvSpPr txBox="1"/>
            <p:nvPr/>
          </p:nvSpPr>
          <p:spPr>
            <a:xfrm>
              <a:off x="3401568" y="3145536"/>
              <a:ext cx="2651760" cy="29260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Where it usually slips</a:t>
              </a:r>
            </a:p>
          </p:txBody>
        </p:sp>
        <p:sp>
          <p:nvSpPr>
            <p:cNvPr id="72" name="Rounded Rectangle 71"/>
            <p:cNvSpPr/>
            <p:nvPr/>
          </p:nvSpPr>
          <p:spPr>
            <a:xfrm>
              <a:off x="5980176" y="3200400"/>
              <a:ext cx="182880" cy="182880"/>
            </a:xfrm>
            <a:prstGeom prst="roundRect">
              <a:avLst>
                <a:gd name="adj" fmla="val 20000"/>
              </a:avLst>
            </a:prstGeom>
            <a:solidFill>
              <a:srgbClr val="E91D63"/>
            </a:solidFill>
            <a:ln w="9525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3" name="TextBox 72"/>
            <p:cNvSpPr txBox="1"/>
            <p:nvPr/>
          </p:nvSpPr>
          <p:spPr>
            <a:xfrm>
              <a:off x="6236208" y="3145536"/>
              <a:ext cx="2651760" cy="29260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The one that went wrong</a:t>
              </a:r>
            </a:p>
          </p:txBody>
        </p:sp>
      </p:grpSp>
      <p:grpSp>
        <p:nvGrpSpPr>
          <p:cNvPr id="7" name="Frozen"/>
          <p:cNvGrpSpPr/>
          <p:nvPr/>
        </p:nvGrpSpPr>
        <p:grpSpPr>
          <a:xfrm>
            <a:off x="310896" y="3675887"/>
            <a:ext cx="8522208" cy="457200"/>
            <a:chOff x="310896" y="3675887"/>
            <a:chExt cx="8522208" cy="457200"/>
          </a:xfrm>
        </p:grpSpPr>
        <p:sp>
          <p:nvSpPr>
            <p:cNvPr id="74" name="Rounded Rectangle 73"/>
            <p:cNvSpPr/>
            <p:nvPr/>
          </p:nvSpPr>
          <p:spPr>
            <a:xfrm>
              <a:off x="310896" y="3675887"/>
              <a:ext cx="8522208" cy="4572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5" name="Oval 74"/>
            <p:cNvSpPr/>
            <p:nvPr/>
          </p:nvSpPr>
          <p:spPr>
            <a:xfrm>
              <a:off x="420624" y="3730752"/>
              <a:ext cx="347472" cy="347472"/>
            </a:xfrm>
            <a:prstGeom prst="ellipse">
              <a:avLst/>
            </a:prstGeom>
            <a:solidFill>
              <a:srgbClr val="FBE4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76" name="Picture 75" descr="icon-lock-E91D63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7067" y="3807195"/>
              <a:ext cx="194584" cy="194584"/>
            </a:xfrm>
            <a:prstGeom prst="rect">
              <a:avLst/>
            </a:prstGeom>
          </p:spPr>
        </p:pic>
        <p:sp>
          <p:nvSpPr>
            <p:cNvPr id="77" name="TextBox 76"/>
            <p:cNvSpPr txBox="1"/>
            <p:nvPr/>
          </p:nvSpPr>
          <p:spPr>
            <a:xfrm>
              <a:off x="914400" y="3675887"/>
              <a:ext cx="7772400" cy="4572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Pick the ten before the change, then freeze the list.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 - Hold Everything Else Still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163116" y="1874519"/>
            <a:ext cx="6817766" cy="18288"/>
          </a:xfrm>
          <a:prstGeom prst="rect">
            <a:avLst/>
          </a:prstGeom>
          <a:solidFill>
            <a:srgbClr val="D8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pSp>
        <p:nvGrpSpPr>
          <p:cNvPr id="4" name="Write Criteria"/>
          <p:cNvGrpSpPr/>
          <p:nvPr/>
        </p:nvGrpSpPr>
        <p:grpSpPr>
          <a:xfrm>
            <a:off x="347471" y="1481328"/>
            <a:ext cx="1631289" cy="1408176"/>
            <a:chOff x="347471" y="1481328"/>
            <a:chExt cx="1631289" cy="1408176"/>
          </a:xfrm>
        </p:grpSpPr>
        <p:sp>
          <p:nvSpPr>
            <p:cNvPr id="27" name="Oval 26"/>
            <p:cNvSpPr/>
            <p:nvPr/>
          </p:nvSpPr>
          <p:spPr>
            <a:xfrm>
              <a:off x="843076" y="1554480"/>
              <a:ext cx="640080" cy="64008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8" name="Picture 27" descr="icon-pencil-line-424242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3894" y="1695297"/>
              <a:ext cx="358444" cy="358444"/>
            </a:xfrm>
            <a:prstGeom prst="rect">
              <a:avLst/>
            </a:prstGeom>
          </p:spPr>
        </p:pic>
        <p:sp>
          <p:nvSpPr>
            <p:cNvPr id="29" name="Oval 28"/>
            <p:cNvSpPr/>
            <p:nvPr/>
          </p:nvSpPr>
          <p:spPr>
            <a:xfrm>
              <a:off x="1300276" y="1481328"/>
              <a:ext cx="274320" cy="274320"/>
            </a:xfrm>
            <a:prstGeom prst="ellipse">
              <a:avLst/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0" name="TextBox 29"/>
            <p:cNvSpPr txBox="1"/>
            <p:nvPr/>
          </p:nvSpPr>
          <p:spPr>
            <a:xfrm>
              <a:off x="1300276" y="1481328"/>
              <a:ext cx="27432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Oswald"/>
                </a:rPr>
                <a:t>1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47471" y="2322576"/>
              <a:ext cx="1631289" cy="2743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1">
                  <a:solidFill>
                    <a:srgbClr val="424242"/>
                  </a:solidFill>
                  <a:latin typeface="Source Code Pro"/>
                </a:rPr>
                <a:t>Write Criteria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347471" y="2615184"/>
              <a:ext cx="1631289" cy="2743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What Better Means</a:t>
              </a:r>
            </a:p>
          </p:txBody>
        </p:sp>
      </p:grpSp>
      <p:grpSp>
        <p:nvGrpSpPr>
          <p:cNvPr id="5" name="Freeze It"/>
          <p:cNvGrpSpPr/>
          <p:nvPr/>
        </p:nvGrpSpPr>
        <p:grpSpPr>
          <a:xfrm>
            <a:off x="2051913" y="1481328"/>
            <a:ext cx="1631289" cy="1408176"/>
            <a:chOff x="2051913" y="1481328"/>
            <a:chExt cx="1631289" cy="1408176"/>
          </a:xfrm>
        </p:grpSpPr>
        <p:sp>
          <p:nvSpPr>
            <p:cNvPr id="33" name="Oval 32"/>
            <p:cNvSpPr/>
            <p:nvPr/>
          </p:nvSpPr>
          <p:spPr>
            <a:xfrm>
              <a:off x="2547518" y="1554480"/>
              <a:ext cx="640080" cy="64008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4" name="Picture 33" descr="icon-lock-42424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88336" y="1695297"/>
              <a:ext cx="358444" cy="358444"/>
            </a:xfrm>
            <a:prstGeom prst="rect">
              <a:avLst/>
            </a:prstGeom>
          </p:spPr>
        </p:pic>
        <p:sp>
          <p:nvSpPr>
            <p:cNvPr id="35" name="Oval 34"/>
            <p:cNvSpPr/>
            <p:nvPr/>
          </p:nvSpPr>
          <p:spPr>
            <a:xfrm>
              <a:off x="3004718" y="1481328"/>
              <a:ext cx="274320" cy="274320"/>
            </a:xfrm>
            <a:prstGeom prst="ellipse">
              <a:avLst/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6" name="TextBox 35"/>
            <p:cNvSpPr txBox="1"/>
            <p:nvPr/>
          </p:nvSpPr>
          <p:spPr>
            <a:xfrm>
              <a:off x="3004718" y="1481328"/>
              <a:ext cx="27432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Oswald"/>
                </a:rPr>
                <a:t>2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051913" y="2322576"/>
              <a:ext cx="1631289" cy="2743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1">
                  <a:solidFill>
                    <a:srgbClr val="424242"/>
                  </a:solidFill>
                  <a:latin typeface="Source Code Pro"/>
                </a:rPr>
                <a:t>Freeze It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051913" y="2615184"/>
              <a:ext cx="1631289" cy="2743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That Is the Control</a:t>
              </a:r>
            </a:p>
          </p:txBody>
        </p:sp>
      </p:grpSp>
      <p:grpSp>
        <p:nvGrpSpPr>
          <p:cNvPr id="6" name="Change a Line"/>
          <p:cNvGrpSpPr/>
          <p:nvPr/>
        </p:nvGrpSpPr>
        <p:grpSpPr>
          <a:xfrm>
            <a:off x="3756355" y="1481328"/>
            <a:ext cx="1631289" cy="1408176"/>
            <a:chOff x="3756355" y="1481328"/>
            <a:chExt cx="1631289" cy="1408176"/>
          </a:xfrm>
        </p:grpSpPr>
        <p:sp>
          <p:nvSpPr>
            <p:cNvPr id="39" name="Oval 38"/>
            <p:cNvSpPr/>
            <p:nvPr/>
          </p:nvSpPr>
          <p:spPr>
            <a:xfrm>
              <a:off x="4251960" y="1554480"/>
              <a:ext cx="640080" cy="64008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0" name="Picture 39" descr="icon-copy-424242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92777" y="1695297"/>
              <a:ext cx="358444" cy="358444"/>
            </a:xfrm>
            <a:prstGeom prst="rect">
              <a:avLst/>
            </a:prstGeom>
          </p:spPr>
        </p:pic>
        <p:sp>
          <p:nvSpPr>
            <p:cNvPr id="41" name="Oval 40"/>
            <p:cNvSpPr/>
            <p:nvPr/>
          </p:nvSpPr>
          <p:spPr>
            <a:xfrm>
              <a:off x="4709160" y="1481328"/>
              <a:ext cx="274320" cy="274320"/>
            </a:xfrm>
            <a:prstGeom prst="ellipse">
              <a:avLst/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2" name="TextBox 41"/>
            <p:cNvSpPr txBox="1"/>
            <p:nvPr/>
          </p:nvSpPr>
          <p:spPr>
            <a:xfrm>
              <a:off x="4709160" y="1481328"/>
              <a:ext cx="27432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Oswald"/>
                </a:rPr>
                <a:t>3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3756355" y="2322576"/>
              <a:ext cx="1631289" cy="2743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1">
                  <a:solidFill>
                    <a:srgbClr val="424242"/>
                  </a:solidFill>
                  <a:latin typeface="Source Code Pro"/>
                </a:rPr>
                <a:t>Change a Line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3756355" y="2615184"/>
              <a:ext cx="1631289" cy="2743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That Is the Variant</a:t>
              </a:r>
            </a:p>
          </p:txBody>
        </p:sp>
      </p:grpSp>
      <p:grpSp>
        <p:nvGrpSpPr>
          <p:cNvPr id="7" name="Run Both"/>
          <p:cNvGrpSpPr/>
          <p:nvPr/>
        </p:nvGrpSpPr>
        <p:grpSpPr>
          <a:xfrm>
            <a:off x="5460796" y="1481328"/>
            <a:ext cx="1631289" cy="1408176"/>
            <a:chOff x="5460796" y="1481328"/>
            <a:chExt cx="1631289" cy="1408176"/>
          </a:xfrm>
        </p:grpSpPr>
        <p:sp>
          <p:nvSpPr>
            <p:cNvPr id="45" name="Oval 44"/>
            <p:cNvSpPr/>
            <p:nvPr/>
          </p:nvSpPr>
          <p:spPr>
            <a:xfrm>
              <a:off x="5956401" y="1554480"/>
              <a:ext cx="640080" cy="64008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6" name="Picture 45" descr="icon-play-424242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97219" y="1695297"/>
              <a:ext cx="358444" cy="358444"/>
            </a:xfrm>
            <a:prstGeom prst="rect">
              <a:avLst/>
            </a:prstGeom>
          </p:spPr>
        </p:pic>
        <p:sp>
          <p:nvSpPr>
            <p:cNvPr id="47" name="Oval 46"/>
            <p:cNvSpPr/>
            <p:nvPr/>
          </p:nvSpPr>
          <p:spPr>
            <a:xfrm>
              <a:off x="6413601" y="1481328"/>
              <a:ext cx="274320" cy="274320"/>
            </a:xfrm>
            <a:prstGeom prst="ellipse">
              <a:avLst/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8" name="TextBox 47"/>
            <p:cNvSpPr txBox="1"/>
            <p:nvPr/>
          </p:nvSpPr>
          <p:spPr>
            <a:xfrm>
              <a:off x="6413601" y="1481328"/>
              <a:ext cx="27432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Oswald"/>
                </a:rPr>
                <a:t>4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460796" y="2322576"/>
              <a:ext cx="1631289" cy="2743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1">
                  <a:solidFill>
                    <a:srgbClr val="424242"/>
                  </a:solidFill>
                  <a:latin typeface="Source Code Pro"/>
                </a:rPr>
                <a:t>Run Both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5460796" y="2615184"/>
              <a:ext cx="1631289" cy="2743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On the Same Ten</a:t>
              </a:r>
            </a:p>
          </p:txBody>
        </p:sp>
      </p:grpSp>
      <p:grpSp>
        <p:nvGrpSpPr>
          <p:cNvPr id="8" name="Score and Count"/>
          <p:cNvGrpSpPr/>
          <p:nvPr/>
        </p:nvGrpSpPr>
        <p:grpSpPr>
          <a:xfrm>
            <a:off x="7165238" y="1481328"/>
            <a:ext cx="1631289" cy="1408176"/>
            <a:chOff x="7165238" y="1481328"/>
            <a:chExt cx="1631289" cy="1408176"/>
          </a:xfrm>
        </p:grpSpPr>
        <p:sp>
          <p:nvSpPr>
            <p:cNvPr id="51" name="Oval 50"/>
            <p:cNvSpPr/>
            <p:nvPr/>
          </p:nvSpPr>
          <p:spPr>
            <a:xfrm>
              <a:off x="7660843" y="1554480"/>
              <a:ext cx="640080" cy="640080"/>
            </a:xfrm>
            <a:prstGeom prst="ellipse">
              <a:avLst/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52" name="Picture 51" descr="icon-chart-column-FFFFFF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801660" y="1695297"/>
              <a:ext cx="358444" cy="358444"/>
            </a:xfrm>
            <a:prstGeom prst="rect">
              <a:avLst/>
            </a:prstGeom>
          </p:spPr>
        </p:pic>
        <p:sp>
          <p:nvSpPr>
            <p:cNvPr id="53" name="Oval 52"/>
            <p:cNvSpPr/>
            <p:nvPr/>
          </p:nvSpPr>
          <p:spPr>
            <a:xfrm>
              <a:off x="8118043" y="1481328"/>
              <a:ext cx="274320" cy="274320"/>
            </a:xfrm>
            <a:prstGeom prst="ellipse">
              <a:avLst/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4" name="TextBox 53"/>
            <p:cNvSpPr txBox="1"/>
            <p:nvPr/>
          </p:nvSpPr>
          <p:spPr>
            <a:xfrm>
              <a:off x="8118043" y="1481328"/>
              <a:ext cx="27432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Oswald"/>
                </a:rPr>
                <a:t>5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165238" y="2322576"/>
              <a:ext cx="1631289" cy="2743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1">
                  <a:solidFill>
                    <a:srgbClr val="E91D63"/>
                  </a:solidFill>
                  <a:latin typeface="Source Code Pro"/>
                </a:rPr>
                <a:t>Score and Count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7165238" y="2615184"/>
              <a:ext cx="1631289" cy="2743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Against Step 1</a:t>
              </a:r>
            </a:p>
          </p:txBody>
        </p:sp>
      </p:grpSp>
      <p:sp>
        <p:nvSpPr>
          <p:cNvPr id="57" name="TextBox 56"/>
          <p:cNvSpPr txBox="1"/>
          <p:nvPr/>
        </p:nvSpPr>
        <p:spPr>
          <a:xfrm>
            <a:off x="310896" y="3346704"/>
            <a:ext cx="8522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Step 1 must come before step 4, or the tally is just you agreeing with yourself.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One Line That Moved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10896" y="1389888"/>
            <a:ext cx="40782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24242"/>
                </a:solidFill>
                <a:latin typeface="Source Code Pro"/>
              </a:rPr>
              <a:t>Control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1389888"/>
            <a:ext cx="40782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91D63"/>
                </a:solidFill>
                <a:latin typeface="Source Code Pro"/>
              </a:rPr>
              <a:t>Variant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0896" y="1737360"/>
            <a:ext cx="4078224" cy="45720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1737360"/>
            <a:ext cx="21206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The Request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53919" y="1737360"/>
            <a:ext cx="160733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Source Code Pro"/>
              </a:rPr>
              <a:t>Same Wording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0896" y="2258568"/>
            <a:ext cx="4078224" cy="45720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57200" y="2258568"/>
            <a:ext cx="21206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The Ten Cases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53919" y="2258568"/>
            <a:ext cx="160733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Source Code Pro"/>
              </a:rPr>
              <a:t>Same Ten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0896" y="2779776"/>
            <a:ext cx="4078224" cy="45720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57200" y="2779776"/>
            <a:ext cx="21206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The Model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53919" y="2779776"/>
            <a:ext cx="160733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Source Code Pro"/>
              </a:rPr>
              <a:t>Same One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10896" y="3300984"/>
            <a:ext cx="4078224" cy="45720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57200" y="3300984"/>
            <a:ext cx="21206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The Skill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53919" y="3300984"/>
            <a:ext cx="160733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Source Code Pro"/>
              </a:rPr>
              <a:t>As It Is Today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54880" y="1737360"/>
            <a:ext cx="4078224" cy="45720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901184" y="1737360"/>
            <a:ext cx="21206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The Request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97903" y="1737360"/>
            <a:ext cx="160733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Source Code Pro"/>
              </a:rPr>
              <a:t>Same Wording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54880" y="2258568"/>
            <a:ext cx="4078224" cy="45720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4901184" y="2258568"/>
            <a:ext cx="21206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The Ten Cases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7903" y="2258568"/>
            <a:ext cx="160733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Source Code Pro"/>
              </a:rPr>
              <a:t>Same Ten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754880" y="2779776"/>
            <a:ext cx="4078224" cy="45720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4901184" y="2779776"/>
            <a:ext cx="21206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The Model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97903" y="2779776"/>
            <a:ext cx="160733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Source Code Pro"/>
              </a:rPr>
              <a:t>Same One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754880" y="3300984"/>
            <a:ext cx="4078224" cy="457200"/>
          </a:xfrm>
          <a:prstGeom prst="roundRect">
            <a:avLst>
              <a:gd name="adj" fmla="val 8000"/>
            </a:avLst>
          </a:prstGeom>
          <a:solidFill>
            <a:srgbClr val="FBE4EC"/>
          </a:solidFill>
          <a:ln w="1270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901184" y="3300984"/>
            <a:ext cx="21206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424242"/>
                </a:solidFill>
                <a:latin typeface="Source Code Pro"/>
              </a:rPr>
              <a:t>The Skill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97903" y="3300984"/>
            <a:ext cx="160733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Source Code Pro"/>
              </a:rPr>
              <a:t>One Line Added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0896" y="3913632"/>
            <a:ext cx="8522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Change two lines and a better result cannot tell you which one did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Criteria, Written Before You Look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0896" y="1389888"/>
            <a:ext cx="8513064" cy="1289304"/>
          </a:xfrm>
          <a:prstGeom prst="roundRect">
            <a:avLst>
              <a:gd name="adj" fmla="val 4255"/>
            </a:avLst>
          </a:prstGeom>
          <a:solidFill>
            <a:srgbClr val="3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12064" y="1508760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Written before the run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" y="1728216"/>
            <a:ext cx="8110728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Every decision in the transcript appears, and is labelled a decision.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" y="1938527"/>
            <a:ext cx="8110728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Every action item names an owner.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" y="2148839"/>
            <a:ext cx="8110728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Nothing appears that nobody said.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" y="2359151"/>
            <a:ext cx="8110728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Under 200 words.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0896" y="2834640"/>
            <a:ext cx="8513064" cy="658368"/>
          </a:xfrm>
          <a:prstGeom prst="roundRect">
            <a:avLst>
              <a:gd name="adj" fmla="val 8333"/>
            </a:avLst>
          </a:prstGeom>
          <a:solidFill>
            <a:srgbClr val="3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12064" y="2953512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Written after the run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" y="3163824"/>
            <a:ext cx="2171700" cy="210312"/>
          </a:xfrm>
          <a:prstGeom prst="roundRect">
            <a:avLst>
              <a:gd name="adj" fmla="val 17391"/>
            </a:avLst>
          </a:prstGeom>
          <a:solidFill>
            <a:srgbClr val="71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12064" y="3172968"/>
            <a:ext cx="8110728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Version B just reads better.</a:t>
            </a:r>
          </a:p>
        </p:txBody>
      </p:sp>
      <p:grpSp>
        <p:nvGrpSpPr>
          <p:cNvPr id="4" name="Blind scoring"/>
          <p:cNvGrpSpPr/>
          <p:nvPr/>
        </p:nvGrpSpPr>
        <p:grpSpPr>
          <a:xfrm>
            <a:off x="310896" y="3675887"/>
            <a:ext cx="8522208" cy="365760"/>
            <a:chOff x="310896" y="3675887"/>
            <a:chExt cx="8522208" cy="365760"/>
          </a:xfrm>
        </p:grpSpPr>
        <p:sp>
          <p:nvSpPr>
            <p:cNvPr id="36" name="Oval 35"/>
            <p:cNvSpPr/>
            <p:nvPr/>
          </p:nvSpPr>
          <p:spPr>
            <a:xfrm>
              <a:off x="310896" y="3675887"/>
              <a:ext cx="365760" cy="365760"/>
            </a:xfrm>
            <a:prstGeom prst="ellipse">
              <a:avLst/>
            </a:prstGeom>
            <a:solidFill>
              <a:srgbClr val="FBE4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7" name="Picture 36" descr="icon-shuffle-E91D63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1363" y="3756355"/>
              <a:ext cx="204825" cy="204825"/>
            </a:xfrm>
            <a:prstGeom prst="rect">
              <a:avLst/>
            </a:prstGeom>
          </p:spPr>
        </p:pic>
        <p:sp>
          <p:nvSpPr>
            <p:cNvPr id="38" name="TextBox 37"/>
            <p:cNvSpPr txBox="1"/>
            <p:nvPr/>
          </p:nvSpPr>
          <p:spPr>
            <a:xfrm>
              <a:off x="786384" y="3675887"/>
              <a:ext cx="8046720" cy="36576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Only criteria written first can be scored blind. Strip the labels and shuffle.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Ten Runs, One Tally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" name="Legend"/>
          <p:cNvGrpSpPr/>
          <p:nvPr/>
        </p:nvGrpSpPr>
        <p:grpSpPr>
          <a:xfrm>
            <a:off x="2834640" y="1371600"/>
            <a:ext cx="2633472" cy="292608"/>
            <a:chOff x="2834640" y="1371600"/>
            <a:chExt cx="2633472" cy="292608"/>
          </a:xfrm>
        </p:grpSpPr>
        <p:sp>
          <p:nvSpPr>
            <p:cNvPr id="26" name="Rectangle 25"/>
            <p:cNvSpPr/>
            <p:nvPr/>
          </p:nvSpPr>
          <p:spPr>
            <a:xfrm>
              <a:off x="2834640" y="1426464"/>
              <a:ext cx="182880" cy="182880"/>
            </a:xfrm>
            <a:prstGeom prst="rect">
              <a:avLst/>
            </a:prstGeom>
            <a:solidFill>
              <a:srgbClr val="C9C9C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7" name="TextBox 26"/>
            <p:cNvSpPr txBox="1"/>
            <p:nvPr/>
          </p:nvSpPr>
          <p:spPr>
            <a:xfrm>
              <a:off x="3090672" y="1371600"/>
              <a:ext cx="1005840" cy="29260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Control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4206240" y="1426464"/>
              <a:ext cx="182880" cy="182880"/>
            </a:xfrm>
            <a:prstGeom prst="rect">
              <a:avLst/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9" name="TextBox 28"/>
            <p:cNvSpPr txBox="1"/>
            <p:nvPr/>
          </p:nvSpPr>
          <p:spPr>
            <a:xfrm>
              <a:off x="4462272" y="1371600"/>
              <a:ext cx="1005840" cy="29260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Variant</a:t>
              </a:r>
            </a:p>
          </p:txBody>
        </p:sp>
      </p:grpSp>
      <p:grpSp>
        <p:nvGrpSpPr>
          <p:cNvPr id="5" name="Every decision listed"/>
          <p:cNvGrpSpPr/>
          <p:nvPr/>
        </p:nvGrpSpPr>
        <p:grpSpPr>
          <a:xfrm>
            <a:off x="310896" y="1828800"/>
            <a:ext cx="8522208" cy="475488"/>
            <a:chOff x="310896" y="1828800"/>
            <a:chExt cx="8522208" cy="475488"/>
          </a:xfrm>
        </p:grpSpPr>
        <p:sp>
          <p:nvSpPr>
            <p:cNvPr id="30" name="TextBox 29"/>
            <p:cNvSpPr txBox="1"/>
            <p:nvPr/>
          </p:nvSpPr>
          <p:spPr>
            <a:xfrm>
              <a:off x="310896" y="1828800"/>
              <a:ext cx="2468880" cy="47548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1">
                  <a:solidFill>
                    <a:srgbClr val="424242"/>
                  </a:solidFill>
                  <a:latin typeface="Source Code Pro"/>
                </a:rPr>
                <a:t>Every Decision Listed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2834640" y="1865376"/>
              <a:ext cx="2688336" cy="182880"/>
            </a:xfrm>
            <a:prstGeom prst="rect">
              <a:avLst/>
            </a:prstGeom>
            <a:solidFill>
              <a:srgbClr val="C9C9C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2" name="TextBox 31"/>
            <p:cNvSpPr txBox="1"/>
            <p:nvPr/>
          </p:nvSpPr>
          <p:spPr>
            <a:xfrm>
              <a:off x="5596128" y="1828800"/>
              <a:ext cx="457200" cy="25603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6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2834640" y="2084832"/>
              <a:ext cx="4032504" cy="182880"/>
            </a:xfrm>
            <a:prstGeom prst="rect">
              <a:avLst/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4" name="TextBox 33"/>
            <p:cNvSpPr txBox="1"/>
            <p:nvPr/>
          </p:nvSpPr>
          <p:spPr>
            <a:xfrm>
              <a:off x="6940296" y="2048256"/>
              <a:ext cx="457200" cy="25603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9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7918704" y="1901952"/>
              <a:ext cx="914400" cy="329184"/>
            </a:xfrm>
            <a:prstGeom prst="roundRect">
              <a:avLst>
                <a:gd name="adj" fmla="val 50000"/>
              </a:avLst>
            </a:prstGeom>
            <a:solidFill>
              <a:srgbClr val="E91D63"/>
            </a:solidFill>
            <a:ln w="9525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6" name="TextBox 35"/>
            <p:cNvSpPr txBox="1"/>
            <p:nvPr/>
          </p:nvSpPr>
          <p:spPr>
            <a:xfrm>
              <a:off x="7918704" y="1901952"/>
              <a:ext cx="914400" cy="32918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Source Code Pro"/>
                </a:rPr>
                <a:t>Win</a:t>
              </a:r>
            </a:p>
          </p:txBody>
        </p:sp>
      </p:grpSp>
      <p:grpSp>
        <p:nvGrpSpPr>
          <p:cNvPr id="6" name="Every action owned"/>
          <p:cNvGrpSpPr/>
          <p:nvPr/>
        </p:nvGrpSpPr>
        <p:grpSpPr>
          <a:xfrm>
            <a:off x="310896" y="2432304"/>
            <a:ext cx="8522208" cy="475488"/>
            <a:chOff x="310896" y="2432304"/>
            <a:chExt cx="8522208" cy="475488"/>
          </a:xfrm>
        </p:grpSpPr>
        <p:sp>
          <p:nvSpPr>
            <p:cNvPr id="37" name="TextBox 36"/>
            <p:cNvSpPr txBox="1"/>
            <p:nvPr/>
          </p:nvSpPr>
          <p:spPr>
            <a:xfrm>
              <a:off x="310896" y="2432304"/>
              <a:ext cx="2468880" cy="47548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1">
                  <a:solidFill>
                    <a:srgbClr val="424242"/>
                  </a:solidFill>
                  <a:latin typeface="Source Code Pro"/>
                </a:rPr>
                <a:t>Every Action Owned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2834640" y="2468880"/>
              <a:ext cx="1792224" cy="182880"/>
            </a:xfrm>
            <a:prstGeom prst="rect">
              <a:avLst/>
            </a:prstGeom>
            <a:solidFill>
              <a:srgbClr val="C9C9C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9" name="TextBox 38"/>
            <p:cNvSpPr txBox="1"/>
            <p:nvPr/>
          </p:nvSpPr>
          <p:spPr>
            <a:xfrm>
              <a:off x="4700016" y="2432304"/>
              <a:ext cx="457200" cy="25603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4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2834640" y="2688336"/>
              <a:ext cx="4032504" cy="182880"/>
            </a:xfrm>
            <a:prstGeom prst="rect">
              <a:avLst/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1" name="TextBox 40"/>
            <p:cNvSpPr txBox="1"/>
            <p:nvPr/>
          </p:nvSpPr>
          <p:spPr>
            <a:xfrm>
              <a:off x="6940296" y="2651760"/>
              <a:ext cx="457200" cy="25603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9</a:t>
              </a:r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7918704" y="2505456"/>
              <a:ext cx="914400" cy="329184"/>
            </a:xfrm>
            <a:prstGeom prst="roundRect">
              <a:avLst>
                <a:gd name="adj" fmla="val 50000"/>
              </a:avLst>
            </a:prstGeom>
            <a:solidFill>
              <a:srgbClr val="E91D63"/>
            </a:solidFill>
            <a:ln w="9525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3" name="TextBox 42"/>
            <p:cNvSpPr txBox="1"/>
            <p:nvPr/>
          </p:nvSpPr>
          <p:spPr>
            <a:xfrm>
              <a:off x="7918704" y="2505456"/>
              <a:ext cx="914400" cy="32918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Source Code Pro"/>
                </a:rPr>
                <a:t>Win</a:t>
              </a:r>
            </a:p>
          </p:txBody>
        </p:sp>
      </p:grpSp>
      <p:grpSp>
        <p:nvGrpSpPr>
          <p:cNvPr id="7" name="Nothing invented"/>
          <p:cNvGrpSpPr/>
          <p:nvPr/>
        </p:nvGrpSpPr>
        <p:grpSpPr>
          <a:xfrm>
            <a:off x="310896" y="3035808"/>
            <a:ext cx="8522208" cy="475488"/>
            <a:chOff x="310896" y="3035808"/>
            <a:chExt cx="8522208" cy="475488"/>
          </a:xfrm>
        </p:grpSpPr>
        <p:sp>
          <p:nvSpPr>
            <p:cNvPr id="44" name="TextBox 43"/>
            <p:cNvSpPr txBox="1"/>
            <p:nvPr/>
          </p:nvSpPr>
          <p:spPr>
            <a:xfrm>
              <a:off x="310896" y="3035808"/>
              <a:ext cx="2468880" cy="47548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1">
                  <a:solidFill>
                    <a:srgbClr val="424242"/>
                  </a:solidFill>
                  <a:latin typeface="Source Code Pro"/>
                </a:rPr>
                <a:t>Nothing Invented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2834640" y="3072384"/>
              <a:ext cx="4480560" cy="182880"/>
            </a:xfrm>
            <a:prstGeom prst="rect">
              <a:avLst/>
            </a:prstGeom>
            <a:solidFill>
              <a:srgbClr val="C9C9C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6" name="TextBox 45"/>
            <p:cNvSpPr txBox="1"/>
            <p:nvPr/>
          </p:nvSpPr>
          <p:spPr>
            <a:xfrm>
              <a:off x="7388352" y="3035808"/>
              <a:ext cx="457200" cy="25603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10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2834640" y="3291840"/>
              <a:ext cx="3584448" cy="182880"/>
            </a:xfrm>
            <a:prstGeom prst="rect">
              <a:avLst/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8" name="TextBox 47"/>
            <p:cNvSpPr txBox="1"/>
            <p:nvPr/>
          </p:nvSpPr>
          <p:spPr>
            <a:xfrm>
              <a:off x="6492240" y="3255264"/>
              <a:ext cx="457200" cy="25603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8</a:t>
              </a:r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7918704" y="3108960"/>
              <a:ext cx="914400" cy="329184"/>
            </a:xfrm>
            <a:prstGeom prst="roundRect">
              <a:avLst>
                <a:gd name="adj" fmla="val 50000"/>
              </a:avLst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0" name="TextBox 49"/>
            <p:cNvSpPr txBox="1"/>
            <p:nvPr/>
          </p:nvSpPr>
          <p:spPr>
            <a:xfrm>
              <a:off x="7918704" y="3108960"/>
              <a:ext cx="914400" cy="32918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1">
                  <a:solidFill>
                    <a:srgbClr val="424242"/>
                  </a:solidFill>
                  <a:latin typeface="Source Code Pro"/>
                </a:rPr>
                <a:t>Weigh</a:t>
              </a:r>
            </a:p>
          </p:txBody>
        </p:sp>
      </p:grpSp>
      <p:grpSp>
        <p:nvGrpSpPr>
          <p:cNvPr id="8" name="Under 200 words"/>
          <p:cNvGrpSpPr/>
          <p:nvPr/>
        </p:nvGrpSpPr>
        <p:grpSpPr>
          <a:xfrm>
            <a:off x="310896" y="3639311"/>
            <a:ext cx="8522208" cy="475489"/>
            <a:chOff x="310896" y="3639311"/>
            <a:chExt cx="8522208" cy="475489"/>
          </a:xfrm>
        </p:grpSpPr>
        <p:sp>
          <p:nvSpPr>
            <p:cNvPr id="51" name="TextBox 50"/>
            <p:cNvSpPr txBox="1"/>
            <p:nvPr/>
          </p:nvSpPr>
          <p:spPr>
            <a:xfrm>
              <a:off x="310896" y="3639312"/>
              <a:ext cx="2468880" cy="47548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1">
                  <a:solidFill>
                    <a:srgbClr val="424242"/>
                  </a:solidFill>
                  <a:latin typeface="Source Code Pro"/>
                </a:rPr>
                <a:t>Under 200 Words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2834640" y="3675887"/>
              <a:ext cx="4032504" cy="182880"/>
            </a:xfrm>
            <a:prstGeom prst="rect">
              <a:avLst/>
            </a:prstGeom>
            <a:solidFill>
              <a:srgbClr val="C9C9C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3" name="TextBox 52"/>
            <p:cNvSpPr txBox="1"/>
            <p:nvPr/>
          </p:nvSpPr>
          <p:spPr>
            <a:xfrm>
              <a:off x="6940296" y="3639311"/>
              <a:ext cx="457200" cy="25603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9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2834640" y="3895344"/>
              <a:ext cx="2688336" cy="182880"/>
            </a:xfrm>
            <a:prstGeom prst="rect">
              <a:avLst/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5" name="TextBox 54"/>
            <p:cNvSpPr txBox="1"/>
            <p:nvPr/>
          </p:nvSpPr>
          <p:spPr>
            <a:xfrm>
              <a:off x="5596128" y="3858768"/>
              <a:ext cx="457200" cy="25603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6</a:t>
              </a:r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7918704" y="3712463"/>
              <a:ext cx="914400" cy="329184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7" name="TextBox 56"/>
            <p:cNvSpPr txBox="1"/>
            <p:nvPr/>
          </p:nvSpPr>
          <p:spPr>
            <a:xfrm>
              <a:off x="7918704" y="3712463"/>
              <a:ext cx="914400" cy="32918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1">
                  <a:solidFill>
                    <a:srgbClr val="E91D63"/>
                  </a:solidFill>
                  <a:latin typeface="Source Code Pro"/>
                </a:rPr>
                <a:t>Loss</a:t>
              </a:r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310896" y="4261104"/>
            <a:ext cx="8522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The loss is the useful part: the variant started padding. A one-case gap is noise.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Results, Three Decisions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" name="It clearly won"/>
          <p:cNvGrpSpPr/>
          <p:nvPr/>
        </p:nvGrpSpPr>
        <p:grpSpPr>
          <a:xfrm>
            <a:off x="310896" y="1426464"/>
            <a:ext cx="2657856" cy="1920240"/>
            <a:chOff x="310896" y="1426464"/>
            <a:chExt cx="2657856" cy="1920240"/>
          </a:xfrm>
        </p:grpSpPr>
        <p:sp>
          <p:nvSpPr>
            <p:cNvPr id="26" name="Rounded Rectangle 25"/>
            <p:cNvSpPr/>
            <p:nvPr/>
          </p:nvSpPr>
          <p:spPr>
            <a:xfrm>
              <a:off x="310896" y="1426464"/>
              <a:ext cx="2657856" cy="1920240"/>
            </a:xfrm>
            <a:prstGeom prst="roundRect">
              <a:avLst>
                <a:gd name="adj" fmla="val 2857"/>
              </a:avLst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7" name="Oval 26"/>
            <p:cNvSpPr/>
            <p:nvPr/>
          </p:nvSpPr>
          <p:spPr>
            <a:xfrm>
              <a:off x="1328928" y="1609344"/>
              <a:ext cx="621792" cy="621792"/>
            </a:xfrm>
            <a:prstGeom prst="ellipse">
              <a:avLst/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8" name="Picture 27" descr="icon-trophy-FFFFFF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65722" y="1746138"/>
              <a:ext cx="348203" cy="348203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438912" y="2377440"/>
              <a:ext cx="2401824" cy="29260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400" b="1">
                  <a:solidFill>
                    <a:srgbClr val="E91D63"/>
                  </a:solidFill>
                  <a:latin typeface="Source Code Pro"/>
                </a:rPr>
                <a:t>It Clearly Won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75488" y="2706624"/>
              <a:ext cx="2328672" cy="51206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1200" b="0">
                  <a:solidFill>
                    <a:srgbClr val="6B6B6B"/>
                  </a:solidFill>
                  <a:latin typeface="Source Code Pro"/>
                </a:rPr>
                <a:t>Adopt It, and Accept What It Cost</a:t>
              </a:r>
            </a:p>
          </p:txBody>
        </p:sp>
      </p:grpSp>
      <p:grpSp>
        <p:nvGrpSpPr>
          <p:cNvPr id="5" name="It clearly lost"/>
          <p:cNvGrpSpPr/>
          <p:nvPr/>
        </p:nvGrpSpPr>
        <p:grpSpPr>
          <a:xfrm>
            <a:off x="3243072" y="1426464"/>
            <a:ext cx="2657856" cy="1920240"/>
            <a:chOff x="3243072" y="1426464"/>
            <a:chExt cx="2657856" cy="1920240"/>
          </a:xfrm>
        </p:grpSpPr>
        <p:sp>
          <p:nvSpPr>
            <p:cNvPr id="31" name="Rounded Rectangle 30"/>
            <p:cNvSpPr/>
            <p:nvPr/>
          </p:nvSpPr>
          <p:spPr>
            <a:xfrm>
              <a:off x="3243072" y="1426464"/>
              <a:ext cx="2657856" cy="1920240"/>
            </a:xfrm>
            <a:prstGeom prst="roundRect">
              <a:avLst>
                <a:gd name="adj" fmla="val 2857"/>
              </a:avLst>
            </a:prstGeom>
            <a:solidFill>
              <a:srgbClr val="FFFFFF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2" name="Oval 31"/>
            <p:cNvSpPr/>
            <p:nvPr/>
          </p:nvSpPr>
          <p:spPr>
            <a:xfrm>
              <a:off x="4261104" y="1609344"/>
              <a:ext cx="621792" cy="621792"/>
            </a:xfrm>
            <a:prstGeom prst="ellipse">
              <a:avLst/>
            </a:prstGeom>
            <a:solidFill>
              <a:srgbClr val="F5F5F7"/>
            </a:solidFill>
            <a:ln w="1270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3" name="Picture 32" descr="icon-circle-x-42424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97898" y="1746138"/>
              <a:ext cx="348203" cy="348203"/>
            </a:xfrm>
            <a:prstGeom prst="rect">
              <a:avLst/>
            </a:prstGeom>
          </p:spPr>
        </p:pic>
        <p:sp>
          <p:nvSpPr>
            <p:cNvPr id="34" name="TextBox 33"/>
            <p:cNvSpPr txBox="1"/>
            <p:nvPr/>
          </p:nvSpPr>
          <p:spPr>
            <a:xfrm>
              <a:off x="3371088" y="2377440"/>
              <a:ext cx="2401824" cy="29260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400" b="1">
                  <a:solidFill>
                    <a:srgbClr val="424242"/>
                  </a:solidFill>
                  <a:latin typeface="Source Code Pro"/>
                </a:rPr>
                <a:t>It Clearly Lost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407664" y="2706624"/>
              <a:ext cx="2328672" cy="51206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1200" b="0">
                  <a:solidFill>
                    <a:srgbClr val="6B6B6B"/>
                  </a:solidFill>
                  <a:latin typeface="Source Code Pro"/>
                </a:rPr>
                <a:t>You Avoided a Habit That Does Nothing</a:t>
              </a:r>
            </a:p>
          </p:txBody>
        </p:sp>
      </p:grpSp>
      <p:grpSp>
        <p:nvGrpSpPr>
          <p:cNvPr id="6" name="Too close to call"/>
          <p:cNvGrpSpPr/>
          <p:nvPr/>
        </p:nvGrpSpPr>
        <p:grpSpPr>
          <a:xfrm>
            <a:off x="6175248" y="1426464"/>
            <a:ext cx="2657856" cy="1920240"/>
            <a:chOff x="6175248" y="1426464"/>
            <a:chExt cx="2657856" cy="1920240"/>
          </a:xfrm>
        </p:grpSpPr>
        <p:sp>
          <p:nvSpPr>
            <p:cNvPr id="36" name="Rounded Rectangle 35"/>
            <p:cNvSpPr/>
            <p:nvPr/>
          </p:nvSpPr>
          <p:spPr>
            <a:xfrm>
              <a:off x="6175248" y="1426464"/>
              <a:ext cx="2657856" cy="1920240"/>
            </a:xfrm>
            <a:prstGeom prst="roundRect">
              <a:avLst>
                <a:gd name="adj" fmla="val 2857"/>
              </a:avLst>
            </a:prstGeom>
            <a:solidFill>
              <a:srgbClr val="FFFFFF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7" name="Oval 36"/>
            <p:cNvSpPr/>
            <p:nvPr/>
          </p:nvSpPr>
          <p:spPr>
            <a:xfrm>
              <a:off x="7193280" y="1609344"/>
              <a:ext cx="621792" cy="621792"/>
            </a:xfrm>
            <a:prstGeom prst="ellipse">
              <a:avLst/>
            </a:prstGeom>
            <a:solidFill>
              <a:srgbClr val="F5F5F7"/>
            </a:solidFill>
            <a:ln w="1270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8" name="Picture 37" descr="icon-scale-424242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30074" y="1746138"/>
              <a:ext cx="348203" cy="348203"/>
            </a:xfrm>
            <a:prstGeom prst="rect">
              <a:avLst/>
            </a:prstGeom>
          </p:spPr>
        </p:pic>
        <p:sp>
          <p:nvSpPr>
            <p:cNvPr id="39" name="TextBox 38"/>
            <p:cNvSpPr txBox="1"/>
            <p:nvPr/>
          </p:nvSpPr>
          <p:spPr>
            <a:xfrm>
              <a:off x="6303263" y="2377440"/>
              <a:ext cx="2401824" cy="29260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400" b="1">
                  <a:solidFill>
                    <a:srgbClr val="424242"/>
                  </a:solidFill>
                  <a:latin typeface="Source Code Pro"/>
                </a:rPr>
                <a:t>Too Close to Call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339839" y="2706624"/>
              <a:ext cx="2328672" cy="51206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1200" b="0">
                  <a:solidFill>
                    <a:srgbClr val="6B6B6B"/>
                  </a:solidFill>
                  <a:latin typeface="Source Code Pro"/>
                </a:rPr>
                <a:t>Keep the Control, Change Something Bigger</a:t>
              </a: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310896" y="3566160"/>
            <a:ext cx="8522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All three are results. A change that did nothing is worth knowing too.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Matters - The Skill Gets Better on Purpose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0896" y="1389888"/>
            <a:ext cx="1897380" cy="1005840"/>
          </a:xfrm>
          <a:prstGeom prst="roundRect">
            <a:avLst>
              <a:gd name="adj" fmla="val 4545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02336" y="1591056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Change One 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" y="1938528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In the Skill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272284" y="1847088"/>
            <a:ext cx="182880" cy="91440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519172" y="1389888"/>
            <a:ext cx="1897380" cy="1005840"/>
          </a:xfrm>
          <a:prstGeom prst="roundRect">
            <a:avLst>
              <a:gd name="adj" fmla="val 4545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610612" y="1591056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Run the Ten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10612" y="1938528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Both Versions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4480560" y="1847088"/>
            <a:ext cx="182880" cy="91440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727448" y="1389888"/>
            <a:ext cx="1897380" cy="1005840"/>
          </a:xfrm>
          <a:prstGeom prst="roundRect">
            <a:avLst>
              <a:gd name="adj" fmla="val 4545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818888" y="1543812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Score and Count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18888" y="1891284"/>
            <a:ext cx="171450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Against Your Criteria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6688836" y="1847088"/>
            <a:ext cx="182880" cy="91440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935724" y="1389888"/>
            <a:ext cx="1897380" cy="1005840"/>
          </a:xfrm>
          <a:prstGeom prst="roundRect">
            <a:avLst>
              <a:gd name="adj" fmla="val 4545"/>
            </a:avLst>
          </a:prstGeom>
          <a:solidFill>
            <a:srgbClr val="FBE4EC"/>
          </a:solidFill>
          <a:ln w="1270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027164" y="1543812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Keep the Winner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27164" y="1891284"/>
            <a:ext cx="171450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As the New Control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59586" y="2670048"/>
            <a:ext cx="6624828" cy="10972"/>
          </a:xfrm>
          <a:prstGeom prst="rect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7884414" y="2395728"/>
            <a:ext cx="10972" cy="274319"/>
          </a:xfrm>
          <a:prstGeom prst="rect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Up Arrow 42"/>
          <p:cNvSpPr/>
          <p:nvPr/>
        </p:nvSpPr>
        <p:spPr>
          <a:xfrm>
            <a:off x="1241298" y="2395728"/>
            <a:ext cx="91440" cy="274319"/>
          </a:xfrm>
          <a:prstGeom prst="up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0896" y="2743200"/>
            <a:ext cx="85222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B6B6B"/>
                </a:solidFill>
                <a:latin typeface="Source Code Pro"/>
              </a:rPr>
              <a:t>then move the next single line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0896" y="3291840"/>
            <a:ext cx="8522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Run the loop a few times, one line per pass. You end up knowing why every line is there.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Tally Does Not Tell You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310896" y="1389888"/>
          <a:ext cx="8522206" cy="18288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32732"/>
                <a:gridCol w="3298919"/>
                <a:gridCol w="3390555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>Your Result</a:t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>What It Supports</a:t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>What It Does Not</a:t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Coverage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These ten cases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Cases you did not think of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Shelf Life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The model as it is today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The model after its next update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Strength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A gap you can see across ten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A one- or two-case difference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310896" y="3364992"/>
            <a:ext cx="8522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A won test is evidence, not proof: this version, your cases, this week.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It Is Worth Ten Runs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" name="Worth testing"/>
          <p:cNvGrpSpPr/>
          <p:nvPr/>
        </p:nvGrpSpPr>
        <p:grpSpPr>
          <a:xfrm>
            <a:off x="310896" y="1426464"/>
            <a:ext cx="4123944" cy="2834640"/>
            <a:chOff x="310896" y="1426464"/>
            <a:chExt cx="4123944" cy="2834640"/>
          </a:xfrm>
        </p:grpSpPr>
        <p:sp>
          <p:nvSpPr>
            <p:cNvPr id="26" name="Rounded Rectangle 25"/>
            <p:cNvSpPr/>
            <p:nvPr/>
          </p:nvSpPr>
          <p:spPr>
            <a:xfrm>
              <a:off x="310896" y="1426464"/>
              <a:ext cx="4123944" cy="2834640"/>
            </a:xfrm>
            <a:prstGeom prst="roundRect">
              <a:avLst>
                <a:gd name="adj" fmla="val 1612"/>
              </a:avLst>
            </a:prstGeom>
            <a:solidFill>
              <a:srgbClr val="FFFFFF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7" name="Oval 26"/>
            <p:cNvSpPr/>
            <p:nvPr/>
          </p:nvSpPr>
          <p:spPr>
            <a:xfrm>
              <a:off x="493776" y="1591056"/>
              <a:ext cx="457200" cy="457200"/>
            </a:xfrm>
            <a:prstGeom prst="ellipse">
              <a:avLst/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8" name="Picture 27" descr="icon-flask-conical-FFFFFF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4360" y="1691640"/>
              <a:ext cx="256032" cy="256032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1078992" y="1591056"/>
              <a:ext cx="3209544" cy="4572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500" b="1">
                  <a:solidFill>
                    <a:srgbClr val="E91D63"/>
                  </a:solidFill>
                  <a:latin typeface="Source Code Pro"/>
                </a:rPr>
                <a:t>Worth Testing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530352" y="2414016"/>
              <a:ext cx="73152" cy="73152"/>
            </a:xfrm>
            <a:prstGeom prst="rect">
              <a:avLst/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1" name="TextBox 30"/>
            <p:cNvSpPr txBox="1"/>
            <p:nvPr/>
          </p:nvSpPr>
          <p:spPr>
            <a:xfrm>
              <a:off x="713232" y="2304288"/>
              <a:ext cx="3538727" cy="31089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A skill the team runs every week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530352" y="2871216"/>
              <a:ext cx="73152" cy="73152"/>
            </a:xfrm>
            <a:prstGeom prst="rect">
              <a:avLst/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3" name="TextBox 32"/>
            <p:cNvSpPr txBox="1"/>
            <p:nvPr/>
          </p:nvSpPr>
          <p:spPr>
            <a:xfrm>
              <a:off x="713232" y="2761488"/>
              <a:ext cx="3538727" cy="31089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Two wordings, no way to choose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530352" y="3328416"/>
              <a:ext cx="73152" cy="73152"/>
            </a:xfrm>
            <a:prstGeom prst="rect">
              <a:avLst/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5" name="TextBox 34"/>
            <p:cNvSpPr txBox="1"/>
            <p:nvPr/>
          </p:nvSpPr>
          <p:spPr>
            <a:xfrm>
              <a:off x="713232" y="3218688"/>
              <a:ext cx="3538727" cy="31089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A change that slows it down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530352" y="3785615"/>
              <a:ext cx="73152" cy="73152"/>
            </a:xfrm>
            <a:prstGeom prst="rect">
              <a:avLst/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7" name="TextBox 36"/>
            <p:cNvSpPr txBox="1"/>
            <p:nvPr/>
          </p:nvSpPr>
          <p:spPr>
            <a:xfrm>
              <a:off x="713232" y="3675887"/>
              <a:ext cx="3538727" cy="31089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A rule someone insists on adding</a:t>
              </a:r>
            </a:p>
          </p:txBody>
        </p:sp>
      </p:grpSp>
      <p:grpSp>
        <p:nvGrpSpPr>
          <p:cNvPr id="5" name="Just change it"/>
          <p:cNvGrpSpPr/>
          <p:nvPr/>
        </p:nvGrpSpPr>
        <p:grpSpPr>
          <a:xfrm>
            <a:off x="4709159" y="1426464"/>
            <a:ext cx="4123944" cy="2834640"/>
            <a:chOff x="4709159" y="1426464"/>
            <a:chExt cx="4123944" cy="2834640"/>
          </a:xfrm>
        </p:grpSpPr>
        <p:sp>
          <p:nvSpPr>
            <p:cNvPr id="38" name="Rounded Rectangle 37"/>
            <p:cNvSpPr/>
            <p:nvPr/>
          </p:nvSpPr>
          <p:spPr>
            <a:xfrm>
              <a:off x="4709159" y="1426464"/>
              <a:ext cx="4123944" cy="2834640"/>
            </a:xfrm>
            <a:prstGeom prst="roundRect">
              <a:avLst>
                <a:gd name="adj" fmla="val 1612"/>
              </a:avLst>
            </a:prstGeom>
            <a:solidFill>
              <a:srgbClr val="FFFFFF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9" name="Oval 38"/>
            <p:cNvSpPr/>
            <p:nvPr/>
          </p:nvSpPr>
          <p:spPr>
            <a:xfrm>
              <a:off x="4892040" y="1591056"/>
              <a:ext cx="457200" cy="457200"/>
            </a:xfrm>
            <a:prstGeom prst="ellipse">
              <a:avLst/>
            </a:prstGeom>
            <a:solidFill>
              <a:srgbClr val="F5F5F7"/>
            </a:solidFill>
            <a:ln w="1270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0" name="Picture 39" descr="icon-pencil-42424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92624" y="1691640"/>
              <a:ext cx="256032" cy="256032"/>
            </a:xfrm>
            <a:prstGeom prst="rect">
              <a:avLst/>
            </a:prstGeom>
          </p:spPr>
        </p:pic>
        <p:sp>
          <p:nvSpPr>
            <p:cNvPr id="41" name="TextBox 40"/>
            <p:cNvSpPr txBox="1"/>
            <p:nvPr/>
          </p:nvSpPr>
          <p:spPr>
            <a:xfrm>
              <a:off x="5477255" y="1591056"/>
              <a:ext cx="3209544" cy="4572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500" b="1">
                  <a:solidFill>
                    <a:srgbClr val="424242"/>
                  </a:solidFill>
                  <a:latin typeface="Source Code Pro"/>
                </a:rPr>
                <a:t>Just Change It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4928616" y="2414016"/>
              <a:ext cx="73152" cy="73152"/>
            </a:xfrm>
            <a:prstGeom prst="rect">
              <a:avLst/>
            </a:prstGeom>
            <a:solidFill>
              <a:srgbClr val="6B6B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3" name="TextBox 42"/>
            <p:cNvSpPr txBox="1"/>
            <p:nvPr/>
          </p:nvSpPr>
          <p:spPr>
            <a:xfrm>
              <a:off x="5111496" y="2304288"/>
              <a:ext cx="3538727" cy="31089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A plain mistake in the instructions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4928616" y="2871216"/>
              <a:ext cx="73152" cy="73152"/>
            </a:xfrm>
            <a:prstGeom prst="rect">
              <a:avLst/>
            </a:prstGeom>
            <a:solidFill>
              <a:srgbClr val="6B6B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5" name="TextBox 44"/>
            <p:cNvSpPr txBox="1"/>
            <p:nvPr/>
          </p:nvSpPr>
          <p:spPr>
            <a:xfrm>
              <a:off x="5111496" y="2761488"/>
              <a:ext cx="3538727" cy="31089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A skill you will use once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4928616" y="3328416"/>
              <a:ext cx="73152" cy="73152"/>
            </a:xfrm>
            <a:prstGeom prst="rect">
              <a:avLst/>
            </a:prstGeom>
            <a:solidFill>
              <a:srgbClr val="6B6B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7" name="TextBox 46"/>
            <p:cNvSpPr txBox="1"/>
            <p:nvPr/>
          </p:nvSpPr>
          <p:spPr>
            <a:xfrm>
              <a:off x="5111496" y="3218688"/>
              <a:ext cx="3538727" cy="31089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A change you can check in one read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4928616" y="3785615"/>
              <a:ext cx="73152" cy="73152"/>
            </a:xfrm>
            <a:prstGeom prst="rect">
              <a:avLst/>
            </a:prstGeom>
            <a:solidFill>
              <a:srgbClr val="6B6B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9" name="TextBox 48"/>
            <p:cNvSpPr txBox="1"/>
            <p:nvPr/>
          </p:nvSpPr>
          <p:spPr>
            <a:xfrm>
              <a:off x="5111496" y="3675887"/>
              <a:ext cx="3538727" cy="31089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A result you would ignore either way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0" y="0"/>
            <a:ext cx="9144000" cy="1572768"/>
          </a:xfrm>
          <a:prstGeom prst="rect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502920" y="0"/>
            <a:ext cx="8138160" cy="1572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Oswald"/>
              </a:rPr>
              <a:t>Let's See It in Action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1883664"/>
            <a:ext cx="8138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424242"/>
                </a:solidFill>
                <a:latin typeface="Source Code Pro"/>
              </a:rPr>
              <a:t>That is the method. Now we run one, live, on a real skill.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02920" y="2450592"/>
            <a:ext cx="1842516" cy="1716024"/>
          </a:xfrm>
          <a:prstGeom prst="roundRect">
            <a:avLst>
              <a:gd name="adj" fmla="val 2664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Oval 71"/>
          <p:cNvSpPr/>
          <p:nvPr/>
        </p:nvSpPr>
        <p:spPr>
          <a:xfrm>
            <a:off x="722376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722376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4088" y="3127248"/>
            <a:ext cx="144018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Write Criteria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4088" y="3651504"/>
            <a:ext cx="144018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Before the Change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601468" y="2450592"/>
            <a:ext cx="1842516" cy="1716024"/>
          </a:xfrm>
          <a:prstGeom prst="roundRect">
            <a:avLst>
              <a:gd name="adj" fmla="val 2664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Oval 76"/>
          <p:cNvSpPr/>
          <p:nvPr/>
        </p:nvSpPr>
        <p:spPr>
          <a:xfrm>
            <a:off x="2820924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2820924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802636" y="3127248"/>
            <a:ext cx="144018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Change One Line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802636" y="3651504"/>
            <a:ext cx="144018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And Nothing Else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700016" y="2450592"/>
            <a:ext cx="1842516" cy="1716024"/>
          </a:xfrm>
          <a:prstGeom prst="roundRect">
            <a:avLst>
              <a:gd name="adj" fmla="val 2664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Oval 81"/>
          <p:cNvSpPr/>
          <p:nvPr/>
        </p:nvSpPr>
        <p:spPr>
          <a:xfrm>
            <a:off x="4919472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4919472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901183" y="3127248"/>
            <a:ext cx="144018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Run Ten Cases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01183" y="3651504"/>
            <a:ext cx="144018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Both Versions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798564" y="2450592"/>
            <a:ext cx="1842516" cy="1716024"/>
          </a:xfrm>
          <a:prstGeom prst="roundRect">
            <a:avLst>
              <a:gd name="adj" fmla="val 2664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Oval 86"/>
          <p:cNvSpPr/>
          <p:nvPr/>
        </p:nvSpPr>
        <p:spPr>
          <a:xfrm>
            <a:off x="7018020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7018020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999731" y="3127248"/>
            <a:ext cx="144018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Tally and Decide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999731" y="3651504"/>
            <a:ext cx="144018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Adopt or Discard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