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0" r:id="rId5"/>
    <p:sldMasterId id="2147483671" r:id="rId6"/>
  </p:sldMasterIdLst>
  <p:notesMasterIdLst>
    <p:notesMasterId r:id="rId7"/>
  </p:notesMasterIdLst>
  <p:sldIdLst>
    <p:sldId id="256" r:id="rId14"/>
    <p:sldId id="257" r:id="rId15"/>
    <p:sldId id="258" r:id="rId16"/>
    <p:sldId id="259" r:id="rId17"/>
    <p:sldId id="260" r:id="rId18"/>
    <p:sldId id="261" r:id="rId19"/>
    <p:sldId id="262" r:id="rId20"/>
    <p:sldId id="263" r:id="rId21"/>
    <p:sldId id="264" r:id="rId22"/>
    <p:sldId id="265" r:id="rId23"/>
    <p:sldId id="266" r:id="rId13"/>
  </p:sldIdLst>
  <p:sldSz cy="5143500" cx="9144000"/>
  <p:notesSz cx="6858000" cy="9144000"/>
  <p:embeddedFontLst>
    <p:embeddedFont>
      <p:font typeface="Source Code Pro"/>
      <p:regular r:id="rId24"/>
      <p:bold r:id="rId25"/>
      <p:italic r:id="rId26"/>
      <p:boldItalic r:id="rId27"/>
    </p:embeddedFont>
    <p:embeddedFont>
      <p:font typeface="Oswald"/>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673574E-313A-4E41-A38C-36F247BE0EA5}">
  <a:tblStyle styleId="{3673574E-313A-4E41-A38C-36F247BE0EA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709F496F-DB3D-4476-992D-8F9A65F79524}"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13" Type="http://schemas.openxmlformats.org/officeDocument/2006/relationships/slide" Target="slides/slide1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font" Target="fonts/SourceCodePro-regular.fntdata"/><Relationship Id="rId25" Type="http://schemas.openxmlformats.org/officeDocument/2006/relationships/font" Target="fonts/SourceCodePro-bold.fntdata"/><Relationship Id="rId26" Type="http://schemas.openxmlformats.org/officeDocument/2006/relationships/font" Target="fonts/SourceCodePro-italic.fntdata"/><Relationship Id="rId27" Type="http://schemas.openxmlformats.org/officeDocument/2006/relationships/font" Target="fonts/SourceCodePro-boldItalic.fntdata"/><Relationship Id="rId28" Type="http://schemas.openxmlformats.org/officeDocument/2006/relationships/font" Target="fonts/Oswald-regular.fntdata"/><Relationship Id="rId29" Type="http://schemas.openxmlformats.org/officeDocument/2006/relationships/font" Target="fonts/Oswa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10800000">
            <a:off x="4226100" y="2933550"/>
            <a:ext cx="691800" cy="3885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25" y="0"/>
            <a:ext cx="9144000" cy="3124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411175" y="644300"/>
            <a:ext cx="8282400" cy="21090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6000"/>
              <a:buNone/>
              <a:defRPr sz="6000">
                <a:solidFill>
                  <a:schemeClr val="l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p:txBody>
      </p:sp>
      <p:sp>
        <p:nvSpPr>
          <p:cNvPr id="13" name="Google Shape;13;p2"/>
          <p:cNvSpPr txBox="1"/>
          <p:nvPr>
            <p:ph idx="1" type="subTitle"/>
          </p:nvPr>
        </p:nvSpPr>
        <p:spPr>
          <a:xfrm>
            <a:off x="411175" y="3398250"/>
            <a:ext cx="8282400" cy="12606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5" name="Google Shape;15;p2"/>
          <p:cNvSpPr txBox="1"/>
          <p:nvPr/>
        </p:nvSpPr>
        <p:spPr>
          <a:xfrm>
            <a:off x="411175" y="79900"/>
            <a:ext cx="8282400" cy="380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Source Code Pro"/>
                <a:ea typeface="Source Code Pro"/>
                <a:cs typeface="Source Code Pro"/>
                <a:sym typeface="Source Code Pro"/>
              </a:rPr>
              <a:t>The Complete Prompt Engineering for AI Bootcamp</a:t>
            </a:r>
            <a:endParaRPr sz="1100">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3"/>
          <p:cNvSpPr/>
          <p:nvPr/>
        </p:nvSpPr>
        <p:spPr>
          <a:xfrm>
            <a:off x="0" y="1567350"/>
            <a:ext cx="9144000" cy="2008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0" name="Google Shape;20;p3"/>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p4"/>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3" name="Google Shape;23;p4"/>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4" name="Google Shape;24;p4"/>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Google Shape;26;p4"/>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cxnSp>
        <p:nvCxnSpPr>
          <p:cNvPr id="28" name="Google Shape;28;p5"/>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9" name="Google Shape;29;p5"/>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0" name="Google Shape;30;p5"/>
          <p:cNvSpPr txBox="1"/>
          <p:nvPr>
            <p:ph idx="1" type="body"/>
          </p:nvPr>
        </p:nvSpPr>
        <p:spPr>
          <a:xfrm>
            <a:off x="3117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5"/>
          <p:cNvSpPr txBox="1"/>
          <p:nvPr>
            <p:ph idx="2" type="body"/>
          </p:nvPr>
        </p:nvSpPr>
        <p:spPr>
          <a:xfrm>
            <a:off x="48324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3" name="Google Shape;33;p5"/>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 name="Shape 34"/>
        <p:cNvGrpSpPr/>
        <p:nvPr/>
      </p:nvGrpSpPr>
      <p:grpSpPr>
        <a:xfrm>
          <a:off x="0" y="0"/>
          <a:ext cx="0" cy="0"/>
          <a:chOff x="0" y="0"/>
          <a:chExt cx="0" cy="0"/>
        </a:xfrm>
      </p:grpSpPr>
      <p:sp>
        <p:nvSpPr>
          <p:cNvPr id="35" name="Google Shape;35;p6"/>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6"/>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cxnSp>
        <p:nvCxnSpPr>
          <p:cNvPr id="39" name="Google Shape;39;p7"/>
          <p:cNvCxnSpPr/>
          <p:nvPr/>
        </p:nvCxnSpPr>
        <p:spPr>
          <a:xfrm>
            <a:off x="418675" y="1457787"/>
            <a:ext cx="614100" cy="0"/>
          </a:xfrm>
          <a:prstGeom prst="straightConnector1">
            <a:avLst/>
          </a:prstGeom>
          <a:noFill/>
          <a:ln cap="flat" cmpd="sng" w="19050">
            <a:solidFill>
              <a:schemeClr val="dk2"/>
            </a:solidFill>
            <a:prstDash val="lgDash"/>
            <a:round/>
            <a:headEnd len="sm" w="sm" type="none"/>
            <a:tailEnd len="sm" w="sm" type="none"/>
          </a:ln>
        </p:spPr>
      </p:cxnSp>
      <p:sp>
        <p:nvSpPr>
          <p:cNvPr id="40" name="Google Shape;40;p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1" name="Google Shape;41;p7"/>
          <p:cNvSpPr txBox="1"/>
          <p:nvPr>
            <p:ph idx="1" type="body"/>
          </p:nvPr>
        </p:nvSpPr>
        <p:spPr>
          <a:xfrm>
            <a:off x="311700" y="1618204"/>
            <a:ext cx="2808000" cy="2950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3" name="Google Shape;43;p7"/>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44" name="Shape 44"/>
        <p:cNvGrpSpPr/>
        <p:nvPr/>
      </p:nvGrpSpPr>
      <p:grpSpPr>
        <a:xfrm>
          <a:off x="0" y="0"/>
          <a:ext cx="0" cy="0"/>
          <a:chOff x="0" y="0"/>
          <a:chExt cx="0" cy="0"/>
        </a:xfrm>
      </p:grpSpPr>
      <p:sp>
        <p:nvSpPr>
          <p:cNvPr id="45" name="Google Shape;45;p8"/>
          <p:cNvSpPr txBox="1"/>
          <p:nvPr>
            <p:ph type="title"/>
          </p:nvPr>
        </p:nvSpPr>
        <p:spPr>
          <a:xfrm>
            <a:off x="490250" y="528900"/>
            <a:ext cx="5678100" cy="40857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5400"/>
              <a:buNone/>
              <a:defRPr sz="5400">
                <a:solidFill>
                  <a:schemeClr val="lt1"/>
                </a:solidFill>
              </a:defRPr>
            </a:lvl1pPr>
            <a:lvl2pPr lvl="1">
              <a:spcBef>
                <a:spcPts val="0"/>
              </a:spcBef>
              <a:spcAft>
                <a:spcPts val="0"/>
              </a:spcAft>
              <a:buClr>
                <a:schemeClr val="lt1"/>
              </a:buClr>
              <a:buSzPts val="5400"/>
              <a:buNone/>
              <a:defRPr sz="5400">
                <a:solidFill>
                  <a:schemeClr val="lt1"/>
                </a:solidFill>
              </a:defRPr>
            </a:lvl2pPr>
            <a:lvl3pPr lvl="2">
              <a:spcBef>
                <a:spcPts val="0"/>
              </a:spcBef>
              <a:spcAft>
                <a:spcPts val="0"/>
              </a:spcAft>
              <a:buClr>
                <a:schemeClr val="lt1"/>
              </a:buClr>
              <a:buSzPts val="5400"/>
              <a:buNone/>
              <a:defRPr sz="5400">
                <a:solidFill>
                  <a:schemeClr val="lt1"/>
                </a:solidFill>
              </a:defRPr>
            </a:lvl3pPr>
            <a:lvl4pPr lvl="3">
              <a:spcBef>
                <a:spcPts val="0"/>
              </a:spcBef>
              <a:spcAft>
                <a:spcPts val="0"/>
              </a:spcAft>
              <a:buClr>
                <a:schemeClr val="lt1"/>
              </a:buClr>
              <a:buSzPts val="5400"/>
              <a:buNone/>
              <a:defRPr sz="5400">
                <a:solidFill>
                  <a:schemeClr val="lt1"/>
                </a:solidFill>
              </a:defRPr>
            </a:lvl4pPr>
            <a:lvl5pPr lvl="4">
              <a:spcBef>
                <a:spcPts val="0"/>
              </a:spcBef>
              <a:spcAft>
                <a:spcPts val="0"/>
              </a:spcAft>
              <a:buClr>
                <a:schemeClr val="lt1"/>
              </a:buClr>
              <a:buSzPts val="5400"/>
              <a:buNone/>
              <a:defRPr sz="5400">
                <a:solidFill>
                  <a:schemeClr val="lt1"/>
                </a:solidFill>
              </a:defRPr>
            </a:lvl5pPr>
            <a:lvl6pPr lvl="5">
              <a:spcBef>
                <a:spcPts val="0"/>
              </a:spcBef>
              <a:spcAft>
                <a:spcPts val="0"/>
              </a:spcAft>
              <a:buClr>
                <a:schemeClr val="lt1"/>
              </a:buClr>
              <a:buSzPts val="5400"/>
              <a:buNone/>
              <a:defRPr sz="5400">
                <a:solidFill>
                  <a:schemeClr val="lt1"/>
                </a:solidFill>
              </a:defRPr>
            </a:lvl6pPr>
            <a:lvl7pPr lvl="6">
              <a:spcBef>
                <a:spcPts val="0"/>
              </a:spcBef>
              <a:spcAft>
                <a:spcPts val="0"/>
              </a:spcAft>
              <a:buClr>
                <a:schemeClr val="lt1"/>
              </a:buClr>
              <a:buSzPts val="5400"/>
              <a:buNone/>
              <a:defRPr sz="5400">
                <a:solidFill>
                  <a:schemeClr val="lt1"/>
                </a:solidFill>
              </a:defRPr>
            </a:lvl7pPr>
            <a:lvl8pPr lvl="7">
              <a:spcBef>
                <a:spcPts val="0"/>
              </a:spcBef>
              <a:spcAft>
                <a:spcPts val="0"/>
              </a:spcAft>
              <a:buClr>
                <a:schemeClr val="lt1"/>
              </a:buClr>
              <a:buSzPts val="5400"/>
              <a:buNone/>
              <a:defRPr sz="5400">
                <a:solidFill>
                  <a:schemeClr val="lt1"/>
                </a:solidFill>
              </a:defRPr>
            </a:lvl8pPr>
            <a:lvl9pPr lvl="8">
              <a:spcBef>
                <a:spcPts val="0"/>
              </a:spcBef>
              <a:spcAft>
                <a:spcPts val="0"/>
              </a:spcAft>
              <a:buClr>
                <a:schemeClr val="lt1"/>
              </a:buClr>
              <a:buSzPts val="5400"/>
              <a:buNone/>
              <a:defRPr sz="5400">
                <a:solidFill>
                  <a:schemeClr val="lt1"/>
                </a:solidFill>
              </a:defRPr>
            </a:lvl9pPr>
          </a:lstStyle>
          <a:p/>
        </p:txBody>
      </p:sp>
      <p:sp>
        <p:nvSpPr>
          <p:cNvPr id="46" name="Google Shape;46;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47" name="Google Shape;47;p8"/>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lt1"/>
                </a:solidFill>
                <a:latin typeface="Source Code Pro"/>
                <a:ea typeface="Source Code Pro"/>
                <a:cs typeface="Source Code Pro"/>
                <a:sym typeface="Source Code Pro"/>
              </a:rPr>
              <a:t>The Complete Prompt Engineering for AI Bootcamp</a:t>
            </a:r>
            <a:endParaRPr sz="900">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48" name="Shape 48"/>
        <p:cNvGrpSpPr/>
        <p:nvPr/>
      </p:nvGrpSpPr>
      <p:grpSpPr>
        <a:xfrm>
          <a:off x="0" y="0"/>
          <a:ext cx="0" cy="0"/>
          <a:chOff x="0" y="0"/>
          <a:chExt cx="0" cy="0"/>
        </a:xfrm>
      </p:grpSpPr>
      <p:sp>
        <p:nvSpPr>
          <p:cNvPr id="49" name="Google Shape;49;p9"/>
          <p:cNvSpPr/>
          <p:nvPr/>
        </p:nvSpPr>
        <p:spPr>
          <a:xfrm>
            <a:off x="4572000" y="17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 name="Google Shape;50;p9"/>
          <p:cNvCxnSpPr/>
          <p:nvPr/>
        </p:nvCxnSpPr>
        <p:spPr>
          <a:xfrm>
            <a:off x="5029675" y="4495500"/>
            <a:ext cx="577200" cy="0"/>
          </a:xfrm>
          <a:prstGeom prst="straightConnector1">
            <a:avLst/>
          </a:prstGeom>
          <a:noFill/>
          <a:ln cap="flat" cmpd="sng" w="19050">
            <a:solidFill>
              <a:schemeClr val="dk1"/>
            </a:solidFill>
            <a:prstDash val="lgDash"/>
            <a:round/>
            <a:headEnd len="sm" w="sm" type="none"/>
            <a:tailEnd len="sm" w="sm" type="none"/>
          </a:ln>
        </p:spPr>
      </p:cxnSp>
      <p:sp>
        <p:nvSpPr>
          <p:cNvPr id="51" name="Google Shape;51;p9"/>
          <p:cNvSpPr txBox="1"/>
          <p:nvPr>
            <p:ph type="title"/>
          </p:nvPr>
        </p:nvSpPr>
        <p:spPr>
          <a:xfrm>
            <a:off x="265500" y="1078750"/>
            <a:ext cx="4045200" cy="1789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4600"/>
              <a:buNone/>
              <a:defRPr sz="4600">
                <a:solidFill>
                  <a:schemeClr val="lt1"/>
                </a:solidFill>
              </a:defRPr>
            </a:lvl1pPr>
            <a:lvl2pPr lvl="1" algn="ctr">
              <a:spcBef>
                <a:spcPts val="0"/>
              </a:spcBef>
              <a:spcAft>
                <a:spcPts val="0"/>
              </a:spcAft>
              <a:buClr>
                <a:schemeClr val="lt1"/>
              </a:buClr>
              <a:buSzPts val="4600"/>
              <a:buNone/>
              <a:defRPr sz="4600">
                <a:solidFill>
                  <a:schemeClr val="lt1"/>
                </a:solidFill>
              </a:defRPr>
            </a:lvl2pPr>
            <a:lvl3pPr lvl="2" algn="ctr">
              <a:spcBef>
                <a:spcPts val="0"/>
              </a:spcBef>
              <a:spcAft>
                <a:spcPts val="0"/>
              </a:spcAft>
              <a:buClr>
                <a:schemeClr val="lt1"/>
              </a:buClr>
              <a:buSzPts val="4600"/>
              <a:buNone/>
              <a:defRPr sz="4600">
                <a:solidFill>
                  <a:schemeClr val="lt1"/>
                </a:solidFill>
              </a:defRPr>
            </a:lvl3pPr>
            <a:lvl4pPr lvl="3" algn="ctr">
              <a:spcBef>
                <a:spcPts val="0"/>
              </a:spcBef>
              <a:spcAft>
                <a:spcPts val="0"/>
              </a:spcAft>
              <a:buClr>
                <a:schemeClr val="lt1"/>
              </a:buClr>
              <a:buSzPts val="4600"/>
              <a:buNone/>
              <a:defRPr sz="4600">
                <a:solidFill>
                  <a:schemeClr val="lt1"/>
                </a:solidFill>
              </a:defRPr>
            </a:lvl4pPr>
            <a:lvl5pPr lvl="4" algn="ctr">
              <a:spcBef>
                <a:spcPts val="0"/>
              </a:spcBef>
              <a:spcAft>
                <a:spcPts val="0"/>
              </a:spcAft>
              <a:buClr>
                <a:schemeClr val="lt1"/>
              </a:buClr>
              <a:buSzPts val="4600"/>
              <a:buNone/>
              <a:defRPr sz="4600">
                <a:solidFill>
                  <a:schemeClr val="lt1"/>
                </a:solidFill>
              </a:defRPr>
            </a:lvl5pPr>
            <a:lvl6pPr lvl="5" algn="ctr">
              <a:spcBef>
                <a:spcPts val="0"/>
              </a:spcBef>
              <a:spcAft>
                <a:spcPts val="0"/>
              </a:spcAft>
              <a:buClr>
                <a:schemeClr val="lt1"/>
              </a:buClr>
              <a:buSzPts val="4600"/>
              <a:buNone/>
              <a:defRPr sz="4600">
                <a:solidFill>
                  <a:schemeClr val="lt1"/>
                </a:solidFill>
              </a:defRPr>
            </a:lvl6pPr>
            <a:lvl7pPr lvl="6" algn="ctr">
              <a:spcBef>
                <a:spcPts val="0"/>
              </a:spcBef>
              <a:spcAft>
                <a:spcPts val="0"/>
              </a:spcAft>
              <a:buClr>
                <a:schemeClr val="lt1"/>
              </a:buClr>
              <a:buSzPts val="4600"/>
              <a:buNone/>
              <a:defRPr sz="4600">
                <a:solidFill>
                  <a:schemeClr val="lt1"/>
                </a:solidFill>
              </a:defRPr>
            </a:lvl7pPr>
            <a:lvl8pPr lvl="7" algn="ctr">
              <a:spcBef>
                <a:spcPts val="0"/>
              </a:spcBef>
              <a:spcAft>
                <a:spcPts val="0"/>
              </a:spcAft>
              <a:buClr>
                <a:schemeClr val="lt1"/>
              </a:buClr>
              <a:buSzPts val="4600"/>
              <a:buNone/>
              <a:defRPr sz="4600">
                <a:solidFill>
                  <a:schemeClr val="lt1"/>
                </a:solidFill>
              </a:defRPr>
            </a:lvl8pPr>
            <a:lvl9pPr lvl="8" algn="ctr">
              <a:spcBef>
                <a:spcPts val="0"/>
              </a:spcBef>
              <a:spcAft>
                <a:spcPts val="0"/>
              </a:spcAft>
              <a:buClr>
                <a:schemeClr val="lt1"/>
              </a:buClr>
              <a:buSzPts val="4600"/>
              <a:buNone/>
              <a:defRPr sz="4600">
                <a:solidFill>
                  <a:schemeClr val="lt1"/>
                </a:solidFill>
              </a:defRPr>
            </a:lvl9pPr>
          </a:lstStyle>
          <a:p/>
        </p:txBody>
      </p:sp>
      <p:sp>
        <p:nvSpPr>
          <p:cNvPr id="52" name="Google Shape;52;p9"/>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4" name="Google Shape;5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9"/>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6" name="Shape 56"/>
        <p:cNvGrpSpPr/>
        <p:nvPr/>
      </p:nvGrpSpPr>
      <p:grpSpPr>
        <a:xfrm>
          <a:off x="0" y="0"/>
          <a:ext cx="0" cy="0"/>
          <a:chOff x="0" y="0"/>
          <a:chExt cx="0" cy="0"/>
        </a:xfrm>
      </p:grpSpPr>
      <p:sp>
        <p:nvSpPr>
          <p:cNvPr id="57" name="Google Shape;57;p10"/>
          <p:cNvSpPr txBox="1"/>
          <p:nvPr>
            <p:ph idx="1" type="body"/>
          </p:nvPr>
        </p:nvSpPr>
        <p:spPr>
          <a:xfrm>
            <a:off x="311700" y="406472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Font typeface="Oswald"/>
              <a:buNone/>
              <a:defRPr sz="2100">
                <a:latin typeface="Oswald"/>
                <a:ea typeface="Oswald"/>
                <a:cs typeface="Oswald"/>
                <a:sym typeface="Oswald"/>
              </a:defRPr>
            </a:lvl1pPr>
          </a:lstStyle>
          <a:p/>
        </p:txBody>
      </p:sp>
      <p:sp>
        <p:nvSpPr>
          <p:cNvPr id="58" name="Google Shape;58;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10"/>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13275" y="2988275"/>
            <a:ext cx="910500" cy="0"/>
          </a:xfrm>
          <a:prstGeom prst="straightConnector1">
            <a:avLst/>
          </a:prstGeom>
          <a:noFill/>
          <a:ln cap="flat" cmpd="sng" w="28575">
            <a:solidFill>
              <a:schemeClr val="dk1"/>
            </a:solidFill>
            <a:prstDash val="lgDash"/>
            <a:round/>
            <a:headEnd len="sm" w="sm" type="none"/>
            <a:tailEnd len="sm" w="sm" type="none"/>
          </a:ln>
        </p:spPr>
      </p:cxnSp>
      <p:sp>
        <p:nvSpPr>
          <p:cNvPr id="62" name="Google Shape;62;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spcBef>
                <a:spcPts val="0"/>
              </a:spcBef>
              <a:spcAft>
                <a:spcPts val="0"/>
              </a:spcAft>
              <a:buSzPts val="12000"/>
              <a:buNone/>
              <a:defRPr sz="12000"/>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63" name="Google Shape;63;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4" name="Google Shape;6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1"/>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12"/>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3" name="Shape 73"/>
        <p:cNvGrpSpPr/>
        <p:nvPr/>
      </p:nvGrpSpPr>
      <p:grpSpPr>
        <a:xfrm>
          <a:off x="0" y="0"/>
          <a:ext cx="0" cy="0"/>
          <a:chOff x="0" y="0"/>
          <a:chExt cx="0" cy="0"/>
        </a:xfrm>
      </p:grpSpPr>
      <p:sp>
        <p:nvSpPr>
          <p:cNvPr id="74" name="Google Shape;74;p14"/>
          <p:cNvSpPr/>
          <p:nvPr/>
        </p:nvSpPr>
        <p:spPr>
          <a:xfrm rot="10800000">
            <a:off x="4226100" y="2933550"/>
            <a:ext cx="691800" cy="3885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4"/>
          <p:cNvSpPr/>
          <p:nvPr/>
        </p:nvSpPr>
        <p:spPr>
          <a:xfrm>
            <a:off x="-25" y="0"/>
            <a:ext cx="9144000" cy="31242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14"/>
          <p:cNvSpPr txBox="1"/>
          <p:nvPr>
            <p:ph type="ctrTitle"/>
          </p:nvPr>
        </p:nvSpPr>
        <p:spPr>
          <a:xfrm>
            <a:off x="411175" y="644300"/>
            <a:ext cx="8282400" cy="21090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6000"/>
              <a:buNone/>
              <a:defRPr sz="6000">
                <a:solidFill>
                  <a:schemeClr val="lt1"/>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77" name="Google Shape;77;p14"/>
          <p:cNvSpPr txBox="1"/>
          <p:nvPr>
            <p:ph idx="1" type="subTitle"/>
          </p:nvPr>
        </p:nvSpPr>
        <p:spPr>
          <a:xfrm>
            <a:off x="411175" y="3398250"/>
            <a:ext cx="8282400" cy="12606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p:txBody>
      </p:sp>
      <p:sp>
        <p:nvSpPr>
          <p:cNvPr id="78" name="Google Shape;78;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79" name="Google Shape;79;p14"/>
          <p:cNvSpPr txBox="1"/>
          <p:nvPr/>
        </p:nvSpPr>
        <p:spPr>
          <a:xfrm>
            <a:off x="411175" y="79900"/>
            <a:ext cx="8282400" cy="380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lt1"/>
                </a:solidFill>
                <a:latin typeface="Source Code Pro"/>
                <a:ea typeface="Source Code Pro"/>
                <a:cs typeface="Source Code Pro"/>
                <a:sym typeface="Source Code Pro"/>
              </a:rPr>
              <a:t>The Complete Prompt Engineering for AI Bootcamp</a:t>
            </a:r>
            <a:endParaRPr b="0" i="0" sz="1100" u="none" cap="none" strike="noStrike">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0" name="Shape 80"/>
        <p:cNvGrpSpPr/>
        <p:nvPr/>
      </p:nvGrpSpPr>
      <p:grpSpPr>
        <a:xfrm>
          <a:off x="0" y="0"/>
          <a:ext cx="0" cy="0"/>
          <a:chOff x="0" y="0"/>
          <a:chExt cx="0" cy="0"/>
        </a:xfrm>
      </p:grpSpPr>
      <p:cxnSp>
        <p:nvCxnSpPr>
          <p:cNvPr id="81" name="Google Shape;81;p15"/>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82" name="Google Shape;82;p15"/>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83" name="Google Shape;83;p15"/>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4" name="Google Shape;84;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85" name="Google Shape;85;p15"/>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6" name="Shape 86"/>
        <p:cNvGrpSpPr/>
        <p:nvPr/>
      </p:nvGrpSpPr>
      <p:grpSpPr>
        <a:xfrm>
          <a:off x="0" y="0"/>
          <a:ext cx="0" cy="0"/>
          <a:chOff x="0" y="0"/>
          <a:chExt cx="0" cy="0"/>
        </a:xfrm>
      </p:grpSpPr>
      <p:sp>
        <p:nvSpPr>
          <p:cNvPr id="87" name="Google Shape;87;p16"/>
          <p:cNvSpPr/>
          <p:nvPr/>
        </p:nvSpPr>
        <p:spPr>
          <a:xfrm>
            <a:off x="0" y="1567350"/>
            <a:ext cx="9144000" cy="2008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16"/>
          <p:cNvSpPr txBox="1"/>
          <p:nvPr>
            <p:ph type="title"/>
          </p:nvPr>
        </p:nvSpPr>
        <p:spPr>
          <a:xfrm>
            <a:off x="430800" y="1889700"/>
            <a:ext cx="8282400" cy="15165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3600"/>
              <a:buNone/>
              <a:defRPr sz="3600">
                <a:solidFill>
                  <a:schemeClr val="lt1"/>
                </a:solidFill>
              </a:defRPr>
            </a:lvl1pPr>
            <a:lvl2pPr lvl="1" algn="ctr">
              <a:lnSpc>
                <a:spcPct val="100000"/>
              </a:lnSpc>
              <a:spcBef>
                <a:spcPts val="0"/>
              </a:spcBef>
              <a:spcAft>
                <a:spcPts val="0"/>
              </a:spcAft>
              <a:buClr>
                <a:schemeClr val="lt1"/>
              </a:buClr>
              <a:buSzPts val="3600"/>
              <a:buNone/>
              <a:defRPr sz="3600">
                <a:solidFill>
                  <a:schemeClr val="lt1"/>
                </a:solidFill>
              </a:defRPr>
            </a:lvl2pPr>
            <a:lvl3pPr lvl="2" algn="ctr">
              <a:lnSpc>
                <a:spcPct val="100000"/>
              </a:lnSpc>
              <a:spcBef>
                <a:spcPts val="0"/>
              </a:spcBef>
              <a:spcAft>
                <a:spcPts val="0"/>
              </a:spcAft>
              <a:buClr>
                <a:schemeClr val="lt1"/>
              </a:buClr>
              <a:buSzPts val="3600"/>
              <a:buNone/>
              <a:defRPr sz="3600">
                <a:solidFill>
                  <a:schemeClr val="lt1"/>
                </a:solidFill>
              </a:defRPr>
            </a:lvl3pPr>
            <a:lvl4pPr lvl="3" algn="ctr">
              <a:lnSpc>
                <a:spcPct val="100000"/>
              </a:lnSpc>
              <a:spcBef>
                <a:spcPts val="0"/>
              </a:spcBef>
              <a:spcAft>
                <a:spcPts val="0"/>
              </a:spcAft>
              <a:buClr>
                <a:schemeClr val="lt1"/>
              </a:buClr>
              <a:buSzPts val="3600"/>
              <a:buNone/>
              <a:defRPr sz="3600">
                <a:solidFill>
                  <a:schemeClr val="lt1"/>
                </a:solidFill>
              </a:defRPr>
            </a:lvl4pPr>
            <a:lvl5pPr lvl="4" algn="ctr">
              <a:lnSpc>
                <a:spcPct val="100000"/>
              </a:lnSpc>
              <a:spcBef>
                <a:spcPts val="0"/>
              </a:spcBef>
              <a:spcAft>
                <a:spcPts val="0"/>
              </a:spcAft>
              <a:buClr>
                <a:schemeClr val="lt1"/>
              </a:buClr>
              <a:buSzPts val="3600"/>
              <a:buNone/>
              <a:defRPr sz="3600">
                <a:solidFill>
                  <a:schemeClr val="lt1"/>
                </a:solidFill>
              </a:defRPr>
            </a:lvl5pPr>
            <a:lvl6pPr lvl="5" algn="ctr">
              <a:lnSpc>
                <a:spcPct val="100000"/>
              </a:lnSpc>
              <a:spcBef>
                <a:spcPts val="0"/>
              </a:spcBef>
              <a:spcAft>
                <a:spcPts val="0"/>
              </a:spcAft>
              <a:buClr>
                <a:schemeClr val="lt1"/>
              </a:buClr>
              <a:buSzPts val="3600"/>
              <a:buNone/>
              <a:defRPr sz="3600">
                <a:solidFill>
                  <a:schemeClr val="lt1"/>
                </a:solidFill>
              </a:defRPr>
            </a:lvl6pPr>
            <a:lvl7pPr lvl="6" algn="ctr">
              <a:lnSpc>
                <a:spcPct val="100000"/>
              </a:lnSpc>
              <a:spcBef>
                <a:spcPts val="0"/>
              </a:spcBef>
              <a:spcAft>
                <a:spcPts val="0"/>
              </a:spcAft>
              <a:buClr>
                <a:schemeClr val="lt1"/>
              </a:buClr>
              <a:buSzPts val="3600"/>
              <a:buNone/>
              <a:defRPr sz="3600">
                <a:solidFill>
                  <a:schemeClr val="lt1"/>
                </a:solidFill>
              </a:defRPr>
            </a:lvl7pPr>
            <a:lvl8pPr lvl="7" algn="ctr">
              <a:lnSpc>
                <a:spcPct val="100000"/>
              </a:lnSpc>
              <a:spcBef>
                <a:spcPts val="0"/>
              </a:spcBef>
              <a:spcAft>
                <a:spcPts val="0"/>
              </a:spcAft>
              <a:buClr>
                <a:schemeClr val="lt1"/>
              </a:buClr>
              <a:buSzPts val="3600"/>
              <a:buNone/>
              <a:defRPr sz="3600">
                <a:solidFill>
                  <a:schemeClr val="lt1"/>
                </a:solidFill>
              </a:defRPr>
            </a:lvl8pPr>
            <a:lvl9pPr lvl="8" algn="ctr">
              <a:lnSpc>
                <a:spcPct val="100000"/>
              </a:lnSpc>
              <a:spcBef>
                <a:spcPts val="0"/>
              </a:spcBef>
              <a:spcAft>
                <a:spcPts val="0"/>
              </a:spcAft>
              <a:buClr>
                <a:schemeClr val="lt1"/>
              </a:buClr>
              <a:buSzPts val="3600"/>
              <a:buNone/>
              <a:defRPr sz="3600">
                <a:solidFill>
                  <a:schemeClr val="lt1"/>
                </a:solidFill>
              </a:defRPr>
            </a:lvl9pPr>
          </a:lstStyle>
          <a:p/>
        </p:txBody>
      </p:sp>
      <p:sp>
        <p:nvSpPr>
          <p:cNvPr id="89" name="Google Shape;89;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90" name="Google Shape;90;p16"/>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cxnSp>
        <p:nvCxnSpPr>
          <p:cNvPr id="92" name="Google Shape;92;p17"/>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93" name="Google Shape;93;p17"/>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4" name="Google Shape;94;p17"/>
          <p:cNvSpPr txBox="1"/>
          <p:nvPr>
            <p:ph idx="1" type="body"/>
          </p:nvPr>
        </p:nvSpPr>
        <p:spPr>
          <a:xfrm>
            <a:off x="311700" y="1468825"/>
            <a:ext cx="3999900" cy="3099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95" name="Google Shape;95;p17"/>
          <p:cNvSpPr txBox="1"/>
          <p:nvPr>
            <p:ph idx="2" type="body"/>
          </p:nvPr>
        </p:nvSpPr>
        <p:spPr>
          <a:xfrm>
            <a:off x="4832400" y="1468825"/>
            <a:ext cx="3999900" cy="3099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96" name="Google Shape;96;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97" name="Google Shape;97;p17"/>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8" name="Shape 98"/>
        <p:cNvGrpSpPr/>
        <p:nvPr/>
      </p:nvGrpSpPr>
      <p:grpSpPr>
        <a:xfrm>
          <a:off x="0" y="0"/>
          <a:ext cx="0" cy="0"/>
          <a:chOff x="0" y="0"/>
          <a:chExt cx="0" cy="0"/>
        </a:xfrm>
      </p:grpSpPr>
      <p:sp>
        <p:nvSpPr>
          <p:cNvPr id="99" name="Google Shape;99;p18"/>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00" name="Google Shape;100;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18"/>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2" name="Shape 102"/>
        <p:cNvGrpSpPr/>
        <p:nvPr/>
      </p:nvGrpSpPr>
      <p:grpSpPr>
        <a:xfrm>
          <a:off x="0" y="0"/>
          <a:ext cx="0" cy="0"/>
          <a:chOff x="0" y="0"/>
          <a:chExt cx="0" cy="0"/>
        </a:xfrm>
      </p:grpSpPr>
      <p:cxnSp>
        <p:nvCxnSpPr>
          <p:cNvPr id="103" name="Google Shape;103;p19"/>
          <p:cNvCxnSpPr/>
          <p:nvPr/>
        </p:nvCxnSpPr>
        <p:spPr>
          <a:xfrm>
            <a:off x="418675" y="1457787"/>
            <a:ext cx="614100" cy="0"/>
          </a:xfrm>
          <a:prstGeom prst="straightConnector1">
            <a:avLst/>
          </a:prstGeom>
          <a:noFill/>
          <a:ln cap="flat" cmpd="sng" w="19050">
            <a:solidFill>
              <a:schemeClr val="dk2"/>
            </a:solidFill>
            <a:prstDash val="lgDash"/>
            <a:round/>
            <a:headEnd len="sm" w="sm" type="none"/>
            <a:tailEnd len="sm" w="sm" type="none"/>
          </a:ln>
        </p:spPr>
      </p:cxnSp>
      <p:sp>
        <p:nvSpPr>
          <p:cNvPr id="104" name="Google Shape;104;p19"/>
          <p:cNvSpPr txBox="1"/>
          <p:nvPr>
            <p:ph type="title"/>
          </p:nvPr>
        </p:nvSpPr>
        <p:spPr>
          <a:xfrm>
            <a:off x="311700" y="6318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05" name="Google Shape;105;p19"/>
          <p:cNvSpPr txBox="1"/>
          <p:nvPr>
            <p:ph idx="1" type="body"/>
          </p:nvPr>
        </p:nvSpPr>
        <p:spPr>
          <a:xfrm>
            <a:off x="311700" y="1618204"/>
            <a:ext cx="2808000" cy="29508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06" name="Google Shape;106;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07" name="Google Shape;107;p19"/>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108" name="Shape 108"/>
        <p:cNvGrpSpPr/>
        <p:nvPr/>
      </p:nvGrpSpPr>
      <p:grpSpPr>
        <a:xfrm>
          <a:off x="0" y="0"/>
          <a:ext cx="0" cy="0"/>
          <a:chOff x="0" y="0"/>
          <a:chExt cx="0" cy="0"/>
        </a:xfrm>
      </p:grpSpPr>
      <p:sp>
        <p:nvSpPr>
          <p:cNvPr id="109" name="Google Shape;109;p20"/>
          <p:cNvSpPr txBox="1"/>
          <p:nvPr>
            <p:ph type="title"/>
          </p:nvPr>
        </p:nvSpPr>
        <p:spPr>
          <a:xfrm>
            <a:off x="490250" y="528900"/>
            <a:ext cx="5678100" cy="4085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5400"/>
              <a:buNone/>
              <a:defRPr sz="5400">
                <a:solidFill>
                  <a:schemeClr val="lt1"/>
                </a:solidFill>
              </a:defRPr>
            </a:lvl1pPr>
            <a:lvl2pPr lvl="1" algn="l">
              <a:lnSpc>
                <a:spcPct val="100000"/>
              </a:lnSpc>
              <a:spcBef>
                <a:spcPts val="0"/>
              </a:spcBef>
              <a:spcAft>
                <a:spcPts val="0"/>
              </a:spcAft>
              <a:buClr>
                <a:schemeClr val="lt1"/>
              </a:buClr>
              <a:buSzPts val="5400"/>
              <a:buNone/>
              <a:defRPr sz="5400">
                <a:solidFill>
                  <a:schemeClr val="lt1"/>
                </a:solidFill>
              </a:defRPr>
            </a:lvl2pPr>
            <a:lvl3pPr lvl="2" algn="l">
              <a:lnSpc>
                <a:spcPct val="100000"/>
              </a:lnSpc>
              <a:spcBef>
                <a:spcPts val="0"/>
              </a:spcBef>
              <a:spcAft>
                <a:spcPts val="0"/>
              </a:spcAft>
              <a:buClr>
                <a:schemeClr val="lt1"/>
              </a:buClr>
              <a:buSzPts val="5400"/>
              <a:buNone/>
              <a:defRPr sz="5400">
                <a:solidFill>
                  <a:schemeClr val="lt1"/>
                </a:solidFill>
              </a:defRPr>
            </a:lvl3pPr>
            <a:lvl4pPr lvl="3" algn="l">
              <a:lnSpc>
                <a:spcPct val="100000"/>
              </a:lnSpc>
              <a:spcBef>
                <a:spcPts val="0"/>
              </a:spcBef>
              <a:spcAft>
                <a:spcPts val="0"/>
              </a:spcAft>
              <a:buClr>
                <a:schemeClr val="lt1"/>
              </a:buClr>
              <a:buSzPts val="5400"/>
              <a:buNone/>
              <a:defRPr sz="5400">
                <a:solidFill>
                  <a:schemeClr val="lt1"/>
                </a:solidFill>
              </a:defRPr>
            </a:lvl4pPr>
            <a:lvl5pPr lvl="4" algn="l">
              <a:lnSpc>
                <a:spcPct val="100000"/>
              </a:lnSpc>
              <a:spcBef>
                <a:spcPts val="0"/>
              </a:spcBef>
              <a:spcAft>
                <a:spcPts val="0"/>
              </a:spcAft>
              <a:buClr>
                <a:schemeClr val="lt1"/>
              </a:buClr>
              <a:buSzPts val="5400"/>
              <a:buNone/>
              <a:defRPr sz="5400">
                <a:solidFill>
                  <a:schemeClr val="lt1"/>
                </a:solidFill>
              </a:defRPr>
            </a:lvl5pPr>
            <a:lvl6pPr lvl="5" algn="l">
              <a:lnSpc>
                <a:spcPct val="100000"/>
              </a:lnSpc>
              <a:spcBef>
                <a:spcPts val="0"/>
              </a:spcBef>
              <a:spcAft>
                <a:spcPts val="0"/>
              </a:spcAft>
              <a:buClr>
                <a:schemeClr val="lt1"/>
              </a:buClr>
              <a:buSzPts val="5400"/>
              <a:buNone/>
              <a:defRPr sz="5400">
                <a:solidFill>
                  <a:schemeClr val="lt1"/>
                </a:solidFill>
              </a:defRPr>
            </a:lvl6pPr>
            <a:lvl7pPr lvl="6" algn="l">
              <a:lnSpc>
                <a:spcPct val="100000"/>
              </a:lnSpc>
              <a:spcBef>
                <a:spcPts val="0"/>
              </a:spcBef>
              <a:spcAft>
                <a:spcPts val="0"/>
              </a:spcAft>
              <a:buClr>
                <a:schemeClr val="lt1"/>
              </a:buClr>
              <a:buSzPts val="5400"/>
              <a:buNone/>
              <a:defRPr sz="5400">
                <a:solidFill>
                  <a:schemeClr val="lt1"/>
                </a:solidFill>
              </a:defRPr>
            </a:lvl7pPr>
            <a:lvl8pPr lvl="7" algn="l">
              <a:lnSpc>
                <a:spcPct val="100000"/>
              </a:lnSpc>
              <a:spcBef>
                <a:spcPts val="0"/>
              </a:spcBef>
              <a:spcAft>
                <a:spcPts val="0"/>
              </a:spcAft>
              <a:buClr>
                <a:schemeClr val="lt1"/>
              </a:buClr>
              <a:buSzPts val="5400"/>
              <a:buNone/>
              <a:defRPr sz="5400">
                <a:solidFill>
                  <a:schemeClr val="lt1"/>
                </a:solidFill>
              </a:defRPr>
            </a:lvl8pPr>
            <a:lvl9pPr lvl="8" algn="l">
              <a:lnSpc>
                <a:spcPct val="100000"/>
              </a:lnSpc>
              <a:spcBef>
                <a:spcPts val="0"/>
              </a:spcBef>
              <a:spcAft>
                <a:spcPts val="0"/>
              </a:spcAft>
              <a:buClr>
                <a:schemeClr val="lt1"/>
              </a:buClr>
              <a:buSzPts val="5400"/>
              <a:buNone/>
              <a:defRPr sz="5400">
                <a:solidFill>
                  <a:schemeClr val="lt1"/>
                </a:solidFill>
              </a:defRPr>
            </a:lvl9pPr>
          </a:lstStyle>
          <a:p/>
        </p:txBody>
      </p:sp>
      <p:sp>
        <p:nvSpPr>
          <p:cNvPr id="110" name="Google Shape;110;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11" name="Google Shape;111;p20"/>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lt1"/>
                </a:solidFill>
                <a:latin typeface="Source Code Pro"/>
                <a:ea typeface="Source Code Pro"/>
                <a:cs typeface="Source Code Pro"/>
                <a:sym typeface="Source Code Pro"/>
              </a:rPr>
              <a:t>The Complete Prompt Engineering for AI Bootcamp</a:t>
            </a:r>
            <a:endParaRPr b="0" i="0" sz="900" u="none" cap="none" strike="noStrike">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112" name="Shape 112"/>
        <p:cNvGrpSpPr/>
        <p:nvPr/>
      </p:nvGrpSpPr>
      <p:grpSpPr>
        <a:xfrm>
          <a:off x="0" y="0"/>
          <a:ext cx="0" cy="0"/>
          <a:chOff x="0" y="0"/>
          <a:chExt cx="0" cy="0"/>
        </a:xfrm>
      </p:grpSpPr>
      <p:sp>
        <p:nvSpPr>
          <p:cNvPr id="113" name="Google Shape;113;p21"/>
          <p:cNvSpPr/>
          <p:nvPr/>
        </p:nvSpPr>
        <p:spPr>
          <a:xfrm>
            <a:off x="4572000" y="17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14" name="Google Shape;114;p21"/>
          <p:cNvCxnSpPr/>
          <p:nvPr/>
        </p:nvCxnSpPr>
        <p:spPr>
          <a:xfrm>
            <a:off x="5029675" y="4495500"/>
            <a:ext cx="577200" cy="0"/>
          </a:xfrm>
          <a:prstGeom prst="straightConnector1">
            <a:avLst/>
          </a:prstGeom>
          <a:noFill/>
          <a:ln cap="flat" cmpd="sng" w="19050">
            <a:solidFill>
              <a:schemeClr val="dk1"/>
            </a:solidFill>
            <a:prstDash val="lgDash"/>
            <a:round/>
            <a:headEnd len="sm" w="sm" type="none"/>
            <a:tailEnd len="sm" w="sm" type="none"/>
          </a:ln>
        </p:spPr>
      </p:cxnSp>
      <p:sp>
        <p:nvSpPr>
          <p:cNvPr id="115" name="Google Shape;115;p21"/>
          <p:cNvSpPr txBox="1"/>
          <p:nvPr>
            <p:ph type="title"/>
          </p:nvPr>
        </p:nvSpPr>
        <p:spPr>
          <a:xfrm>
            <a:off x="265500" y="1078750"/>
            <a:ext cx="4045200" cy="17892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4600"/>
              <a:buNone/>
              <a:defRPr sz="4600">
                <a:solidFill>
                  <a:schemeClr val="lt1"/>
                </a:solidFill>
              </a:defRPr>
            </a:lvl1pPr>
            <a:lvl2pPr lvl="1" algn="ctr">
              <a:lnSpc>
                <a:spcPct val="100000"/>
              </a:lnSpc>
              <a:spcBef>
                <a:spcPts val="0"/>
              </a:spcBef>
              <a:spcAft>
                <a:spcPts val="0"/>
              </a:spcAft>
              <a:buClr>
                <a:schemeClr val="lt1"/>
              </a:buClr>
              <a:buSzPts val="4600"/>
              <a:buNone/>
              <a:defRPr sz="4600">
                <a:solidFill>
                  <a:schemeClr val="lt1"/>
                </a:solidFill>
              </a:defRPr>
            </a:lvl2pPr>
            <a:lvl3pPr lvl="2" algn="ctr">
              <a:lnSpc>
                <a:spcPct val="100000"/>
              </a:lnSpc>
              <a:spcBef>
                <a:spcPts val="0"/>
              </a:spcBef>
              <a:spcAft>
                <a:spcPts val="0"/>
              </a:spcAft>
              <a:buClr>
                <a:schemeClr val="lt1"/>
              </a:buClr>
              <a:buSzPts val="4600"/>
              <a:buNone/>
              <a:defRPr sz="4600">
                <a:solidFill>
                  <a:schemeClr val="lt1"/>
                </a:solidFill>
              </a:defRPr>
            </a:lvl3pPr>
            <a:lvl4pPr lvl="3" algn="ctr">
              <a:lnSpc>
                <a:spcPct val="100000"/>
              </a:lnSpc>
              <a:spcBef>
                <a:spcPts val="0"/>
              </a:spcBef>
              <a:spcAft>
                <a:spcPts val="0"/>
              </a:spcAft>
              <a:buClr>
                <a:schemeClr val="lt1"/>
              </a:buClr>
              <a:buSzPts val="4600"/>
              <a:buNone/>
              <a:defRPr sz="4600">
                <a:solidFill>
                  <a:schemeClr val="lt1"/>
                </a:solidFill>
              </a:defRPr>
            </a:lvl4pPr>
            <a:lvl5pPr lvl="4" algn="ctr">
              <a:lnSpc>
                <a:spcPct val="100000"/>
              </a:lnSpc>
              <a:spcBef>
                <a:spcPts val="0"/>
              </a:spcBef>
              <a:spcAft>
                <a:spcPts val="0"/>
              </a:spcAft>
              <a:buClr>
                <a:schemeClr val="lt1"/>
              </a:buClr>
              <a:buSzPts val="4600"/>
              <a:buNone/>
              <a:defRPr sz="4600">
                <a:solidFill>
                  <a:schemeClr val="lt1"/>
                </a:solidFill>
              </a:defRPr>
            </a:lvl5pPr>
            <a:lvl6pPr lvl="5" algn="ctr">
              <a:lnSpc>
                <a:spcPct val="100000"/>
              </a:lnSpc>
              <a:spcBef>
                <a:spcPts val="0"/>
              </a:spcBef>
              <a:spcAft>
                <a:spcPts val="0"/>
              </a:spcAft>
              <a:buClr>
                <a:schemeClr val="lt1"/>
              </a:buClr>
              <a:buSzPts val="4600"/>
              <a:buNone/>
              <a:defRPr sz="4600">
                <a:solidFill>
                  <a:schemeClr val="lt1"/>
                </a:solidFill>
              </a:defRPr>
            </a:lvl6pPr>
            <a:lvl7pPr lvl="6" algn="ctr">
              <a:lnSpc>
                <a:spcPct val="100000"/>
              </a:lnSpc>
              <a:spcBef>
                <a:spcPts val="0"/>
              </a:spcBef>
              <a:spcAft>
                <a:spcPts val="0"/>
              </a:spcAft>
              <a:buClr>
                <a:schemeClr val="lt1"/>
              </a:buClr>
              <a:buSzPts val="4600"/>
              <a:buNone/>
              <a:defRPr sz="4600">
                <a:solidFill>
                  <a:schemeClr val="lt1"/>
                </a:solidFill>
              </a:defRPr>
            </a:lvl7pPr>
            <a:lvl8pPr lvl="7" algn="ctr">
              <a:lnSpc>
                <a:spcPct val="100000"/>
              </a:lnSpc>
              <a:spcBef>
                <a:spcPts val="0"/>
              </a:spcBef>
              <a:spcAft>
                <a:spcPts val="0"/>
              </a:spcAft>
              <a:buClr>
                <a:schemeClr val="lt1"/>
              </a:buClr>
              <a:buSzPts val="4600"/>
              <a:buNone/>
              <a:defRPr sz="4600">
                <a:solidFill>
                  <a:schemeClr val="lt1"/>
                </a:solidFill>
              </a:defRPr>
            </a:lvl8pPr>
            <a:lvl9pPr lvl="8" algn="ctr">
              <a:lnSpc>
                <a:spcPct val="100000"/>
              </a:lnSpc>
              <a:spcBef>
                <a:spcPts val="0"/>
              </a:spcBef>
              <a:spcAft>
                <a:spcPts val="0"/>
              </a:spcAft>
              <a:buClr>
                <a:schemeClr val="lt1"/>
              </a:buClr>
              <a:buSzPts val="4600"/>
              <a:buNone/>
              <a:defRPr sz="4600">
                <a:solidFill>
                  <a:schemeClr val="lt1"/>
                </a:solidFill>
              </a:defRPr>
            </a:lvl9pPr>
          </a:lstStyle>
          <a:p/>
        </p:txBody>
      </p:sp>
      <p:sp>
        <p:nvSpPr>
          <p:cNvPr id="116" name="Google Shape;116;p21"/>
          <p:cNvSpPr txBox="1"/>
          <p:nvPr>
            <p:ph idx="1" type="subTitle"/>
          </p:nvPr>
        </p:nvSpPr>
        <p:spPr>
          <a:xfrm>
            <a:off x="265500" y="2921401"/>
            <a:ext cx="4045200" cy="1345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p:txBody>
      </p:sp>
      <p:sp>
        <p:nvSpPr>
          <p:cNvPr id="117" name="Google Shape;117;p21"/>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8" name="Google Shape;118;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19" name="Google Shape;119;p21"/>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0" name="Shape 120"/>
        <p:cNvGrpSpPr/>
        <p:nvPr/>
      </p:nvGrpSpPr>
      <p:grpSpPr>
        <a:xfrm>
          <a:off x="0" y="0"/>
          <a:ext cx="0" cy="0"/>
          <a:chOff x="0" y="0"/>
          <a:chExt cx="0" cy="0"/>
        </a:xfrm>
      </p:grpSpPr>
      <p:sp>
        <p:nvSpPr>
          <p:cNvPr id="121" name="Google Shape;121;p22"/>
          <p:cNvSpPr txBox="1"/>
          <p:nvPr>
            <p:ph idx="1" type="body"/>
          </p:nvPr>
        </p:nvSpPr>
        <p:spPr>
          <a:xfrm>
            <a:off x="311700" y="406472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100"/>
              <a:buFont typeface="Oswald"/>
              <a:buNone/>
              <a:defRPr sz="2100">
                <a:latin typeface="Oswald"/>
                <a:ea typeface="Oswald"/>
                <a:cs typeface="Oswald"/>
                <a:sym typeface="Oswald"/>
              </a:defRPr>
            </a:lvl1pPr>
          </a:lstStyle>
          <a:p/>
        </p:txBody>
      </p:sp>
      <p:sp>
        <p:nvSpPr>
          <p:cNvPr id="122" name="Google Shape;122;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23" name="Google Shape;123;p22"/>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4" name="Shape 124"/>
        <p:cNvGrpSpPr/>
        <p:nvPr/>
      </p:nvGrpSpPr>
      <p:grpSpPr>
        <a:xfrm>
          <a:off x="0" y="0"/>
          <a:ext cx="0" cy="0"/>
          <a:chOff x="0" y="0"/>
          <a:chExt cx="0" cy="0"/>
        </a:xfrm>
      </p:grpSpPr>
      <p:cxnSp>
        <p:nvCxnSpPr>
          <p:cNvPr id="125" name="Google Shape;125;p23"/>
          <p:cNvCxnSpPr/>
          <p:nvPr/>
        </p:nvCxnSpPr>
        <p:spPr>
          <a:xfrm>
            <a:off x="413275" y="2988275"/>
            <a:ext cx="910500" cy="0"/>
          </a:xfrm>
          <a:prstGeom prst="straightConnector1">
            <a:avLst/>
          </a:prstGeom>
          <a:noFill/>
          <a:ln cap="flat" cmpd="sng" w="28575">
            <a:solidFill>
              <a:schemeClr val="dk1"/>
            </a:solidFill>
            <a:prstDash val="lgDash"/>
            <a:round/>
            <a:headEnd len="sm" w="sm" type="none"/>
            <a:tailEnd len="sm" w="sm" type="none"/>
          </a:ln>
        </p:spPr>
      </p:cxnSp>
      <p:sp>
        <p:nvSpPr>
          <p:cNvPr id="126" name="Google Shape;126;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12000"/>
              <a:buNone/>
              <a:defRPr sz="12000"/>
            </a:lvl1pPr>
            <a:lvl2pPr lvl="1" algn="l">
              <a:lnSpc>
                <a:spcPct val="100000"/>
              </a:lnSpc>
              <a:spcBef>
                <a:spcPts val="0"/>
              </a:spcBef>
              <a:spcAft>
                <a:spcPts val="0"/>
              </a:spcAft>
              <a:buSzPts val="12000"/>
              <a:buNone/>
              <a:defRPr sz="12000"/>
            </a:lvl2pPr>
            <a:lvl3pPr lvl="2" algn="l">
              <a:lnSpc>
                <a:spcPct val="100000"/>
              </a:lnSpc>
              <a:spcBef>
                <a:spcPts val="0"/>
              </a:spcBef>
              <a:spcAft>
                <a:spcPts val="0"/>
              </a:spcAft>
              <a:buSzPts val="12000"/>
              <a:buNone/>
              <a:defRPr sz="12000"/>
            </a:lvl3pPr>
            <a:lvl4pPr lvl="3" algn="l">
              <a:lnSpc>
                <a:spcPct val="100000"/>
              </a:lnSpc>
              <a:spcBef>
                <a:spcPts val="0"/>
              </a:spcBef>
              <a:spcAft>
                <a:spcPts val="0"/>
              </a:spcAft>
              <a:buSzPts val="12000"/>
              <a:buNone/>
              <a:defRPr sz="12000"/>
            </a:lvl4pPr>
            <a:lvl5pPr lvl="4" algn="l">
              <a:lnSpc>
                <a:spcPct val="100000"/>
              </a:lnSpc>
              <a:spcBef>
                <a:spcPts val="0"/>
              </a:spcBef>
              <a:spcAft>
                <a:spcPts val="0"/>
              </a:spcAft>
              <a:buSzPts val="12000"/>
              <a:buNone/>
              <a:defRPr sz="12000"/>
            </a:lvl5pPr>
            <a:lvl6pPr lvl="5" algn="l">
              <a:lnSpc>
                <a:spcPct val="100000"/>
              </a:lnSpc>
              <a:spcBef>
                <a:spcPts val="0"/>
              </a:spcBef>
              <a:spcAft>
                <a:spcPts val="0"/>
              </a:spcAft>
              <a:buSzPts val="12000"/>
              <a:buNone/>
              <a:defRPr sz="12000"/>
            </a:lvl6pPr>
            <a:lvl7pPr lvl="6" algn="l">
              <a:lnSpc>
                <a:spcPct val="100000"/>
              </a:lnSpc>
              <a:spcBef>
                <a:spcPts val="0"/>
              </a:spcBef>
              <a:spcAft>
                <a:spcPts val="0"/>
              </a:spcAft>
              <a:buSzPts val="12000"/>
              <a:buNone/>
              <a:defRPr sz="12000"/>
            </a:lvl7pPr>
            <a:lvl8pPr lvl="7" algn="l">
              <a:lnSpc>
                <a:spcPct val="100000"/>
              </a:lnSpc>
              <a:spcBef>
                <a:spcPts val="0"/>
              </a:spcBef>
              <a:spcAft>
                <a:spcPts val="0"/>
              </a:spcAft>
              <a:buSzPts val="12000"/>
              <a:buNone/>
              <a:defRPr sz="12000"/>
            </a:lvl8pPr>
            <a:lvl9pPr lvl="8" algn="l">
              <a:lnSpc>
                <a:spcPct val="100000"/>
              </a:lnSpc>
              <a:spcBef>
                <a:spcPts val="0"/>
              </a:spcBef>
              <a:spcAft>
                <a:spcPts val="0"/>
              </a:spcAft>
              <a:buSzPts val="12000"/>
              <a:buNone/>
              <a:defRPr sz="12000"/>
            </a:lvl9pPr>
          </a:lstStyle>
          <a:p>
            <a:r>
              <a:t>xx%</a:t>
            </a:r>
          </a:p>
        </p:txBody>
      </p:sp>
      <p:sp>
        <p:nvSpPr>
          <p:cNvPr id="127" name="Google Shape;127;p2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8" name="Google Shape;128;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29" name="Google Shape;129;p23"/>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0" name="Shape 130"/>
        <p:cNvGrpSpPr/>
        <p:nvPr/>
      </p:nvGrpSpPr>
      <p:grpSpPr>
        <a:xfrm>
          <a:off x="0" y="0"/>
          <a:ext cx="0" cy="0"/>
          <a:chOff x="0" y="0"/>
          <a:chExt cx="0" cy="0"/>
        </a:xfrm>
      </p:grpSpPr>
      <p:sp>
        <p:nvSpPr>
          <p:cNvPr id="131" name="Google Shape;131;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32" name="Google Shape;132;p24"/>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dern-writer">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9pPr>
          </a:lstStyle>
          <a:p/>
        </p:txBody>
      </p:sp>
      <p:sp>
        <p:nvSpPr>
          <p:cNvPr id="7" name="Google Shape;7;p1"/>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Source Code Pro"/>
                <a:ea typeface="Source Code Pro"/>
                <a:cs typeface="Source Code Pro"/>
                <a:sym typeface="Source Code Pro"/>
              </a:defRPr>
            </a:lvl1pPr>
            <a:lvl2pPr lvl="1" algn="r">
              <a:buNone/>
              <a:defRPr sz="1000">
                <a:solidFill>
                  <a:schemeClr val="dk2"/>
                </a:solidFill>
                <a:latin typeface="Source Code Pro"/>
                <a:ea typeface="Source Code Pro"/>
                <a:cs typeface="Source Code Pro"/>
                <a:sym typeface="Source Code Pro"/>
              </a:defRPr>
            </a:lvl2pPr>
            <a:lvl3pPr lvl="2" algn="r">
              <a:buNone/>
              <a:defRPr sz="1000">
                <a:solidFill>
                  <a:schemeClr val="dk2"/>
                </a:solidFill>
                <a:latin typeface="Source Code Pro"/>
                <a:ea typeface="Source Code Pro"/>
                <a:cs typeface="Source Code Pro"/>
                <a:sym typeface="Source Code Pro"/>
              </a:defRPr>
            </a:lvl3pPr>
            <a:lvl4pPr lvl="3" algn="r">
              <a:buNone/>
              <a:defRPr sz="1000">
                <a:solidFill>
                  <a:schemeClr val="dk2"/>
                </a:solidFill>
                <a:latin typeface="Source Code Pro"/>
                <a:ea typeface="Source Code Pro"/>
                <a:cs typeface="Source Code Pro"/>
                <a:sym typeface="Source Code Pro"/>
              </a:defRPr>
            </a:lvl4pPr>
            <a:lvl5pPr lvl="4" algn="r">
              <a:buNone/>
              <a:defRPr sz="1000">
                <a:solidFill>
                  <a:schemeClr val="dk2"/>
                </a:solidFill>
                <a:latin typeface="Source Code Pro"/>
                <a:ea typeface="Source Code Pro"/>
                <a:cs typeface="Source Code Pro"/>
                <a:sym typeface="Source Code Pro"/>
              </a:defRPr>
            </a:lvl5pPr>
            <a:lvl6pPr lvl="5" algn="r">
              <a:buNone/>
              <a:defRPr sz="1000">
                <a:solidFill>
                  <a:schemeClr val="dk2"/>
                </a:solidFill>
                <a:latin typeface="Source Code Pro"/>
                <a:ea typeface="Source Code Pro"/>
                <a:cs typeface="Source Code Pro"/>
                <a:sym typeface="Source Code Pro"/>
              </a:defRPr>
            </a:lvl6pPr>
            <a:lvl7pPr lvl="6" algn="r">
              <a:buNone/>
              <a:defRPr sz="1000">
                <a:solidFill>
                  <a:schemeClr val="dk2"/>
                </a:solidFill>
                <a:latin typeface="Source Code Pro"/>
                <a:ea typeface="Source Code Pro"/>
                <a:cs typeface="Source Code Pro"/>
                <a:sym typeface="Source Code Pro"/>
              </a:defRPr>
            </a:lvl7pPr>
            <a:lvl8pPr lvl="7" algn="r">
              <a:buNone/>
              <a:defRPr sz="1000">
                <a:solidFill>
                  <a:schemeClr val="dk2"/>
                </a:solidFill>
                <a:latin typeface="Source Code Pro"/>
                <a:ea typeface="Source Code Pro"/>
                <a:cs typeface="Source Code Pro"/>
                <a:sym typeface="Source Code Pro"/>
              </a:defRPr>
            </a:lvl8pPr>
            <a:lvl9pPr lvl="8" algn="r">
              <a:buNone/>
              <a:defRPr sz="1000">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dern-writer">
    <p:bg>
      <p:bgPr>
        <a:solidFill>
          <a:schemeClr val="lt1"/>
        </a:solidFill>
      </p:bgPr>
    </p:bg>
    <p:spTree>
      <p:nvGrpSpPr>
        <p:cNvPr id="69" name="Shape 69"/>
        <p:cNvGrpSpPr/>
        <p:nvPr/>
      </p:nvGrpSpPr>
      <p:grpSpPr>
        <a:xfrm>
          <a:off x="0" y="0"/>
          <a:ext cx="0" cy="0"/>
          <a:chOff x="0" y="0"/>
          <a:chExt cx="0" cy="0"/>
        </a:xfrm>
      </p:grpSpPr>
      <p:sp>
        <p:nvSpPr>
          <p:cNvPr id="70" name="Google Shape;70;p13"/>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1pPr>
            <a:lvl2pPr lvl="1"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2pPr>
            <a:lvl3pPr lvl="2"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3pPr>
            <a:lvl4pPr lvl="3"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4pPr>
            <a:lvl5pPr lvl="4"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5pPr>
            <a:lvl6pPr lvl="5"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6pPr>
            <a:lvl7pPr lvl="6"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7pPr>
            <a:lvl8pPr lvl="7"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8pPr>
            <a:lvl9pPr lvl="8"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9pPr>
          </a:lstStyle>
          <a:p/>
        </p:txBody>
      </p:sp>
      <p:sp>
        <p:nvSpPr>
          <p:cNvPr id="71" name="Google Shape;71;p13"/>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Source Code Pro"/>
              <a:buChar char="●"/>
              <a:defRPr b="0" i="0" sz="1800" u="none" cap="none" strike="noStrike">
                <a:solidFill>
                  <a:schemeClr val="dk2"/>
                </a:solidFill>
                <a:latin typeface="Source Code Pro"/>
                <a:ea typeface="Source Code Pro"/>
                <a:cs typeface="Source Code Pro"/>
                <a:sym typeface="Source Code Pro"/>
              </a:defRPr>
            </a:lvl1pPr>
            <a:lvl2pPr indent="-317500" lvl="1" marL="9144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2pPr>
            <a:lvl3pPr indent="-317500" lvl="2" marL="13716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3pPr>
            <a:lvl4pPr indent="-317500" lvl="3" marL="18288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4pPr>
            <a:lvl5pPr indent="-317500" lvl="4" marL="22860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5pPr>
            <a:lvl6pPr indent="-317500" lvl="5" marL="27432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6pPr>
            <a:lvl7pPr indent="-317500" lvl="6" marL="32004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7pPr>
            <a:lvl8pPr indent="-317500" lvl="7" marL="36576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8pPr>
            <a:lvl9pPr indent="-317500" lvl="8" marL="41148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9pPr>
          </a:lstStyle>
          <a:p/>
        </p:txBody>
      </p:sp>
      <p:sp>
        <p:nvSpPr>
          <p:cNvPr id="72" name="Google Shape;72;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The ChatGPT Desktop App</a:t>
            </a:r>
          </a:p>
        </p:txBody>
      </p:sp>
      <p:sp>
        <p:nvSpPr>
          <p:cNvPr id="3" name="Subtitle 2"/>
          <p:cNvSpPr>
            <a:spLocks noGrp="1"/>
          </p:cNvSpPr>
          <p:nvPr>
            <p:ph type="subTitle" idx="1"/>
          </p:nvPr>
        </p:nvSpPr>
        <p:spPr/>
        <p:txBody>
          <a:bodyPr/>
          <a:lstStyle/>
          <a:p>
            <a:pPr marL="0" indent="0">
              <a:buNone/>
            </a:pPr>
            <a:r>
              <a:t>The same assistant as the browser, sitting beside your work rather than in a tab.</a:t>
            </a:r>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ChatGPT as an Application, Not a Page You Go To</a:t>
            </a:r>
          </a:p>
        </p:txBody>
      </p:sp>
      <p:sp>
        <p:nvSpPr>
          <p:cNvPr id="3" name="Text Placeholder 2"/>
          <p:cNvSpPr>
            <a:spLocks noGrp="1"/>
          </p:cNvSpPr>
          <p:nvPr>
            <p:ph type="body" idx="1"/>
          </p:nvPr>
        </p:nvSpPr>
        <p:spPr>
          <a:xfrm>
            <a:off x="5129784" y="1389888"/>
            <a:ext cx="3703320" cy="2157984"/>
          </a:xfrm>
        </p:spPr>
        <p:txBody>
          <a:bodyPr wrap="square" anchor="ctr"/>
          <a:lstStyle/>
          <a:p>
            <a:pPr marL="0" indent="0">
              <a:buNone/>
            </a:pPr>
            <a:r>
              <a:t>Same account, same conversations, same models. What changes is where it sits: a keystroke away, on top of whatever you already have open, instead of somewhere you have to navigate to.</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65760" y="1389888"/>
            <a:ext cx="4261104" cy="2157984"/>
          </a:xfrm>
          <a:prstGeom prst="roundRect">
            <a:avLst>
              <a:gd name="adj" fmla="val 1714"/>
            </a:avLst>
          </a:prstGeom>
          <a:solidFill>
            <a:srgbClr val="303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365760" y="1389888"/>
            <a:ext cx="4261104" cy="301752"/>
          </a:xfrm>
          <a:prstGeom prst="roundRect">
            <a:avLst>
              <a:gd name="adj" fmla="val 18181"/>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365760" y="1583009"/>
            <a:ext cx="4261104" cy="108630"/>
          </a:xfrm>
          <a:prstGeom prst="rect">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12064" y="1472184"/>
            <a:ext cx="2982772" cy="182880"/>
          </a:xfrm>
          <a:prstGeom prst="rect">
            <a:avLst/>
          </a:prstGeom>
          <a:noFill/>
        </p:spPr>
        <p:txBody>
          <a:bodyPr wrap="square" lIns="0" rIns="0" tIns="0" bIns="0" anchor="t">
            <a:spAutoFit/>
          </a:bodyPr>
          <a:lstStyle/>
          <a:p>
            <a:pPr algn="l"/>
            <a:r>
              <a:rPr sz="1200" b="1">
                <a:solidFill>
                  <a:srgbClr val="F7F7FA"/>
                </a:solidFill>
                <a:latin typeface="Arial"/>
              </a:rPr>
              <a:t>ChatGPT</a:t>
            </a:r>
          </a:p>
        </p:txBody>
      </p:sp>
      <p:sp>
        <p:nvSpPr>
          <p:cNvPr id="30" name="TextBox 29"/>
          <p:cNvSpPr txBox="1"/>
          <p:nvPr/>
        </p:nvSpPr>
        <p:spPr>
          <a:xfrm>
            <a:off x="3383280" y="1490472"/>
            <a:ext cx="1097280" cy="173736"/>
          </a:xfrm>
          <a:prstGeom prst="rect">
            <a:avLst/>
          </a:prstGeom>
          <a:noFill/>
        </p:spPr>
        <p:txBody>
          <a:bodyPr wrap="square" lIns="0" rIns="0" tIns="0" bIns="0" anchor="t">
            <a:spAutoFit/>
          </a:bodyPr>
          <a:lstStyle/>
          <a:p>
            <a:pPr algn="r"/>
            <a:r>
              <a:rPr sz="885" b="0">
                <a:solidFill>
                  <a:srgbClr val="C6C7D0"/>
                </a:solidFill>
                <a:latin typeface="Arial"/>
              </a:rPr>
              <a:t>Over your work</a:t>
            </a:r>
          </a:p>
        </p:txBody>
      </p:sp>
      <p:sp>
        <p:nvSpPr>
          <p:cNvPr id="31" name="TextBox 30"/>
          <p:cNvSpPr txBox="1"/>
          <p:nvPr/>
        </p:nvSpPr>
        <p:spPr>
          <a:xfrm>
            <a:off x="512064" y="1819656"/>
            <a:ext cx="1737360" cy="173736"/>
          </a:xfrm>
          <a:prstGeom prst="rect">
            <a:avLst/>
          </a:prstGeom>
          <a:noFill/>
        </p:spPr>
        <p:txBody>
          <a:bodyPr wrap="square" lIns="0" rIns="0" tIns="0" bIns="0" anchor="t">
            <a:spAutoFit/>
          </a:bodyPr>
          <a:lstStyle/>
          <a:p>
            <a:pPr algn="l"/>
            <a:r>
              <a:rPr sz="885" b="1">
                <a:solidFill>
                  <a:srgbClr val="C6C7D0"/>
                </a:solidFill>
                <a:latin typeface="Arial"/>
              </a:rPr>
              <a:t>User</a:t>
            </a:r>
          </a:p>
        </p:txBody>
      </p:sp>
      <p:sp>
        <p:nvSpPr>
          <p:cNvPr id="32" name="TextBox 31"/>
          <p:cNvSpPr txBox="1"/>
          <p:nvPr/>
        </p:nvSpPr>
        <p:spPr>
          <a:xfrm>
            <a:off x="512064" y="2020824"/>
            <a:ext cx="3968496" cy="210312"/>
          </a:xfrm>
          <a:prstGeom prst="rect">
            <a:avLst/>
          </a:prstGeom>
          <a:noFill/>
        </p:spPr>
        <p:txBody>
          <a:bodyPr wrap="none" lIns="0" rIns="0" tIns="0" bIns="0" anchor="t">
            <a:spAutoFit/>
          </a:bodyPr>
          <a:lstStyle/>
          <a:p>
            <a:pPr algn="l"/>
            <a:r>
              <a:rPr sz="1125" b="0">
                <a:solidFill>
                  <a:srgbClr val="F7F7FA"/>
                </a:solidFill>
                <a:latin typeface="Arial"/>
              </a:rPr>
              <a:t>Tidy the paragraph I have selected.</a:t>
            </a:r>
          </a:p>
        </p:txBody>
      </p:sp>
      <p:sp>
        <p:nvSpPr>
          <p:cNvPr id="35" name="Rounded Rectangle 34"/>
          <p:cNvSpPr/>
          <p:nvPr/>
        </p:nvSpPr>
        <p:spPr>
          <a:xfrm>
            <a:off x="475488" y="2286000"/>
            <a:ext cx="4041648" cy="704088"/>
          </a:xfrm>
          <a:prstGeom prst="roundRect">
            <a:avLst>
              <a:gd name="adj" fmla="val 6493"/>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21792" y="2404872"/>
            <a:ext cx="1737360" cy="173736"/>
          </a:xfrm>
          <a:prstGeom prst="rect">
            <a:avLst/>
          </a:prstGeom>
          <a:noFill/>
        </p:spPr>
        <p:txBody>
          <a:bodyPr wrap="square" lIns="0" rIns="0" tIns="0" bIns="0" anchor="t">
            <a:spAutoFit/>
          </a:bodyPr>
          <a:lstStyle/>
          <a:p>
            <a:pPr algn="l"/>
            <a:r>
              <a:rPr sz="885" b="1">
                <a:solidFill>
                  <a:srgbClr val="C6C7D0"/>
                </a:solidFill>
                <a:latin typeface="Arial"/>
              </a:rPr>
              <a:t>AI Assistant</a:t>
            </a:r>
          </a:p>
        </p:txBody>
      </p:sp>
      <p:sp>
        <p:nvSpPr>
          <p:cNvPr id="34" name="TextBox 33"/>
          <p:cNvSpPr txBox="1"/>
          <p:nvPr/>
        </p:nvSpPr>
        <p:spPr>
          <a:xfrm>
            <a:off x="621792" y="2606040"/>
            <a:ext cx="3749039" cy="210312"/>
          </a:xfrm>
          <a:prstGeom prst="rect">
            <a:avLst/>
          </a:prstGeom>
          <a:noFill/>
        </p:spPr>
        <p:txBody>
          <a:bodyPr wrap="none" lIns="0" rIns="0" tIns="0" bIns="0" anchor="t">
            <a:spAutoFit/>
          </a:bodyPr>
          <a:lstStyle/>
          <a:p>
            <a:pPr algn="l"/>
            <a:r>
              <a:rPr sz="1125" b="0">
                <a:solidFill>
                  <a:srgbClr val="F7F7FA"/>
                </a:solidFill>
                <a:latin typeface="Arial"/>
              </a:rPr>
              <a:t>Same argument, two sentences shorter.</a:t>
            </a:r>
          </a:p>
        </p:txBody>
      </p:sp>
      <p:sp>
        <p:nvSpPr>
          <p:cNvPr id="36" name="Rounded Rectangle 35"/>
          <p:cNvSpPr/>
          <p:nvPr/>
        </p:nvSpPr>
        <p:spPr>
          <a:xfrm>
            <a:off x="512064" y="3136392"/>
            <a:ext cx="3968496" cy="301752"/>
          </a:xfrm>
          <a:prstGeom prst="roundRect">
            <a:avLst>
              <a:gd name="adj" fmla="val 15151"/>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30936" y="3209544"/>
            <a:ext cx="3346704" cy="173736"/>
          </a:xfrm>
          <a:prstGeom prst="rect">
            <a:avLst/>
          </a:prstGeom>
          <a:noFill/>
        </p:spPr>
        <p:txBody>
          <a:bodyPr wrap="square" lIns="0" rIns="0" tIns="0" bIns="0" anchor="t">
            <a:spAutoFit/>
          </a:bodyPr>
          <a:lstStyle/>
          <a:p>
            <a:pPr algn="l"/>
            <a:r>
              <a:rPr sz="885" b="0">
                <a:solidFill>
                  <a:srgbClr val="C6C7D0"/>
                </a:solidFill>
                <a:latin typeface="Arial"/>
              </a:rPr>
              <a:t>Send a message…</a:t>
            </a:r>
          </a:p>
        </p:txBody>
      </p:sp>
      <p:sp>
        <p:nvSpPr>
          <p:cNvPr id="38" name="Rounded Rectangle 37"/>
          <p:cNvSpPr/>
          <p:nvPr/>
        </p:nvSpPr>
        <p:spPr>
          <a:xfrm>
            <a:off x="4206240" y="3182112"/>
            <a:ext cx="210312" cy="210312"/>
          </a:xfrm>
          <a:prstGeom prst="roundRect">
            <a:avLst>
              <a:gd name="adj" fmla="val 21739"/>
            </a:avLst>
          </a:prstGeom>
          <a:solidFill>
            <a:srgbClr val="E4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206240" y="3182112"/>
            <a:ext cx="210312" cy="210312"/>
          </a:xfrm>
          <a:prstGeom prst="rect">
            <a:avLst/>
          </a:prstGeom>
          <a:noFill/>
        </p:spPr>
        <p:txBody>
          <a:bodyPr wrap="square" lIns="0" rIns="0" tIns="0" bIns="0" anchor="ctr">
            <a:spAutoFit/>
          </a:bodyPr>
          <a:lstStyle/>
          <a:p>
            <a:pPr algn="ctr"/>
            <a:r>
              <a:rPr sz="1125" b="0">
                <a:solidFill>
                  <a:srgbClr val="25262C"/>
                </a:solidFill>
                <a:latin typeface="Arial"/>
              </a:rP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Being Next to Your Work Buys You</a:t>
            </a:r>
          </a:p>
        </p:txBody>
      </p:sp>
      <p:sp>
        <p:nvSpPr>
          <p:cNvPr id="3" name="Text Placeholder 2"/>
          <p:cNvSpPr>
            <a:spLocks noGrp="1"/>
          </p:cNvSpPr>
          <p:nvPr>
            <p:ph type="body" idx="1"/>
          </p:nvPr>
        </p:nvSpPr>
        <p:spPr>
          <a:xfrm>
            <a:off x="5129784" y="1389888"/>
            <a:ext cx="3703320" cy="2779776"/>
          </a:xfrm>
        </p:spPr>
        <p:txBody>
          <a:bodyPr wrap="square" anchor="ctr"/>
          <a:lstStyle/>
          <a:p>
            <a:pPr marL="0" indent="0">
              <a:buNone/>
            </a:pPr>
            <a:r>
              <a:t>In a tab you describe the problem or copy it across, and you lose detail both ways. Beside your work you point at it. The question gets shorter and the answer gets more specific.</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65760" y="1389888"/>
            <a:ext cx="4261104" cy="2779776"/>
          </a:xfrm>
          <a:prstGeom prst="roundRect">
            <a:avLst>
              <a:gd name="adj" fmla="val 1714"/>
            </a:avLst>
          </a:prstGeom>
          <a:solidFill>
            <a:srgbClr val="303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365760" y="1389888"/>
            <a:ext cx="4261104" cy="301752"/>
          </a:xfrm>
          <a:prstGeom prst="roundRect">
            <a:avLst>
              <a:gd name="adj" fmla="val 18181"/>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365760" y="1583009"/>
            <a:ext cx="4261104" cy="108630"/>
          </a:xfrm>
          <a:prstGeom prst="rect">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12064" y="1472184"/>
            <a:ext cx="2982772" cy="182880"/>
          </a:xfrm>
          <a:prstGeom prst="rect">
            <a:avLst/>
          </a:prstGeom>
          <a:noFill/>
        </p:spPr>
        <p:txBody>
          <a:bodyPr wrap="square" lIns="0" rIns="0" tIns="0" bIns="0" anchor="t">
            <a:spAutoFit/>
          </a:bodyPr>
          <a:lstStyle/>
          <a:p>
            <a:pPr algn="l"/>
            <a:r>
              <a:rPr sz="1200" b="1">
                <a:solidFill>
                  <a:srgbClr val="F7F7FA"/>
                </a:solidFill>
                <a:latin typeface="Arial"/>
              </a:rPr>
              <a:t>ChatGPT</a:t>
            </a:r>
          </a:p>
        </p:txBody>
      </p:sp>
      <p:sp>
        <p:nvSpPr>
          <p:cNvPr id="30" name="TextBox 29"/>
          <p:cNvSpPr txBox="1"/>
          <p:nvPr/>
        </p:nvSpPr>
        <p:spPr>
          <a:xfrm>
            <a:off x="3383280" y="1490472"/>
            <a:ext cx="1097280" cy="173736"/>
          </a:xfrm>
          <a:prstGeom prst="rect">
            <a:avLst/>
          </a:prstGeom>
          <a:noFill/>
        </p:spPr>
        <p:txBody>
          <a:bodyPr wrap="square" lIns="0" rIns="0" tIns="0" bIns="0" anchor="t">
            <a:spAutoFit/>
          </a:bodyPr>
          <a:lstStyle/>
          <a:p>
            <a:pPr algn="r"/>
            <a:r>
              <a:rPr sz="885" b="0">
                <a:solidFill>
                  <a:srgbClr val="C6C7D0"/>
                </a:solidFill>
                <a:latin typeface="Arial"/>
              </a:rPr>
              <a:t>Demonstration</a:t>
            </a:r>
          </a:p>
        </p:txBody>
      </p:sp>
      <p:sp>
        <p:nvSpPr>
          <p:cNvPr id="31" name="TextBox 30"/>
          <p:cNvSpPr txBox="1"/>
          <p:nvPr/>
        </p:nvSpPr>
        <p:spPr>
          <a:xfrm>
            <a:off x="512064" y="1819656"/>
            <a:ext cx="1737360" cy="173736"/>
          </a:xfrm>
          <a:prstGeom prst="rect">
            <a:avLst/>
          </a:prstGeom>
          <a:noFill/>
        </p:spPr>
        <p:txBody>
          <a:bodyPr wrap="square" lIns="0" rIns="0" tIns="0" bIns="0" anchor="t">
            <a:spAutoFit/>
          </a:bodyPr>
          <a:lstStyle/>
          <a:p>
            <a:pPr algn="l"/>
            <a:r>
              <a:rPr sz="885" b="1">
                <a:solidFill>
                  <a:srgbClr val="C6C7D0"/>
                </a:solidFill>
                <a:latin typeface="Arial"/>
              </a:rPr>
              <a:t>Attached from your screen</a:t>
            </a:r>
          </a:p>
        </p:txBody>
      </p:sp>
      <p:sp>
        <p:nvSpPr>
          <p:cNvPr id="32" name="Rounded Rectangle 31"/>
          <p:cNvSpPr/>
          <p:nvPr/>
        </p:nvSpPr>
        <p:spPr>
          <a:xfrm>
            <a:off x="466344" y="2011680"/>
            <a:ext cx="2320290" cy="201168"/>
          </a:xfrm>
          <a:prstGeom prst="roundRect">
            <a:avLst>
              <a:gd name="adj" fmla="val 18181"/>
            </a:avLst>
          </a:prstGeom>
          <a:solidFill>
            <a:srgbClr val="713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12064" y="2020824"/>
            <a:ext cx="3968496" cy="210312"/>
          </a:xfrm>
          <a:prstGeom prst="rect">
            <a:avLst/>
          </a:prstGeom>
          <a:noFill/>
        </p:spPr>
        <p:txBody>
          <a:bodyPr wrap="none" lIns="0" rIns="0" tIns="0" bIns="0" anchor="t">
            <a:spAutoFit/>
          </a:bodyPr>
          <a:lstStyle/>
          <a:p>
            <a:pPr algn="l"/>
            <a:r>
              <a:rPr sz="1125" b="0">
                <a:solidFill>
                  <a:srgbClr val="F7F7FA"/>
                </a:solidFill>
                <a:latin typeface="Arial"/>
              </a:rPr>
              <a:t>The window you were looking at</a:t>
            </a:r>
          </a:p>
        </p:txBody>
      </p:sp>
      <p:sp>
        <p:nvSpPr>
          <p:cNvPr id="34" name="TextBox 33"/>
          <p:cNvSpPr txBox="1"/>
          <p:nvPr/>
        </p:nvSpPr>
        <p:spPr>
          <a:xfrm>
            <a:off x="512064" y="2231136"/>
            <a:ext cx="1737360" cy="173736"/>
          </a:xfrm>
          <a:prstGeom prst="rect">
            <a:avLst/>
          </a:prstGeom>
          <a:noFill/>
        </p:spPr>
        <p:txBody>
          <a:bodyPr wrap="square" lIns="0" rIns="0" tIns="0" bIns="0" anchor="t">
            <a:spAutoFit/>
          </a:bodyPr>
          <a:lstStyle/>
          <a:p>
            <a:pPr algn="l"/>
            <a:r>
              <a:rPr sz="885" b="1">
                <a:solidFill>
                  <a:srgbClr val="C6C7D0"/>
                </a:solidFill>
                <a:latin typeface="Arial"/>
              </a:rPr>
              <a:t>User</a:t>
            </a:r>
          </a:p>
        </p:txBody>
      </p:sp>
      <p:sp>
        <p:nvSpPr>
          <p:cNvPr id="35" name="TextBox 34"/>
          <p:cNvSpPr txBox="1"/>
          <p:nvPr/>
        </p:nvSpPr>
        <p:spPr>
          <a:xfrm>
            <a:off x="512064" y="2432304"/>
            <a:ext cx="3968496" cy="210312"/>
          </a:xfrm>
          <a:prstGeom prst="rect">
            <a:avLst/>
          </a:prstGeom>
          <a:noFill/>
        </p:spPr>
        <p:txBody>
          <a:bodyPr wrap="none" lIns="0" rIns="0" tIns="0" bIns="0" anchor="t">
            <a:spAutoFit/>
          </a:bodyPr>
          <a:lstStyle/>
          <a:p>
            <a:pPr algn="l"/>
            <a:r>
              <a:rPr sz="1125" b="0">
                <a:solidFill>
                  <a:srgbClr val="F7F7FA"/>
                </a:solidFill>
                <a:latin typeface="Arial"/>
              </a:rPr>
              <a:t>Why is this total not adding up?</a:t>
            </a:r>
          </a:p>
        </p:txBody>
      </p:sp>
      <p:sp>
        <p:nvSpPr>
          <p:cNvPr id="39" name="Rounded Rectangle 38"/>
          <p:cNvSpPr/>
          <p:nvPr/>
        </p:nvSpPr>
        <p:spPr>
          <a:xfrm>
            <a:off x="475488" y="2697480"/>
            <a:ext cx="4041648" cy="914400"/>
          </a:xfrm>
          <a:prstGeom prst="roundRect">
            <a:avLst>
              <a:gd name="adj" fmla="val 5000"/>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21792" y="2816352"/>
            <a:ext cx="1737360" cy="173736"/>
          </a:xfrm>
          <a:prstGeom prst="rect">
            <a:avLst/>
          </a:prstGeom>
          <a:noFill/>
        </p:spPr>
        <p:txBody>
          <a:bodyPr wrap="square" lIns="0" rIns="0" tIns="0" bIns="0" anchor="t">
            <a:spAutoFit/>
          </a:bodyPr>
          <a:lstStyle/>
          <a:p>
            <a:pPr algn="l"/>
            <a:r>
              <a:rPr sz="885" b="1">
                <a:solidFill>
                  <a:srgbClr val="C6C7D0"/>
                </a:solidFill>
                <a:latin typeface="Arial"/>
              </a:rPr>
              <a:t>AI Assistant</a:t>
            </a:r>
          </a:p>
        </p:txBody>
      </p:sp>
      <p:sp>
        <p:nvSpPr>
          <p:cNvPr id="37" name="TextBox 36"/>
          <p:cNvSpPr txBox="1"/>
          <p:nvPr/>
        </p:nvSpPr>
        <p:spPr>
          <a:xfrm>
            <a:off x="621792" y="3017520"/>
            <a:ext cx="3749039" cy="210312"/>
          </a:xfrm>
          <a:prstGeom prst="rect">
            <a:avLst/>
          </a:prstGeom>
          <a:noFill/>
        </p:spPr>
        <p:txBody>
          <a:bodyPr wrap="none" lIns="0" rIns="0" tIns="0" bIns="0" anchor="t">
            <a:spAutoFit/>
          </a:bodyPr>
          <a:lstStyle/>
          <a:p>
            <a:pPr algn="l"/>
            <a:r>
              <a:rPr sz="1125" b="0">
                <a:solidFill>
                  <a:srgbClr val="F7F7FA"/>
                </a:solidFill>
                <a:latin typeface="Arial"/>
              </a:rPr>
              <a:t>Row 14 is text, not a number, so the sum</a:t>
            </a:r>
          </a:p>
        </p:txBody>
      </p:sp>
      <p:sp>
        <p:nvSpPr>
          <p:cNvPr id="38" name="TextBox 37"/>
          <p:cNvSpPr txBox="1"/>
          <p:nvPr/>
        </p:nvSpPr>
        <p:spPr>
          <a:xfrm>
            <a:off x="621792" y="3227832"/>
            <a:ext cx="3749039" cy="210312"/>
          </a:xfrm>
          <a:prstGeom prst="rect">
            <a:avLst/>
          </a:prstGeom>
          <a:noFill/>
        </p:spPr>
        <p:txBody>
          <a:bodyPr wrap="none" lIns="0" rIns="0" tIns="0" bIns="0" anchor="t">
            <a:spAutoFit/>
          </a:bodyPr>
          <a:lstStyle/>
          <a:p>
            <a:pPr algn="l"/>
            <a:r>
              <a:rPr sz="1125" b="0">
                <a:solidFill>
                  <a:srgbClr val="F7F7FA"/>
                </a:solidFill>
                <a:latin typeface="Arial"/>
              </a:rPr>
              <a:t>quietly skips it. Everything else is right.</a:t>
            </a:r>
          </a:p>
        </p:txBody>
      </p:sp>
      <p:sp>
        <p:nvSpPr>
          <p:cNvPr id="40" name="Rounded Rectangle 39"/>
          <p:cNvSpPr/>
          <p:nvPr/>
        </p:nvSpPr>
        <p:spPr>
          <a:xfrm>
            <a:off x="512064" y="3758184"/>
            <a:ext cx="3968496" cy="301752"/>
          </a:xfrm>
          <a:prstGeom prst="roundRect">
            <a:avLst>
              <a:gd name="adj" fmla="val 15151"/>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30936" y="3831336"/>
            <a:ext cx="3346704" cy="173736"/>
          </a:xfrm>
          <a:prstGeom prst="rect">
            <a:avLst/>
          </a:prstGeom>
          <a:noFill/>
        </p:spPr>
        <p:txBody>
          <a:bodyPr wrap="square" lIns="0" rIns="0" tIns="0" bIns="0" anchor="t">
            <a:spAutoFit/>
          </a:bodyPr>
          <a:lstStyle/>
          <a:p>
            <a:pPr algn="l"/>
            <a:r>
              <a:rPr sz="885" b="0">
                <a:solidFill>
                  <a:srgbClr val="C6C7D0"/>
                </a:solidFill>
                <a:latin typeface="Arial"/>
              </a:rPr>
              <a:t>Send a message…</a:t>
            </a:r>
          </a:p>
        </p:txBody>
      </p:sp>
      <p:sp>
        <p:nvSpPr>
          <p:cNvPr id="42" name="Rounded Rectangle 41"/>
          <p:cNvSpPr/>
          <p:nvPr/>
        </p:nvSpPr>
        <p:spPr>
          <a:xfrm>
            <a:off x="4206240" y="3803904"/>
            <a:ext cx="210312" cy="210312"/>
          </a:xfrm>
          <a:prstGeom prst="roundRect">
            <a:avLst>
              <a:gd name="adj" fmla="val 21739"/>
            </a:avLst>
          </a:prstGeom>
          <a:solidFill>
            <a:srgbClr val="E4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4206240" y="3803904"/>
            <a:ext cx="210312" cy="210312"/>
          </a:xfrm>
          <a:prstGeom prst="rect">
            <a:avLst/>
          </a:prstGeom>
          <a:noFill/>
        </p:spPr>
        <p:txBody>
          <a:bodyPr wrap="square" lIns="0" rIns="0" tIns="0" bIns="0" anchor="ctr">
            <a:spAutoFit/>
          </a:bodyPr>
          <a:lstStyle/>
          <a:p>
            <a:pPr algn="ctr"/>
            <a:r>
              <a:rPr sz="1125" b="0">
                <a:solidFill>
                  <a:srgbClr val="25262C"/>
                </a:solidFill>
                <a:latin typeface="Arial"/>
              </a:rP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It Is Not</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10896" y="1389888"/>
            <a:ext cx="4078224" cy="2377440"/>
          </a:xfrm>
          <a:prstGeom prst="roundRect">
            <a:avLst>
              <a:gd name="adj" fmla="val 2307"/>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93776" y="1536192"/>
            <a:ext cx="3712463" cy="274320"/>
          </a:xfrm>
          <a:prstGeom prst="rect">
            <a:avLst/>
          </a:prstGeom>
          <a:noFill/>
        </p:spPr>
        <p:txBody>
          <a:bodyPr wrap="square" lIns="0" rIns="0" tIns="0" bIns="0" anchor="t">
            <a:spAutoFit/>
          </a:bodyPr>
          <a:lstStyle/>
          <a:p>
            <a:pPr algn="l"/>
            <a:r>
              <a:rPr sz="1400" b="1">
                <a:solidFill>
                  <a:srgbClr val="424242"/>
                </a:solidFill>
                <a:latin typeface="Source Code Pro"/>
              </a:rPr>
              <a:t>Not this</a:t>
            </a:r>
          </a:p>
        </p:txBody>
      </p:sp>
      <p:sp>
        <p:nvSpPr>
          <p:cNvPr id="28" name="TextBox 27"/>
          <p:cNvSpPr txBox="1"/>
          <p:nvPr/>
        </p:nvSpPr>
        <p:spPr>
          <a:xfrm>
            <a:off x="493776" y="1938528"/>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A cleverer ChatGPT</a:t>
            </a:r>
          </a:p>
        </p:txBody>
      </p:sp>
      <p:sp>
        <p:nvSpPr>
          <p:cNvPr id="29" name="TextBox 28"/>
          <p:cNvSpPr txBox="1"/>
          <p:nvPr/>
        </p:nvSpPr>
        <p:spPr>
          <a:xfrm>
            <a:off x="493776" y="2249424"/>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A separate account and history</a:t>
            </a:r>
          </a:p>
        </p:txBody>
      </p:sp>
      <p:sp>
        <p:nvSpPr>
          <p:cNvPr id="30" name="TextBox 29"/>
          <p:cNvSpPr txBox="1"/>
          <p:nvPr/>
        </p:nvSpPr>
        <p:spPr>
          <a:xfrm>
            <a:off x="493776" y="2560320"/>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A one-operating-system product</a:t>
            </a:r>
          </a:p>
        </p:txBody>
      </p:sp>
      <p:sp>
        <p:nvSpPr>
          <p:cNvPr id="31" name="TextBox 30"/>
          <p:cNvSpPr txBox="1"/>
          <p:nvPr/>
        </p:nvSpPr>
        <p:spPr>
          <a:xfrm>
            <a:off x="493776" y="2871215"/>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A tool built for developers</a:t>
            </a:r>
          </a:p>
        </p:txBody>
      </p:sp>
      <p:sp>
        <p:nvSpPr>
          <p:cNvPr id="32" name="Rounded Rectangle 31"/>
          <p:cNvSpPr/>
          <p:nvPr/>
        </p:nvSpPr>
        <p:spPr>
          <a:xfrm>
            <a:off x="4754880" y="1389888"/>
            <a:ext cx="4078224" cy="2377440"/>
          </a:xfrm>
          <a:prstGeom prst="roundRect">
            <a:avLst>
              <a:gd name="adj" fmla="val 2307"/>
            </a:avLst>
          </a:prstGeom>
          <a:solidFill>
            <a:srgbClr val="FFFFFF"/>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937760" y="1536192"/>
            <a:ext cx="3712463" cy="274320"/>
          </a:xfrm>
          <a:prstGeom prst="rect">
            <a:avLst/>
          </a:prstGeom>
          <a:noFill/>
        </p:spPr>
        <p:txBody>
          <a:bodyPr wrap="square" lIns="0" rIns="0" tIns="0" bIns="0" anchor="t">
            <a:spAutoFit/>
          </a:bodyPr>
          <a:lstStyle/>
          <a:p>
            <a:pPr algn="l"/>
            <a:r>
              <a:rPr sz="1400" b="1">
                <a:solidFill>
                  <a:srgbClr val="E91D63"/>
                </a:solidFill>
                <a:latin typeface="Source Code Pro"/>
              </a:rPr>
              <a:t>This</a:t>
            </a:r>
          </a:p>
        </p:txBody>
      </p:sp>
      <p:sp>
        <p:nvSpPr>
          <p:cNvPr id="34" name="TextBox 33"/>
          <p:cNvSpPr txBox="1"/>
          <p:nvPr/>
        </p:nvSpPr>
        <p:spPr>
          <a:xfrm>
            <a:off x="4937760" y="1938528"/>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The same models you already use</a:t>
            </a:r>
          </a:p>
        </p:txBody>
      </p:sp>
      <p:sp>
        <p:nvSpPr>
          <p:cNvPr id="35" name="TextBox 34"/>
          <p:cNvSpPr txBox="1"/>
          <p:nvPr/>
        </p:nvSpPr>
        <p:spPr>
          <a:xfrm>
            <a:off x="4937760" y="2249424"/>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One history, shared everywhere</a:t>
            </a:r>
          </a:p>
        </p:txBody>
      </p:sp>
      <p:sp>
        <p:nvSpPr>
          <p:cNvPr id="36" name="TextBox 35"/>
          <p:cNvSpPr txBox="1"/>
          <p:nvPr/>
        </p:nvSpPr>
        <p:spPr>
          <a:xfrm>
            <a:off x="4937760" y="2560320"/>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One of several places it runs</a:t>
            </a:r>
          </a:p>
        </p:txBody>
      </p:sp>
      <p:sp>
        <p:nvSpPr>
          <p:cNvPr id="37" name="TextBox 36"/>
          <p:cNvSpPr txBox="1"/>
          <p:nvPr/>
        </p:nvSpPr>
        <p:spPr>
          <a:xfrm>
            <a:off x="4937760" y="2871215"/>
            <a:ext cx="3712463" cy="274320"/>
          </a:xfrm>
          <a:prstGeom prst="rect">
            <a:avLst/>
          </a:prstGeom>
          <a:noFill/>
        </p:spPr>
        <p:txBody>
          <a:bodyPr wrap="square" lIns="0" rIns="0" tIns="0" bIns="0" anchor="t">
            <a:spAutoFit/>
          </a:bodyPr>
          <a:lstStyle/>
          <a:p>
            <a:pPr algn="l">
              <a:lnSpc>
                <a:spcPct val="115000"/>
              </a:lnSpc>
            </a:pPr>
            <a:r>
              <a:rPr sz="1300" b="0">
                <a:solidFill>
                  <a:srgbClr val="424242"/>
                </a:solidFill>
                <a:latin typeface="Source Code Pro"/>
              </a:rPr>
              <a:t>—  Useful to anyone with a screen</a:t>
            </a:r>
          </a:p>
        </p:txBody>
      </p:sp>
      <p:sp>
        <p:nvSpPr>
          <p:cNvPr id="38" name="TextBox 37"/>
          <p:cNvSpPr txBox="1"/>
          <p:nvPr/>
        </p:nvSpPr>
        <p:spPr>
          <a:xfrm>
            <a:off x="310896" y="3968496"/>
            <a:ext cx="8522208" cy="41148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Nothing here is an upgrade in intelligence. It is the same assistant, reachable from more of the places you actually work.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It Works - Summon It, Point It, Allow It</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10896" y="1389888"/>
            <a:ext cx="4937760" cy="475488"/>
          </a:xfrm>
          <a:prstGeom prst="roundRect">
            <a:avLst>
              <a:gd name="adj" fmla="val 11538"/>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75488" y="1389888"/>
            <a:ext cx="292608" cy="475488"/>
          </a:xfrm>
          <a:prstGeom prst="rect">
            <a:avLst/>
          </a:prstGeom>
          <a:noFill/>
        </p:spPr>
        <p:txBody>
          <a:bodyPr wrap="square" lIns="0" rIns="0" tIns="0" bIns="0" anchor="ctr">
            <a:spAutoFit/>
          </a:bodyPr>
          <a:lstStyle/>
          <a:p>
            <a:pPr algn="l"/>
            <a:r>
              <a:rPr sz="1300" b="1">
                <a:solidFill>
                  <a:srgbClr val="E91D63"/>
                </a:solidFill>
                <a:latin typeface="Source Code Pro"/>
              </a:rPr>
              <a:t>1</a:t>
            </a:r>
          </a:p>
        </p:txBody>
      </p:sp>
      <p:sp>
        <p:nvSpPr>
          <p:cNvPr id="28" name="TextBox 27"/>
          <p:cNvSpPr txBox="1"/>
          <p:nvPr/>
        </p:nvSpPr>
        <p:spPr>
          <a:xfrm>
            <a:off x="822960" y="1389888"/>
            <a:ext cx="4261104" cy="475488"/>
          </a:xfrm>
          <a:prstGeom prst="rect">
            <a:avLst/>
          </a:prstGeom>
          <a:noFill/>
        </p:spPr>
        <p:txBody>
          <a:bodyPr wrap="square" lIns="0" rIns="0" tIns="0" bIns="0" anchor="ctr">
            <a:spAutoFit/>
          </a:bodyPr>
          <a:lstStyle/>
          <a:p>
            <a:pPr algn="l"/>
            <a:r>
              <a:rPr sz="1300" b="0">
                <a:solidFill>
                  <a:srgbClr val="424242"/>
                </a:solidFill>
                <a:latin typeface="Source Code Pro"/>
              </a:rPr>
              <a:t>A keystroke brings it up over your work.</a:t>
            </a:r>
          </a:p>
        </p:txBody>
      </p:sp>
      <p:sp>
        <p:nvSpPr>
          <p:cNvPr id="29" name="Rounded Rectangle 28"/>
          <p:cNvSpPr/>
          <p:nvPr/>
        </p:nvSpPr>
        <p:spPr>
          <a:xfrm>
            <a:off x="310896" y="1993392"/>
            <a:ext cx="4937760" cy="475488"/>
          </a:xfrm>
          <a:prstGeom prst="roundRect">
            <a:avLst>
              <a:gd name="adj" fmla="val 11538"/>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75488" y="1993392"/>
            <a:ext cx="292608" cy="475488"/>
          </a:xfrm>
          <a:prstGeom prst="rect">
            <a:avLst/>
          </a:prstGeom>
          <a:noFill/>
        </p:spPr>
        <p:txBody>
          <a:bodyPr wrap="square" lIns="0" rIns="0" tIns="0" bIns="0" anchor="ctr">
            <a:spAutoFit/>
          </a:bodyPr>
          <a:lstStyle/>
          <a:p>
            <a:pPr algn="l"/>
            <a:r>
              <a:rPr sz="1300" b="1">
                <a:solidFill>
                  <a:srgbClr val="E91D63"/>
                </a:solidFill>
                <a:latin typeface="Source Code Pro"/>
              </a:rPr>
              <a:t>2</a:t>
            </a:r>
          </a:p>
        </p:txBody>
      </p:sp>
      <p:sp>
        <p:nvSpPr>
          <p:cNvPr id="31" name="TextBox 30"/>
          <p:cNvSpPr txBox="1"/>
          <p:nvPr/>
        </p:nvSpPr>
        <p:spPr>
          <a:xfrm>
            <a:off x="822960" y="1993392"/>
            <a:ext cx="4261104" cy="475488"/>
          </a:xfrm>
          <a:prstGeom prst="rect">
            <a:avLst/>
          </a:prstGeom>
          <a:noFill/>
        </p:spPr>
        <p:txBody>
          <a:bodyPr wrap="square" lIns="0" rIns="0" tIns="0" bIns="0" anchor="ctr">
            <a:spAutoFit/>
          </a:bodyPr>
          <a:lstStyle/>
          <a:p>
            <a:pPr algn="l"/>
            <a:r>
              <a:rPr sz="1300" b="0">
                <a:solidFill>
                  <a:srgbClr val="424242"/>
                </a:solidFill>
                <a:latin typeface="Source Code Pro"/>
              </a:rPr>
              <a:t>You point it at a window, a file, a page.</a:t>
            </a:r>
          </a:p>
        </p:txBody>
      </p:sp>
      <p:sp>
        <p:nvSpPr>
          <p:cNvPr id="32" name="Rounded Rectangle 31"/>
          <p:cNvSpPr/>
          <p:nvPr/>
        </p:nvSpPr>
        <p:spPr>
          <a:xfrm>
            <a:off x="310896" y="2596896"/>
            <a:ext cx="4937760" cy="475488"/>
          </a:xfrm>
          <a:prstGeom prst="roundRect">
            <a:avLst>
              <a:gd name="adj" fmla="val 11538"/>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75488" y="2596896"/>
            <a:ext cx="292608" cy="475488"/>
          </a:xfrm>
          <a:prstGeom prst="rect">
            <a:avLst/>
          </a:prstGeom>
          <a:noFill/>
        </p:spPr>
        <p:txBody>
          <a:bodyPr wrap="square" lIns="0" rIns="0" tIns="0" bIns="0" anchor="ctr">
            <a:spAutoFit/>
          </a:bodyPr>
          <a:lstStyle/>
          <a:p>
            <a:pPr algn="l"/>
            <a:r>
              <a:rPr sz="1300" b="1">
                <a:solidFill>
                  <a:srgbClr val="E91D63"/>
                </a:solidFill>
                <a:latin typeface="Source Code Pro"/>
              </a:rPr>
              <a:t>3</a:t>
            </a:r>
          </a:p>
        </p:txBody>
      </p:sp>
      <p:sp>
        <p:nvSpPr>
          <p:cNvPr id="34" name="TextBox 33"/>
          <p:cNvSpPr txBox="1"/>
          <p:nvPr/>
        </p:nvSpPr>
        <p:spPr>
          <a:xfrm>
            <a:off x="822960" y="2596896"/>
            <a:ext cx="4261104" cy="475488"/>
          </a:xfrm>
          <a:prstGeom prst="rect">
            <a:avLst/>
          </a:prstGeom>
          <a:noFill/>
        </p:spPr>
        <p:txBody>
          <a:bodyPr wrap="square" lIns="0" rIns="0" tIns="0" bIns="0" anchor="ctr">
            <a:spAutoFit/>
          </a:bodyPr>
          <a:lstStyle/>
          <a:p>
            <a:pPr algn="l"/>
            <a:r>
              <a:rPr sz="1300" b="0">
                <a:solidFill>
                  <a:srgbClr val="424242"/>
                </a:solidFill>
                <a:latin typeface="Source Code Pro"/>
              </a:rPr>
              <a:t>Your computer asks you to allow that, once.</a:t>
            </a:r>
          </a:p>
        </p:txBody>
      </p:sp>
      <p:sp>
        <p:nvSpPr>
          <p:cNvPr id="35" name="Rounded Rectangle 34"/>
          <p:cNvSpPr/>
          <p:nvPr/>
        </p:nvSpPr>
        <p:spPr>
          <a:xfrm>
            <a:off x="310896" y="3200400"/>
            <a:ext cx="4937760" cy="475488"/>
          </a:xfrm>
          <a:prstGeom prst="roundRect">
            <a:avLst>
              <a:gd name="adj" fmla="val 11538"/>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75488" y="3200400"/>
            <a:ext cx="292608" cy="475488"/>
          </a:xfrm>
          <a:prstGeom prst="rect">
            <a:avLst/>
          </a:prstGeom>
          <a:noFill/>
        </p:spPr>
        <p:txBody>
          <a:bodyPr wrap="square" lIns="0" rIns="0" tIns="0" bIns="0" anchor="ctr">
            <a:spAutoFit/>
          </a:bodyPr>
          <a:lstStyle/>
          <a:p>
            <a:pPr algn="l"/>
            <a:r>
              <a:rPr sz="1300" b="1">
                <a:solidFill>
                  <a:srgbClr val="E91D63"/>
                </a:solidFill>
                <a:latin typeface="Source Code Pro"/>
              </a:rPr>
              <a:t>4</a:t>
            </a:r>
          </a:p>
        </p:txBody>
      </p:sp>
      <p:sp>
        <p:nvSpPr>
          <p:cNvPr id="37" name="TextBox 36"/>
          <p:cNvSpPr txBox="1"/>
          <p:nvPr/>
        </p:nvSpPr>
        <p:spPr>
          <a:xfrm>
            <a:off x="822960" y="3200400"/>
            <a:ext cx="4261104" cy="475488"/>
          </a:xfrm>
          <a:prstGeom prst="rect">
            <a:avLst/>
          </a:prstGeom>
          <a:noFill/>
        </p:spPr>
        <p:txBody>
          <a:bodyPr wrap="square" lIns="0" rIns="0" tIns="0" bIns="0" anchor="ctr">
            <a:spAutoFit/>
          </a:bodyPr>
          <a:lstStyle/>
          <a:p>
            <a:pPr algn="l"/>
            <a:r>
              <a:rPr sz="1300" b="0">
                <a:solidFill>
                  <a:srgbClr val="424242"/>
                </a:solidFill>
                <a:latin typeface="Source Code Pro"/>
              </a:rPr>
              <a:t>What it captured is attached to your message.</a:t>
            </a:r>
          </a:p>
        </p:txBody>
      </p:sp>
      <p:sp>
        <p:nvSpPr>
          <p:cNvPr id="38" name="Rounded Rectangle 37"/>
          <p:cNvSpPr/>
          <p:nvPr/>
        </p:nvSpPr>
        <p:spPr>
          <a:xfrm>
            <a:off x="310896" y="3803904"/>
            <a:ext cx="4937760" cy="475488"/>
          </a:xfrm>
          <a:prstGeom prst="roundRect">
            <a:avLst>
              <a:gd name="adj" fmla="val 11538"/>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75488" y="3803904"/>
            <a:ext cx="292608" cy="475488"/>
          </a:xfrm>
          <a:prstGeom prst="rect">
            <a:avLst/>
          </a:prstGeom>
          <a:noFill/>
        </p:spPr>
        <p:txBody>
          <a:bodyPr wrap="square" lIns="0" rIns="0" tIns="0" bIns="0" anchor="ctr">
            <a:spAutoFit/>
          </a:bodyPr>
          <a:lstStyle/>
          <a:p>
            <a:pPr algn="l"/>
            <a:r>
              <a:rPr sz="1300" b="1">
                <a:solidFill>
                  <a:srgbClr val="E91D63"/>
                </a:solidFill>
                <a:latin typeface="Source Code Pro"/>
              </a:rPr>
              <a:t>5</a:t>
            </a:r>
          </a:p>
        </p:txBody>
      </p:sp>
      <p:sp>
        <p:nvSpPr>
          <p:cNvPr id="40" name="TextBox 39"/>
          <p:cNvSpPr txBox="1"/>
          <p:nvPr/>
        </p:nvSpPr>
        <p:spPr>
          <a:xfrm>
            <a:off x="822960" y="3803904"/>
            <a:ext cx="4261104" cy="475488"/>
          </a:xfrm>
          <a:prstGeom prst="rect">
            <a:avLst/>
          </a:prstGeom>
          <a:noFill/>
        </p:spPr>
        <p:txBody>
          <a:bodyPr wrap="square" lIns="0" rIns="0" tIns="0" bIns="0" anchor="ctr">
            <a:spAutoFit/>
          </a:bodyPr>
          <a:lstStyle/>
          <a:p>
            <a:pPr algn="l"/>
            <a:r>
              <a:rPr sz="1300" b="0">
                <a:solidFill>
                  <a:srgbClr val="424242"/>
                </a:solidFill>
                <a:latin typeface="Source Code Pro"/>
              </a:rPr>
              <a:t>The reply lands in your ordinary chat history.</a:t>
            </a:r>
          </a:p>
        </p:txBody>
      </p:sp>
      <p:sp>
        <p:nvSpPr>
          <p:cNvPr id="41" name="TextBox 40"/>
          <p:cNvSpPr txBox="1"/>
          <p:nvPr/>
        </p:nvSpPr>
        <p:spPr>
          <a:xfrm>
            <a:off x="5577840" y="2340864"/>
            <a:ext cx="3255264" cy="82296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Only the permission step is new. The rest is the ordinary conversation you already know how to have, which is why there is no second tool to learn here.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Arrives with a Question You Never Had to Type Out</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10896" y="1389888"/>
            <a:ext cx="5212080" cy="512064"/>
          </a:xfrm>
          <a:prstGeom prst="roundRect">
            <a:avLst>
              <a:gd name="adj" fmla="val 7142"/>
            </a:avLst>
          </a:prstGeom>
          <a:solidFill>
            <a:srgbClr val="FBE4EC"/>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57200" y="1389888"/>
            <a:ext cx="2710281" cy="512064"/>
          </a:xfrm>
          <a:prstGeom prst="rect">
            <a:avLst/>
          </a:prstGeom>
          <a:noFill/>
        </p:spPr>
        <p:txBody>
          <a:bodyPr wrap="square" lIns="0" rIns="0" tIns="0" bIns="0" anchor="ctr">
            <a:spAutoFit/>
          </a:bodyPr>
          <a:lstStyle/>
          <a:p>
            <a:pPr algn="l"/>
            <a:r>
              <a:rPr sz="1300" b="1">
                <a:solidFill>
                  <a:srgbClr val="424242"/>
                </a:solidFill>
                <a:latin typeface="Source Code Pro"/>
              </a:rPr>
              <a:t>A window you pointed at</a:t>
            </a:r>
          </a:p>
        </p:txBody>
      </p:sp>
      <p:sp>
        <p:nvSpPr>
          <p:cNvPr id="28" name="TextBox 27"/>
          <p:cNvSpPr txBox="1"/>
          <p:nvPr/>
        </p:nvSpPr>
        <p:spPr>
          <a:xfrm>
            <a:off x="3177540" y="1389888"/>
            <a:ext cx="2094890" cy="512064"/>
          </a:xfrm>
          <a:prstGeom prst="rect">
            <a:avLst/>
          </a:prstGeom>
          <a:noFill/>
        </p:spPr>
        <p:txBody>
          <a:bodyPr wrap="square" lIns="0" rIns="0" tIns="0" bIns="0" anchor="ctr">
            <a:spAutoFit/>
          </a:bodyPr>
          <a:lstStyle/>
          <a:p>
            <a:pPr algn="r"/>
            <a:r>
              <a:rPr sz="1200" b="0">
                <a:solidFill>
                  <a:srgbClr val="6B6B6B"/>
                </a:solidFill>
                <a:latin typeface="Source Code Pro"/>
              </a:rPr>
              <a:t>as a picture of it</a:t>
            </a:r>
          </a:p>
        </p:txBody>
      </p:sp>
      <p:sp>
        <p:nvSpPr>
          <p:cNvPr id="29" name="Rounded Rectangle 28"/>
          <p:cNvSpPr/>
          <p:nvPr/>
        </p:nvSpPr>
        <p:spPr>
          <a:xfrm>
            <a:off x="310896" y="1965960"/>
            <a:ext cx="5212080" cy="512064"/>
          </a:xfrm>
          <a:prstGeom prst="roundRect">
            <a:avLst>
              <a:gd name="adj" fmla="val 7142"/>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7200" y="1965960"/>
            <a:ext cx="2710281" cy="512064"/>
          </a:xfrm>
          <a:prstGeom prst="rect">
            <a:avLst/>
          </a:prstGeom>
          <a:noFill/>
        </p:spPr>
        <p:txBody>
          <a:bodyPr wrap="square" lIns="0" rIns="0" tIns="0" bIns="0" anchor="ctr">
            <a:spAutoFit/>
          </a:bodyPr>
          <a:lstStyle/>
          <a:p>
            <a:pPr algn="l"/>
            <a:r>
              <a:rPr sz="1300" b="0">
                <a:solidFill>
                  <a:srgbClr val="424242"/>
                </a:solidFill>
                <a:latin typeface="Source Code Pro"/>
              </a:rPr>
              <a:t>The app you were working in</a:t>
            </a:r>
          </a:p>
        </p:txBody>
      </p:sp>
      <p:sp>
        <p:nvSpPr>
          <p:cNvPr id="31" name="TextBox 30"/>
          <p:cNvSpPr txBox="1"/>
          <p:nvPr/>
        </p:nvSpPr>
        <p:spPr>
          <a:xfrm>
            <a:off x="3177540" y="1965960"/>
            <a:ext cx="2094890" cy="512064"/>
          </a:xfrm>
          <a:prstGeom prst="rect">
            <a:avLst/>
          </a:prstGeom>
          <a:noFill/>
        </p:spPr>
        <p:txBody>
          <a:bodyPr wrap="square" lIns="0" rIns="0" tIns="0" bIns="0" anchor="ctr">
            <a:spAutoFit/>
          </a:bodyPr>
          <a:lstStyle/>
          <a:p>
            <a:pPr algn="r"/>
            <a:r>
              <a:rPr sz="1200" b="0">
                <a:solidFill>
                  <a:srgbClr val="6B6B6B"/>
                </a:solidFill>
                <a:latin typeface="Source Code Pro"/>
              </a:rPr>
              <a:t>the text it can read</a:t>
            </a:r>
          </a:p>
        </p:txBody>
      </p:sp>
      <p:sp>
        <p:nvSpPr>
          <p:cNvPr id="32" name="Rounded Rectangle 31"/>
          <p:cNvSpPr/>
          <p:nvPr/>
        </p:nvSpPr>
        <p:spPr>
          <a:xfrm>
            <a:off x="310896" y="2542032"/>
            <a:ext cx="5212080" cy="512064"/>
          </a:xfrm>
          <a:prstGeom prst="roundRect">
            <a:avLst>
              <a:gd name="adj" fmla="val 7142"/>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57200" y="2542032"/>
            <a:ext cx="2710281" cy="512064"/>
          </a:xfrm>
          <a:prstGeom prst="rect">
            <a:avLst/>
          </a:prstGeom>
          <a:noFill/>
        </p:spPr>
        <p:txBody>
          <a:bodyPr wrap="square" lIns="0" rIns="0" tIns="0" bIns="0" anchor="ctr">
            <a:spAutoFit/>
          </a:bodyPr>
          <a:lstStyle/>
          <a:p>
            <a:pPr algn="l"/>
            <a:r>
              <a:rPr sz="1300" b="0">
                <a:solidFill>
                  <a:srgbClr val="424242"/>
                </a:solidFill>
                <a:latin typeface="Source Code Pro"/>
              </a:rPr>
              <a:t>A file, folder or page you opened</a:t>
            </a:r>
          </a:p>
        </p:txBody>
      </p:sp>
      <p:sp>
        <p:nvSpPr>
          <p:cNvPr id="34" name="TextBox 33"/>
          <p:cNvSpPr txBox="1"/>
          <p:nvPr/>
        </p:nvSpPr>
        <p:spPr>
          <a:xfrm>
            <a:off x="3177540" y="2542032"/>
            <a:ext cx="2094890" cy="512064"/>
          </a:xfrm>
          <a:prstGeom prst="rect">
            <a:avLst/>
          </a:prstGeom>
          <a:noFill/>
        </p:spPr>
        <p:txBody>
          <a:bodyPr wrap="square" lIns="0" rIns="0" tIns="0" bIns="0" anchor="ctr">
            <a:spAutoFit/>
          </a:bodyPr>
          <a:lstStyle/>
          <a:p>
            <a:pPr algn="r"/>
            <a:r>
              <a:rPr sz="1200" b="0">
                <a:solidFill>
                  <a:srgbClr val="6B6B6B"/>
                </a:solidFill>
                <a:latin typeface="Source Code Pro"/>
              </a:rPr>
              <a:t>only where you aimed it</a:t>
            </a:r>
          </a:p>
        </p:txBody>
      </p:sp>
      <p:sp>
        <p:nvSpPr>
          <p:cNvPr id="35" name="Rounded Rectangle 34"/>
          <p:cNvSpPr/>
          <p:nvPr/>
        </p:nvSpPr>
        <p:spPr>
          <a:xfrm>
            <a:off x="310896" y="3118104"/>
            <a:ext cx="5212080" cy="512064"/>
          </a:xfrm>
          <a:prstGeom prst="roundRect">
            <a:avLst>
              <a:gd name="adj" fmla="val 7142"/>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57200" y="3118104"/>
            <a:ext cx="2710281" cy="512064"/>
          </a:xfrm>
          <a:prstGeom prst="rect">
            <a:avLst/>
          </a:prstGeom>
          <a:noFill/>
        </p:spPr>
        <p:txBody>
          <a:bodyPr wrap="square" lIns="0" rIns="0" tIns="0" bIns="0" anchor="ctr">
            <a:spAutoFit/>
          </a:bodyPr>
          <a:lstStyle/>
          <a:p>
            <a:pPr algn="l"/>
            <a:r>
              <a:rPr sz="1300" b="0">
                <a:solidFill>
                  <a:srgbClr val="424242"/>
                </a:solidFill>
                <a:latin typeface="Source Code Pro"/>
              </a:rPr>
              <a:t>Your typed or spoken line</a:t>
            </a:r>
          </a:p>
        </p:txBody>
      </p:sp>
      <p:sp>
        <p:nvSpPr>
          <p:cNvPr id="37" name="TextBox 36"/>
          <p:cNvSpPr txBox="1"/>
          <p:nvPr/>
        </p:nvSpPr>
        <p:spPr>
          <a:xfrm>
            <a:off x="3177540" y="3118104"/>
            <a:ext cx="2094890" cy="512064"/>
          </a:xfrm>
          <a:prstGeom prst="rect">
            <a:avLst/>
          </a:prstGeom>
          <a:noFill/>
        </p:spPr>
        <p:txBody>
          <a:bodyPr wrap="square" lIns="0" rIns="0" tIns="0" bIns="0" anchor="ctr">
            <a:spAutoFit/>
          </a:bodyPr>
          <a:lstStyle/>
          <a:p>
            <a:pPr algn="r"/>
            <a:r>
              <a:rPr sz="1200" b="0">
                <a:solidFill>
                  <a:srgbClr val="6B6B6B"/>
                </a:solidFill>
                <a:latin typeface="Source Code Pro"/>
              </a:rPr>
              <a:t>the short part</a:t>
            </a:r>
          </a:p>
        </p:txBody>
      </p:sp>
      <p:sp>
        <p:nvSpPr>
          <p:cNvPr id="38" name="Down Arrow 37"/>
          <p:cNvSpPr/>
          <p:nvPr/>
        </p:nvSpPr>
        <p:spPr>
          <a:xfrm>
            <a:off x="2743200" y="3730752"/>
            <a:ext cx="310896" cy="201168"/>
          </a:xfrm>
          <a:prstGeom prst="down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310896" y="4023360"/>
            <a:ext cx="5212080" cy="512064"/>
          </a:xfrm>
          <a:prstGeom prst="roundRect">
            <a:avLst>
              <a:gd name="adj" fmla="val 8928"/>
            </a:avLst>
          </a:prstGeom>
          <a:solidFill>
            <a:srgbClr val="FBE4EC"/>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402336" y="4023360"/>
            <a:ext cx="5029200" cy="512064"/>
          </a:xfrm>
          <a:prstGeom prst="rect">
            <a:avLst/>
          </a:prstGeom>
          <a:noFill/>
        </p:spPr>
        <p:txBody>
          <a:bodyPr wrap="square" lIns="0" rIns="0" tIns="0" bIns="0" anchor="ctr">
            <a:spAutoFit/>
          </a:bodyPr>
          <a:lstStyle/>
          <a:p>
            <a:pPr algn="ctr"/>
            <a:r>
              <a:rPr sz="1300" b="1">
                <a:solidFill>
                  <a:srgbClr val="424242"/>
                </a:solidFill>
                <a:latin typeface="Source Code Pro"/>
              </a:rPr>
              <a:t>One message you never wrote out</a:t>
            </a:r>
          </a:p>
        </p:txBody>
      </p:sp>
      <p:sp>
        <p:nvSpPr>
          <p:cNvPr id="41" name="TextBox 40"/>
          <p:cNvSpPr txBox="1"/>
          <p:nvPr/>
        </p:nvSpPr>
        <p:spPr>
          <a:xfrm>
            <a:off x="5760720" y="2377440"/>
            <a:ext cx="3072384" cy="102870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It is never handed your whole machine. It is handed what the app captured at the moment you asked, and from then on that is simply part of the conversation.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Speaking to It While You Carry on Working</a:t>
            </a:r>
          </a:p>
        </p:txBody>
      </p:sp>
      <p:sp>
        <p:nvSpPr>
          <p:cNvPr id="3" name="Text Placeholder 2"/>
          <p:cNvSpPr>
            <a:spLocks noGrp="1"/>
          </p:cNvSpPr>
          <p:nvPr>
            <p:ph type="body" idx="1"/>
          </p:nvPr>
        </p:nvSpPr>
        <p:spPr>
          <a:xfrm>
            <a:off x="5129784" y="1389888"/>
            <a:ext cx="3703320" cy="2587752"/>
          </a:xfrm>
        </p:spPr>
        <p:txBody>
          <a:bodyPr wrap="square" anchor="ctr"/>
          <a:lstStyle/>
          <a:p>
            <a:pPr marL="0" indent="0">
              <a:buNone/>
            </a:pPr>
            <a:r>
              <a:t>Voice is a way into the conversation you already have, not a separate one. You can talk while your hands stay on the work, cut in mid-answer, and read the whole exchange back afterwards.</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65760" y="1389888"/>
            <a:ext cx="4261104" cy="2587752"/>
          </a:xfrm>
          <a:prstGeom prst="roundRect">
            <a:avLst>
              <a:gd name="adj" fmla="val 1714"/>
            </a:avLst>
          </a:prstGeom>
          <a:solidFill>
            <a:srgbClr val="303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365760" y="1389888"/>
            <a:ext cx="4261104" cy="301752"/>
          </a:xfrm>
          <a:prstGeom prst="roundRect">
            <a:avLst>
              <a:gd name="adj" fmla="val 18181"/>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365760" y="1583009"/>
            <a:ext cx="4261104" cy="108630"/>
          </a:xfrm>
          <a:prstGeom prst="rect">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12064" y="1472184"/>
            <a:ext cx="2982772" cy="182880"/>
          </a:xfrm>
          <a:prstGeom prst="rect">
            <a:avLst/>
          </a:prstGeom>
          <a:noFill/>
        </p:spPr>
        <p:txBody>
          <a:bodyPr wrap="square" lIns="0" rIns="0" tIns="0" bIns="0" anchor="t">
            <a:spAutoFit/>
          </a:bodyPr>
          <a:lstStyle/>
          <a:p>
            <a:pPr algn="l"/>
            <a:r>
              <a:rPr sz="1200" b="1">
                <a:solidFill>
                  <a:srgbClr val="F7F7FA"/>
                </a:solidFill>
                <a:latin typeface="Arial"/>
              </a:rPr>
              <a:t>ChatGPT</a:t>
            </a:r>
          </a:p>
        </p:txBody>
      </p:sp>
      <p:sp>
        <p:nvSpPr>
          <p:cNvPr id="30" name="TextBox 29"/>
          <p:cNvSpPr txBox="1"/>
          <p:nvPr/>
        </p:nvSpPr>
        <p:spPr>
          <a:xfrm>
            <a:off x="3383280" y="1490472"/>
            <a:ext cx="1097280" cy="173736"/>
          </a:xfrm>
          <a:prstGeom prst="rect">
            <a:avLst/>
          </a:prstGeom>
          <a:noFill/>
        </p:spPr>
        <p:txBody>
          <a:bodyPr wrap="square" lIns="0" rIns="0" tIns="0" bIns="0" anchor="t">
            <a:spAutoFit/>
          </a:bodyPr>
          <a:lstStyle/>
          <a:p>
            <a:pPr algn="r"/>
            <a:r>
              <a:rPr sz="885" b="0">
                <a:solidFill>
                  <a:srgbClr val="C6C7D0"/>
                </a:solidFill>
                <a:latin typeface="Arial"/>
              </a:rPr>
              <a:t>Spoken</a:t>
            </a:r>
          </a:p>
        </p:txBody>
      </p:sp>
      <p:sp>
        <p:nvSpPr>
          <p:cNvPr id="31" name="TextBox 30"/>
          <p:cNvSpPr txBox="1"/>
          <p:nvPr/>
        </p:nvSpPr>
        <p:spPr>
          <a:xfrm>
            <a:off x="512064" y="1819656"/>
            <a:ext cx="1737360" cy="173736"/>
          </a:xfrm>
          <a:prstGeom prst="rect">
            <a:avLst/>
          </a:prstGeom>
          <a:noFill/>
        </p:spPr>
        <p:txBody>
          <a:bodyPr wrap="square" lIns="0" rIns="0" tIns="0" bIns="0" anchor="t">
            <a:spAutoFit/>
          </a:bodyPr>
          <a:lstStyle/>
          <a:p>
            <a:pPr algn="l"/>
            <a:r>
              <a:rPr sz="885" b="1">
                <a:solidFill>
                  <a:srgbClr val="C6C7D0"/>
                </a:solidFill>
                <a:latin typeface="Arial"/>
              </a:rPr>
              <a:t>User</a:t>
            </a:r>
          </a:p>
        </p:txBody>
      </p:sp>
      <p:sp>
        <p:nvSpPr>
          <p:cNvPr id="32" name="TextBox 31"/>
          <p:cNvSpPr txBox="1"/>
          <p:nvPr/>
        </p:nvSpPr>
        <p:spPr>
          <a:xfrm>
            <a:off x="512064" y="2020824"/>
            <a:ext cx="3968496" cy="210312"/>
          </a:xfrm>
          <a:prstGeom prst="rect">
            <a:avLst/>
          </a:prstGeom>
          <a:noFill/>
        </p:spPr>
        <p:txBody>
          <a:bodyPr wrap="none" lIns="0" rIns="0" tIns="0" bIns="0" anchor="t">
            <a:spAutoFit/>
          </a:bodyPr>
          <a:lstStyle/>
          <a:p>
            <a:pPr algn="l"/>
            <a:r>
              <a:rPr sz="1125" b="0">
                <a:solidFill>
                  <a:srgbClr val="F7F7FA"/>
                </a:solidFill>
                <a:latin typeface="Arial"/>
              </a:rPr>
              <a:t>Read the draft back to me and say what is missing.</a:t>
            </a:r>
          </a:p>
        </p:txBody>
      </p:sp>
      <p:sp>
        <p:nvSpPr>
          <p:cNvPr id="36" name="Rounded Rectangle 35"/>
          <p:cNvSpPr/>
          <p:nvPr/>
        </p:nvSpPr>
        <p:spPr>
          <a:xfrm>
            <a:off x="475488" y="2286000"/>
            <a:ext cx="4041648" cy="914400"/>
          </a:xfrm>
          <a:prstGeom prst="roundRect">
            <a:avLst>
              <a:gd name="adj" fmla="val 5000"/>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21792" y="2404872"/>
            <a:ext cx="1737360" cy="173736"/>
          </a:xfrm>
          <a:prstGeom prst="rect">
            <a:avLst/>
          </a:prstGeom>
          <a:noFill/>
        </p:spPr>
        <p:txBody>
          <a:bodyPr wrap="square" lIns="0" rIns="0" tIns="0" bIns="0" anchor="t">
            <a:spAutoFit/>
          </a:bodyPr>
          <a:lstStyle/>
          <a:p>
            <a:pPr algn="l"/>
            <a:r>
              <a:rPr sz="885" b="1">
                <a:solidFill>
                  <a:srgbClr val="C6C7D0"/>
                </a:solidFill>
                <a:latin typeface="Arial"/>
              </a:rPr>
              <a:t>AI Assistant</a:t>
            </a:r>
          </a:p>
        </p:txBody>
      </p:sp>
      <p:sp>
        <p:nvSpPr>
          <p:cNvPr id="34" name="TextBox 33"/>
          <p:cNvSpPr txBox="1"/>
          <p:nvPr/>
        </p:nvSpPr>
        <p:spPr>
          <a:xfrm>
            <a:off x="621792" y="2606040"/>
            <a:ext cx="3749039" cy="210312"/>
          </a:xfrm>
          <a:prstGeom prst="rect">
            <a:avLst/>
          </a:prstGeom>
          <a:noFill/>
        </p:spPr>
        <p:txBody>
          <a:bodyPr wrap="none" lIns="0" rIns="0" tIns="0" bIns="0" anchor="t">
            <a:spAutoFit/>
          </a:bodyPr>
          <a:lstStyle/>
          <a:p>
            <a:pPr algn="l"/>
            <a:r>
              <a:rPr sz="1125" b="0">
                <a:solidFill>
                  <a:srgbClr val="F7F7FA"/>
                </a:solidFill>
                <a:latin typeface="Arial"/>
              </a:rPr>
              <a:t>It never says who it is for, and paragraphs</a:t>
            </a:r>
          </a:p>
        </p:txBody>
      </p:sp>
      <p:sp>
        <p:nvSpPr>
          <p:cNvPr id="35" name="TextBox 34"/>
          <p:cNvSpPr txBox="1"/>
          <p:nvPr/>
        </p:nvSpPr>
        <p:spPr>
          <a:xfrm>
            <a:off x="621792" y="2816352"/>
            <a:ext cx="3749039" cy="210312"/>
          </a:xfrm>
          <a:prstGeom prst="rect">
            <a:avLst/>
          </a:prstGeom>
          <a:noFill/>
        </p:spPr>
        <p:txBody>
          <a:bodyPr wrap="none" lIns="0" rIns="0" tIns="0" bIns="0" anchor="t">
            <a:spAutoFit/>
          </a:bodyPr>
          <a:lstStyle/>
          <a:p>
            <a:pPr algn="l"/>
            <a:r>
              <a:rPr sz="1125" b="0">
                <a:solidFill>
                  <a:srgbClr val="F7F7FA"/>
                </a:solidFill>
                <a:latin typeface="Arial"/>
              </a:rPr>
              <a:t>two and four make the same point.</a:t>
            </a:r>
          </a:p>
        </p:txBody>
      </p:sp>
      <p:sp>
        <p:nvSpPr>
          <p:cNvPr id="37" name="Rectangle 36"/>
          <p:cNvSpPr/>
          <p:nvPr/>
        </p:nvSpPr>
        <p:spPr>
          <a:xfrm>
            <a:off x="512064" y="3328416"/>
            <a:ext cx="3968496" cy="9144"/>
          </a:xfrm>
          <a:prstGeom prst="rect">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512064" y="3419856"/>
            <a:ext cx="1737360" cy="173736"/>
          </a:xfrm>
          <a:prstGeom prst="rect">
            <a:avLst/>
          </a:prstGeom>
          <a:noFill/>
        </p:spPr>
        <p:txBody>
          <a:bodyPr wrap="square" lIns="0" rIns="0" tIns="0" bIns="0" anchor="t">
            <a:spAutoFit/>
          </a:bodyPr>
          <a:lstStyle/>
          <a:p>
            <a:pPr algn="l"/>
            <a:r>
              <a:rPr sz="885" b="1">
                <a:solidFill>
                  <a:srgbClr val="C6C7D0"/>
                </a:solidFill>
                <a:latin typeface="Arial"/>
              </a:rPr>
              <a:t>Kept in the same chat</a:t>
            </a:r>
          </a:p>
        </p:txBody>
      </p:sp>
      <p:sp>
        <p:nvSpPr>
          <p:cNvPr id="39" name="TextBox 38"/>
          <p:cNvSpPr txBox="1"/>
          <p:nvPr/>
        </p:nvSpPr>
        <p:spPr>
          <a:xfrm>
            <a:off x="512064" y="3621024"/>
            <a:ext cx="3968496" cy="210312"/>
          </a:xfrm>
          <a:prstGeom prst="rect">
            <a:avLst/>
          </a:prstGeom>
          <a:noFill/>
        </p:spPr>
        <p:txBody>
          <a:bodyPr wrap="none" lIns="0" rIns="0" tIns="0" bIns="0" anchor="t">
            <a:spAutoFit/>
          </a:bodyPr>
          <a:lstStyle/>
          <a:p>
            <a:pPr algn="l"/>
            <a:r>
              <a:rPr sz="1125" b="0">
                <a:solidFill>
                  <a:srgbClr val="F7F7FA"/>
                </a:solidFill>
                <a:latin typeface="Arial"/>
              </a:rPr>
              <a:t>Read it back, search it later.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the Permission Stops</a:t>
            </a:r>
          </a:p>
        </p:txBody>
      </p:sp>
      <p:sp>
        <p:nvSpPr>
          <p:cNvPr id="3" name="Text Placeholder 2"/>
          <p:cNvSpPr>
            <a:spLocks noGrp="1"/>
          </p:cNvSpPr>
          <p:nvPr>
            <p:ph type="body" idx="1"/>
          </p:nvPr>
        </p:nvSpPr>
        <p:spPr>
          <a:xfrm>
            <a:off x="310896" y="1389888"/>
            <a:ext cx="3813048" cy="2633472"/>
          </a:xfrm>
        </p:spPr>
        <p:txBody>
          <a:bodyPr wrap="square" anchor="ctr"/>
          <a:lstStyle/>
          <a:p>
            <a:pPr marL="0" indent="0">
              <a:buNone/>
            </a:pPr>
            <a:r>
              <a:t>Every extra thing it can do arrives as a permission your computer asks you to grant. That is the real boundary: it reaches what you allowed and what you aimed it at, and stops there.</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4626864" y="1389888"/>
            <a:ext cx="4206240" cy="2633472"/>
          </a:xfrm>
          <a:prstGeom prst="roundRect">
            <a:avLst>
              <a:gd name="adj" fmla="val 1875"/>
            </a:avLst>
          </a:prstGeom>
          <a:solidFill>
            <a:srgbClr val="303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4626864" y="1389888"/>
            <a:ext cx="4206240" cy="301752"/>
          </a:xfrm>
          <a:prstGeom prst="roundRect">
            <a:avLst>
              <a:gd name="adj" fmla="val 18181"/>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4626864" y="1583009"/>
            <a:ext cx="4206240" cy="108630"/>
          </a:xfrm>
          <a:prstGeom prst="rect">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4773168" y="1472184"/>
            <a:ext cx="2944368" cy="182880"/>
          </a:xfrm>
          <a:prstGeom prst="rect">
            <a:avLst/>
          </a:prstGeom>
          <a:noFill/>
        </p:spPr>
        <p:txBody>
          <a:bodyPr wrap="square" lIns="0" rIns="0" tIns="0" bIns="0" anchor="t">
            <a:spAutoFit/>
          </a:bodyPr>
          <a:lstStyle/>
          <a:p>
            <a:pPr algn="l"/>
            <a:r>
              <a:rPr sz="1200" b="1">
                <a:solidFill>
                  <a:srgbClr val="F7F7FA"/>
                </a:solidFill>
                <a:latin typeface="Arial"/>
              </a:rPr>
              <a:t>Permissions</a:t>
            </a:r>
          </a:p>
        </p:txBody>
      </p:sp>
      <p:sp>
        <p:nvSpPr>
          <p:cNvPr id="30" name="TextBox 29"/>
          <p:cNvSpPr txBox="1"/>
          <p:nvPr/>
        </p:nvSpPr>
        <p:spPr>
          <a:xfrm>
            <a:off x="7589520" y="1490472"/>
            <a:ext cx="1097280" cy="173736"/>
          </a:xfrm>
          <a:prstGeom prst="rect">
            <a:avLst/>
          </a:prstGeom>
          <a:noFill/>
        </p:spPr>
        <p:txBody>
          <a:bodyPr wrap="square" lIns="0" rIns="0" tIns="0" bIns="0" anchor="t">
            <a:spAutoFit/>
          </a:bodyPr>
          <a:lstStyle/>
          <a:p>
            <a:pPr algn="r"/>
            <a:r>
              <a:rPr sz="885" b="0">
                <a:solidFill>
                  <a:srgbClr val="C6C7D0"/>
                </a:solidFill>
                <a:latin typeface="Arial"/>
              </a:rPr>
              <a:t>You decide</a:t>
            </a:r>
          </a:p>
        </p:txBody>
      </p:sp>
      <p:sp>
        <p:nvSpPr>
          <p:cNvPr id="31" name="TextBox 30"/>
          <p:cNvSpPr txBox="1"/>
          <p:nvPr/>
        </p:nvSpPr>
        <p:spPr>
          <a:xfrm>
            <a:off x="4773168" y="1819656"/>
            <a:ext cx="1737360" cy="173736"/>
          </a:xfrm>
          <a:prstGeom prst="rect">
            <a:avLst/>
          </a:prstGeom>
          <a:noFill/>
        </p:spPr>
        <p:txBody>
          <a:bodyPr wrap="square" lIns="0" rIns="0" tIns="0" bIns="0" anchor="t">
            <a:spAutoFit/>
          </a:bodyPr>
          <a:lstStyle/>
          <a:p>
            <a:pPr algn="l"/>
            <a:r>
              <a:rPr sz="885" b="1">
                <a:solidFill>
                  <a:srgbClr val="C6C7D0"/>
                </a:solidFill>
                <a:latin typeface="Arial"/>
              </a:rPr>
              <a:t>Only after you allow it</a:t>
            </a:r>
          </a:p>
        </p:txBody>
      </p:sp>
      <p:sp>
        <p:nvSpPr>
          <p:cNvPr id="32" name="TextBox 31"/>
          <p:cNvSpPr txBox="1"/>
          <p:nvPr/>
        </p:nvSpPr>
        <p:spPr>
          <a:xfrm>
            <a:off x="4773168" y="2020824"/>
            <a:ext cx="3913631" cy="210312"/>
          </a:xfrm>
          <a:prstGeom prst="rect">
            <a:avLst/>
          </a:prstGeom>
          <a:noFill/>
        </p:spPr>
        <p:txBody>
          <a:bodyPr wrap="none" lIns="0" rIns="0" tIns="0" bIns="0" anchor="t">
            <a:spAutoFit/>
          </a:bodyPr>
          <a:lstStyle/>
          <a:p>
            <a:pPr algn="l"/>
            <a:r>
              <a:rPr sz="1125" b="0">
                <a:solidFill>
                  <a:srgbClr val="F7F7FA"/>
                </a:solidFill>
                <a:latin typeface="Arial"/>
              </a:rPr>
              <a:t>The window you aim it at</a:t>
            </a:r>
          </a:p>
        </p:txBody>
      </p:sp>
      <p:sp>
        <p:nvSpPr>
          <p:cNvPr id="33" name="TextBox 32"/>
          <p:cNvSpPr txBox="1"/>
          <p:nvPr/>
        </p:nvSpPr>
        <p:spPr>
          <a:xfrm>
            <a:off x="4773168" y="2231136"/>
            <a:ext cx="3913631" cy="210312"/>
          </a:xfrm>
          <a:prstGeom prst="rect">
            <a:avLst/>
          </a:prstGeom>
          <a:noFill/>
        </p:spPr>
        <p:txBody>
          <a:bodyPr wrap="none" lIns="0" rIns="0" tIns="0" bIns="0" anchor="t">
            <a:spAutoFit/>
          </a:bodyPr>
          <a:lstStyle/>
          <a:p>
            <a:pPr algn="l"/>
            <a:r>
              <a:rPr sz="1125" b="0">
                <a:solidFill>
                  <a:srgbClr val="F7F7FA"/>
                </a:solidFill>
                <a:latin typeface="Arial"/>
              </a:rPr>
              <a:t>A folder you open to it</a:t>
            </a:r>
          </a:p>
        </p:txBody>
      </p:sp>
      <p:sp>
        <p:nvSpPr>
          <p:cNvPr id="34" name="TextBox 33"/>
          <p:cNvSpPr txBox="1"/>
          <p:nvPr/>
        </p:nvSpPr>
        <p:spPr>
          <a:xfrm>
            <a:off x="4773168" y="2441448"/>
            <a:ext cx="3913631" cy="210312"/>
          </a:xfrm>
          <a:prstGeom prst="rect">
            <a:avLst/>
          </a:prstGeom>
          <a:noFill/>
        </p:spPr>
        <p:txBody>
          <a:bodyPr wrap="none" lIns="0" rIns="0" tIns="0" bIns="0" anchor="t">
            <a:spAutoFit/>
          </a:bodyPr>
          <a:lstStyle/>
          <a:p>
            <a:pPr algn="l"/>
            <a:r>
              <a:rPr sz="1125" b="0">
                <a:solidFill>
                  <a:srgbClr val="F7F7FA"/>
                </a:solidFill>
                <a:latin typeface="Arial"/>
              </a:rPr>
              <a:t>A page in its own browser</a:t>
            </a:r>
          </a:p>
        </p:txBody>
      </p:sp>
      <p:sp>
        <p:nvSpPr>
          <p:cNvPr id="35" name="TextBox 34"/>
          <p:cNvSpPr txBox="1"/>
          <p:nvPr/>
        </p:nvSpPr>
        <p:spPr>
          <a:xfrm>
            <a:off x="4773168" y="2651760"/>
            <a:ext cx="3913631" cy="210312"/>
          </a:xfrm>
          <a:prstGeom prst="rect">
            <a:avLst/>
          </a:prstGeom>
          <a:noFill/>
        </p:spPr>
        <p:txBody>
          <a:bodyPr wrap="none" lIns="0" rIns="0" tIns="0" bIns="0" anchor="t">
            <a:spAutoFit/>
          </a:bodyPr>
          <a:lstStyle/>
          <a:p>
            <a:pPr algn="l"/>
            <a:r>
              <a:rPr sz="1125" b="0">
                <a:solidFill>
                  <a:srgbClr val="F7F7FA"/>
                </a:solidFill>
                <a:latin typeface="Arial"/>
              </a:rPr>
              <a:t>Your microphone</a:t>
            </a:r>
          </a:p>
        </p:txBody>
      </p:sp>
      <p:sp>
        <p:nvSpPr>
          <p:cNvPr id="36" name="Rectangle 35"/>
          <p:cNvSpPr/>
          <p:nvPr/>
        </p:nvSpPr>
        <p:spPr>
          <a:xfrm>
            <a:off x="4773168" y="2953512"/>
            <a:ext cx="3913631" cy="9144"/>
          </a:xfrm>
          <a:prstGeom prst="rect">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4773168" y="3044952"/>
            <a:ext cx="1737360" cy="173736"/>
          </a:xfrm>
          <a:prstGeom prst="rect">
            <a:avLst/>
          </a:prstGeom>
          <a:noFill/>
        </p:spPr>
        <p:txBody>
          <a:bodyPr wrap="square" lIns="0" rIns="0" tIns="0" bIns="0" anchor="t">
            <a:spAutoFit/>
          </a:bodyPr>
          <a:lstStyle/>
          <a:p>
            <a:pPr algn="l"/>
            <a:r>
              <a:rPr sz="885" b="1">
                <a:solidFill>
                  <a:srgbClr val="C6C7D0"/>
                </a:solidFill>
                <a:latin typeface="Arial"/>
              </a:rPr>
              <a:t>Not without aiming again</a:t>
            </a:r>
          </a:p>
        </p:txBody>
      </p:sp>
      <p:sp>
        <p:nvSpPr>
          <p:cNvPr id="38" name="TextBox 37"/>
          <p:cNvSpPr txBox="1"/>
          <p:nvPr/>
        </p:nvSpPr>
        <p:spPr>
          <a:xfrm>
            <a:off x="4773168" y="3246120"/>
            <a:ext cx="3913631" cy="210312"/>
          </a:xfrm>
          <a:prstGeom prst="rect">
            <a:avLst/>
          </a:prstGeom>
          <a:noFill/>
        </p:spPr>
        <p:txBody>
          <a:bodyPr wrap="none" lIns="0" rIns="0" tIns="0" bIns="0" anchor="t">
            <a:spAutoFit/>
          </a:bodyPr>
          <a:lstStyle/>
          <a:p>
            <a:pPr algn="l"/>
            <a:r>
              <a:rPr sz="1125" b="0">
                <a:solidFill>
                  <a:srgbClr val="F7F7FA"/>
                </a:solidFill>
                <a:latin typeface="Arial"/>
              </a:rPr>
              <a:t>Your other open applications</a:t>
            </a:r>
          </a:p>
        </p:txBody>
      </p:sp>
      <p:sp>
        <p:nvSpPr>
          <p:cNvPr id="39" name="TextBox 38"/>
          <p:cNvSpPr txBox="1"/>
          <p:nvPr/>
        </p:nvSpPr>
        <p:spPr>
          <a:xfrm>
            <a:off x="4773168" y="3456432"/>
            <a:ext cx="3913631" cy="210312"/>
          </a:xfrm>
          <a:prstGeom prst="rect">
            <a:avLst/>
          </a:prstGeom>
          <a:noFill/>
        </p:spPr>
        <p:txBody>
          <a:bodyPr wrap="none" lIns="0" rIns="0" tIns="0" bIns="0" anchor="t">
            <a:spAutoFit/>
          </a:bodyPr>
          <a:lstStyle/>
          <a:p>
            <a:pPr algn="l"/>
            <a:r>
              <a:rPr sz="1125" b="0">
                <a:solidFill>
                  <a:srgbClr val="F7F7FA"/>
                </a:solidFill>
                <a:latin typeface="Arial"/>
              </a:rPr>
              <a:t>Anything you closed before asking</a:t>
            </a:r>
          </a:p>
        </p:txBody>
      </p:sp>
      <p:sp>
        <p:nvSpPr>
          <p:cNvPr id="40" name="TextBox 39"/>
          <p:cNvSpPr txBox="1"/>
          <p:nvPr/>
        </p:nvSpPr>
        <p:spPr>
          <a:xfrm>
            <a:off x="4773168" y="3666744"/>
            <a:ext cx="3913631" cy="210312"/>
          </a:xfrm>
          <a:prstGeom prst="rect">
            <a:avLst/>
          </a:prstGeom>
          <a:noFill/>
        </p:spPr>
        <p:txBody>
          <a:bodyPr wrap="none" lIns="0" rIns="0" tIns="0" bIns="0" anchor="t">
            <a:spAutoFit/>
          </a:bodyPr>
          <a:lstStyle/>
          <a:p>
            <a:pPr algn="l"/>
            <a:r>
              <a:rPr sz="1125" b="0">
                <a:solidFill>
                  <a:srgbClr val="F7F7FA"/>
                </a:solidFill>
                <a:latin typeface="Arial"/>
              </a:rPr>
              <a:t>Your screen when you have not asked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It Matters - The Cost of Asking a Question Falls to Nearly Nothing</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graphicFrame>
        <p:nvGraphicFramePr>
          <p:cNvPr id="26" name="Table 25"/>
          <p:cNvGraphicFramePr>
            <a:graphicFrameLocks noGrp="1"/>
          </p:cNvGraphicFramePr>
          <p:nvPr/>
        </p:nvGraphicFramePr>
        <p:xfrm>
          <a:off x="310896" y="1444752"/>
          <a:ext cx="8522206" cy="1737360"/>
        </p:xfrm>
        <a:graphic>
          <a:graphicData uri="http://schemas.openxmlformats.org/drawingml/2006/table">
            <a:tbl>
              <a:tblPr>
                <a:tableStyleId>{2D5ABB26-0587-4C30-8999-92F81FD0307C}</a:tableStyleId>
              </a:tblPr>
              <a:tblGrid>
                <a:gridCol w="1832732"/>
                <a:gridCol w="3298919"/>
                <a:gridCol w="3390555"/>
              </a:tblGrid>
              <a:tr h="434340">
                <a:tc>
                  <a:txBody>
                    <a:bodyPr wrap="square"/>
                    <a:lstStyle/>
                    <a:p>
                      <a:r>
                        <a:rPr sz="1200" b="1">
                          <a:solidFill>
                            <a:srgbClr val="424242"/>
                          </a:solidFill>
                          <a:latin typeface="Source Code Pro"/>
                        </a:rPr>
                        <a:t/>
                      </a:r>
                    </a:p>
                  </a:txBody>
                  <a:tcPr marL="91440" marR="91440" marT="36576" marB="36576" anchor="ctr">
                    <a:lnT w="9525" cap="flat">
                      <a:solidFill>
                        <a:srgbClr val="D8D8DE"/>
                      </a:solidFill>
                    </a:lnT>
                    <a:lnB w="15875" cap="flat">
                      <a:solidFill>
                        <a:srgbClr val="424242"/>
                      </a:solidFill>
                    </a:lnB>
                    <a:solidFill>
                      <a:srgbClr val="FFFFFF"/>
                    </a:solidFill>
                  </a:tcPr>
                </a:tc>
                <a:tc>
                  <a:txBody>
                    <a:bodyPr wrap="square"/>
                    <a:lstStyle/>
                    <a:p>
                      <a:r>
                        <a:rPr sz="1200" b="1">
                          <a:solidFill>
                            <a:srgbClr val="424242"/>
                          </a:solidFill>
                          <a:latin typeface="Source Code Pro"/>
                        </a:rPr>
                        <a:t>In a browser tab</a:t>
                      </a:r>
                    </a:p>
                  </a:txBody>
                  <a:tcPr marL="91440" marR="91440" marT="36576" marB="36576" anchor="ctr">
                    <a:lnT w="9525" cap="flat">
                      <a:solidFill>
                        <a:srgbClr val="D8D8DE"/>
                      </a:solidFill>
                    </a:lnT>
                    <a:lnB w="15875" cap="flat">
                      <a:solidFill>
                        <a:srgbClr val="424242"/>
                      </a:solidFill>
                    </a:lnB>
                    <a:solidFill>
                      <a:srgbClr val="FFFFFF"/>
                    </a:solidFill>
                  </a:tcPr>
                </a:tc>
                <a:tc>
                  <a:txBody>
                    <a:bodyPr wrap="square"/>
                    <a:lstStyle/>
                    <a:p>
                      <a:r>
                        <a:rPr sz="1200" b="1">
                          <a:solidFill>
                            <a:srgbClr val="424242"/>
                          </a:solidFill>
                          <a:latin typeface="Source Code Pro"/>
                        </a:rPr>
                        <a:t>Beside your work</a:t>
                      </a:r>
                    </a:p>
                  </a:txBody>
                  <a:tcPr marL="91440" marR="91440" marT="36576" marB="36576" anchor="ctr">
                    <a:lnT w="9525" cap="flat">
                      <a:solidFill>
                        <a:srgbClr val="D8D8DE"/>
                      </a:solidFill>
                    </a:lnT>
                    <a:lnB w="15875" cap="flat">
                      <a:solidFill>
                        <a:srgbClr val="424242"/>
                      </a:solidFill>
                    </a:lnB>
                    <a:solidFill>
                      <a:srgbClr val="FFFFFF"/>
                    </a:solidFill>
                  </a:tcPr>
                </a:tc>
              </a:tr>
              <a:tr h="434340">
                <a:tc>
                  <a:txBody>
                    <a:bodyPr wrap="square"/>
                    <a:lstStyle/>
                    <a:p>
                      <a:r>
                        <a:rPr sz="1200" b="0">
                          <a:solidFill>
                            <a:srgbClr val="424242"/>
                          </a:solidFill>
                          <a:latin typeface="Source Code Pro"/>
                        </a:rPr>
                        <a:t>Getting context in</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Describe it, or copy it across</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Aim at it</a:t>
                      </a:r>
                    </a:p>
                  </a:txBody>
                  <a:tcPr marL="91440" marR="91440" marT="36576" marB="36576" anchor="ctr">
                    <a:lnB w="9525" cap="flat">
                      <a:solidFill>
                        <a:srgbClr val="D8D8DE"/>
                      </a:solidFill>
                    </a:lnB>
                    <a:solidFill>
                      <a:srgbClr val="FFFFFF"/>
                    </a:solidFill>
                  </a:tcPr>
                </a:tc>
              </a:tr>
              <a:tr h="434340">
                <a:tc>
                  <a:txBody>
                    <a:bodyPr wrap="square"/>
                    <a:lstStyle/>
                    <a:p>
                      <a:r>
                        <a:rPr sz="1200" b="0">
                          <a:solidFill>
                            <a:srgbClr val="424242"/>
                          </a:solidFill>
                          <a:latin typeface="Source Code Pro"/>
                        </a:rPr>
                        <a:t>Switching</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You leave what you were doing</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It comes to you</a:t>
                      </a:r>
                    </a:p>
                  </a:txBody>
                  <a:tcPr marL="91440" marR="91440" marT="36576" marB="36576" anchor="ctr">
                    <a:lnB w="9525" cap="flat">
                      <a:solidFill>
                        <a:srgbClr val="D8D8DE"/>
                      </a:solidFill>
                    </a:lnB>
                    <a:solidFill>
                      <a:srgbClr val="FFFFFF"/>
                    </a:solidFill>
                  </a:tcPr>
                </a:tc>
              </a:tr>
              <a:tr h="434340">
                <a:tc>
                  <a:txBody>
                    <a:bodyPr wrap="square"/>
                    <a:lstStyle/>
                    <a:p>
                      <a:r>
                        <a:rPr sz="1200" b="0">
                          <a:solidFill>
                            <a:srgbClr val="424242"/>
                          </a:solidFill>
                          <a:latin typeface="Source Code Pro"/>
                        </a:rPr>
                        <a:t>Failure mode</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Vague answers to vague questions</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You send more than you meant to</a:t>
                      </a:r>
                    </a:p>
                  </a:txBody>
                  <a:tcPr marL="91440" marR="91440" marT="36576" marB="36576" anchor="ctr">
                    <a:lnB w="9525" cap="flat">
                      <a:solidFill>
                        <a:srgbClr val="D8D8DE"/>
                      </a:solidFill>
                    </a:lnB>
                    <a:solidFill>
                      <a:srgbClr val="FFFFFF"/>
                    </a:solidFill>
                  </a:tcPr>
                </a:tc>
              </a:tr>
            </a:tbl>
          </a:graphicData>
        </a:graphic>
      </p:graphicFrame>
      <p:sp>
        <p:nvSpPr>
          <p:cNvPr id="27" name="TextBox 26"/>
          <p:cNvSpPr txBox="1"/>
          <p:nvPr/>
        </p:nvSpPr>
        <p:spPr>
          <a:xfrm>
            <a:off x="310896" y="3383280"/>
            <a:ext cx="8522208" cy="61722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The second failure mode is the quieter one. A window you had forgotten was attached goes to the model along with your question, and is stored in your history with it, under whatever data settings you already have.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Trade You Are Agreeing To</a:t>
            </a:r>
          </a:p>
        </p:txBody>
      </p:sp>
      <p:sp>
        <p:nvSpPr>
          <p:cNvPr id="3" name="Text Placeholder 2"/>
          <p:cNvSpPr>
            <a:spLocks noGrp="1"/>
          </p:cNvSpPr>
          <p:nvPr>
            <p:ph type="body" idx="1"/>
          </p:nvPr>
        </p:nvSpPr>
        <p:spPr>
          <a:xfrm>
            <a:off x="311700" y="1874519"/>
            <a:ext cx="3999900" cy="2679191"/>
          </a:xfrm>
        </p:spPr>
        <p:txBody>
          <a:bodyPr/>
          <a:lstStyle/>
          <a:p>
            <a:r>
              <a:t>Work you would have pasted in anyway</a:t>
            </a:r>
          </a:p>
          <a:p>
            <a:r>
              <a:t>A folder you set up for this task</a:t>
            </a:r>
          </a:p>
          <a:p>
            <a:r>
              <a:t>A page you were about to read line by line</a:t>
            </a:r>
          </a:p>
        </p:txBody>
      </p:sp>
      <p:sp>
        <p:nvSpPr>
          <p:cNvPr id="4" name="Text Placeholder 3"/>
          <p:cNvSpPr>
            <a:spLocks noGrp="1"/>
          </p:cNvSpPr>
          <p:nvPr>
            <p:ph type="body" idx="2"/>
          </p:nvPr>
        </p:nvSpPr>
        <p:spPr>
          <a:xfrm>
            <a:off x="4832400" y="1874519"/>
            <a:ext cx="3999900" cy="2679191"/>
          </a:xfrm>
        </p:spPr>
        <p:txBody>
          <a:bodyPr/>
          <a:lstStyle/>
          <a:p>
            <a:r>
              <a:t>A screen with somebody else's data on it</a:t>
            </a:r>
          </a:p>
          <a:p>
            <a:r>
              <a:t>Everything on your machine, to save a click</a:t>
            </a:r>
          </a:p>
          <a:p>
            <a:r>
              <a:t>Anything you have not checked you are allowed to share</a:t>
            </a:r>
          </a:p>
        </p:txBody>
      </p:sp>
      <p:sp>
        <p:nvSpPr>
          <p:cNvPr id="32" name="Google Shape;3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3" name="TextBox 32"/>
          <p:cNvSpPr txBox="1"/>
          <p:nvPr/>
        </p:nvSpPr>
        <p:spPr>
          <a:xfrm>
            <a:off x="310896" y="1444752"/>
            <a:ext cx="3995928" cy="274320"/>
          </a:xfrm>
          <a:prstGeom prst="rect">
            <a:avLst/>
          </a:prstGeom>
          <a:noFill/>
        </p:spPr>
        <p:txBody>
          <a:bodyPr wrap="square" lIns="0" rIns="0" tIns="0" bIns="0" anchor="t">
            <a:spAutoFit/>
          </a:bodyPr>
          <a:lstStyle/>
          <a:p>
            <a:pPr algn="l"/>
            <a:r>
              <a:rPr sz="1400" b="1">
                <a:solidFill>
                  <a:srgbClr val="424242"/>
                </a:solidFill>
                <a:latin typeface="Source Code Pro"/>
              </a:rPr>
              <a:t>Worth pointing it at</a:t>
            </a:r>
          </a:p>
        </p:txBody>
      </p:sp>
      <p:sp>
        <p:nvSpPr>
          <p:cNvPr id="34" name="TextBox 33"/>
          <p:cNvSpPr txBox="1"/>
          <p:nvPr/>
        </p:nvSpPr>
        <p:spPr>
          <a:xfrm>
            <a:off x="4828032" y="1444752"/>
            <a:ext cx="3995928" cy="274320"/>
          </a:xfrm>
          <a:prstGeom prst="rect">
            <a:avLst/>
          </a:prstGeom>
          <a:noFill/>
        </p:spPr>
        <p:txBody>
          <a:bodyPr wrap="square" lIns="0" rIns="0" tIns="0" bIns="0" anchor="t">
            <a:spAutoFit/>
          </a:bodyPr>
          <a:lstStyle/>
          <a:p>
            <a:pPr algn="l"/>
            <a:r>
              <a:rPr sz="1400" b="1">
                <a:solidFill>
                  <a:srgbClr val="424242"/>
                </a:solidFill>
                <a:latin typeface="Source Code Pro"/>
              </a:rPr>
              <a:t>Stop and think first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7" name="Google Shape;6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8" name="Rectangle 67"/>
          <p:cNvSpPr/>
          <p:nvPr/>
        </p:nvSpPr>
        <p:spPr>
          <a:xfrm>
            <a:off x="0" y="0"/>
            <a:ext cx="9144000" cy="1572768"/>
          </a:xfrm>
          <a:prstGeom prst="rect">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502920" y="0"/>
            <a:ext cx="8138160" cy="1572768"/>
          </a:xfrm>
          <a:prstGeom prst="rect">
            <a:avLst/>
          </a:prstGeom>
          <a:noFill/>
        </p:spPr>
        <p:txBody>
          <a:bodyPr wrap="square" lIns="0" rIns="0" tIns="0" bIns="0" anchor="ctr">
            <a:spAutoFit/>
          </a:bodyPr>
          <a:lstStyle/>
          <a:p>
            <a:pPr algn="l"/>
            <a:r>
              <a:rPr sz="4000" b="0">
                <a:solidFill>
                  <a:srgbClr val="FFFFFF"/>
                </a:solidFill>
                <a:latin typeface="Oswald"/>
              </a:rPr>
              <a:t>Let's See It in Action</a:t>
            </a:r>
          </a:p>
        </p:txBody>
      </p:sp>
      <p:sp>
        <p:nvSpPr>
          <p:cNvPr id="70" name="TextBox 69"/>
          <p:cNvSpPr txBox="1"/>
          <p:nvPr/>
        </p:nvSpPr>
        <p:spPr>
          <a:xfrm>
            <a:off x="502920" y="1883664"/>
            <a:ext cx="8138160" cy="384048"/>
          </a:xfrm>
          <a:prstGeom prst="rect">
            <a:avLst/>
          </a:prstGeom>
          <a:noFill/>
        </p:spPr>
        <p:txBody>
          <a:bodyPr wrap="square" lIns="0" rIns="0" tIns="0" bIns="0" anchor="t">
            <a:spAutoFit/>
          </a:bodyPr>
          <a:lstStyle/>
          <a:p>
            <a:pPr algn="l">
              <a:lnSpc>
                <a:spcPct val="120000"/>
              </a:lnSpc>
            </a:pPr>
            <a:r>
              <a:rPr sz="1500" b="0">
                <a:solidFill>
                  <a:srgbClr val="424242"/>
                </a:solidFill>
                <a:latin typeface="Source Code Pro"/>
              </a:rPr>
              <a:t>That is the principle. Now we do it live on my machine.</a:t>
            </a:r>
          </a:p>
        </p:txBody>
      </p:sp>
      <p:sp>
        <p:nvSpPr>
          <p:cNvPr id="71" name="Rounded Rectangle 70"/>
          <p:cNvSpPr/>
          <p:nvPr/>
        </p:nvSpPr>
        <p:spPr>
          <a:xfrm>
            <a:off x="502920" y="2450592"/>
            <a:ext cx="1842516" cy="1691640"/>
          </a:xfrm>
          <a:prstGeom prst="roundRect">
            <a:avLst>
              <a:gd name="adj" fmla="val 2702"/>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Oval 71"/>
          <p:cNvSpPr/>
          <p:nvPr/>
        </p:nvSpPr>
        <p:spPr>
          <a:xfrm>
            <a:off x="722376" y="2670048"/>
            <a:ext cx="384048" cy="384048"/>
          </a:xfrm>
          <a:prstGeom prst="ellipse">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722376" y="2670048"/>
            <a:ext cx="384048" cy="384048"/>
          </a:xfrm>
          <a:prstGeom prst="rect">
            <a:avLst/>
          </a:prstGeom>
          <a:noFill/>
        </p:spPr>
        <p:txBody>
          <a:bodyPr wrap="square" lIns="0" rIns="0" tIns="0" bIns="0" anchor="ctr">
            <a:spAutoFit/>
          </a:bodyPr>
          <a:lstStyle/>
          <a:p>
            <a:pPr algn="ctr"/>
            <a:r>
              <a:rPr sz="1700" b="1">
                <a:solidFill>
                  <a:srgbClr val="FFFFFF"/>
                </a:solidFill>
                <a:latin typeface="Oswald"/>
              </a:rPr>
              <a:t>1</a:t>
            </a:r>
          </a:p>
        </p:txBody>
      </p:sp>
      <p:sp>
        <p:nvSpPr>
          <p:cNvPr id="74" name="TextBox 73"/>
          <p:cNvSpPr txBox="1"/>
          <p:nvPr/>
        </p:nvSpPr>
        <p:spPr>
          <a:xfrm>
            <a:off x="704088" y="3127248"/>
            <a:ext cx="1440180" cy="411480"/>
          </a:xfrm>
          <a:prstGeom prst="rect">
            <a:avLst/>
          </a:prstGeom>
          <a:noFill/>
        </p:spPr>
        <p:txBody>
          <a:bodyPr wrap="square" lIns="0" rIns="0" tIns="0" bIns="0" anchor="t">
            <a:spAutoFit/>
          </a:bodyPr>
          <a:lstStyle/>
          <a:p>
            <a:pPr algn="l">
              <a:lnSpc>
                <a:spcPct val="120000"/>
              </a:lnSpc>
            </a:pPr>
            <a:r>
              <a:rPr sz="1300" b="0">
                <a:solidFill>
                  <a:srgbClr val="424242"/>
                </a:solidFill>
                <a:latin typeface="Source Code Pro"/>
              </a:rPr>
              <a:t>Summon it</a:t>
            </a:r>
          </a:p>
        </p:txBody>
      </p:sp>
      <p:sp>
        <p:nvSpPr>
          <p:cNvPr id="75" name="TextBox 74"/>
          <p:cNvSpPr txBox="1"/>
          <p:nvPr/>
        </p:nvSpPr>
        <p:spPr>
          <a:xfrm>
            <a:off x="704088" y="3630168"/>
            <a:ext cx="1440180" cy="420624"/>
          </a:xfrm>
          <a:prstGeom prst="rect">
            <a:avLst/>
          </a:prstGeom>
          <a:noFill/>
        </p:spPr>
        <p:txBody>
          <a:bodyPr wrap="square" lIns="0" rIns="0" tIns="0" bIns="0" anchor="t">
            <a:spAutoFit/>
          </a:bodyPr>
          <a:lstStyle/>
          <a:p>
            <a:pPr algn="l">
              <a:lnSpc>
                <a:spcPct val="115000"/>
              </a:lnSpc>
            </a:pPr>
            <a:r>
              <a:rPr sz="1200" b="0">
                <a:solidFill>
                  <a:srgbClr val="6B6B6B"/>
                </a:solidFill>
                <a:latin typeface="Source Code Pro"/>
              </a:rPr>
              <a:t>over something you are working on</a:t>
            </a:r>
          </a:p>
        </p:txBody>
      </p:sp>
      <p:sp>
        <p:nvSpPr>
          <p:cNvPr id="76" name="Rounded Rectangle 75"/>
          <p:cNvSpPr/>
          <p:nvPr/>
        </p:nvSpPr>
        <p:spPr>
          <a:xfrm>
            <a:off x="2601468" y="2450592"/>
            <a:ext cx="1842516" cy="1691640"/>
          </a:xfrm>
          <a:prstGeom prst="roundRect">
            <a:avLst>
              <a:gd name="adj" fmla="val 2702"/>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Oval 76"/>
          <p:cNvSpPr/>
          <p:nvPr/>
        </p:nvSpPr>
        <p:spPr>
          <a:xfrm>
            <a:off x="2820924" y="2670048"/>
            <a:ext cx="384048" cy="384048"/>
          </a:xfrm>
          <a:prstGeom prst="ellipse">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2820924" y="2670048"/>
            <a:ext cx="384048" cy="384048"/>
          </a:xfrm>
          <a:prstGeom prst="rect">
            <a:avLst/>
          </a:prstGeom>
          <a:noFill/>
        </p:spPr>
        <p:txBody>
          <a:bodyPr wrap="square" lIns="0" rIns="0" tIns="0" bIns="0" anchor="ctr">
            <a:spAutoFit/>
          </a:bodyPr>
          <a:lstStyle/>
          <a:p>
            <a:pPr algn="ctr"/>
            <a:r>
              <a:rPr sz="1700" b="1">
                <a:solidFill>
                  <a:srgbClr val="FFFFFF"/>
                </a:solidFill>
                <a:latin typeface="Oswald"/>
              </a:rPr>
              <a:t>2</a:t>
            </a:r>
          </a:p>
        </p:txBody>
      </p:sp>
      <p:sp>
        <p:nvSpPr>
          <p:cNvPr id="79" name="TextBox 78"/>
          <p:cNvSpPr txBox="1"/>
          <p:nvPr/>
        </p:nvSpPr>
        <p:spPr>
          <a:xfrm>
            <a:off x="2802636" y="3127248"/>
            <a:ext cx="1440180" cy="411480"/>
          </a:xfrm>
          <a:prstGeom prst="rect">
            <a:avLst/>
          </a:prstGeom>
          <a:noFill/>
        </p:spPr>
        <p:txBody>
          <a:bodyPr wrap="square" lIns="0" rIns="0" tIns="0" bIns="0" anchor="t">
            <a:spAutoFit/>
          </a:bodyPr>
          <a:lstStyle/>
          <a:p>
            <a:pPr algn="l">
              <a:lnSpc>
                <a:spcPct val="120000"/>
              </a:lnSpc>
            </a:pPr>
            <a:r>
              <a:rPr sz="1300" b="0">
                <a:solidFill>
                  <a:srgbClr val="424242"/>
                </a:solidFill>
                <a:latin typeface="Source Code Pro"/>
              </a:rPr>
              <a:t>Point it at one window</a:t>
            </a:r>
          </a:p>
        </p:txBody>
      </p:sp>
      <p:sp>
        <p:nvSpPr>
          <p:cNvPr id="80" name="TextBox 79"/>
          <p:cNvSpPr txBox="1"/>
          <p:nvPr/>
        </p:nvSpPr>
        <p:spPr>
          <a:xfrm>
            <a:off x="2802636" y="3630168"/>
            <a:ext cx="1440180" cy="420624"/>
          </a:xfrm>
          <a:prstGeom prst="rect">
            <a:avLst/>
          </a:prstGeom>
          <a:noFill/>
        </p:spPr>
        <p:txBody>
          <a:bodyPr wrap="square" lIns="0" rIns="0" tIns="0" bIns="0" anchor="t">
            <a:spAutoFit/>
          </a:bodyPr>
          <a:lstStyle/>
          <a:p>
            <a:pPr algn="l">
              <a:lnSpc>
                <a:spcPct val="115000"/>
              </a:lnSpc>
            </a:pPr>
            <a:r>
              <a:rPr sz="1200" b="0">
                <a:solidFill>
                  <a:srgbClr val="6B6B6B"/>
                </a:solidFill>
                <a:latin typeface="Source Code Pro"/>
              </a:rPr>
              <a:t>and watch what gets attached</a:t>
            </a:r>
          </a:p>
        </p:txBody>
      </p:sp>
      <p:sp>
        <p:nvSpPr>
          <p:cNvPr id="81" name="Rounded Rectangle 80"/>
          <p:cNvSpPr/>
          <p:nvPr/>
        </p:nvSpPr>
        <p:spPr>
          <a:xfrm>
            <a:off x="4700016" y="2450592"/>
            <a:ext cx="1842516" cy="1691640"/>
          </a:xfrm>
          <a:prstGeom prst="roundRect">
            <a:avLst>
              <a:gd name="adj" fmla="val 2702"/>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Oval 81"/>
          <p:cNvSpPr/>
          <p:nvPr/>
        </p:nvSpPr>
        <p:spPr>
          <a:xfrm>
            <a:off x="4919472" y="2670048"/>
            <a:ext cx="384048" cy="384048"/>
          </a:xfrm>
          <a:prstGeom prst="ellipse">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4919472" y="2670048"/>
            <a:ext cx="384048" cy="384048"/>
          </a:xfrm>
          <a:prstGeom prst="rect">
            <a:avLst/>
          </a:prstGeom>
          <a:noFill/>
        </p:spPr>
        <p:txBody>
          <a:bodyPr wrap="square" lIns="0" rIns="0" tIns="0" bIns="0" anchor="ctr">
            <a:spAutoFit/>
          </a:bodyPr>
          <a:lstStyle/>
          <a:p>
            <a:pPr algn="ctr"/>
            <a:r>
              <a:rPr sz="1700" b="1">
                <a:solidFill>
                  <a:srgbClr val="FFFFFF"/>
                </a:solidFill>
                <a:latin typeface="Oswald"/>
              </a:rPr>
              <a:t>3</a:t>
            </a:r>
          </a:p>
        </p:txBody>
      </p:sp>
      <p:sp>
        <p:nvSpPr>
          <p:cNvPr id="84" name="TextBox 83"/>
          <p:cNvSpPr txBox="1"/>
          <p:nvPr/>
        </p:nvSpPr>
        <p:spPr>
          <a:xfrm>
            <a:off x="4901183" y="3127248"/>
            <a:ext cx="1440180" cy="411480"/>
          </a:xfrm>
          <a:prstGeom prst="rect">
            <a:avLst/>
          </a:prstGeom>
          <a:noFill/>
        </p:spPr>
        <p:txBody>
          <a:bodyPr wrap="square" lIns="0" rIns="0" tIns="0" bIns="0" anchor="t">
            <a:spAutoFit/>
          </a:bodyPr>
          <a:lstStyle/>
          <a:p>
            <a:pPr algn="l">
              <a:lnSpc>
                <a:spcPct val="120000"/>
              </a:lnSpc>
            </a:pPr>
            <a:r>
              <a:rPr sz="1300" b="0">
                <a:solidFill>
                  <a:srgbClr val="424242"/>
                </a:solidFill>
                <a:latin typeface="Source Code Pro"/>
              </a:rPr>
              <a:t>Talk to it</a:t>
            </a:r>
          </a:p>
        </p:txBody>
      </p:sp>
      <p:sp>
        <p:nvSpPr>
          <p:cNvPr id="85" name="TextBox 84"/>
          <p:cNvSpPr txBox="1"/>
          <p:nvPr/>
        </p:nvSpPr>
        <p:spPr>
          <a:xfrm>
            <a:off x="4901183" y="3630168"/>
            <a:ext cx="1440180" cy="420624"/>
          </a:xfrm>
          <a:prstGeom prst="rect">
            <a:avLst/>
          </a:prstGeom>
          <a:noFill/>
        </p:spPr>
        <p:txBody>
          <a:bodyPr wrap="square" lIns="0" rIns="0" tIns="0" bIns="0" anchor="t">
            <a:spAutoFit/>
          </a:bodyPr>
          <a:lstStyle/>
          <a:p>
            <a:pPr algn="l">
              <a:lnSpc>
                <a:spcPct val="115000"/>
              </a:lnSpc>
            </a:pPr>
            <a:r>
              <a:rPr sz="1200" b="0">
                <a:solidFill>
                  <a:srgbClr val="6B6B6B"/>
                </a:solidFill>
                <a:latin typeface="Source Code Pro"/>
              </a:rPr>
              <a:t>while you carry on with the work</a:t>
            </a:r>
          </a:p>
        </p:txBody>
      </p:sp>
      <p:sp>
        <p:nvSpPr>
          <p:cNvPr id="86" name="Rounded Rectangle 85"/>
          <p:cNvSpPr/>
          <p:nvPr/>
        </p:nvSpPr>
        <p:spPr>
          <a:xfrm>
            <a:off x="6798564" y="2450592"/>
            <a:ext cx="1842516" cy="1691640"/>
          </a:xfrm>
          <a:prstGeom prst="roundRect">
            <a:avLst>
              <a:gd name="adj" fmla="val 2702"/>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Oval 86"/>
          <p:cNvSpPr/>
          <p:nvPr/>
        </p:nvSpPr>
        <p:spPr>
          <a:xfrm>
            <a:off x="7018020" y="2670048"/>
            <a:ext cx="384048" cy="384048"/>
          </a:xfrm>
          <a:prstGeom prst="ellipse">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Box 87"/>
          <p:cNvSpPr txBox="1"/>
          <p:nvPr/>
        </p:nvSpPr>
        <p:spPr>
          <a:xfrm>
            <a:off x="7018020" y="2670048"/>
            <a:ext cx="384048" cy="384048"/>
          </a:xfrm>
          <a:prstGeom prst="rect">
            <a:avLst/>
          </a:prstGeom>
          <a:noFill/>
        </p:spPr>
        <p:txBody>
          <a:bodyPr wrap="square" lIns="0" rIns="0" tIns="0" bIns="0" anchor="ctr">
            <a:spAutoFit/>
          </a:bodyPr>
          <a:lstStyle/>
          <a:p>
            <a:pPr algn="ctr"/>
            <a:r>
              <a:rPr sz="1700" b="1">
                <a:solidFill>
                  <a:srgbClr val="FFFFFF"/>
                </a:solidFill>
                <a:latin typeface="Oswald"/>
              </a:rPr>
              <a:t>4</a:t>
            </a:r>
          </a:p>
        </p:txBody>
      </p:sp>
      <p:sp>
        <p:nvSpPr>
          <p:cNvPr id="89" name="TextBox 88"/>
          <p:cNvSpPr txBox="1"/>
          <p:nvPr/>
        </p:nvSpPr>
        <p:spPr>
          <a:xfrm>
            <a:off x="6999731" y="3127248"/>
            <a:ext cx="1440180" cy="411480"/>
          </a:xfrm>
          <a:prstGeom prst="rect">
            <a:avLst/>
          </a:prstGeom>
          <a:noFill/>
        </p:spPr>
        <p:txBody>
          <a:bodyPr wrap="square" lIns="0" rIns="0" tIns="0" bIns="0" anchor="t">
            <a:spAutoFit/>
          </a:bodyPr>
          <a:lstStyle/>
          <a:p>
            <a:pPr algn="l">
              <a:lnSpc>
                <a:spcPct val="120000"/>
              </a:lnSpc>
            </a:pPr>
            <a:r>
              <a:rPr sz="1300" b="0">
                <a:solidFill>
                  <a:srgbClr val="424242"/>
                </a:solidFill>
                <a:latin typeface="Source Code Pro"/>
              </a:rPr>
              <a:t>Open the permissions</a:t>
            </a:r>
          </a:p>
        </p:txBody>
      </p:sp>
      <p:sp>
        <p:nvSpPr>
          <p:cNvPr id="90" name="TextBox 89"/>
          <p:cNvSpPr txBox="1"/>
          <p:nvPr/>
        </p:nvSpPr>
        <p:spPr>
          <a:xfrm>
            <a:off x="6999731" y="3630168"/>
            <a:ext cx="1440180" cy="420624"/>
          </a:xfrm>
          <a:prstGeom prst="rect">
            <a:avLst/>
          </a:prstGeom>
          <a:noFill/>
        </p:spPr>
        <p:txBody>
          <a:bodyPr wrap="square" lIns="0" rIns="0" tIns="0" bIns="0" anchor="t">
            <a:spAutoFit/>
          </a:bodyPr>
          <a:lstStyle/>
          <a:p>
            <a:pPr algn="l">
              <a:lnSpc>
                <a:spcPct val="115000"/>
              </a:lnSpc>
            </a:pPr>
            <a:r>
              <a:rPr sz="1200" b="0">
                <a:solidFill>
                  <a:srgbClr val="6B6B6B"/>
                </a:solidFill>
                <a:latin typeface="Source Code Pro"/>
              </a:rPr>
              <a:t>and take one back</a:t>
            </a:r>
          </a:p>
        </p:txBody>
      </p:sp>
    </p:spTree>
  </p:cSld>
  <p:clrMapOvr>
    <a:masterClrMapping/>
  </p:clrMapOvr>
</p:sld>
</file>

<file path=ppt/theme/theme1.xml><?xml version="1.0" encoding="utf-8"?>
<a:theme xmlns:a="http://schemas.openxmlformats.org/drawingml/2006/main" xmlns:r="http://schemas.openxmlformats.org/officeDocument/2006/relationships"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