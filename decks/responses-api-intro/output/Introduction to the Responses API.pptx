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7abd87f5044c1f" /><Relationship Type="http://schemas.openxmlformats.org/officeDocument/2006/relationships/extended-properties" Target="/docProps/app.xml" Id="R0b0aad75b79e4fa8" /><Relationship Type="http://schemas.openxmlformats.org/officeDocument/2006/relationships/officeDocument" Target="/ppt/presentation.xml" Id="R9c65efc387fa456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3f24b367c1b4379"/>
  </p:sldMasterIdLst>
  <p:notesMasterIdLst>
    <p:notesMasterId xmlns:r="http://schemas.openxmlformats.org/officeDocument/2006/relationships" r:id="R4c16bdaf1c834edb"/>
  </p:notesMasterIdLst>
  <p:sldIdLst>
    <p:sldId xmlns:r="http://schemas.openxmlformats.org/officeDocument/2006/relationships" id="256" r:id="R30fad9e677354c17"/>
    <p:sldId xmlns:r="http://schemas.openxmlformats.org/officeDocument/2006/relationships" id="257" r:id="Ra6ee3a8d2eb44ae5"/>
    <p:sldId xmlns:r="http://schemas.openxmlformats.org/officeDocument/2006/relationships" id="258" r:id="Ra041ad2aef364d2a"/>
  </p:sldIdLst>
  <p:sldSz cx="9144000" cy="5143500"/>
  <p:notesSz cx="6858000" cy="9144000"/>
  <p:embeddedFontLst>
    <p:embeddedFont>
      <p:font typeface="Source Code Pro"/>
      <p:regular xmlns:r="http://schemas.openxmlformats.org/officeDocument/2006/relationships" r:id="R3d4498331d424f39"/>
      <p:bold xmlns:r="http://schemas.openxmlformats.org/officeDocument/2006/relationships" r:id="Ree342e5895814b55"/>
      <p:italic xmlns:r="http://schemas.openxmlformats.org/officeDocument/2006/relationships" r:id="Rd8f3e7d7e5e14dba"/>
      <p:boldItalic xmlns:r="http://schemas.openxmlformats.org/officeDocument/2006/relationships" r:id="Rfa91da060e684ecb"/>
    </p:embeddedFont>
    <p:embeddedFont>
      <p:font typeface="Oswald"/>
      <p:regular xmlns:r="http://schemas.openxmlformats.org/officeDocument/2006/relationships" r:id="R3774e1f448b84918"/>
      <p:bold xmlns:r="http://schemas.openxmlformats.org/officeDocument/2006/relationships" r:id="R6f54e5d62e33467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ecf93a24d0f141d4" /><Relationship Type="http://schemas.openxmlformats.org/officeDocument/2006/relationships/slideMaster" Target="/ppt/slideMasters/slideMaster1.xml" Id="Rc3f24b367c1b4379" /><Relationship Type="http://schemas.openxmlformats.org/officeDocument/2006/relationships/notesMaster" Target="/ppt/notesMasters/notesMaster1.xml" Id="R4c16bdaf1c834edb" /><Relationship Type="http://schemas.openxmlformats.org/officeDocument/2006/relationships/presProps" Target="/ppt/presProps.xml" Id="R8d15d1b174554291" /><Relationship Type="http://schemas.openxmlformats.org/officeDocument/2006/relationships/viewProps" Target="/ppt/viewProps.xml" Id="Rf2008a16d18645d5" /><Relationship Type="http://schemas.openxmlformats.org/officeDocument/2006/relationships/tableStyles" Target="/ppt/tableStyles.xml" Id="R1c86e95146c44c3d" /><Relationship Type="http://schemas.openxmlformats.org/officeDocument/2006/relationships/font" Target="/ppt/fonts/font.dat" Id="R3d4498331d424f39" /><Relationship Type="http://schemas.openxmlformats.org/officeDocument/2006/relationships/font" Target="/ppt/fonts/font2.dat" Id="Ree342e5895814b55" /><Relationship Type="http://schemas.openxmlformats.org/officeDocument/2006/relationships/font" Target="/ppt/fonts/font3.dat" Id="Rd8f3e7d7e5e14dba" /><Relationship Type="http://schemas.openxmlformats.org/officeDocument/2006/relationships/font" Target="/ppt/fonts/font4.dat" Id="Rfa91da060e684ecb" /><Relationship Type="http://schemas.openxmlformats.org/officeDocument/2006/relationships/font" Target="/ppt/fonts/font5.dat" Id="R3774e1f448b84918" /><Relationship Type="http://schemas.openxmlformats.org/officeDocument/2006/relationships/font" Target="/ppt/fonts/font6.dat" Id="R6f54e5d62e33467f" /><Relationship Type="http://schemas.openxmlformats.org/officeDocument/2006/relationships/slide" Target="/ppt/slides/slide1.xml" Id="R30fad9e677354c17" /><Relationship Type="http://schemas.openxmlformats.org/officeDocument/2006/relationships/slide" Target="/ppt/slides/slide2.xml" Id="Ra6ee3a8d2eb44ae5" /><Relationship Type="http://schemas.openxmlformats.org/officeDocument/2006/relationships/slide" Target="/ppt/slides/slide3.xml" Id="Ra041ad2aef364d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e11e97e10c4c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ee6a166437438f" /><Relationship Type="http://schemas.openxmlformats.org/officeDocument/2006/relationships/notesMaster" Target="/ppt/notesMasters/notesMaster1.xml" Id="Ra5b51f7b54d347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c8d1d74aed4418" /><Relationship Type="http://schemas.openxmlformats.org/officeDocument/2006/relationships/notesMaster" Target="/ppt/notesMasters/notesMaster1.xml" Id="Raf724c5d49214b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91550e7ca74a55" /><Relationship Type="http://schemas.openxmlformats.org/officeDocument/2006/relationships/notesMaster" Target="/ppt/notesMasters/notesMaster1.xml" Id="R5c98b7b8125d44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Responses API is the interface we will use to send inputs to an OpenAI model and work with its output. It extends the older chat-oriented pattern with a common interface for supported modalities, tool calls and conversation state. OpenAI recommends Responses for new projects, while Chat Completions remains supported. We will start with a single text request, then see where messages fit. This gives us the foundation for the next lecture, Responses API and Messages.</a:t>
            </a:r>
          </a:p>
          <a:p xmlns:a="http://schemas.openxmlformats.org/drawingml/2006/main">
            <a:r>
              <a:t/>
            </a:r>
          </a:p>
          <a:p xmlns:a="http://schemas.openxmlformats.org/drawingml/2006/main">
            <a:r>
              <a:t>Sources:</a:t>
            </a:r>
          </a:p>
          <a:p xmlns:a="http://schemas.openxmlformats.org/drawingml/2006/main">
            <a:r>
              <a:t>https://developers.openai.com/api/docs/guides/migrate-to-responses</a:t>
            </a:r>
          </a:p>
          <a:p xmlns:a="http://schemas.openxmlformats.org/drawingml/2006/main">
            <a:r>
              <a:t>https://developers.openai.com/api/docs/guides/conversation-state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authenticated client sends a request to responses.create. The model selects which AI model handles it. Instructions describe how the model should behave. Input supplies the task or data. The response contains an ID, output items and usage information. In the Python SDK, output_text is a convenience property that collects text output. With tools, the raw output can also contain function calls or other typed items, so do not assume the first item is always a message. Before running this, install the SDK, set an API key and choose an available model.</a:t>
            </a:r>
          </a:p>
          <a:p xmlns:a="http://schemas.openxmlformats.org/drawingml/2006/main">
            <a:r>
              <a:t/>
            </a:r>
          </a:p>
          <a:p xmlns:a="http://schemas.openxmlformats.org/drawingml/2006/main">
            <a:r>
              <a:t>Sources:</a:t>
            </a:r>
          </a:p>
          <a:p xmlns:a="http://schemas.openxmlformats.org/drawingml/2006/main">
            <a:r>
              <a:t>https://developers.openai.com/api/docs/quickstart</a:t>
            </a:r>
          </a:p>
          <a:p xmlns:a="http://schemas.openxmlformats.org/drawingml/2006/main">
            <a:r>
              <a:t>https://developers.openai.com/api/docs/guides/migrate-to-responses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single task, input can be a string. For a conversation, input can be a list of messages with roles and content. The example shows the earlier user question, the assistant reply and the follow-up. Messages sit inside the Responses interface alongside other item types such as function calls and tool results. Your application can send the relevant history itself or link a turn using previous_response_id. When linking turns, resend the instructions you still require. The next notebook demonstrates both conversation patterns.</a:t>
            </a:r>
          </a:p>
          <a:p xmlns:a="http://schemas.openxmlformats.org/drawingml/2006/main">
            <a:r>
              <a:t/>
            </a:r>
          </a:p>
          <a:p xmlns:a="http://schemas.openxmlformats.org/drawingml/2006/main">
            <a:r>
              <a:t>Sources:</a:t>
            </a:r>
          </a:p>
          <a:p xmlns:a="http://schemas.openxmlformats.org/drawingml/2006/main">
            <a:r>
              <a:t>https://developers.openai.com/api/docs/guides/conversation-state</a:t>
            </a:r>
          </a:p>
          <a:p xmlns:a="http://schemas.openxmlformats.org/drawingml/2006/main">
            <a:r>
              <a:t>https://developers.openai.com/api/docs/guides/migrate-to-responses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a1bc666e2e4b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006339763d4f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cfbe81f35647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f62da4f9544f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0b20a25e2743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ada08bd8e349a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7908ca44578454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348b0d3a03c4cc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dbffcf176c64b7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df02714611246e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bc1f7a5534c454d"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24157C9D-CC74-4782-A398-A76CC4B2FA0D}"/>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 name="Google Shape;11;p2">
            <a:extLst xmlns:a="http://schemas.openxmlformats.org/drawingml/2006/main">
              <a:ext uri="{FF2B5EF4-FFF2-40B4-BE49-F238E27FC236}">
                <a16:creationId xmlns:a16="http://schemas.microsoft.com/office/drawing/2014/main" id="{5F40FFE4-4CD8-4D8A-B29F-53815E4E315F}"/>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 name="Google Shape;12;p2">
            <a:extLst xmlns:a="http://schemas.openxmlformats.org/drawingml/2006/main">
              <a:ext uri="{FF2B5EF4-FFF2-40B4-BE49-F238E27FC236}">
                <a16:creationId xmlns:a16="http://schemas.microsoft.com/office/drawing/2014/main" id="{EE721652-0EE2-4786-A639-B0F2FAB7EEF1}"/>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291F2EA-2FB5-421A-A0BA-42BC5A48B349}"/>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EB7E5C52-60D7-4A72-9C19-0E2CDA7443D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2">
            <a:extLst xmlns:a="http://schemas.openxmlformats.org/drawingml/2006/main">
              <a:ext uri="{FF2B5EF4-FFF2-40B4-BE49-F238E27FC236}">
                <a16:creationId xmlns:a16="http://schemas.microsoft.com/office/drawing/2014/main" id="{4AFE4940-1F6B-445D-92C7-4D4FFF006702}"/>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23" name="Google Shape;17;p3"/>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8" name="Google Shape;18;p3">
            <a:extLst xmlns:a="http://schemas.openxmlformats.org/drawingml/2006/main">
              <a:ext uri="{FF2B5EF4-FFF2-40B4-BE49-F238E27FC236}">
                <a16:creationId xmlns:a16="http://schemas.microsoft.com/office/drawing/2014/main" id="{CA32B3A2-83F2-4759-9E14-8AE160D07737}"/>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9C3F73EE-41CD-432F-A3F3-9CC477D96D8D}"/>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0674DC3C-9835-437B-8A42-513A69FE89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3">
            <a:extLst xmlns:a="http://schemas.openxmlformats.org/drawingml/2006/main">
              <a:ext uri="{FF2B5EF4-FFF2-40B4-BE49-F238E27FC236}">
                <a16:creationId xmlns:a16="http://schemas.microsoft.com/office/drawing/2014/main" id="{2AAA9F8D-39A8-4721-84C6-79EF0742577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450436FB-F414-4E1E-B8F3-5E9D6034BDC0}"/>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24" name="Google Shape;24;p4">
            <a:extLst xmlns:a="http://schemas.openxmlformats.org/drawingml/2006/main">
              <a:ext uri="{FF2B5EF4-FFF2-40B4-BE49-F238E27FC236}">
                <a16:creationId xmlns:a16="http://schemas.microsoft.com/office/drawing/2014/main" id="{627CC317-AA90-4195-B317-17CD67FFA2FE}"/>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29D05FE9-16DD-49EA-9E54-CA9CBA2E43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6" name="Google Shape;26;p4">
            <a:extLst xmlns:a="http://schemas.openxmlformats.org/drawingml/2006/main">
              <a:ext uri="{FF2B5EF4-FFF2-40B4-BE49-F238E27FC236}">
                <a16:creationId xmlns:a16="http://schemas.microsoft.com/office/drawing/2014/main" id="{09B85B54-99F7-4CD1-84DA-14D82429AC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35" name="Google Shape;28;p5"/>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29" name="Google Shape;29;p5">
            <a:extLst xmlns:a="http://schemas.openxmlformats.org/drawingml/2006/main">
              <a:ext uri="{FF2B5EF4-FFF2-40B4-BE49-F238E27FC236}">
                <a16:creationId xmlns:a16="http://schemas.microsoft.com/office/drawing/2014/main" id="{B62D533D-CB4F-4932-8CCE-7B9752EABFDC}"/>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FC2D6AE-03F3-4D80-8FD9-178DEEBF7559}"/>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F3B3E6D5-57EB-450F-80A4-439D823CFB3F}"/>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E30D1649-445C-46EB-AC95-BB67BF5D1BB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3" name="Google Shape;33;p5">
            <a:extLst xmlns:a="http://schemas.openxmlformats.org/drawingml/2006/main">
              <a:ext uri="{FF2B5EF4-FFF2-40B4-BE49-F238E27FC236}">
                <a16:creationId xmlns:a16="http://schemas.microsoft.com/office/drawing/2014/main" id="{01F0D6F2-CDFF-4907-BB11-91B6BC32E368}"/>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5" name="Google Shape;35;p6">
            <a:extLst xmlns:a="http://schemas.openxmlformats.org/drawingml/2006/main">
              <a:ext uri="{FF2B5EF4-FFF2-40B4-BE49-F238E27FC236}">
                <a16:creationId xmlns:a16="http://schemas.microsoft.com/office/drawing/2014/main" id="{FF053B0B-0F06-4365-8AA3-CB136FEB0A31}"/>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F864F1CB-68B9-4FBB-AE61-C31DABAD561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7" name="Google Shape;37;p6">
            <a:extLst xmlns:a="http://schemas.openxmlformats.org/drawingml/2006/main">
              <a:ext uri="{FF2B5EF4-FFF2-40B4-BE49-F238E27FC236}">
                <a16:creationId xmlns:a16="http://schemas.microsoft.com/office/drawing/2014/main" id="{A42C25FC-1A84-45AE-AAB7-021162EA6132}"/>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45" name="Google Shape;39;p7"/>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40" name="Google Shape;40;p7">
            <a:extLst xmlns:a="http://schemas.openxmlformats.org/drawingml/2006/main">
              <a:ext uri="{FF2B5EF4-FFF2-40B4-BE49-F238E27FC236}">
                <a16:creationId xmlns:a16="http://schemas.microsoft.com/office/drawing/2014/main" id="{E8CE15C9-6A0A-41C4-8348-668F78DAD0A2}"/>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41" name="Google Shape;41;p7">
            <a:extLst xmlns:a="http://schemas.openxmlformats.org/drawingml/2006/main">
              <a:ext uri="{FF2B5EF4-FFF2-40B4-BE49-F238E27FC236}">
                <a16:creationId xmlns:a16="http://schemas.microsoft.com/office/drawing/2014/main" id="{3769537B-17D7-46CE-8AB9-1FAEB39AC9A5}"/>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6E1CD1CA-9D40-4F0D-9289-8534C08A10D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3" name="Google Shape;43;p7">
            <a:extLst xmlns:a="http://schemas.openxmlformats.org/drawingml/2006/main">
              <a:ext uri="{FF2B5EF4-FFF2-40B4-BE49-F238E27FC236}">
                <a16:creationId xmlns:a16="http://schemas.microsoft.com/office/drawing/2014/main" id="{8FC503F9-B9A6-4C28-9825-466AB45075B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45" name="Google Shape;45;p8">
            <a:extLst xmlns:a="http://schemas.openxmlformats.org/drawingml/2006/main">
              <a:ext uri="{FF2B5EF4-FFF2-40B4-BE49-F238E27FC236}">
                <a16:creationId xmlns:a16="http://schemas.microsoft.com/office/drawing/2014/main" id="{14217C4E-E932-4AE9-A23A-BA4F5AC143B3}"/>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46" name="Google Shape;46;p8">
            <a:extLst xmlns:a="http://schemas.openxmlformats.org/drawingml/2006/main">
              <a:ext uri="{FF2B5EF4-FFF2-40B4-BE49-F238E27FC236}">
                <a16:creationId xmlns:a16="http://schemas.microsoft.com/office/drawing/2014/main" id="{0723FFED-FF18-44FB-A2DA-B3A425675EF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7" name="Google Shape;47;p8">
            <a:extLst xmlns:a="http://schemas.openxmlformats.org/drawingml/2006/main">
              <a:ext uri="{FF2B5EF4-FFF2-40B4-BE49-F238E27FC236}">
                <a16:creationId xmlns:a16="http://schemas.microsoft.com/office/drawing/2014/main" id="{144D9744-9E60-4724-937F-E98292DC779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8.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49" name="Google Shape;49;p9">
            <a:extLst xmlns:a="http://schemas.openxmlformats.org/drawingml/2006/main">
              <a:ext uri="{FF2B5EF4-FFF2-40B4-BE49-F238E27FC236}">
                <a16:creationId xmlns:a16="http://schemas.microsoft.com/office/drawing/2014/main" id="{E00D6951-625C-491F-B81F-08D5865D8E8D}"/>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59" name="Google Shape;50;p9"/>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51" name="Google Shape;51;p9">
            <a:extLst xmlns:a="http://schemas.openxmlformats.org/drawingml/2006/main">
              <a:ext uri="{FF2B5EF4-FFF2-40B4-BE49-F238E27FC236}">
                <a16:creationId xmlns:a16="http://schemas.microsoft.com/office/drawing/2014/main" id="{BA373FA4-D518-40B9-B625-D3BEF3C35DDC}"/>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52" name="Google Shape;52;p9">
            <a:extLst xmlns:a="http://schemas.openxmlformats.org/drawingml/2006/main">
              <a:ext uri="{FF2B5EF4-FFF2-40B4-BE49-F238E27FC236}">
                <a16:creationId xmlns:a16="http://schemas.microsoft.com/office/drawing/2014/main" id="{7AFFDF82-CD0B-4B9F-B2B0-841F6EF85459}"/>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53" name="Google Shape;53;p9">
            <a:extLst xmlns:a="http://schemas.openxmlformats.org/drawingml/2006/main">
              <a:ext uri="{FF2B5EF4-FFF2-40B4-BE49-F238E27FC236}">
                <a16:creationId xmlns:a16="http://schemas.microsoft.com/office/drawing/2014/main" id="{4521E96E-60D4-4E57-9C39-731FAF10D629}"/>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54" name="Google Shape;54;p9">
            <a:extLst xmlns:a="http://schemas.openxmlformats.org/drawingml/2006/main">
              <a:ext uri="{FF2B5EF4-FFF2-40B4-BE49-F238E27FC236}">
                <a16:creationId xmlns:a16="http://schemas.microsoft.com/office/drawing/2014/main" id="{02690A87-9F9E-41E4-A605-A68070FE36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5" name="Google Shape;55;p9">
            <a:extLst xmlns:a="http://schemas.openxmlformats.org/drawingml/2006/main">
              <a:ext uri="{FF2B5EF4-FFF2-40B4-BE49-F238E27FC236}">
                <a16:creationId xmlns:a16="http://schemas.microsoft.com/office/drawing/2014/main" id="{95DC1989-5DEC-4BC9-94CD-15D6E6D00E3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7" name="Google Shape;57;p10">
            <a:extLst xmlns:a="http://schemas.openxmlformats.org/drawingml/2006/main">
              <a:ext uri="{FF2B5EF4-FFF2-40B4-BE49-F238E27FC236}">
                <a16:creationId xmlns:a16="http://schemas.microsoft.com/office/drawing/2014/main" id="{194371D6-4DF4-4B0A-B536-824687484D2B}"/>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58" name="Google Shape;58;p10">
            <a:extLst xmlns:a="http://schemas.openxmlformats.org/drawingml/2006/main">
              <a:ext uri="{FF2B5EF4-FFF2-40B4-BE49-F238E27FC236}">
                <a16:creationId xmlns:a16="http://schemas.microsoft.com/office/drawing/2014/main" id="{82A3B39D-CA3F-4050-BE6C-54112484D6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9" name="Google Shape;59;p10">
            <a:extLst xmlns:a="http://schemas.openxmlformats.org/drawingml/2006/main">
              <a:ext uri="{FF2B5EF4-FFF2-40B4-BE49-F238E27FC236}">
                <a16:creationId xmlns:a16="http://schemas.microsoft.com/office/drawing/2014/main" id="{C3B28407-893C-4535-91CA-CFA68A8A2FC4}"/>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67" name="Google Shape;61;p11"/>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62" name="Google Shape;62;p11">
            <a:extLst xmlns:a="http://schemas.openxmlformats.org/drawingml/2006/main">
              <a:ext uri="{FF2B5EF4-FFF2-40B4-BE49-F238E27FC236}">
                <a16:creationId xmlns:a16="http://schemas.microsoft.com/office/drawing/2014/main" id="{9467DE9D-E512-45BA-B771-0090211292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63" name="Google Shape;63;p11">
            <a:extLst xmlns:a="http://schemas.openxmlformats.org/drawingml/2006/main">
              <a:ext uri="{FF2B5EF4-FFF2-40B4-BE49-F238E27FC236}">
                <a16:creationId xmlns:a16="http://schemas.microsoft.com/office/drawing/2014/main" id="{C4469540-D88A-4647-984A-6233C256049D}"/>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4" name="Google Shape;64;p11">
            <a:extLst xmlns:a="http://schemas.openxmlformats.org/drawingml/2006/main">
              <a:ext uri="{FF2B5EF4-FFF2-40B4-BE49-F238E27FC236}">
                <a16:creationId xmlns:a16="http://schemas.microsoft.com/office/drawing/2014/main" id="{A8C940C6-73CA-4B23-9018-D7D47A0E20A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5" name="Google Shape;65;p11">
            <a:extLst xmlns:a="http://schemas.openxmlformats.org/drawingml/2006/main">
              <a:ext uri="{FF2B5EF4-FFF2-40B4-BE49-F238E27FC236}">
                <a16:creationId xmlns:a16="http://schemas.microsoft.com/office/drawing/2014/main" id="{24953636-D2C7-45B7-8C46-434C244C8A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67" name="Google Shape;67;p12">
            <a:extLst xmlns:a="http://schemas.openxmlformats.org/drawingml/2006/main">
              <a:ext uri="{FF2B5EF4-FFF2-40B4-BE49-F238E27FC236}">
                <a16:creationId xmlns:a16="http://schemas.microsoft.com/office/drawing/2014/main" id="{27BF57BB-8DD4-40FB-97F2-D4A6E115498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8" name="Google Shape;68;p12">
            <a:extLst xmlns:a="http://schemas.openxmlformats.org/drawingml/2006/main">
              <a:ext uri="{FF2B5EF4-FFF2-40B4-BE49-F238E27FC236}">
                <a16:creationId xmlns:a16="http://schemas.microsoft.com/office/drawing/2014/main" id="{797A6165-26C4-458E-9280-0F48DAD2C946}"/>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158a898ac94a03" /><Relationship Type="http://schemas.openxmlformats.org/officeDocument/2006/relationships/slideLayout" Target="/ppt/slideLayouts/slideLayout1.xml" Id="Rb38014437ea14aa5" /><Relationship Type="http://schemas.openxmlformats.org/officeDocument/2006/relationships/slideLayout" Target="/ppt/slideLayouts/slideLayout2.xml" Id="Rf7a80b221d5f4b8c" /><Relationship Type="http://schemas.openxmlformats.org/officeDocument/2006/relationships/slideLayout" Target="/ppt/slideLayouts/slideLayout3.xml" Id="R480f7ea7318a419b" /><Relationship Type="http://schemas.openxmlformats.org/officeDocument/2006/relationships/slideLayout" Target="/ppt/slideLayouts/slideLayout4.xml" Id="R34e5c5b4f47f4b35" /><Relationship Type="http://schemas.openxmlformats.org/officeDocument/2006/relationships/slideLayout" Target="/ppt/slideLayouts/slideLayout5.xml" Id="Reb384ea57d6145f4" /><Relationship Type="http://schemas.openxmlformats.org/officeDocument/2006/relationships/slideLayout" Target="/ppt/slideLayouts/slideLayout6.xml" Id="Rc737ef6d9eca4f9f" /><Relationship Type="http://schemas.openxmlformats.org/officeDocument/2006/relationships/slideLayout" Target="/ppt/slideLayouts/slideLayout7.xml" Id="Rcdcc65dd83a6417e" /><Relationship Type="http://schemas.openxmlformats.org/officeDocument/2006/relationships/slideLayout" Target="/ppt/slideLayouts/slideLayout8.xml" Id="Rd156d2677a2b4d89" /><Relationship Type="http://schemas.openxmlformats.org/officeDocument/2006/relationships/slideLayout" Target="/ppt/slideLayouts/slideLayout9.xml" Id="Rbc437dae6e0944a7" /><Relationship Type="http://schemas.openxmlformats.org/officeDocument/2006/relationships/slideLayout" Target="/ppt/slideLayouts/slideLayout10.xml" Id="R424d65437a1f4191" /><Relationship Type="http://schemas.openxmlformats.org/officeDocument/2006/relationships/slideLayout" Target="/ppt/slideLayouts/slideLayout11.xml" Id="R963979a1f7684e3b" /></Relationships>
</file>

<file path=ppt/slideMasters/slideMaster1.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C6045D72-D32C-4A87-890B-68EDB1513BB5}"/>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5F26F73-C3CA-46B4-ADE7-3D2800DE8292}"/>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AA1AE3A-A737-485F-9904-BC46651B39C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38014437ea14aa5"/>
    <p:sldLayoutId xmlns:r="http://schemas.openxmlformats.org/officeDocument/2006/relationships" id="2147483650" r:id="Rf7a80b221d5f4b8c"/>
    <p:sldLayoutId xmlns:r="http://schemas.openxmlformats.org/officeDocument/2006/relationships" id="2147483651" r:id="R480f7ea7318a419b"/>
    <p:sldLayoutId xmlns:r="http://schemas.openxmlformats.org/officeDocument/2006/relationships" id="2147483652" r:id="R34e5c5b4f47f4b35"/>
    <p:sldLayoutId xmlns:r="http://schemas.openxmlformats.org/officeDocument/2006/relationships" id="2147483653" r:id="Reb384ea57d6145f4"/>
    <p:sldLayoutId xmlns:r="http://schemas.openxmlformats.org/officeDocument/2006/relationships" id="2147483654" r:id="Rc737ef6d9eca4f9f"/>
    <p:sldLayoutId xmlns:r="http://schemas.openxmlformats.org/officeDocument/2006/relationships" id="2147483655" r:id="Rcdcc65dd83a6417e"/>
    <p:sldLayoutId xmlns:r="http://schemas.openxmlformats.org/officeDocument/2006/relationships" id="2147483656" r:id="Rd156d2677a2b4d89"/>
    <p:sldLayoutId xmlns:r="http://schemas.openxmlformats.org/officeDocument/2006/relationships" id="2147483657" r:id="Rbc437dae6e0944a7"/>
    <p:sldLayoutId xmlns:r="http://schemas.openxmlformats.org/officeDocument/2006/relationships" id="2147483658" r:id="R424d65437a1f4191"/>
    <p:sldLayoutId xmlns:r="http://schemas.openxmlformats.org/officeDocument/2006/relationships" id="2147483659" r:id="R963979a1f7684e3b"/>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8da1779079946fe" /><Relationship Type="http://schemas.openxmlformats.org/officeDocument/2006/relationships/hyperlink" Target="https://developers.openai.com/api/docs/guides/migrate-to-responses" TargetMode="External" Id="Rd8ff207a6aff4024" /><Relationship Type="http://schemas.openxmlformats.org/officeDocument/2006/relationships/notesSlide" Target="/ppt/notesSlides/notesSlide1.xml" Id="R47fc99dae46c43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6ded84811c54e3a" /><Relationship Type="http://schemas.openxmlformats.org/officeDocument/2006/relationships/hyperlink" Target="https://developers.openai.com/api/docs/quickstart" TargetMode="External" Id="R1f09859f3cda482f" /><Relationship Type="http://schemas.openxmlformats.org/officeDocument/2006/relationships/notesSlide" Target="/ppt/notesSlides/notesSlide2.xml" Id="R2e837b0d562341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08bb9d7f90f4b95" /><Relationship Type="http://schemas.openxmlformats.org/officeDocument/2006/relationships/hyperlink" Target="https://developers.openai.com/api/docs/guides/conversation-state" TargetMode="External" Id="R63726404799c4959" /><Relationship Type="http://schemas.openxmlformats.org/officeDocument/2006/relationships/notesSlide" Target="/ppt/notesSlides/notesSlide3.xml" Id="Rb9e462792f46460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Introduction to the Responses API</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OpenAI’s API for generating model outputs">
            <a:extLst xmlns:a="http://schemas.openxmlformats.org/drawingml/2006/main">
              <a:ext uri="{FF2B5EF4-FFF2-40B4-BE49-F238E27FC236}">
                <a16:creationId xmlns:a16="http://schemas.microsoft.com/office/drawing/2014/main" id="{85058AF0-24FF-46D1-9330-19EB8E44805C}"/>
              </a:ext>
            </a:extLst>
          </p:cNvPr>
          <p:cNvSpPr>
            <a:spLocks xmlns:a="http://schemas.openxmlformats.org/drawingml/2006/main" noGrp="1"/>
          </p:cNvSpPr>
          <p:nvPr/>
        </p:nvSpPr>
        <p:spPr>
          <a:xfrm xmlns:a="http://schemas.openxmlformats.org/drawingml/2006/main">
            <a:off x="400050" y="1514475"/>
            <a:ext cx="83439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950" b="0">
                <a:solidFill>
                  <a:srgbClr val="424242"/>
                </a:solidFill>
                <a:latin typeface="Source Code Pro"/>
                <a:ea typeface="Source Code Pro"/>
                <a:cs typeface="Source Code Pro"/>
              </a:defRPr>
            </a:pPr>
            <a:r>
              <a:rPr sz="1950" b="0">
                <a:solidFill>
                  <a:srgbClr val="424242"/>
                </a:solidFill>
                <a:latin typeface="Source Code Pro"/>
                <a:ea typeface="Source Code Pro"/>
                <a:cs typeface="Source Code Pro"/>
              </a:rPr>
              <a:t>OpenAI’s API for generating model outputs</a:t>
            </a:r>
          </a:p>
          <a:p xmlns:a="http://schemas.openxmlformats.org/drawingml/2006/main">
            <a:pPr algn="l">
              <a:lnSpc>
                <a:spcPct val="120000"/>
              </a:lnSpc>
              <a:buNone/>
              <a:defRPr sz="1950" b="0">
                <a:solidFill>
                  <a:srgbClr val="424242"/>
                </a:solidFill>
                <a:latin typeface="Source Code Pro"/>
                <a:ea typeface="Source Code Pro"/>
                <a:cs typeface="Source Code Pro"/>
              </a:defRPr>
            </a:pPr>
            <a:r>
              <a:rPr sz="1950" b="0">
                <a:solidFill>
                  <a:srgbClr val="424242"/>
                </a:solidFill>
                <a:latin typeface="Source Code Pro"/>
                <a:ea typeface="Source Code Pro"/>
                <a:cs typeface="Source Code Pro"/>
              </a:rPr>
              <a:t>and working with supported tools.</a:t>
            </a:r>
          </a:p>
        </p:txBody>
      </p:sp>
      <p:sp>
        <p:nvSpPr>
          <p:cNvPr id="185" name="A common interface for richer tasks">
            <a:extLst xmlns:a="http://schemas.openxmlformats.org/drawingml/2006/main">
              <a:ext uri="{FF2B5EF4-FFF2-40B4-BE49-F238E27FC236}">
                <a16:creationId xmlns:a16="http://schemas.microsoft.com/office/drawing/2014/main" id="{76306A56-F397-416E-A4FF-5C8F1F909E6F}"/>
              </a:ext>
            </a:extLst>
          </p:cNvPr>
          <p:cNvSpPr>
            <a:spLocks xmlns:a="http://schemas.openxmlformats.org/drawingml/2006/main" noGrp="1"/>
          </p:cNvSpPr>
          <p:nvPr/>
        </p:nvSpPr>
        <p:spPr>
          <a:xfrm xmlns:a="http://schemas.openxmlformats.org/drawingml/2006/main">
            <a:off x="400050" y="2800350"/>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A common interface for richer tasks</a:t>
            </a:r>
          </a:p>
        </p:txBody>
      </p:sp>
      <p:sp>
        <p:nvSpPr>
          <p:cNvPr id="186" name="Use text and supported multimodal inputs.">
            <a:extLst xmlns:a="http://schemas.openxmlformats.org/drawingml/2006/main">
              <a:ext uri="{FF2B5EF4-FFF2-40B4-BE49-F238E27FC236}">
                <a16:creationId xmlns:a16="http://schemas.microsoft.com/office/drawing/2014/main" id="{2401BAC2-8F25-4717-A7C3-FA439B294C9F}"/>
              </a:ext>
            </a:extLst>
          </p:cNvPr>
          <p:cNvSpPr>
            <a:spLocks xmlns:a="http://schemas.openxmlformats.org/drawingml/2006/main" noGrp="1"/>
          </p:cNvSpPr>
          <p:nvPr/>
        </p:nvSpPr>
        <p:spPr>
          <a:xfrm xmlns:a="http://schemas.openxmlformats.org/drawingml/2006/main">
            <a:off x="400050" y="3295650"/>
            <a:ext cx="83439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Use text and supported multimodal inputs.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Receive typed output items, including tool calls.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Continue a conversation when your app needs it.</a:t>
            </a:r>
          </a:p>
        </p:txBody>
      </p:sp>
      <p:sp>
        <p:nvSpPr>
          <p:cNvPr id="187" name="Recommended for new projects. Chat Completions remains supported.">
            <a:extLst xmlns:a="http://schemas.openxmlformats.org/drawingml/2006/main">
              <a:ext uri="{FF2B5EF4-FFF2-40B4-BE49-F238E27FC236}">
                <a16:creationId xmlns:a16="http://schemas.microsoft.com/office/drawing/2014/main" id="{5D83F8AC-1C33-47CA-80BE-B9401327FA2F}"/>
              </a:ext>
            </a:extLst>
          </p:cNvPr>
          <p:cNvSpPr>
            <a:spLocks xmlns:a="http://schemas.openxmlformats.org/drawingml/2006/main" noGrp="1"/>
          </p:cNvSpPr>
          <p:nvPr/>
        </p:nvSpPr>
        <p:spPr>
          <a:xfrm xmlns:a="http://schemas.openxmlformats.org/drawingml/2006/main">
            <a:off x="400050" y="4248150"/>
            <a:ext cx="834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Recommended for new projects. Chat Completions remains supported.</a:t>
            </a:r>
          </a:p>
        </p:txBody>
      </p:sp>
      <p:sp>
        <p:nvSpPr>
          <p:cNvPr id="188" name="Responses API guide">
            <a:extLst xmlns:a="http://schemas.openxmlformats.org/drawingml/2006/main">
              <a:ext uri="{FF2B5EF4-FFF2-40B4-BE49-F238E27FC236}">
                <a16:creationId xmlns:a16="http://schemas.microsoft.com/office/drawing/2014/main" id="{1FB4AA7D-4AEC-42C7-BE4F-D3A4CA07789C}"/>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d8ff207a6aff4024"/>
              </a:rPr>
              <a:t>Responses API guide</a:t>
            </a:r>
          </a:p>
        </p:txBody>
      </p:sp>
    </p:spTree>
    <p:extLst>
      <p:ext uri="{BB962C8B-B14F-4D97-AF65-F5344CB8AC3E}">
        <p14:creationId xmlns:p14="http://schemas.microsoft.com/office/powerpoint/2010/main" val="20261002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A Basic Request and Response</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response = client.responses.create(">
            <a:extLst xmlns:a="http://schemas.openxmlformats.org/drawingml/2006/main">
              <a:ext uri="{FF2B5EF4-FFF2-40B4-BE49-F238E27FC236}">
                <a16:creationId xmlns:a16="http://schemas.microsoft.com/office/drawing/2014/main" id="{533F5231-FA34-43A3-87EF-0FA54CB7E5AC}"/>
              </a:ext>
            </a:extLst>
          </p:cNvPr>
          <p:cNvSpPr>
            <a:spLocks xmlns:a="http://schemas.openxmlformats.org/drawingml/2006/main" noGrp="1"/>
          </p:cNvSpPr>
          <p:nvPr/>
        </p:nvSpPr>
        <p:spPr>
          <a:xfrm xmlns:a="http://schemas.openxmlformats.org/drawingml/2006/main">
            <a:off x="400050" y="1543050"/>
            <a:ext cx="83439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response = client.responses.create(</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    model=MODEL,</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    instructions="Explain clearly for a beginner.",</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    input="What is a model gateway?",</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print(response.output_text)</a:t>
            </a:r>
          </a:p>
        </p:txBody>
      </p:sp>
      <p:sp>
        <p:nvSpPr>
          <p:cNvPr id="185" name="Request">
            <a:extLst xmlns:a="http://schemas.openxmlformats.org/drawingml/2006/main">
              <a:ext uri="{FF2B5EF4-FFF2-40B4-BE49-F238E27FC236}">
                <a16:creationId xmlns:a16="http://schemas.microsoft.com/office/drawing/2014/main" id="{2F91E50A-8CEA-4795-B708-C59D1F1EF6E1}"/>
              </a:ext>
            </a:extLst>
          </p:cNvPr>
          <p:cNvSpPr>
            <a:spLocks xmlns:a="http://schemas.openxmlformats.org/drawingml/2006/main" noGrp="1"/>
          </p:cNvSpPr>
          <p:nvPr/>
        </p:nvSpPr>
        <p:spPr>
          <a:xfrm xmlns:a="http://schemas.openxmlformats.org/drawingml/2006/main">
            <a:off x="400050" y="34290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Request</a:t>
            </a:r>
          </a:p>
        </p:txBody>
      </p:sp>
      <p:sp>
        <p:nvSpPr>
          <p:cNvPr id="186" name="Response">
            <a:extLst xmlns:a="http://schemas.openxmlformats.org/drawingml/2006/main">
              <a:ext uri="{FF2B5EF4-FFF2-40B4-BE49-F238E27FC236}">
                <a16:creationId xmlns:a16="http://schemas.microsoft.com/office/drawing/2014/main" id="{FED1A6F4-DD01-4408-82D1-6EFD1D392D75}"/>
              </a:ext>
            </a:extLst>
          </p:cNvPr>
          <p:cNvSpPr>
            <a:spLocks xmlns:a="http://schemas.openxmlformats.org/drawingml/2006/main" noGrp="1"/>
          </p:cNvSpPr>
          <p:nvPr/>
        </p:nvSpPr>
        <p:spPr>
          <a:xfrm xmlns:a="http://schemas.openxmlformats.org/drawingml/2006/main">
            <a:off x="4972050" y="34290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Response</a:t>
            </a:r>
          </a:p>
        </p:txBody>
      </p:sp>
      <p:sp>
        <p:nvSpPr>
          <p:cNvPr id="187" name="model + instructions">
            <a:extLst xmlns:a="http://schemas.openxmlformats.org/drawingml/2006/main">
              <a:ext uri="{FF2B5EF4-FFF2-40B4-BE49-F238E27FC236}">
                <a16:creationId xmlns:a16="http://schemas.microsoft.com/office/drawing/2014/main" id="{292E8389-ED56-4E6D-BB94-F34C45D5E506}"/>
              </a:ext>
            </a:extLst>
          </p:cNvPr>
          <p:cNvSpPr>
            <a:spLocks xmlns:a="http://schemas.openxmlformats.org/drawingml/2006/main" noGrp="1"/>
          </p:cNvSpPr>
          <p:nvPr/>
        </p:nvSpPr>
        <p:spPr>
          <a:xfrm xmlns:a="http://schemas.openxmlformats.org/drawingml/2006/main">
            <a:off x="400050" y="3895725"/>
            <a:ext cx="3810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model + instructions</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 input</a:t>
            </a:r>
          </a:p>
        </p:txBody>
      </p:sp>
      <p:sp>
        <p:nvSpPr>
          <p:cNvPr id="188" name="ID + typed output + usage">
            <a:extLst xmlns:a="http://schemas.openxmlformats.org/drawingml/2006/main">
              <a:ext uri="{FF2B5EF4-FFF2-40B4-BE49-F238E27FC236}">
                <a16:creationId xmlns:a16="http://schemas.microsoft.com/office/drawing/2014/main" id="{C9B86D71-7EE7-4AD9-857B-977F1A132ED1}"/>
              </a:ext>
            </a:extLst>
          </p:cNvPr>
          <p:cNvSpPr>
            <a:spLocks xmlns:a="http://schemas.openxmlformats.org/drawingml/2006/main" noGrp="1"/>
          </p:cNvSpPr>
          <p:nvPr/>
        </p:nvSpPr>
        <p:spPr>
          <a:xfrm xmlns:a="http://schemas.openxmlformats.org/drawingml/2006/main">
            <a:off x="4972050" y="3895725"/>
            <a:ext cx="3857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ID + typed output + usage</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output_text collects text</a:t>
            </a:r>
          </a:p>
        </p:txBody>
      </p:sp>
      <p:sp>
        <p:nvSpPr>
          <p:cNvPr id="189" name="Python quickstart and API setup">
            <a:extLst xmlns:a="http://schemas.openxmlformats.org/drawingml/2006/main">
              <a:ext uri="{FF2B5EF4-FFF2-40B4-BE49-F238E27FC236}">
                <a16:creationId xmlns:a16="http://schemas.microsoft.com/office/drawing/2014/main" id="{C88CB527-C61D-4CBA-9DAD-ACF31748805F}"/>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1f09859f3cda482f"/>
              </a:rPr>
              <a:t>Python quickstart and API setup</a:t>
            </a:r>
          </a:p>
        </p:txBody>
      </p:sp>
    </p:spTree>
    <p:extLst>
      <p:ext uri="{BB962C8B-B14F-4D97-AF65-F5344CB8AC3E}">
        <p14:creationId xmlns:p14="http://schemas.microsoft.com/office/powerpoint/2010/main" val="20261002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Where Messages Fit</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input=[">
            <a:extLst xmlns:a="http://schemas.openxmlformats.org/drawingml/2006/main">
              <a:ext uri="{FF2B5EF4-FFF2-40B4-BE49-F238E27FC236}">
                <a16:creationId xmlns:a16="http://schemas.microsoft.com/office/drawing/2014/main" id="{EF0DF401-5EBA-4E6B-9793-F6E09D601E43}"/>
              </a:ext>
            </a:extLst>
          </p:cNvPr>
          <p:cNvSpPr>
            <a:spLocks xmlns:a="http://schemas.openxmlformats.org/drawingml/2006/main" noGrp="1"/>
          </p:cNvSpPr>
          <p:nvPr/>
        </p:nvSpPr>
        <p:spPr>
          <a:xfrm xmlns:a="http://schemas.openxmlformats.org/drawingml/2006/main">
            <a:off x="400050" y="1533525"/>
            <a:ext cx="8343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input=[</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    {"role": "user", "content": "Define a gateway."},</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    {"role": "assistant", "content": "It routes model requests."},</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    {"role": "user", "content": "Give me one use case."},</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a:t>
            </a:r>
          </a:p>
        </p:txBody>
      </p:sp>
      <p:sp>
        <p:nvSpPr>
          <p:cNvPr id="185" name="Messages carry the conversation">
            <a:extLst xmlns:a="http://schemas.openxmlformats.org/drawingml/2006/main">
              <a:ext uri="{FF2B5EF4-FFF2-40B4-BE49-F238E27FC236}">
                <a16:creationId xmlns:a16="http://schemas.microsoft.com/office/drawing/2014/main" id="{EC9C799B-D7FD-4EB7-A6DF-975A6F0CA9E9}"/>
              </a:ext>
            </a:extLst>
          </p:cNvPr>
          <p:cNvSpPr>
            <a:spLocks xmlns:a="http://schemas.openxmlformats.org/drawingml/2006/main" noGrp="1"/>
          </p:cNvSpPr>
          <p:nvPr/>
        </p:nvSpPr>
        <p:spPr>
          <a:xfrm xmlns:a="http://schemas.openxmlformats.org/drawingml/2006/main">
            <a:off x="400050" y="3200400"/>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Messages carry the conversation</a:t>
            </a:r>
          </a:p>
        </p:txBody>
      </p:sp>
      <p:sp>
        <p:nvSpPr>
          <p:cNvPr id="186" name="Roles identify who is speaking.">
            <a:extLst xmlns:a="http://schemas.openxmlformats.org/drawingml/2006/main">
              <a:ext uri="{FF2B5EF4-FFF2-40B4-BE49-F238E27FC236}">
                <a16:creationId xmlns:a16="http://schemas.microsoft.com/office/drawing/2014/main" id="{DDAAC620-867D-4DE1-96B2-3E062E55273F}"/>
              </a:ext>
            </a:extLst>
          </p:cNvPr>
          <p:cNvSpPr>
            <a:spLocks xmlns:a="http://schemas.openxmlformats.org/drawingml/2006/main" noGrp="1"/>
          </p:cNvSpPr>
          <p:nvPr/>
        </p:nvSpPr>
        <p:spPr>
          <a:xfrm xmlns:a="http://schemas.openxmlformats.org/drawingml/2006/main">
            <a:off x="400050" y="3648075"/>
            <a:ext cx="8343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Roles identify who is speaking.</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 message is one kind of input or output item.</a:t>
            </a:r>
          </a:p>
        </p:txBody>
      </p:sp>
      <p:sp>
        <p:nvSpPr>
          <p:cNvPr id="187" name="Keep history yourself, or link turns with previous_response_id.">
            <a:extLst xmlns:a="http://schemas.openxmlformats.org/drawingml/2006/main">
              <a:ext uri="{FF2B5EF4-FFF2-40B4-BE49-F238E27FC236}">
                <a16:creationId xmlns:a16="http://schemas.microsoft.com/office/drawing/2014/main" id="{6D970B60-AEBC-4987-BC12-0616FEB0B9DD}"/>
              </a:ext>
            </a:extLst>
          </p:cNvPr>
          <p:cNvSpPr>
            <a:spLocks xmlns:a="http://schemas.openxmlformats.org/drawingml/2006/main" noGrp="1"/>
          </p:cNvSpPr>
          <p:nvPr/>
        </p:nvSpPr>
        <p:spPr>
          <a:xfrm xmlns:a="http://schemas.openxmlformats.org/drawingml/2006/main">
            <a:off x="400050" y="4267200"/>
            <a:ext cx="834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Keep history yourself, or link turns with previous_response_id.</a:t>
            </a:r>
          </a:p>
        </p:txBody>
      </p:sp>
      <p:sp>
        <p:nvSpPr>
          <p:cNvPr id="188" name="Conversation state and messages guide">
            <a:extLst xmlns:a="http://schemas.openxmlformats.org/drawingml/2006/main">
              <a:ext uri="{FF2B5EF4-FFF2-40B4-BE49-F238E27FC236}">
                <a16:creationId xmlns:a16="http://schemas.microsoft.com/office/drawing/2014/main" id="{8952CD23-3890-4589-AF6F-64189FD9276E}"/>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63726404799c4959"/>
              </a:rPr>
              <a:t>Conversation state and messages guide</a:t>
            </a:r>
          </a:p>
        </p:txBody>
      </p:sp>
    </p:spTree>
    <p:extLst>
      <p:ext uri="{BB962C8B-B14F-4D97-AF65-F5344CB8AC3E}">
        <p14:creationId xmlns:p14="http://schemas.microsoft.com/office/powerpoint/2010/main" val="2026100202"/>
      </p:ext>
    </p:extLst>
  </p:cSld>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2026-10-01T14:32:45.2140000Z</dcterms:created>
  <dcterms:modified xsi:type="dcterms:W3CDTF">2026-10-01T14:32:45.2140000Z</dcterms:modified>
</coreProperties>
</file>