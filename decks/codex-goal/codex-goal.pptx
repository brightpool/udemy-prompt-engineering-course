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Codex and /goal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An agent that works in your files, and a way to hand it an objective instead of a prompt.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Does the Work, Not Just the Talking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ChatGPT loop"/>
          <p:cNvGrpSpPr/>
          <p:nvPr/>
        </p:nvGrpSpPr>
        <p:grpSpPr>
          <a:xfrm>
            <a:off x="274320" y="1517904"/>
            <a:ext cx="8558783" cy="841248"/>
            <a:chOff x="274320" y="1517904"/>
            <a:chExt cx="8558783" cy="841248"/>
          </a:xfrm>
        </p:grpSpPr>
        <p:pic>
          <p:nvPicPr>
            <p:cNvPr id="26" name="Picture 25" descr="icon-chatgp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896" y="1517904"/>
              <a:ext cx="566928" cy="566928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274320" y="2121408"/>
              <a:ext cx="64008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ChatGPT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481328" y="1572768"/>
              <a:ext cx="1659635" cy="658368"/>
            </a:xfrm>
            <a:prstGeom prst="roundRect">
              <a:avLst>
                <a:gd name="adj" fmla="val 13888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29" name="Picture 28" descr="icon-user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9344" y="1773936"/>
              <a:ext cx="256032" cy="256032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956816" y="1572768"/>
              <a:ext cx="1110995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You Ask</a:t>
              </a:r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3177539" y="1856231"/>
              <a:ext cx="16459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378708" y="1572768"/>
              <a:ext cx="1659635" cy="658368"/>
            </a:xfrm>
            <a:prstGeom prst="roundRect">
              <a:avLst>
                <a:gd name="adj" fmla="val 13888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3" name="Picture 32" descr="icon-bot-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6724" y="1773936"/>
              <a:ext cx="256032" cy="256032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854196" y="1572768"/>
              <a:ext cx="1110995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Source Code Pro"/>
                </a:rPr>
                <a:t>It Answers</a:t>
              </a:r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5074920" y="1856231"/>
              <a:ext cx="16459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276088" y="1572768"/>
              <a:ext cx="1659635" cy="658368"/>
            </a:xfrm>
            <a:prstGeom prst="roundRect">
              <a:avLst>
                <a:gd name="adj" fmla="val 13888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7" name="Picture 36" descr="icon-user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4103" y="1773936"/>
              <a:ext cx="256032" cy="256032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5751575" y="1572768"/>
              <a:ext cx="1110995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You Copy and Run It</a:t>
              </a:r>
            </a:p>
          </p:txBody>
        </p:sp>
        <p:sp>
          <p:nvSpPr>
            <p:cNvPr id="39" name="Right Arrow 38"/>
            <p:cNvSpPr/>
            <p:nvPr/>
          </p:nvSpPr>
          <p:spPr>
            <a:xfrm>
              <a:off x="6972299" y="1856231"/>
              <a:ext cx="16459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173468" y="1572768"/>
              <a:ext cx="1659635" cy="658368"/>
            </a:xfrm>
            <a:prstGeom prst="roundRect">
              <a:avLst>
                <a:gd name="adj" fmla="val 13888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1" name="Picture 40" descr="icon-user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1483" y="1773936"/>
              <a:ext cx="256032" cy="256032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7648956" y="1572768"/>
              <a:ext cx="1110995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You Paste Errors Back</a:t>
              </a:r>
            </a:p>
          </p:txBody>
        </p:sp>
      </p:grpSp>
      <p:grpSp>
        <p:nvGrpSpPr>
          <p:cNvPr id="5" name="Codex loop"/>
          <p:cNvGrpSpPr/>
          <p:nvPr/>
        </p:nvGrpSpPr>
        <p:grpSpPr>
          <a:xfrm>
            <a:off x="274320" y="2542032"/>
            <a:ext cx="8558783" cy="841248"/>
            <a:chOff x="274320" y="2542032"/>
            <a:chExt cx="8558783" cy="841248"/>
          </a:xfrm>
        </p:grpSpPr>
        <p:pic>
          <p:nvPicPr>
            <p:cNvPr id="43" name="Picture 42" descr="icon-codex-ligh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896" y="2542032"/>
              <a:ext cx="566928" cy="566928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274320" y="3145536"/>
              <a:ext cx="64008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Codex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481328" y="2596896"/>
              <a:ext cx="1659635" cy="658368"/>
            </a:xfrm>
            <a:prstGeom prst="roundRect">
              <a:avLst>
                <a:gd name="adj" fmla="val 13888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6" name="Picture 45" descr="icon-user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9344" y="2798064"/>
              <a:ext cx="256032" cy="256032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1956816" y="2596896"/>
              <a:ext cx="1110995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You Set the Task</a:t>
              </a:r>
            </a:p>
          </p:txBody>
        </p:sp>
        <p:sp>
          <p:nvSpPr>
            <p:cNvPr id="48" name="Right Arrow 47"/>
            <p:cNvSpPr/>
            <p:nvPr/>
          </p:nvSpPr>
          <p:spPr>
            <a:xfrm>
              <a:off x="3177539" y="2880360"/>
              <a:ext cx="16459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378708" y="2596896"/>
              <a:ext cx="1659635" cy="658368"/>
            </a:xfrm>
            <a:prstGeom prst="roundRect">
              <a:avLst>
                <a:gd name="adj" fmla="val 13888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50" name="Picture 49" descr="icon-file-search-FFFFF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06724" y="2798064"/>
              <a:ext cx="256032" cy="256032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3854196" y="2596896"/>
              <a:ext cx="1110995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Source Code Pro"/>
                </a:rPr>
                <a:t>It Reads the Files</a:t>
              </a:r>
            </a:p>
          </p:txBody>
        </p:sp>
        <p:sp>
          <p:nvSpPr>
            <p:cNvPr id="52" name="Right Arrow 51"/>
            <p:cNvSpPr/>
            <p:nvPr/>
          </p:nvSpPr>
          <p:spPr>
            <a:xfrm>
              <a:off x="5074920" y="2880360"/>
              <a:ext cx="16459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5276088" y="2596896"/>
              <a:ext cx="1659635" cy="658368"/>
            </a:xfrm>
            <a:prstGeom prst="roundRect">
              <a:avLst>
                <a:gd name="adj" fmla="val 13888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54" name="Picture 53" descr="icon-play-FFFFFF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04103" y="2798064"/>
              <a:ext cx="256032" cy="256032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5751575" y="2596896"/>
              <a:ext cx="1110995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Source Code Pro"/>
                </a:rPr>
                <a:t>It Edits and Tests</a:t>
              </a:r>
            </a:p>
          </p:txBody>
        </p:sp>
        <p:sp>
          <p:nvSpPr>
            <p:cNvPr id="56" name="Right Arrow 55"/>
            <p:cNvSpPr/>
            <p:nvPr/>
          </p:nvSpPr>
          <p:spPr>
            <a:xfrm>
              <a:off x="6972299" y="2880360"/>
              <a:ext cx="16459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7173468" y="2596896"/>
              <a:ext cx="1659635" cy="658368"/>
            </a:xfrm>
            <a:prstGeom prst="roundRect">
              <a:avLst>
                <a:gd name="adj" fmla="val 13888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58" name="Picture 57" descr="icon-pen-line-FFFFFF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01483" y="2798064"/>
              <a:ext cx="256032" cy="256032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7648956" y="2596896"/>
              <a:ext cx="1110995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Source Code Pro"/>
                </a:rPr>
                <a:t>It Hands Back Changes</a:t>
              </a:r>
            </a:p>
          </p:txBody>
        </p:sp>
      </p:grpSp>
      <p:grpSp>
        <p:nvGrpSpPr>
          <p:cNvPr id="6" name="Legend"/>
          <p:cNvGrpSpPr/>
          <p:nvPr/>
        </p:nvGrpSpPr>
        <p:grpSpPr>
          <a:xfrm>
            <a:off x="1481328" y="3639312"/>
            <a:ext cx="2761488" cy="292608"/>
            <a:chOff x="1481328" y="3639312"/>
            <a:chExt cx="2761488" cy="292608"/>
          </a:xfrm>
        </p:grpSpPr>
        <p:sp>
          <p:nvSpPr>
            <p:cNvPr id="60" name="Rounded Rectangle 59"/>
            <p:cNvSpPr/>
            <p:nvPr/>
          </p:nvSpPr>
          <p:spPr>
            <a:xfrm>
              <a:off x="1481328" y="3685032"/>
              <a:ext cx="201168" cy="201168"/>
            </a:xfrm>
            <a:prstGeom prst="roundRect">
              <a:avLst>
                <a:gd name="adj" fmla="val 27272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1" name="TextBox 60"/>
            <p:cNvSpPr txBox="1"/>
            <p:nvPr/>
          </p:nvSpPr>
          <p:spPr>
            <a:xfrm>
              <a:off x="1773936" y="3639312"/>
              <a:ext cx="109728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You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2487168" y="3685032"/>
              <a:ext cx="201168" cy="201168"/>
            </a:xfrm>
            <a:prstGeom prst="roundRect">
              <a:avLst>
                <a:gd name="adj" fmla="val 27272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3" name="TextBox 62"/>
            <p:cNvSpPr txBox="1"/>
            <p:nvPr/>
          </p:nvSpPr>
          <p:spPr>
            <a:xfrm>
              <a:off x="2779776" y="3639312"/>
              <a:ext cx="146304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The AI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1481328" y="4041648"/>
            <a:ext cx="7351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Source Code Pro"/>
              </a:rPr>
              <a:t>Same account. The difference is who runs the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Reach for Codex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Task 1"/>
          <p:cNvGrpSpPr/>
          <p:nvPr/>
        </p:nvGrpSpPr>
        <p:grpSpPr>
          <a:xfrm>
            <a:off x="310896" y="1463040"/>
            <a:ext cx="8522208" cy="583387"/>
            <a:chOff x="310896" y="1463040"/>
            <a:chExt cx="8522208" cy="583387"/>
          </a:xfrm>
        </p:grpSpPr>
        <p:sp>
          <p:nvSpPr>
            <p:cNvPr id="26" name="Oval 25"/>
            <p:cNvSpPr/>
            <p:nvPr/>
          </p:nvSpPr>
          <p:spPr>
            <a:xfrm>
              <a:off x="310896" y="1499616"/>
              <a:ext cx="457200" cy="457200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message-square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766" y="1602486"/>
              <a:ext cx="251460" cy="25146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950976" y="1463040"/>
              <a:ext cx="493776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Explain an Idea or Draft an Email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50976" y="1737360"/>
              <a:ext cx="49377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One answer, nothing to run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6053328" y="1682496"/>
              <a:ext cx="566928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1" name="Picture 30" descr="icon-chatgp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0" y="1490472"/>
              <a:ext cx="457200" cy="4572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7406640" y="1490472"/>
              <a:ext cx="137160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ChatGPT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" y="2039112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5" name="Task 2"/>
          <p:cNvGrpSpPr/>
          <p:nvPr/>
        </p:nvGrpSpPr>
        <p:grpSpPr>
          <a:xfrm>
            <a:off x="310896" y="2103120"/>
            <a:ext cx="8522208" cy="583386"/>
            <a:chOff x="310896" y="2103120"/>
            <a:chExt cx="8522208" cy="583386"/>
          </a:xfrm>
        </p:grpSpPr>
        <p:sp>
          <p:nvSpPr>
            <p:cNvPr id="34" name="Oval 33"/>
            <p:cNvSpPr/>
            <p:nvPr/>
          </p:nvSpPr>
          <p:spPr>
            <a:xfrm>
              <a:off x="310896" y="2139696"/>
              <a:ext cx="457200" cy="457200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icon-bug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766" y="2242565"/>
              <a:ext cx="251460" cy="25146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950976" y="2103120"/>
              <a:ext cx="493776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Fix a Bug or Add a Feature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50976" y="2377439"/>
              <a:ext cx="49377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It edits code and runs tests</a:t>
              </a:r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6053328" y="2322576"/>
              <a:ext cx="566928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38" descr="icon-codex-ligh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0" y="2130551"/>
              <a:ext cx="457200" cy="45720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7406640" y="2130551"/>
              <a:ext cx="137160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Codex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" y="2679191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6" name="Task 3"/>
          <p:cNvGrpSpPr/>
          <p:nvPr/>
        </p:nvGrpSpPr>
        <p:grpSpPr>
          <a:xfrm>
            <a:off x="310896" y="2743200"/>
            <a:ext cx="8522208" cy="583387"/>
            <a:chOff x="310896" y="2743200"/>
            <a:chExt cx="8522208" cy="583387"/>
          </a:xfrm>
        </p:grpSpPr>
        <p:sp>
          <p:nvSpPr>
            <p:cNvPr id="42" name="Oval 41"/>
            <p:cNvSpPr/>
            <p:nvPr/>
          </p:nvSpPr>
          <p:spPr>
            <a:xfrm>
              <a:off x="310896" y="2779776"/>
              <a:ext cx="457200" cy="457200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icon-files-42424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3766" y="2882646"/>
              <a:ext cx="251460" cy="25146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950976" y="2743200"/>
              <a:ext cx="493776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Build a Report from 40 Files in a Folder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50976" y="3017520"/>
              <a:ext cx="49377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It can open every file itself</a:t>
              </a:r>
            </a:p>
          </p:txBody>
        </p:sp>
        <p:sp>
          <p:nvSpPr>
            <p:cNvPr id="46" name="Right Arrow 45"/>
            <p:cNvSpPr/>
            <p:nvPr/>
          </p:nvSpPr>
          <p:spPr>
            <a:xfrm>
              <a:off x="6053328" y="2962656"/>
              <a:ext cx="566928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icture 46" descr="icon-codex-ligh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0" y="2770632"/>
              <a:ext cx="457200" cy="45720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7406640" y="2770632"/>
              <a:ext cx="137160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Codex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0896" y="3319272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7" name="Task 4"/>
          <p:cNvGrpSpPr/>
          <p:nvPr/>
        </p:nvGrpSpPr>
        <p:grpSpPr>
          <a:xfrm>
            <a:off x="310896" y="3383279"/>
            <a:ext cx="8467344" cy="512064"/>
            <a:chOff x="310896" y="3383279"/>
            <a:chExt cx="8467344" cy="512064"/>
          </a:xfrm>
        </p:grpSpPr>
        <p:sp>
          <p:nvSpPr>
            <p:cNvPr id="50" name="Oval 49"/>
            <p:cNvSpPr/>
            <p:nvPr/>
          </p:nvSpPr>
          <p:spPr>
            <a:xfrm>
              <a:off x="310896" y="3419856"/>
              <a:ext cx="457200" cy="457200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1" name="Picture 50" descr="icon-replace-all-42424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3766" y="3522725"/>
              <a:ext cx="251460" cy="251460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950976" y="3383279"/>
              <a:ext cx="493776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Change the Same Thing Across Many Files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50976" y="3657599"/>
              <a:ext cx="49377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It works through them one by one</a:t>
              </a:r>
            </a:p>
          </p:txBody>
        </p:sp>
        <p:sp>
          <p:nvSpPr>
            <p:cNvPr id="54" name="Right Arrow 53"/>
            <p:cNvSpPr/>
            <p:nvPr/>
          </p:nvSpPr>
          <p:spPr>
            <a:xfrm>
              <a:off x="6053328" y="3602735"/>
              <a:ext cx="566928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icture 54" descr="icon-codex-ligh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0" y="3410711"/>
              <a:ext cx="457200" cy="45720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7406640" y="3410711"/>
              <a:ext cx="137160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Codex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310896" y="411480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Rule of thumb: if the work lives in files, give it to Codex.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/goal Keeps Codex Working Until It Is Done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Oval 25"/>
          <p:cNvSpPr/>
          <p:nvPr/>
        </p:nvSpPr>
        <p:spPr>
          <a:xfrm>
            <a:off x="2103120" y="1856231"/>
            <a:ext cx="2286000" cy="2286000"/>
          </a:xfrm>
          <a:prstGeom prst="ellipse">
            <a:avLst/>
          </a:prstGeom>
          <a:noFill/>
          <a:ln w="254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codex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523744"/>
            <a:ext cx="731520" cy="731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423160" y="3273551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For Hours If Needed</a:t>
            </a:r>
          </a:p>
        </p:txBody>
      </p:sp>
      <p:grpSp>
        <p:nvGrpSpPr>
          <p:cNvPr id="4" name="Plan"/>
          <p:cNvGrpSpPr/>
          <p:nvPr/>
        </p:nvGrpSpPr>
        <p:grpSpPr>
          <a:xfrm>
            <a:off x="2990087" y="1600199"/>
            <a:ext cx="2679193" cy="512064"/>
            <a:chOff x="2990087" y="1600199"/>
            <a:chExt cx="2679193" cy="512064"/>
          </a:xfrm>
        </p:grpSpPr>
        <p:sp>
          <p:nvSpPr>
            <p:cNvPr id="29" name="Oval 28"/>
            <p:cNvSpPr/>
            <p:nvPr/>
          </p:nvSpPr>
          <p:spPr>
            <a:xfrm>
              <a:off x="2990087" y="1600199"/>
              <a:ext cx="512064" cy="51206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icon-map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05302" y="1715414"/>
              <a:ext cx="281635" cy="281635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4114800" y="1600199"/>
              <a:ext cx="155448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Plan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14800" y="1856231"/>
              <a:ext cx="1554480" cy="23774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Next Step</a:t>
              </a:r>
            </a:p>
          </p:txBody>
        </p:sp>
      </p:grpSp>
      <p:grpSp>
        <p:nvGrpSpPr>
          <p:cNvPr id="5" name="Act"/>
          <p:cNvGrpSpPr/>
          <p:nvPr/>
        </p:nvGrpSpPr>
        <p:grpSpPr>
          <a:xfrm>
            <a:off x="4133087" y="2743200"/>
            <a:ext cx="2157985" cy="512064"/>
            <a:chOff x="4133087" y="2743200"/>
            <a:chExt cx="2157985" cy="512064"/>
          </a:xfrm>
        </p:grpSpPr>
        <p:sp>
          <p:nvSpPr>
            <p:cNvPr id="33" name="Oval 32"/>
            <p:cNvSpPr/>
            <p:nvPr/>
          </p:nvSpPr>
          <p:spPr>
            <a:xfrm>
              <a:off x="4133087" y="2743200"/>
              <a:ext cx="512064" cy="51206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icon-hammer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8302" y="2858414"/>
              <a:ext cx="281635" cy="281635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4736592" y="2743200"/>
              <a:ext cx="155448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Act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36592" y="2999232"/>
              <a:ext cx="1554480" cy="23774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Edit, Run, Build</a:t>
              </a:r>
            </a:p>
          </p:txBody>
        </p:sp>
      </p:grpSp>
      <p:grpSp>
        <p:nvGrpSpPr>
          <p:cNvPr id="6" name="Check"/>
          <p:cNvGrpSpPr/>
          <p:nvPr/>
        </p:nvGrpSpPr>
        <p:grpSpPr>
          <a:xfrm>
            <a:off x="2990087" y="3886199"/>
            <a:ext cx="2679193" cy="512064"/>
            <a:chOff x="2990087" y="3886199"/>
            <a:chExt cx="2679193" cy="512064"/>
          </a:xfrm>
        </p:grpSpPr>
        <p:sp>
          <p:nvSpPr>
            <p:cNvPr id="37" name="Oval 36"/>
            <p:cNvSpPr/>
            <p:nvPr/>
          </p:nvSpPr>
          <p:spPr>
            <a:xfrm>
              <a:off x="2990087" y="3886199"/>
              <a:ext cx="512064" cy="51206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icon-list-checks-E91D6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5302" y="4001414"/>
              <a:ext cx="281635" cy="281635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4114800" y="3886199"/>
              <a:ext cx="155448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Check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14800" y="4142231"/>
              <a:ext cx="1554480" cy="23774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Against the Goal</a:t>
              </a:r>
            </a:p>
          </p:txBody>
        </p:sp>
      </p:grpSp>
      <p:grpSp>
        <p:nvGrpSpPr>
          <p:cNvPr id="7" name="Done?"/>
          <p:cNvGrpSpPr/>
          <p:nvPr/>
        </p:nvGrpSpPr>
        <p:grpSpPr>
          <a:xfrm>
            <a:off x="201167" y="2743200"/>
            <a:ext cx="2157984" cy="512064"/>
            <a:chOff x="201167" y="2743200"/>
            <a:chExt cx="2157984" cy="512064"/>
          </a:xfrm>
        </p:grpSpPr>
        <p:sp>
          <p:nvSpPr>
            <p:cNvPr id="41" name="Oval 40"/>
            <p:cNvSpPr/>
            <p:nvPr/>
          </p:nvSpPr>
          <p:spPr>
            <a:xfrm>
              <a:off x="1847087" y="2743200"/>
              <a:ext cx="512064" cy="51206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2" name="Picture 41" descr="icon-flag-E91D63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62302" y="2858414"/>
              <a:ext cx="281635" cy="281635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201167" y="2743200"/>
              <a:ext cx="155448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/>
              <a:r>
                <a:rPr sz="1400" b="1">
                  <a:solidFill>
                    <a:srgbClr val="424242"/>
                  </a:solidFill>
                  <a:latin typeface="Source Code Pro"/>
                </a:rPr>
                <a:t>Done?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1167" y="2999232"/>
              <a:ext cx="1554480" cy="23774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Stop or Go Again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6446520" y="1426464"/>
            <a:ext cx="2386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The Commands</a:t>
            </a:r>
          </a:p>
        </p:txBody>
      </p:sp>
      <p:grpSp>
        <p:nvGrpSpPr>
          <p:cNvPr id="8" name="/goal &lt;objective&gt;"/>
          <p:cNvGrpSpPr/>
          <p:nvPr/>
        </p:nvGrpSpPr>
        <p:grpSpPr>
          <a:xfrm>
            <a:off x="6446520" y="1792224"/>
            <a:ext cx="2386584" cy="482803"/>
            <a:chOff x="6446520" y="1792224"/>
            <a:chExt cx="2386584" cy="482803"/>
          </a:xfrm>
        </p:grpSpPr>
        <p:sp>
          <p:nvSpPr>
            <p:cNvPr id="46" name="TextBox 45"/>
            <p:cNvSpPr txBox="1"/>
            <p:nvPr/>
          </p:nvSpPr>
          <p:spPr>
            <a:xfrm>
              <a:off x="6446520" y="1792224"/>
              <a:ext cx="238658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/goal &lt;objective&gt;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46520" y="2011680"/>
              <a:ext cx="238658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Start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446520" y="2267712"/>
              <a:ext cx="238658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9" name="/goal"/>
          <p:cNvGrpSpPr/>
          <p:nvPr/>
        </p:nvGrpSpPr>
        <p:grpSpPr>
          <a:xfrm>
            <a:off x="6446520" y="2322576"/>
            <a:ext cx="2386584" cy="482803"/>
            <a:chOff x="6446520" y="2322576"/>
            <a:chExt cx="2386584" cy="482803"/>
          </a:xfrm>
        </p:grpSpPr>
        <p:sp>
          <p:nvSpPr>
            <p:cNvPr id="49" name="TextBox 48"/>
            <p:cNvSpPr txBox="1"/>
            <p:nvPr/>
          </p:nvSpPr>
          <p:spPr>
            <a:xfrm>
              <a:off x="6446520" y="2322576"/>
              <a:ext cx="238658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/goal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46520" y="2542032"/>
              <a:ext cx="238658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See Progress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446520" y="2798064"/>
              <a:ext cx="238658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0" name="/goal pause"/>
          <p:cNvGrpSpPr/>
          <p:nvPr/>
        </p:nvGrpSpPr>
        <p:grpSpPr>
          <a:xfrm>
            <a:off x="6446520" y="2852928"/>
            <a:ext cx="2386584" cy="482803"/>
            <a:chOff x="6446520" y="2852928"/>
            <a:chExt cx="2386584" cy="482803"/>
          </a:xfrm>
        </p:grpSpPr>
        <p:sp>
          <p:nvSpPr>
            <p:cNvPr id="52" name="TextBox 51"/>
            <p:cNvSpPr txBox="1"/>
            <p:nvPr/>
          </p:nvSpPr>
          <p:spPr>
            <a:xfrm>
              <a:off x="6446520" y="2852928"/>
              <a:ext cx="238658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/goal pause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446520" y="3072384"/>
              <a:ext cx="238658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Stop for Now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446520" y="3328416"/>
              <a:ext cx="238658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1" name="/goal resume"/>
          <p:cNvGrpSpPr/>
          <p:nvPr/>
        </p:nvGrpSpPr>
        <p:grpSpPr>
          <a:xfrm>
            <a:off x="6446520" y="3383279"/>
            <a:ext cx="2386584" cy="482804"/>
            <a:chOff x="6446520" y="3383279"/>
            <a:chExt cx="2386584" cy="482804"/>
          </a:xfrm>
        </p:grpSpPr>
        <p:sp>
          <p:nvSpPr>
            <p:cNvPr id="55" name="TextBox 54"/>
            <p:cNvSpPr txBox="1"/>
            <p:nvPr/>
          </p:nvSpPr>
          <p:spPr>
            <a:xfrm>
              <a:off x="6446520" y="3383279"/>
              <a:ext cx="238658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/goal resume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46520" y="3602735"/>
              <a:ext cx="238658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Carry On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446520" y="3858768"/>
              <a:ext cx="238658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2" name="/goal clear"/>
          <p:cNvGrpSpPr/>
          <p:nvPr/>
        </p:nvGrpSpPr>
        <p:grpSpPr>
          <a:xfrm>
            <a:off x="6446520" y="3913631"/>
            <a:ext cx="2386584" cy="482803"/>
            <a:chOff x="6446520" y="3913631"/>
            <a:chExt cx="2386584" cy="482803"/>
          </a:xfrm>
        </p:grpSpPr>
        <p:sp>
          <p:nvSpPr>
            <p:cNvPr id="58" name="TextBox 57"/>
            <p:cNvSpPr txBox="1"/>
            <p:nvPr/>
          </p:nvSpPr>
          <p:spPr>
            <a:xfrm>
              <a:off x="6446520" y="3913631"/>
              <a:ext cx="238658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/goal clear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446520" y="4133087"/>
              <a:ext cx="238658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End It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446520" y="4389119"/>
              <a:ext cx="238658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Prompt Steers One Turn, a Goal Defines Done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5179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A Prompt</a:t>
            </a:r>
          </a:p>
        </p:txBody>
      </p:sp>
      <p:grpSp>
        <p:nvGrpSpPr>
          <p:cNvPr id="4" name="Prompt timeline"/>
          <p:cNvGrpSpPr/>
          <p:nvPr/>
        </p:nvGrpSpPr>
        <p:grpSpPr>
          <a:xfrm>
            <a:off x="1554480" y="1517904"/>
            <a:ext cx="7114032" cy="329184"/>
            <a:chOff x="1554480" y="1517904"/>
            <a:chExt cx="7114032" cy="329184"/>
          </a:xfrm>
        </p:grpSpPr>
        <p:sp>
          <p:nvSpPr>
            <p:cNvPr id="27" name="Rounded Rectangle 26"/>
            <p:cNvSpPr/>
            <p:nvPr/>
          </p:nvSpPr>
          <p:spPr>
            <a:xfrm>
              <a:off x="1554480" y="153619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TextBox 27"/>
            <p:cNvSpPr txBox="1"/>
            <p:nvPr/>
          </p:nvSpPr>
          <p:spPr>
            <a:xfrm>
              <a:off x="1554480" y="153619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You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157984" y="153619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2157984" y="153619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E91D63"/>
                  </a:solidFill>
                  <a:latin typeface="Source Code Pro"/>
                </a:rPr>
                <a:t>AI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761488" y="153619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TextBox 31"/>
            <p:cNvSpPr txBox="1"/>
            <p:nvPr/>
          </p:nvSpPr>
          <p:spPr>
            <a:xfrm>
              <a:off x="2761488" y="153619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You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364991" y="153619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3364991" y="153619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E91D63"/>
                  </a:solidFill>
                  <a:latin typeface="Source Code Pro"/>
                </a:rPr>
                <a:t>AI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968496" y="153619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3968496" y="153619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You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572000" y="153619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TextBox 37"/>
            <p:cNvSpPr txBox="1"/>
            <p:nvPr/>
          </p:nvSpPr>
          <p:spPr>
            <a:xfrm>
              <a:off x="4572000" y="153619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E91D63"/>
                  </a:solidFill>
                  <a:latin typeface="Source Code Pro"/>
                </a:rPr>
                <a:t>AI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175504" y="153619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0" name="TextBox 39"/>
            <p:cNvSpPr txBox="1"/>
            <p:nvPr/>
          </p:nvSpPr>
          <p:spPr>
            <a:xfrm>
              <a:off x="5175504" y="153619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You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5779008" y="153619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TextBox 41"/>
            <p:cNvSpPr txBox="1"/>
            <p:nvPr/>
          </p:nvSpPr>
          <p:spPr>
            <a:xfrm>
              <a:off x="5779008" y="153619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E91D63"/>
                  </a:solidFill>
                  <a:latin typeface="Source Code Pro"/>
                </a:rPr>
                <a:t>AI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73952" y="1517904"/>
              <a:ext cx="219456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You Steer Every Turn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10896" y="215798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A Goal</a:t>
            </a:r>
          </a:p>
        </p:txBody>
      </p:sp>
      <p:grpSp>
        <p:nvGrpSpPr>
          <p:cNvPr id="5" name="Goal timeline"/>
          <p:cNvGrpSpPr/>
          <p:nvPr/>
        </p:nvGrpSpPr>
        <p:grpSpPr>
          <a:xfrm>
            <a:off x="1554480" y="2157984"/>
            <a:ext cx="7114032" cy="329184"/>
            <a:chOff x="1554480" y="2157984"/>
            <a:chExt cx="7114032" cy="329184"/>
          </a:xfrm>
        </p:grpSpPr>
        <p:sp>
          <p:nvSpPr>
            <p:cNvPr id="45" name="Rounded Rectangle 44"/>
            <p:cNvSpPr/>
            <p:nvPr/>
          </p:nvSpPr>
          <p:spPr>
            <a:xfrm>
              <a:off x="1554480" y="2176272"/>
              <a:ext cx="530352" cy="292608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TextBox 45"/>
            <p:cNvSpPr txBox="1"/>
            <p:nvPr/>
          </p:nvSpPr>
          <p:spPr>
            <a:xfrm>
              <a:off x="1554480" y="2176272"/>
              <a:ext cx="530352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You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157984" y="2176272"/>
              <a:ext cx="3749039" cy="292608"/>
            </a:xfrm>
            <a:prstGeom prst="roundRect">
              <a:avLst>
                <a:gd name="adj" fmla="val 31250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TextBox 47"/>
            <p:cNvSpPr txBox="1"/>
            <p:nvPr/>
          </p:nvSpPr>
          <p:spPr>
            <a:xfrm>
              <a:off x="2157984" y="2176272"/>
              <a:ext cx="3749039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Source Code Pro"/>
                </a:rPr>
                <a:t>Codex: plan, act, check, repeat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5980175" y="2157984"/>
              <a:ext cx="329184" cy="329184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icture 49" descr="icon-flag-FFFF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4242" y="2232050"/>
              <a:ext cx="181051" cy="181051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473952" y="2157984"/>
              <a:ext cx="219456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Runs to the Stop Line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310896" y="2743200"/>
            <a:ext cx="8522208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10896" y="2852928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Every Goal Has Four Parts</a:t>
            </a:r>
          </a:p>
        </p:txBody>
      </p:sp>
      <p:grpSp>
        <p:nvGrpSpPr>
          <p:cNvPr id="6" name="Objective"/>
          <p:cNvGrpSpPr/>
          <p:nvPr/>
        </p:nvGrpSpPr>
        <p:grpSpPr>
          <a:xfrm>
            <a:off x="310896" y="3200400"/>
            <a:ext cx="2093976" cy="493776"/>
            <a:chOff x="310896" y="3200400"/>
            <a:chExt cx="2093976" cy="493776"/>
          </a:xfrm>
        </p:grpSpPr>
        <p:sp>
          <p:nvSpPr>
            <p:cNvPr id="54" name="Oval 53"/>
            <p:cNvSpPr/>
            <p:nvPr/>
          </p:nvSpPr>
          <p:spPr>
            <a:xfrm>
              <a:off x="310896" y="3218688"/>
              <a:ext cx="457200" cy="45720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icture 54" descr="icon-target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766" y="3321558"/>
              <a:ext cx="251460" cy="25146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877824" y="3200400"/>
              <a:ext cx="152704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Objective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77824" y="3456432"/>
              <a:ext cx="15270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to Achieve</a:t>
              </a:r>
            </a:p>
          </p:txBody>
        </p:sp>
      </p:grpSp>
      <p:grpSp>
        <p:nvGrpSpPr>
          <p:cNvPr id="7" name="Limits"/>
          <p:cNvGrpSpPr/>
          <p:nvPr/>
        </p:nvGrpSpPr>
        <p:grpSpPr>
          <a:xfrm>
            <a:off x="2441448" y="3200400"/>
            <a:ext cx="2093976" cy="493776"/>
            <a:chOff x="2441448" y="3200400"/>
            <a:chExt cx="2093976" cy="493776"/>
          </a:xfrm>
        </p:grpSpPr>
        <p:sp>
          <p:nvSpPr>
            <p:cNvPr id="58" name="Oval 57"/>
            <p:cNvSpPr/>
            <p:nvPr/>
          </p:nvSpPr>
          <p:spPr>
            <a:xfrm>
              <a:off x="2441448" y="3218688"/>
              <a:ext cx="457200" cy="45720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9" name="Picture 58" descr="icon-lock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4318" y="3321558"/>
              <a:ext cx="251460" cy="25146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3008376" y="3200400"/>
              <a:ext cx="152704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Limits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008376" y="3456432"/>
              <a:ext cx="15270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No-Go Areas</a:t>
              </a:r>
            </a:p>
          </p:txBody>
        </p:sp>
      </p:grpSp>
      <p:grpSp>
        <p:nvGrpSpPr>
          <p:cNvPr id="8" name="Proof"/>
          <p:cNvGrpSpPr/>
          <p:nvPr/>
        </p:nvGrpSpPr>
        <p:grpSpPr>
          <a:xfrm>
            <a:off x="4572000" y="3200400"/>
            <a:ext cx="2093976" cy="493776"/>
            <a:chOff x="4572000" y="3200400"/>
            <a:chExt cx="2093976" cy="493776"/>
          </a:xfrm>
        </p:grpSpPr>
        <p:sp>
          <p:nvSpPr>
            <p:cNvPr id="62" name="Oval 61"/>
            <p:cNvSpPr/>
            <p:nvPr/>
          </p:nvSpPr>
          <p:spPr>
            <a:xfrm>
              <a:off x="4572000" y="3218688"/>
              <a:ext cx="457200" cy="45720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3" name="Picture 62" descr="icon-list-checks-E91D6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4870" y="3321558"/>
              <a:ext cx="251460" cy="251460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5138928" y="3200400"/>
              <a:ext cx="152704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Proof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138928" y="3456432"/>
              <a:ext cx="15270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How to Check It</a:t>
              </a:r>
            </a:p>
          </p:txBody>
        </p:sp>
      </p:grpSp>
      <p:grpSp>
        <p:nvGrpSpPr>
          <p:cNvPr id="9" name="Stop"/>
          <p:cNvGrpSpPr/>
          <p:nvPr/>
        </p:nvGrpSpPr>
        <p:grpSpPr>
          <a:xfrm>
            <a:off x="6702552" y="3200400"/>
            <a:ext cx="2093976" cy="493776"/>
            <a:chOff x="6702552" y="3200400"/>
            <a:chExt cx="2093976" cy="493776"/>
          </a:xfrm>
        </p:grpSpPr>
        <p:sp>
          <p:nvSpPr>
            <p:cNvPr id="66" name="Oval 65"/>
            <p:cNvSpPr/>
            <p:nvPr/>
          </p:nvSpPr>
          <p:spPr>
            <a:xfrm>
              <a:off x="6702552" y="3218688"/>
              <a:ext cx="457200" cy="45720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7" name="Picture 66" descr="icon-flag-E91D63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05422" y="3321558"/>
              <a:ext cx="251460" cy="25146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7269480" y="3200400"/>
              <a:ext cx="152704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Stop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69480" y="3456432"/>
              <a:ext cx="15270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When to Finish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310896" y="402336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Can't say how to check it? Use a prompt and steer instead.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Good Goal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212080" cy="2715768"/>
          </a:xfrm>
          <a:prstGeom prst="roundRect">
            <a:avLst>
              <a:gd name="adj" fmla="val 171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10896" y="1389888"/>
            <a:ext cx="521208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10896" y="1583009"/>
            <a:ext cx="521208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472184"/>
            <a:ext cx="3648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Codex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020824"/>
            <a:ext cx="4919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>
                <a:solidFill>
                  <a:srgbClr val="F7F7FA"/>
                </a:solidFill>
                <a:latin typeface="Arial"/>
              </a:rPr>
              <a:t>/goal Turn the 40 interview transcripts in /interviews into a findings report.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32888"/>
            <a:ext cx="49194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 first: questions.md and every transcript.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743200"/>
            <a:ext cx="49194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Don't change: the transcripts themselves.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2944368"/>
            <a:ext cx="402907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2953512"/>
            <a:ext cx="49194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Prove it: each finding cites two or more transcripts.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154680"/>
            <a:ext cx="328612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163824"/>
            <a:ext cx="49194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Stop when: all five questions are answered.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364992"/>
            <a:ext cx="306324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57200" y="3374136"/>
            <a:ext cx="49194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And every quote matches its source file.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694176"/>
            <a:ext cx="4919472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76072" y="3767328"/>
            <a:ext cx="42976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Message Codex…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02352" y="3739896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102352" y="3739896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  <p:grpSp>
        <p:nvGrpSpPr>
          <p:cNvPr id="4" name="Objective"/>
          <p:cNvGrpSpPr/>
          <p:nvPr/>
        </p:nvGrpSpPr>
        <p:grpSpPr>
          <a:xfrm>
            <a:off x="5797296" y="1426464"/>
            <a:ext cx="3035808" cy="457200"/>
            <a:chOff x="5797296" y="1426464"/>
            <a:chExt cx="3035808" cy="457200"/>
          </a:xfrm>
        </p:grpSpPr>
        <p:sp>
          <p:nvSpPr>
            <p:cNvPr id="45" name="Oval 44"/>
            <p:cNvSpPr/>
            <p:nvPr/>
          </p:nvSpPr>
          <p:spPr>
            <a:xfrm>
              <a:off x="5797296" y="1463040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45" descr="icon-target-E91D6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87821" y="1553565"/>
              <a:ext cx="221284" cy="221284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6327648" y="1426464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Objective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327648" y="1645920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/goal Line</a:t>
              </a:r>
            </a:p>
          </p:txBody>
        </p:sp>
      </p:grpSp>
      <p:grpSp>
        <p:nvGrpSpPr>
          <p:cNvPr id="5" name="Read First"/>
          <p:cNvGrpSpPr/>
          <p:nvPr/>
        </p:nvGrpSpPr>
        <p:grpSpPr>
          <a:xfrm>
            <a:off x="5797296" y="1956816"/>
            <a:ext cx="3035808" cy="457200"/>
            <a:chOff x="5797296" y="1956816"/>
            <a:chExt cx="3035808" cy="457200"/>
          </a:xfrm>
        </p:grpSpPr>
        <p:sp>
          <p:nvSpPr>
            <p:cNvPr id="49" name="Oval 48"/>
            <p:cNvSpPr/>
            <p:nvPr/>
          </p:nvSpPr>
          <p:spPr>
            <a:xfrm>
              <a:off x="5797296" y="1993392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icture 49" descr="icon-book-open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7821" y="2083917"/>
              <a:ext cx="221284" cy="221284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327648" y="1956816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Read First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327648" y="2176272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Where to Start</a:t>
              </a:r>
            </a:p>
          </p:txBody>
        </p:sp>
      </p:grpSp>
      <p:grpSp>
        <p:nvGrpSpPr>
          <p:cNvPr id="6" name="Limits"/>
          <p:cNvGrpSpPr/>
          <p:nvPr/>
        </p:nvGrpSpPr>
        <p:grpSpPr>
          <a:xfrm>
            <a:off x="5797296" y="2487168"/>
            <a:ext cx="3035808" cy="457200"/>
            <a:chOff x="5797296" y="2487168"/>
            <a:chExt cx="3035808" cy="457200"/>
          </a:xfrm>
        </p:grpSpPr>
        <p:sp>
          <p:nvSpPr>
            <p:cNvPr id="53" name="Oval 52"/>
            <p:cNvSpPr/>
            <p:nvPr/>
          </p:nvSpPr>
          <p:spPr>
            <a:xfrm>
              <a:off x="5797296" y="2523744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4" name="Picture 53" descr="icon-lock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7821" y="2614269"/>
              <a:ext cx="221284" cy="221284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6327648" y="2487168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Limits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327648" y="2706624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Not to Change</a:t>
              </a:r>
            </a:p>
          </p:txBody>
        </p:sp>
      </p:grpSp>
      <p:grpSp>
        <p:nvGrpSpPr>
          <p:cNvPr id="7" name="Proof"/>
          <p:cNvGrpSpPr/>
          <p:nvPr/>
        </p:nvGrpSpPr>
        <p:grpSpPr>
          <a:xfrm>
            <a:off x="5797296" y="3017520"/>
            <a:ext cx="3035808" cy="457200"/>
            <a:chOff x="5797296" y="3017520"/>
            <a:chExt cx="3035808" cy="457200"/>
          </a:xfrm>
        </p:grpSpPr>
        <p:sp>
          <p:nvSpPr>
            <p:cNvPr id="57" name="Oval 56"/>
            <p:cNvSpPr/>
            <p:nvPr/>
          </p:nvSpPr>
          <p:spPr>
            <a:xfrm>
              <a:off x="5797296" y="3054096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8" name="Picture 57" descr="icon-list-checks-E91D6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7821" y="3144621"/>
              <a:ext cx="221284" cy="221284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6327648" y="3017520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Proof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327648" y="3236976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How to Check Each Finding</a:t>
              </a:r>
            </a:p>
          </p:txBody>
        </p:sp>
      </p:grpSp>
      <p:grpSp>
        <p:nvGrpSpPr>
          <p:cNvPr id="8" name="Stop"/>
          <p:cNvGrpSpPr/>
          <p:nvPr/>
        </p:nvGrpSpPr>
        <p:grpSpPr>
          <a:xfrm>
            <a:off x="5797296" y="3547872"/>
            <a:ext cx="3035808" cy="457200"/>
            <a:chOff x="5797296" y="3547872"/>
            <a:chExt cx="3035808" cy="457200"/>
          </a:xfrm>
        </p:grpSpPr>
        <p:sp>
          <p:nvSpPr>
            <p:cNvPr id="61" name="Oval 60"/>
            <p:cNvSpPr/>
            <p:nvPr/>
          </p:nvSpPr>
          <p:spPr>
            <a:xfrm>
              <a:off x="5797296" y="3584448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2" name="Picture 61" descr="icon-flag-E91D63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87821" y="3674973"/>
              <a:ext cx="221284" cy="221284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6327648" y="3547872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Stop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327648" y="3767328"/>
              <a:ext cx="25054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When to Finish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5797296" y="4169663"/>
            <a:ext cx="30358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91D63"/>
                </a:solidFill>
                <a:latin typeface="Source Code Pro"/>
              </a:rPr>
              <a:t>These let it run without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 lecture: a second AI reviews the work before you do.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a Folder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Codex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Set One Goal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With a Stop Line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Watch the Loop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Then Check the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