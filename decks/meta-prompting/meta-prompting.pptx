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Meta Prompting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Turning a ChatGPT conversation that worked into a prompt you can reuse.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Conversation Becomes the Prompt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0896" y="1426464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24242"/>
                </a:solidFill>
                <a:latin typeface="Source Code Pro"/>
              </a:rPr>
              <a:t>Ten Turns of Corrections</a:t>
            </a:r>
          </a:p>
        </p:txBody>
      </p:sp>
      <p:grpSp>
        <p:nvGrpSpPr>
          <p:cNvPr id="4" name="Correction 1"/>
          <p:cNvGrpSpPr/>
          <p:nvPr/>
        </p:nvGrpSpPr>
        <p:grpSpPr>
          <a:xfrm>
            <a:off x="310896" y="1792224"/>
            <a:ext cx="2788920" cy="365760"/>
            <a:chOff x="310896" y="1792224"/>
            <a:chExt cx="2788920" cy="365760"/>
          </a:xfrm>
        </p:grpSpPr>
        <p:sp>
          <p:nvSpPr>
            <p:cNvPr id="27" name="Rounded Rectangle 26"/>
            <p:cNvSpPr/>
            <p:nvPr/>
          </p:nvSpPr>
          <p:spPr>
            <a:xfrm>
              <a:off x="310896" y="1792224"/>
              <a:ext cx="2788920" cy="365760"/>
            </a:xfrm>
            <a:prstGeom prst="roundRect">
              <a:avLst>
                <a:gd name="adj" fmla="val 30000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28" name="Picture 27" descr="i-message-square-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2336" y="1874519"/>
              <a:ext cx="201168" cy="201168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694944" y="1792224"/>
              <a:ext cx="2340864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Cut it to 150 words.</a:t>
              </a:r>
            </a:p>
          </p:txBody>
        </p:sp>
      </p:grpSp>
      <p:grpSp>
        <p:nvGrpSpPr>
          <p:cNvPr id="5" name="Correction 2"/>
          <p:cNvGrpSpPr/>
          <p:nvPr/>
        </p:nvGrpSpPr>
        <p:grpSpPr>
          <a:xfrm>
            <a:off x="310896" y="2249424"/>
            <a:ext cx="2788920" cy="365760"/>
            <a:chOff x="310896" y="2249424"/>
            <a:chExt cx="2788920" cy="365760"/>
          </a:xfrm>
        </p:grpSpPr>
        <p:sp>
          <p:nvSpPr>
            <p:cNvPr id="30" name="Rounded Rectangle 29"/>
            <p:cNvSpPr/>
            <p:nvPr/>
          </p:nvSpPr>
          <p:spPr>
            <a:xfrm>
              <a:off x="310896" y="2249424"/>
              <a:ext cx="2788920" cy="365760"/>
            </a:xfrm>
            <a:prstGeom prst="roundRect">
              <a:avLst>
                <a:gd name="adj" fmla="val 30000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31" name="Picture 30" descr="i-message-square-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2336" y="2331720"/>
              <a:ext cx="201168" cy="201168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694944" y="2249424"/>
              <a:ext cx="2340864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Lead with the benefit.</a:t>
              </a:r>
            </a:p>
          </p:txBody>
        </p:sp>
      </p:grpSp>
      <p:grpSp>
        <p:nvGrpSpPr>
          <p:cNvPr id="6" name="Correction 3"/>
          <p:cNvGrpSpPr/>
          <p:nvPr/>
        </p:nvGrpSpPr>
        <p:grpSpPr>
          <a:xfrm>
            <a:off x="310896" y="2706624"/>
            <a:ext cx="2788920" cy="365760"/>
            <a:chOff x="310896" y="2706624"/>
            <a:chExt cx="2788920" cy="365760"/>
          </a:xfrm>
        </p:grpSpPr>
        <p:sp>
          <p:nvSpPr>
            <p:cNvPr id="33" name="Rounded Rectangle 32"/>
            <p:cNvSpPr/>
            <p:nvPr/>
          </p:nvSpPr>
          <p:spPr>
            <a:xfrm>
              <a:off x="310896" y="2706624"/>
              <a:ext cx="2788920" cy="365760"/>
            </a:xfrm>
            <a:prstGeom prst="roundRect">
              <a:avLst>
                <a:gd name="adj" fmla="val 30000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34" name="Picture 33" descr="i-message-square-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2336" y="2788920"/>
              <a:ext cx="201168" cy="201168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694944" y="2706624"/>
              <a:ext cx="2340864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Only three updates.</a:t>
              </a:r>
            </a:p>
          </p:txBody>
        </p:sp>
      </p:grpSp>
      <p:grpSp>
        <p:nvGrpSpPr>
          <p:cNvPr id="7" name="Correction 4"/>
          <p:cNvGrpSpPr/>
          <p:nvPr/>
        </p:nvGrpSpPr>
        <p:grpSpPr>
          <a:xfrm>
            <a:off x="310896" y="3163824"/>
            <a:ext cx="2788920" cy="365760"/>
            <a:chOff x="310896" y="3163824"/>
            <a:chExt cx="2788920" cy="365760"/>
          </a:xfrm>
        </p:grpSpPr>
        <p:sp>
          <p:nvSpPr>
            <p:cNvPr id="36" name="Rounded Rectangle 35"/>
            <p:cNvSpPr/>
            <p:nvPr/>
          </p:nvSpPr>
          <p:spPr>
            <a:xfrm>
              <a:off x="310896" y="3163824"/>
              <a:ext cx="2788920" cy="365760"/>
            </a:xfrm>
            <a:prstGeom prst="roundRect">
              <a:avLst>
                <a:gd name="adj" fmla="val 30000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37" name="Picture 36" descr="i-message-square-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2336" y="3246120"/>
              <a:ext cx="201168" cy="201168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694944" y="3163824"/>
              <a:ext cx="2340864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Drop the jargon.</a:t>
              </a:r>
            </a:p>
          </p:txBody>
        </p:sp>
      </p:grpSp>
      <p:grpSp>
        <p:nvGrpSpPr>
          <p:cNvPr id="8" name="Correction 5"/>
          <p:cNvGrpSpPr/>
          <p:nvPr/>
        </p:nvGrpSpPr>
        <p:grpSpPr>
          <a:xfrm>
            <a:off x="310896" y="3621024"/>
            <a:ext cx="2788920" cy="365760"/>
            <a:chOff x="310896" y="3621024"/>
            <a:chExt cx="2788920" cy="365760"/>
          </a:xfrm>
        </p:grpSpPr>
        <p:sp>
          <p:nvSpPr>
            <p:cNvPr id="39" name="Rounded Rectangle 38"/>
            <p:cNvSpPr/>
            <p:nvPr/>
          </p:nvSpPr>
          <p:spPr>
            <a:xfrm>
              <a:off x="310896" y="3621024"/>
              <a:ext cx="2788920" cy="365760"/>
            </a:xfrm>
            <a:prstGeom prst="roundRect">
              <a:avLst>
                <a:gd name="adj" fmla="val 30000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40" name="Picture 39" descr="i-message-square-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2336" y="3703320"/>
              <a:ext cx="201168" cy="201168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694944" y="3621024"/>
              <a:ext cx="2340864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End with one clear CTA.</a:t>
              </a:r>
            </a:p>
          </p:txBody>
        </p:sp>
      </p:grpSp>
      <p:sp>
        <p:nvSpPr>
          <p:cNvPr id="42" name="Right Arrow 41"/>
          <p:cNvSpPr/>
          <p:nvPr/>
        </p:nvSpPr>
        <p:spPr>
          <a:xfrm>
            <a:off x="3172968" y="2706624"/>
            <a:ext cx="365760" cy="128016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630168" y="1389888"/>
            <a:ext cx="5202936" cy="2779776"/>
          </a:xfrm>
          <a:prstGeom prst="roundRect">
            <a:avLst>
              <a:gd name="adj" fmla="val 1764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3630168" y="1389888"/>
            <a:ext cx="5202936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3630168" y="1583009"/>
            <a:ext cx="5202936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3776472" y="1472184"/>
            <a:ext cx="36420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ChatGPT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Demonstration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76472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76472" y="2020824"/>
            <a:ext cx="4910328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Turn this conversation into a reusable prompt,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76472" y="2231136"/>
            <a:ext cx="4910328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so I get the same output every time.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739896" y="2496312"/>
            <a:ext cx="4983480" cy="1490472"/>
          </a:xfrm>
          <a:prstGeom prst="roundRect">
            <a:avLst>
              <a:gd name="adj" fmla="val 3067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886200" y="2615184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86200" y="2816352"/>
            <a:ext cx="469087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Role: B2B newsletter editor.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86200" y="3026664"/>
            <a:ext cx="469087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Input: {this week's product notes}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840480" y="3227832"/>
            <a:ext cx="4103370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3886200" y="3236976"/>
            <a:ext cx="469087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Steps: pick 3 updates, lead with the customer benefit.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840480" y="3438144"/>
            <a:ext cx="3657600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3886200" y="3447288"/>
            <a:ext cx="469087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Format: subject line, 3 short sections, one CTA.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840480" y="3648456"/>
            <a:ext cx="269176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886200" y="3657600"/>
            <a:ext cx="469087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Avoid: jargon, more than 150 words.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30168" y="4315968"/>
            <a:ext cx="52029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Every correction becomes a line in the prompt.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Iterate Once, Then Reuse the Recipe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Station 1"/>
          <p:cNvGrpSpPr/>
          <p:nvPr/>
        </p:nvGrpSpPr>
        <p:grpSpPr>
          <a:xfrm>
            <a:off x="310896" y="1417320"/>
            <a:ext cx="1828800" cy="1161288"/>
            <a:chOff x="310896" y="1417320"/>
            <a:chExt cx="1828800" cy="1161288"/>
          </a:xfrm>
        </p:grpSpPr>
        <p:sp>
          <p:nvSpPr>
            <p:cNvPr id="26" name="Oval 25"/>
            <p:cNvSpPr/>
            <p:nvPr/>
          </p:nvSpPr>
          <p:spPr>
            <a:xfrm>
              <a:off x="941832" y="1417320"/>
              <a:ext cx="566928" cy="566928"/>
            </a:xfrm>
            <a:prstGeom prst="ellipse">
              <a:avLst/>
            </a:prstGeom>
            <a:solidFill>
              <a:srgbClr val="ECECF0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7" name="Picture 26" descr="i-message-square-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2225" y="1547713"/>
              <a:ext cx="306141" cy="306141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310896" y="2048256"/>
              <a:ext cx="182880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424242"/>
                  </a:solidFill>
                  <a:latin typeface="Source Code Pro"/>
                </a:rPr>
                <a:t>Iterate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0896" y="2322576"/>
              <a:ext cx="182880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Until It's Right</a:t>
              </a:r>
            </a:p>
          </p:txBody>
        </p:sp>
      </p:grpSp>
      <p:sp>
        <p:nvSpPr>
          <p:cNvPr id="30" name="Right Arrow 29"/>
          <p:cNvSpPr/>
          <p:nvPr/>
        </p:nvSpPr>
        <p:spPr>
          <a:xfrm>
            <a:off x="1636776" y="1645920"/>
            <a:ext cx="1408175" cy="109728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Station 2"/>
          <p:cNvGrpSpPr/>
          <p:nvPr/>
        </p:nvGrpSpPr>
        <p:grpSpPr>
          <a:xfrm>
            <a:off x="2542032" y="1417320"/>
            <a:ext cx="1828800" cy="1161288"/>
            <a:chOff x="2542032" y="1417320"/>
            <a:chExt cx="1828800" cy="1161288"/>
          </a:xfrm>
        </p:grpSpPr>
        <p:sp>
          <p:nvSpPr>
            <p:cNvPr id="31" name="Oval 30"/>
            <p:cNvSpPr/>
            <p:nvPr/>
          </p:nvSpPr>
          <p:spPr>
            <a:xfrm>
              <a:off x="3172968" y="1417320"/>
              <a:ext cx="566928" cy="566928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2" name="Picture 31" descr="i-file-text-pin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03361" y="1547713"/>
              <a:ext cx="306141" cy="306141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2542032" y="2048256"/>
              <a:ext cx="182880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424242"/>
                  </a:solidFill>
                  <a:latin typeface="Source Code Pro"/>
                </a:rPr>
                <a:t>Capture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542032" y="2322576"/>
              <a:ext cx="182880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Ask for the Prompt</a:t>
              </a:r>
            </a:p>
          </p:txBody>
        </p:sp>
      </p:grpSp>
      <p:sp>
        <p:nvSpPr>
          <p:cNvPr id="35" name="Right Arrow 34"/>
          <p:cNvSpPr/>
          <p:nvPr/>
        </p:nvSpPr>
        <p:spPr>
          <a:xfrm>
            <a:off x="3867911" y="1645920"/>
            <a:ext cx="1408175" cy="109728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Station 3"/>
          <p:cNvGrpSpPr/>
          <p:nvPr/>
        </p:nvGrpSpPr>
        <p:grpSpPr>
          <a:xfrm>
            <a:off x="4773168" y="1417320"/>
            <a:ext cx="1828800" cy="1161288"/>
            <a:chOff x="4773168" y="1417320"/>
            <a:chExt cx="1828800" cy="1161288"/>
          </a:xfrm>
        </p:grpSpPr>
        <p:sp>
          <p:nvSpPr>
            <p:cNvPr id="36" name="Oval 35"/>
            <p:cNvSpPr/>
            <p:nvPr/>
          </p:nvSpPr>
          <p:spPr>
            <a:xfrm>
              <a:off x="5404104" y="1417320"/>
              <a:ext cx="566928" cy="566928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7" name="Picture 36" descr="i-repeat-pin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34497" y="1547713"/>
              <a:ext cx="306141" cy="306141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4773168" y="2048256"/>
              <a:ext cx="182880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424242"/>
                  </a:solidFill>
                  <a:latin typeface="Source Code Pro"/>
                </a:rPr>
                <a:t>Reuse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773168" y="2322576"/>
              <a:ext cx="182880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New Chat, New Input</a:t>
              </a:r>
            </a:p>
          </p:txBody>
        </p:sp>
      </p:grpSp>
      <p:sp>
        <p:nvSpPr>
          <p:cNvPr id="40" name="Right Arrow 39"/>
          <p:cNvSpPr/>
          <p:nvPr/>
        </p:nvSpPr>
        <p:spPr>
          <a:xfrm>
            <a:off x="6099047" y="1645920"/>
            <a:ext cx="1408175" cy="109728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" name="Station 4"/>
          <p:cNvGrpSpPr/>
          <p:nvPr/>
        </p:nvGrpSpPr>
        <p:grpSpPr>
          <a:xfrm>
            <a:off x="7004304" y="1417320"/>
            <a:ext cx="1828800" cy="1161288"/>
            <a:chOff x="7004304" y="1417320"/>
            <a:chExt cx="1828800" cy="1161288"/>
          </a:xfrm>
        </p:grpSpPr>
        <p:sp>
          <p:nvSpPr>
            <p:cNvPr id="41" name="Oval 40"/>
            <p:cNvSpPr/>
            <p:nvPr/>
          </p:nvSpPr>
          <p:spPr>
            <a:xfrm>
              <a:off x="7635240" y="1417320"/>
              <a:ext cx="566928" cy="566928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2" name="Picture 41" descr="i-check-whit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65633" y="1547713"/>
              <a:ext cx="306141" cy="306141"/>
            </a:xfrm>
            <a:prstGeom prst="rect">
              <a:avLst/>
            </a:prstGeom>
          </p:spPr>
        </p:pic>
        <p:sp>
          <p:nvSpPr>
            <p:cNvPr id="43" name="TextBox 42"/>
            <p:cNvSpPr txBox="1"/>
            <p:nvPr/>
          </p:nvSpPr>
          <p:spPr>
            <a:xfrm>
              <a:off x="7004304" y="2048256"/>
              <a:ext cx="182880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424242"/>
                  </a:solidFill>
                  <a:latin typeface="Source Code Pro"/>
                </a:rPr>
                <a:t>Same Output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004304" y="2322576"/>
              <a:ext cx="182880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Every Run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310896" y="2788920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24242"/>
                </a:solidFill>
                <a:latin typeface="Source Code Pro"/>
              </a:rPr>
              <a:t>Turns Needed per Run (Illustrative)</a:t>
            </a:r>
          </a:p>
        </p:txBody>
      </p:sp>
      <p:grpSp>
        <p:nvGrpSpPr>
          <p:cNvPr id="8" name="Run 1"/>
          <p:cNvGrpSpPr/>
          <p:nvPr/>
        </p:nvGrpSpPr>
        <p:grpSpPr>
          <a:xfrm>
            <a:off x="274320" y="3026664"/>
            <a:ext cx="731520" cy="1453896"/>
            <a:chOff x="274320" y="3026664"/>
            <a:chExt cx="731520" cy="1453896"/>
          </a:xfrm>
        </p:grpSpPr>
        <p:sp>
          <p:nvSpPr>
            <p:cNvPr id="46" name="Rectangle 45"/>
            <p:cNvSpPr/>
            <p:nvPr/>
          </p:nvSpPr>
          <p:spPr>
            <a:xfrm>
              <a:off x="402336" y="3264408"/>
              <a:ext cx="475488" cy="960120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7" name="TextBox 46"/>
            <p:cNvSpPr txBox="1"/>
            <p:nvPr/>
          </p:nvSpPr>
          <p:spPr>
            <a:xfrm>
              <a:off x="310896" y="3026664"/>
              <a:ext cx="658368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10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74320" y="4261104"/>
              <a:ext cx="73152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Run 1</a:t>
              </a:r>
            </a:p>
          </p:txBody>
        </p:sp>
      </p:grpSp>
      <p:grpSp>
        <p:nvGrpSpPr>
          <p:cNvPr id="9" name="Run 2"/>
          <p:cNvGrpSpPr/>
          <p:nvPr/>
        </p:nvGrpSpPr>
        <p:grpSpPr>
          <a:xfrm>
            <a:off x="1042416" y="3890772"/>
            <a:ext cx="731520" cy="589788"/>
            <a:chOff x="1042416" y="3890772"/>
            <a:chExt cx="731520" cy="589788"/>
          </a:xfrm>
        </p:grpSpPr>
        <p:sp>
          <p:nvSpPr>
            <p:cNvPr id="49" name="Rectangle 48"/>
            <p:cNvSpPr/>
            <p:nvPr/>
          </p:nvSpPr>
          <p:spPr>
            <a:xfrm>
              <a:off x="1170432" y="4128515"/>
              <a:ext cx="475488" cy="96012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0" name="TextBox 49"/>
            <p:cNvSpPr txBox="1"/>
            <p:nvPr/>
          </p:nvSpPr>
          <p:spPr>
            <a:xfrm>
              <a:off x="1078992" y="3890772"/>
              <a:ext cx="658368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1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042416" y="4261104"/>
              <a:ext cx="73152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Run 2</a:t>
              </a:r>
            </a:p>
          </p:txBody>
        </p:sp>
      </p:grpSp>
      <p:grpSp>
        <p:nvGrpSpPr>
          <p:cNvPr id="10" name="Run 3"/>
          <p:cNvGrpSpPr/>
          <p:nvPr/>
        </p:nvGrpSpPr>
        <p:grpSpPr>
          <a:xfrm>
            <a:off x="1810512" y="3890772"/>
            <a:ext cx="731520" cy="589788"/>
            <a:chOff x="1810512" y="3890772"/>
            <a:chExt cx="731520" cy="589788"/>
          </a:xfrm>
        </p:grpSpPr>
        <p:sp>
          <p:nvSpPr>
            <p:cNvPr id="52" name="Rectangle 51"/>
            <p:cNvSpPr/>
            <p:nvPr/>
          </p:nvSpPr>
          <p:spPr>
            <a:xfrm>
              <a:off x="1938528" y="4128515"/>
              <a:ext cx="475488" cy="96012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3" name="TextBox 52"/>
            <p:cNvSpPr txBox="1"/>
            <p:nvPr/>
          </p:nvSpPr>
          <p:spPr>
            <a:xfrm>
              <a:off x="1847088" y="3890772"/>
              <a:ext cx="658368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810512" y="4261104"/>
              <a:ext cx="73152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Run 3</a:t>
              </a:r>
            </a:p>
          </p:txBody>
        </p:sp>
      </p:grpSp>
      <p:grpSp>
        <p:nvGrpSpPr>
          <p:cNvPr id="11" name="Run 4"/>
          <p:cNvGrpSpPr/>
          <p:nvPr/>
        </p:nvGrpSpPr>
        <p:grpSpPr>
          <a:xfrm>
            <a:off x="2578608" y="3890772"/>
            <a:ext cx="731520" cy="589788"/>
            <a:chOff x="2578608" y="3890772"/>
            <a:chExt cx="731520" cy="589788"/>
          </a:xfrm>
        </p:grpSpPr>
        <p:sp>
          <p:nvSpPr>
            <p:cNvPr id="55" name="Rectangle 54"/>
            <p:cNvSpPr/>
            <p:nvPr/>
          </p:nvSpPr>
          <p:spPr>
            <a:xfrm>
              <a:off x="2706624" y="4128515"/>
              <a:ext cx="475488" cy="96012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6" name="TextBox 55"/>
            <p:cNvSpPr txBox="1"/>
            <p:nvPr/>
          </p:nvSpPr>
          <p:spPr>
            <a:xfrm>
              <a:off x="2615184" y="3890772"/>
              <a:ext cx="658368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1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578608" y="4261104"/>
              <a:ext cx="73152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Run 4</a:t>
              </a:r>
            </a:p>
          </p:txBody>
        </p:sp>
      </p:grpSp>
      <p:grpSp>
        <p:nvGrpSpPr>
          <p:cNvPr id="12" name="Run 5"/>
          <p:cNvGrpSpPr/>
          <p:nvPr/>
        </p:nvGrpSpPr>
        <p:grpSpPr>
          <a:xfrm>
            <a:off x="3346703" y="3890772"/>
            <a:ext cx="731520" cy="589788"/>
            <a:chOff x="3346703" y="3890772"/>
            <a:chExt cx="731520" cy="589788"/>
          </a:xfrm>
        </p:grpSpPr>
        <p:sp>
          <p:nvSpPr>
            <p:cNvPr id="58" name="Rectangle 57"/>
            <p:cNvSpPr/>
            <p:nvPr/>
          </p:nvSpPr>
          <p:spPr>
            <a:xfrm>
              <a:off x="3474720" y="4128515"/>
              <a:ext cx="475488" cy="96012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9" name="TextBox 58"/>
            <p:cNvSpPr txBox="1"/>
            <p:nvPr/>
          </p:nvSpPr>
          <p:spPr>
            <a:xfrm>
              <a:off x="3383279" y="3890772"/>
              <a:ext cx="658368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1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346703" y="4261104"/>
              <a:ext cx="73152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Run 5</a:t>
              </a:r>
            </a:p>
          </p:txBody>
        </p:sp>
      </p:grpSp>
      <p:sp>
        <p:nvSpPr>
          <p:cNvPr id="61" name="Rectangle 60"/>
          <p:cNvSpPr/>
          <p:nvPr/>
        </p:nvSpPr>
        <p:spPr>
          <a:xfrm>
            <a:off x="310896" y="4224528"/>
            <a:ext cx="3931920" cy="10972"/>
          </a:xfrm>
          <a:prstGeom prst="rect">
            <a:avLst/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pSp>
        <p:nvGrpSpPr>
          <p:cNvPr id="13" name="Takeaway 1"/>
          <p:cNvGrpSpPr/>
          <p:nvPr/>
        </p:nvGrpSpPr>
        <p:grpSpPr>
          <a:xfrm>
            <a:off x="4663440" y="3145536"/>
            <a:ext cx="4169664" cy="274320"/>
            <a:chOff x="4663440" y="3145536"/>
            <a:chExt cx="4169664" cy="274320"/>
          </a:xfrm>
        </p:grpSpPr>
        <p:pic>
          <p:nvPicPr>
            <p:cNvPr id="62" name="Picture 61" descr="i-check-pink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63440" y="3163824"/>
              <a:ext cx="219456" cy="219456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>
              <a:off x="4992624" y="3145536"/>
              <a:ext cx="38404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The first run pays for the rest.</a:t>
              </a:r>
            </a:p>
          </p:txBody>
        </p:sp>
      </p:grpSp>
      <p:grpSp>
        <p:nvGrpSpPr>
          <p:cNvPr id="14" name="Takeaway 2"/>
          <p:cNvGrpSpPr/>
          <p:nvPr/>
        </p:nvGrpSpPr>
        <p:grpSpPr>
          <a:xfrm>
            <a:off x="4663440" y="3547872"/>
            <a:ext cx="4169664" cy="274320"/>
            <a:chOff x="4663440" y="3547872"/>
            <a:chExt cx="4169664" cy="274320"/>
          </a:xfrm>
        </p:grpSpPr>
        <p:pic>
          <p:nvPicPr>
            <p:cNvPr id="64" name="Picture 63" descr="i-check-pink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63440" y="3566160"/>
              <a:ext cx="219456" cy="219456"/>
            </a:xfrm>
            <a:prstGeom prst="rect">
              <a:avLst/>
            </a:prstGeom>
          </p:spPr>
        </p:pic>
        <p:sp>
          <p:nvSpPr>
            <p:cNvPr id="65" name="TextBox 64"/>
            <p:cNvSpPr txBox="1"/>
            <p:nvPr/>
          </p:nvSpPr>
          <p:spPr>
            <a:xfrm>
              <a:off x="4992624" y="3547872"/>
              <a:ext cx="38404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When a run drifts, fix the prompt.</a:t>
              </a:r>
            </a:p>
          </p:txBody>
        </p:sp>
      </p:grpSp>
      <p:grpSp>
        <p:nvGrpSpPr>
          <p:cNvPr id="15" name="Takeaway 3"/>
          <p:cNvGrpSpPr/>
          <p:nvPr/>
        </p:nvGrpSpPr>
        <p:grpSpPr>
          <a:xfrm>
            <a:off x="4663440" y="3950208"/>
            <a:ext cx="4169664" cy="274320"/>
            <a:chOff x="4663440" y="3950208"/>
            <a:chExt cx="4169664" cy="274320"/>
          </a:xfrm>
        </p:grpSpPr>
        <p:pic>
          <p:nvPicPr>
            <p:cNvPr id="66" name="Picture 65" descr="i-check-pink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63440" y="3968496"/>
              <a:ext cx="219456" cy="219456"/>
            </a:xfrm>
            <a:prstGeom prst="rect">
              <a:avLst/>
            </a:prstGeom>
          </p:spPr>
        </p:pic>
        <p:sp>
          <p:nvSpPr>
            <p:cNvPr id="67" name="TextBox 66"/>
            <p:cNvSpPr txBox="1"/>
            <p:nvPr/>
          </p:nvSpPr>
          <p:spPr>
            <a:xfrm>
              <a:off x="4992624" y="3950208"/>
              <a:ext cx="38404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Test it in a fresh chat first.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Repeatable Tasks Stop Costing a Conversation Each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468112" y="1371600"/>
            <a:ext cx="3474720" cy="2761488"/>
          </a:xfrm>
          <a:prstGeom prst="roundRect">
            <a:avLst>
              <a:gd name="adj" fmla="val 2649"/>
            </a:avLst>
          </a:prstGeom>
          <a:solidFill>
            <a:srgbClr val="FB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pSp>
        <p:nvGrpSpPr>
          <p:cNvPr id="4" name="Starting from scratch"/>
          <p:cNvGrpSpPr/>
          <p:nvPr/>
        </p:nvGrpSpPr>
        <p:grpSpPr>
          <a:xfrm>
            <a:off x="2194560" y="1444752"/>
            <a:ext cx="3255264" cy="402336"/>
            <a:chOff x="2194560" y="1444752"/>
            <a:chExt cx="3255264" cy="402336"/>
          </a:xfrm>
        </p:grpSpPr>
        <p:sp>
          <p:nvSpPr>
            <p:cNvPr id="27" name="Oval 26"/>
            <p:cNvSpPr/>
            <p:nvPr/>
          </p:nvSpPr>
          <p:spPr>
            <a:xfrm>
              <a:off x="2194560" y="1444752"/>
              <a:ext cx="402336" cy="402336"/>
            </a:xfrm>
            <a:prstGeom prst="ellipse">
              <a:avLst/>
            </a:prstGeom>
            <a:solidFill>
              <a:srgbClr val="ECECF0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8" name="Picture 27" descr="i-message-square-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7097" y="1537289"/>
              <a:ext cx="217261" cy="217261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2706624" y="1444752"/>
              <a:ext cx="2743200" cy="40233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Starting from Scratch</a:t>
              </a:r>
            </a:p>
          </p:txBody>
        </p:sp>
      </p:grpSp>
      <p:grpSp>
        <p:nvGrpSpPr>
          <p:cNvPr id="5" name="Reusing a meta prompt"/>
          <p:cNvGrpSpPr/>
          <p:nvPr/>
        </p:nvGrpSpPr>
        <p:grpSpPr>
          <a:xfrm>
            <a:off x="5577840" y="1444752"/>
            <a:ext cx="3255264" cy="402336"/>
            <a:chOff x="5577840" y="1444752"/>
            <a:chExt cx="3255264" cy="402336"/>
          </a:xfrm>
        </p:grpSpPr>
        <p:sp>
          <p:nvSpPr>
            <p:cNvPr id="30" name="Oval 29"/>
            <p:cNvSpPr/>
            <p:nvPr/>
          </p:nvSpPr>
          <p:spPr>
            <a:xfrm>
              <a:off x="5577840" y="1444752"/>
              <a:ext cx="402336" cy="402336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1" name="Picture 30" descr="i-bookmark-whit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70377" y="1537289"/>
              <a:ext cx="217261" cy="217261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6089904" y="1444752"/>
              <a:ext cx="2743200" cy="40233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E91D63"/>
                  </a:solidFill>
                  <a:latin typeface="Source Code Pro"/>
                </a:rPr>
                <a:t>Reusing a Meta Prompt</a:t>
              </a:r>
            </a:p>
          </p:txBody>
        </p:sp>
      </p:grpSp>
      <p:grpSp>
        <p:nvGrpSpPr>
          <p:cNvPr id="6" name="Corrections"/>
          <p:cNvGrpSpPr/>
          <p:nvPr/>
        </p:nvGrpSpPr>
        <p:grpSpPr>
          <a:xfrm>
            <a:off x="310896" y="2029968"/>
            <a:ext cx="8522208" cy="446227"/>
            <a:chOff x="310896" y="2029968"/>
            <a:chExt cx="8522208" cy="446227"/>
          </a:xfrm>
        </p:grpSpPr>
        <p:sp>
          <p:nvSpPr>
            <p:cNvPr id="33" name="TextBox 32"/>
            <p:cNvSpPr txBox="1"/>
            <p:nvPr/>
          </p:nvSpPr>
          <p:spPr>
            <a:xfrm>
              <a:off x="310896" y="2029968"/>
              <a:ext cx="1783080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Corrections</a:t>
              </a:r>
            </a:p>
          </p:txBody>
        </p:sp>
        <p:pic>
          <p:nvPicPr>
            <p:cNvPr id="34" name="Picture 33" descr="i-circle-x-in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67712" y="2103120"/>
              <a:ext cx="219456" cy="219456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2596896" y="2029968"/>
              <a:ext cx="2798064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Re-typed every time</a:t>
              </a:r>
            </a:p>
          </p:txBody>
        </p:sp>
        <p:pic>
          <p:nvPicPr>
            <p:cNvPr id="36" name="Picture 35" descr="i-circle-check-pink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50992" y="2103120"/>
              <a:ext cx="219456" cy="219456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5980176" y="2029968"/>
              <a:ext cx="2852928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Baked into the prompt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10896" y="2468880"/>
              <a:ext cx="8522208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7" name="Consistency"/>
          <p:cNvGrpSpPr/>
          <p:nvPr/>
        </p:nvGrpSpPr>
        <p:grpSpPr>
          <a:xfrm>
            <a:off x="310896" y="2542032"/>
            <a:ext cx="8522208" cy="446227"/>
            <a:chOff x="310896" y="2542032"/>
            <a:chExt cx="8522208" cy="446227"/>
          </a:xfrm>
        </p:grpSpPr>
        <p:sp>
          <p:nvSpPr>
            <p:cNvPr id="39" name="TextBox 38"/>
            <p:cNvSpPr txBox="1"/>
            <p:nvPr/>
          </p:nvSpPr>
          <p:spPr>
            <a:xfrm>
              <a:off x="310896" y="2542032"/>
              <a:ext cx="1783080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Consistency</a:t>
              </a:r>
            </a:p>
          </p:txBody>
        </p:sp>
        <p:pic>
          <p:nvPicPr>
            <p:cNvPr id="40" name="Picture 39" descr="i-circle-x-in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67712" y="2615184"/>
              <a:ext cx="219456" cy="219456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2596896" y="2542032"/>
              <a:ext cx="2798064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Varies run to run</a:t>
              </a:r>
            </a:p>
          </p:txBody>
        </p:sp>
        <p:pic>
          <p:nvPicPr>
            <p:cNvPr id="42" name="Picture 41" descr="i-circle-check-pink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50992" y="2615184"/>
              <a:ext cx="219456" cy="219456"/>
            </a:xfrm>
            <a:prstGeom prst="rect">
              <a:avLst/>
            </a:prstGeom>
          </p:spPr>
        </p:pic>
        <p:sp>
          <p:nvSpPr>
            <p:cNvPr id="43" name="TextBox 42"/>
            <p:cNvSpPr txBox="1"/>
            <p:nvPr/>
          </p:nvSpPr>
          <p:spPr>
            <a:xfrm>
              <a:off x="5980176" y="2542032"/>
              <a:ext cx="2852928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Same structure each run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10896" y="2980944"/>
              <a:ext cx="8522208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8" name="Sharing"/>
          <p:cNvGrpSpPr/>
          <p:nvPr/>
        </p:nvGrpSpPr>
        <p:grpSpPr>
          <a:xfrm>
            <a:off x="310896" y="3054096"/>
            <a:ext cx="8522208" cy="446227"/>
            <a:chOff x="310896" y="3054096"/>
            <a:chExt cx="8522208" cy="446227"/>
          </a:xfrm>
        </p:grpSpPr>
        <p:sp>
          <p:nvSpPr>
            <p:cNvPr id="45" name="TextBox 44"/>
            <p:cNvSpPr txBox="1"/>
            <p:nvPr/>
          </p:nvSpPr>
          <p:spPr>
            <a:xfrm>
              <a:off x="310896" y="3054096"/>
              <a:ext cx="1783080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Sharing</a:t>
              </a:r>
            </a:p>
          </p:txBody>
        </p:sp>
        <p:pic>
          <p:nvPicPr>
            <p:cNvPr id="46" name="Picture 45" descr="i-circle-x-in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67712" y="3127248"/>
              <a:ext cx="219456" cy="219456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2596896" y="3054096"/>
              <a:ext cx="2798064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Lives in one chat</a:t>
              </a:r>
            </a:p>
          </p:txBody>
        </p:sp>
        <p:pic>
          <p:nvPicPr>
            <p:cNvPr id="48" name="Picture 47" descr="i-circle-check-pink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50992" y="3127248"/>
              <a:ext cx="219456" cy="219456"/>
            </a:xfrm>
            <a:prstGeom prst="rect">
              <a:avLst/>
            </a:prstGeom>
          </p:spPr>
        </p:pic>
        <p:sp>
          <p:nvSpPr>
            <p:cNvPr id="49" name="TextBox 48"/>
            <p:cNvSpPr txBox="1"/>
            <p:nvPr/>
          </p:nvSpPr>
          <p:spPr>
            <a:xfrm>
              <a:off x="5980176" y="3054096"/>
              <a:ext cx="2852928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Paste into a project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10896" y="3493008"/>
              <a:ext cx="8522208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9" name="Failure mode"/>
          <p:cNvGrpSpPr/>
          <p:nvPr/>
        </p:nvGrpSpPr>
        <p:grpSpPr>
          <a:xfrm>
            <a:off x="310896" y="3566160"/>
            <a:ext cx="8522208" cy="365760"/>
            <a:chOff x="310896" y="3566160"/>
            <a:chExt cx="8522208" cy="365760"/>
          </a:xfrm>
        </p:grpSpPr>
        <p:sp>
          <p:nvSpPr>
            <p:cNvPr id="51" name="TextBox 50"/>
            <p:cNvSpPr txBox="1"/>
            <p:nvPr/>
          </p:nvSpPr>
          <p:spPr>
            <a:xfrm>
              <a:off x="310896" y="3566160"/>
              <a:ext cx="1783080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Failure Mode</a:t>
              </a:r>
            </a:p>
          </p:txBody>
        </p:sp>
        <p:pic>
          <p:nvPicPr>
            <p:cNvPr id="52" name="Picture 51" descr="i-triangle-alert-ink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67712" y="3639312"/>
              <a:ext cx="219456" cy="219456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2596896" y="3566160"/>
              <a:ext cx="2798064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Slow and inconsistent</a:t>
              </a:r>
            </a:p>
          </p:txBody>
        </p:sp>
        <p:pic>
          <p:nvPicPr>
            <p:cNvPr id="54" name="Picture 53" descr="i-triangle-alert-pink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50992" y="3639312"/>
              <a:ext cx="219456" cy="219456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5980176" y="3566160"/>
              <a:ext cx="2852928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Copies a one-off mistake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310896" y="4261104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Read the generated prompt before you save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Next, we turn one ChatGPT conversation into a prompt we can reuse.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Get One Great Output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511296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Iterate in the Chat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300983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3520439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520439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2151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Ask for the Prompt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02151" y="3511296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Turn This Chat into a Reusable Prompt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99047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6318503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6318503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00215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Run It Fresh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0215" y="3511296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New Chat, New Input, Same Result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