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Core AI Skills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The habits and techniques that consistently improve what AI gives you back.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Same Model, a Better Request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4160520" cy="2761488"/>
          </a:xfrm>
          <a:prstGeom prst="roundRect">
            <a:avLst>
              <a:gd name="adj" fmla="val 1818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10896" y="1389888"/>
            <a:ext cx="416052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10896" y="1583009"/>
            <a:ext cx="416052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472184"/>
            <a:ext cx="29123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AI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27831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Before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020824"/>
            <a:ext cx="386791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Write an email about the price change.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" y="2286000"/>
            <a:ext cx="3941063" cy="1280160"/>
          </a:xfrm>
          <a:prstGeom prst="roundRect">
            <a:avLst>
              <a:gd name="adj" fmla="val 357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66928" y="240487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2606040"/>
            <a:ext cx="36484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Dear customer, we are writing 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816352"/>
            <a:ext cx="36484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inform you of some changes to our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026664"/>
            <a:ext cx="36484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pricing. Please contact us with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236976"/>
            <a:ext cx="36484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any questions.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72583" y="1389888"/>
            <a:ext cx="4160520" cy="2761488"/>
          </a:xfrm>
          <a:prstGeom prst="roundRect">
            <a:avLst>
              <a:gd name="adj" fmla="val 1818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4672583" y="1389888"/>
            <a:ext cx="416052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4672583" y="1583009"/>
            <a:ext cx="416052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818888" y="1472184"/>
            <a:ext cx="29123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AI Assistant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After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18888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18888" y="2020824"/>
            <a:ext cx="386791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Act as our account manager. Email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18888" y="2231136"/>
            <a:ext cx="386791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existing customers about the 10% rise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18888" y="2441448"/>
            <a:ext cx="386791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on 1 March. Say why, keep it under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18888" y="2651760"/>
            <a:ext cx="386791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120 words, end with a booking link.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782312" y="2916936"/>
            <a:ext cx="3941063" cy="1069848"/>
          </a:xfrm>
          <a:prstGeom prst="roundRect">
            <a:avLst>
              <a:gd name="adj" fmla="val 4273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928616" y="3035808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82896" y="3227832"/>
            <a:ext cx="239458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928616" y="3236976"/>
            <a:ext cx="36484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Subject: Your plan from 1 March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882896" y="3438144"/>
            <a:ext cx="313753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928616" y="3447288"/>
            <a:ext cx="36484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Your plan rises 10% to fund more support.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82896" y="3648456"/>
            <a:ext cx="239458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4928616" y="3657600"/>
            <a:ext cx="36484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Book a 15-minute review: [link]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72583" y="4315968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BE4EC"/>
          </a:solidFill>
          <a:ln w="9525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4672583" y="431596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91D63"/>
                </a:solidFill>
                <a:latin typeface="Source Code Pro"/>
              </a:rPr>
              <a:t>Role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22392" y="4315968"/>
            <a:ext cx="946403" cy="274320"/>
          </a:xfrm>
          <a:prstGeom prst="roundRect">
            <a:avLst>
              <a:gd name="adj" fmla="val 50000"/>
            </a:avLst>
          </a:prstGeom>
          <a:solidFill>
            <a:srgbClr val="FBE4EC"/>
          </a:solidFill>
          <a:ln w="9525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422392" y="4315968"/>
            <a:ext cx="94640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91D63"/>
                </a:solidFill>
                <a:latin typeface="Source Code Pro"/>
              </a:rPr>
              <a:t>Context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60236" y="4315968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BE4EC"/>
          </a:solidFill>
          <a:ln w="9525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460236" y="4315968"/>
            <a:ext cx="8503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91D63"/>
                </a:solidFill>
                <a:latin typeface="Source Code Pro"/>
              </a:rPr>
              <a:t>Format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02067" y="4315968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BE4EC"/>
          </a:solidFill>
          <a:ln w="9525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402067" y="4315968"/>
            <a:ext cx="8503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91D63"/>
                </a:solidFill>
                <a:latin typeface="Source Code Pro"/>
              </a:rPr>
              <a:t>Length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0896" y="4315968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Source Code Pro"/>
              </a:rPr>
              <a:t>Same model. Only the request changed.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Levers You Control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Oval 25"/>
          <p:cNvSpPr/>
          <p:nvPr/>
        </p:nvSpPr>
        <p:spPr>
          <a:xfrm>
            <a:off x="310896" y="1426464"/>
            <a:ext cx="3072384" cy="3072384"/>
          </a:xfrm>
          <a:prstGeom prst="ellipse">
            <a:avLst/>
          </a:prstGeom>
          <a:solidFill>
            <a:srgbClr val="F5F5F7"/>
          </a:solidFill>
          <a:ln w="12700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149047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24242"/>
                </a:solidFill>
                <a:latin typeface="Source Code Pro"/>
              </a:rPr>
              <a:t>Workflow</a:t>
            </a:r>
          </a:p>
        </p:txBody>
      </p:sp>
      <p:sp>
        <p:nvSpPr>
          <p:cNvPr id="28" name="Oval 27"/>
          <p:cNvSpPr/>
          <p:nvPr/>
        </p:nvSpPr>
        <p:spPr>
          <a:xfrm>
            <a:off x="676656" y="1792224"/>
            <a:ext cx="2340863" cy="2340863"/>
          </a:xfrm>
          <a:prstGeom prst="ellipse">
            <a:avLst/>
          </a:prstGeom>
          <a:solidFill>
            <a:srgbClr val="ECECF0"/>
          </a:solidFill>
          <a:ln w="12700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185623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24242"/>
                </a:solidFill>
                <a:latin typeface="Source Code Pro"/>
              </a:rPr>
              <a:t>Tools</a:t>
            </a:r>
          </a:p>
        </p:txBody>
      </p:sp>
      <p:sp>
        <p:nvSpPr>
          <p:cNvPr id="30" name="Oval 29"/>
          <p:cNvSpPr/>
          <p:nvPr/>
        </p:nvSpPr>
        <p:spPr>
          <a:xfrm>
            <a:off x="1042416" y="2157984"/>
            <a:ext cx="1609343" cy="1609343"/>
          </a:xfrm>
          <a:prstGeom prst="ellipse">
            <a:avLst/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222199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91D63"/>
                </a:solidFill>
                <a:latin typeface="Source Code Pro"/>
              </a:rPr>
              <a:t>Context</a:t>
            </a:r>
          </a:p>
        </p:txBody>
      </p:sp>
      <p:sp>
        <p:nvSpPr>
          <p:cNvPr id="32" name="Oval 31"/>
          <p:cNvSpPr/>
          <p:nvPr/>
        </p:nvSpPr>
        <p:spPr>
          <a:xfrm>
            <a:off x="1408176" y="2523744"/>
            <a:ext cx="877823" cy="877823"/>
          </a:xfrm>
          <a:prstGeom prst="ellipse">
            <a:avLst/>
          </a:prstGeom>
          <a:solidFill>
            <a:srgbClr val="E91D63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2834640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ource Code Pro"/>
              </a:rPr>
              <a:t>Model</a:t>
            </a:r>
          </a:p>
        </p:txBody>
      </p:sp>
      <p:sp>
        <p:nvSpPr>
          <p:cNvPr id="34" name="Oval 33"/>
          <p:cNvSpPr/>
          <p:nvPr/>
        </p:nvSpPr>
        <p:spPr>
          <a:xfrm>
            <a:off x="3931920" y="1472184"/>
            <a:ext cx="420624" cy="420624"/>
          </a:xfrm>
          <a:prstGeom prst="ellipse">
            <a:avLst/>
          </a:prstGeom>
          <a:solidFill>
            <a:srgbClr val="E91D63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con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59" y="1563624"/>
            <a:ext cx="237744" cy="23774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480559" y="1499616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04688" y="1499616"/>
            <a:ext cx="3328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  <a:latin typeface="Source Code Pro"/>
              </a:rPr>
              <a:t>Which one does the 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04688" y="1700784"/>
            <a:ext cx="3328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Source Code Pro"/>
              </a:rPr>
              <a:t>Pick Per Task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0" y="2011680"/>
            <a:ext cx="4901184" cy="7315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3931920" y="2075688"/>
            <a:ext cx="420624" cy="420624"/>
          </a:xfrm>
          <a:prstGeom prst="ellipse">
            <a:avLst/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con-con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59" y="2167128"/>
            <a:ext cx="237744" cy="23774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480559" y="21031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Context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04688" y="2103120"/>
            <a:ext cx="3328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  <a:latin typeface="Source Code Pro"/>
              </a:rPr>
              <a:t>What it sees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04688" y="2304288"/>
            <a:ext cx="3328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Source Code Pro"/>
              </a:rPr>
              <a:t>Most of This Section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31920" y="2615184"/>
            <a:ext cx="4901184" cy="7315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3931920" y="2679192"/>
            <a:ext cx="420624" cy="420624"/>
          </a:xfrm>
          <a:prstGeom prst="ellipse">
            <a:avLst/>
          </a:prstGeom>
          <a:solidFill>
            <a:srgbClr val="ECECF0"/>
          </a:solidFill>
          <a:ln w="12700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con-too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59" y="2770632"/>
            <a:ext cx="237744" cy="23774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480559" y="270662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Tools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04688" y="2706624"/>
            <a:ext cx="3328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  <a:latin typeface="Source Code Pro"/>
              </a:rPr>
              <a:t>What it can do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04688" y="2907792"/>
            <a:ext cx="3328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Source Code Pro"/>
              </a:rPr>
              <a:t>Codex and /goal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31920" y="3218688"/>
            <a:ext cx="4901184" cy="7315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3931920" y="3282696"/>
            <a:ext cx="420624" cy="420624"/>
          </a:xfrm>
          <a:prstGeom prst="ellipse">
            <a:avLst/>
          </a:prstGeom>
          <a:solidFill>
            <a:srgbClr val="F5F5F7"/>
          </a:solidFill>
          <a:ln w="12700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con-work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59" y="3374136"/>
            <a:ext cx="237744" cy="23774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480559" y="331012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Workflow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04688" y="3310128"/>
            <a:ext cx="3328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  <a:latin typeface="Source Code Pro"/>
              </a:rPr>
              <a:t>The steps around 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04688" y="3511296"/>
            <a:ext cx="3328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Source Code Pro"/>
              </a:rPr>
              <a:t>Adversarial Review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31920" y="3822192"/>
            <a:ext cx="4901184" cy="7315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931920" y="3968496"/>
            <a:ext cx="4901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When an output disappoints, ask which lever to pull. Rewording the prompt is only one of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Route Through This Section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8" name="Lectures column 1"/>
          <p:cNvGrpSpPr/>
          <p:nvPr/>
        </p:nvGrpSpPr>
        <p:grpSpPr>
          <a:xfrm>
            <a:off x="384048" y="1426464"/>
            <a:ext cx="4087367" cy="2816352"/>
            <a:chOff x="384048" y="1426464"/>
            <a:chExt cx="4087367" cy="2816352"/>
          </a:xfrm>
        </p:grpSpPr>
        <p:grpSp>
          <p:nvGrpSpPr>
            <p:cNvPr id="4" name="Lecture 1"/>
            <p:cNvGrpSpPr/>
            <p:nvPr/>
          </p:nvGrpSpPr>
          <p:grpSpPr>
            <a:xfrm>
              <a:off x="384048" y="1426464"/>
              <a:ext cx="4087367" cy="405079"/>
              <a:chOff x="384048" y="1426464"/>
              <a:chExt cx="4087367" cy="405079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384048" y="1490472"/>
                <a:ext cx="274320" cy="274320"/>
              </a:xfrm>
              <a:prstGeom prst="ellipse">
                <a:avLst/>
              </a:prstGeom>
              <a:solidFill>
                <a:srgbClr val="E91D6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384048" y="1490472"/>
                <a:ext cx="274320" cy="274320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spAutoFit/>
              </a:bodyPr>
              <a:lstStyle/>
              <a:p>
                <a:pPr algn="ctr"/>
                <a:r>
                  <a:rPr sz="1200" b="1">
                    <a:solidFill>
                      <a:srgbClr val="FFFFFF"/>
                    </a:solidFill>
                    <a:latin typeface="Oswald"/>
                  </a:rPr>
                  <a:t>1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786384" y="1426464"/>
                <a:ext cx="3611879" cy="40233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spAutoFit/>
              </a:bodyPr>
              <a:lstStyle/>
              <a:p>
                <a:pPr algn="l"/>
                <a:r>
                  <a:rPr sz="1200" b="0">
                    <a:solidFill>
                      <a:srgbClr val="424242"/>
                    </a:solidFill>
                    <a:latin typeface="Source Code Pro"/>
                  </a:rPr>
                  <a:t>Avoiding Bias</a:t>
                </a: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786384" y="1824228"/>
                <a:ext cx="3685031" cy="7315"/>
              </a:xfrm>
              <a:prstGeom prst="rect">
                <a:avLst/>
              </a:prstGeom>
              <a:solidFill>
                <a:srgbClr val="D8D8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</p:grpSp>
        <p:grpSp>
          <p:nvGrpSpPr>
            <p:cNvPr id="5" name="Lecture 2"/>
            <p:cNvGrpSpPr/>
            <p:nvPr/>
          </p:nvGrpSpPr>
          <p:grpSpPr>
            <a:xfrm>
              <a:off x="384048" y="1828800"/>
              <a:ext cx="4087367" cy="405079"/>
              <a:chOff x="384048" y="1828800"/>
              <a:chExt cx="4087367" cy="405079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384048" y="1892807"/>
                <a:ext cx="274320" cy="274320"/>
              </a:xfrm>
              <a:prstGeom prst="ellipse">
                <a:avLst/>
              </a:prstGeom>
              <a:solidFill>
                <a:srgbClr val="E91D6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384048" y="1892807"/>
                <a:ext cx="274320" cy="274320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spAutoFit/>
              </a:bodyPr>
              <a:lstStyle/>
              <a:p>
                <a:pPr algn="ctr"/>
                <a:r>
                  <a:rPr sz="1200" b="1">
                    <a:solidFill>
                      <a:srgbClr val="FFFFFF"/>
                    </a:solidFill>
                    <a:latin typeface="Oswald"/>
                  </a:rPr>
                  <a:t>2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786384" y="1828800"/>
                <a:ext cx="3611879" cy="40233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spAutoFit/>
              </a:bodyPr>
              <a:lstStyle/>
              <a:p>
                <a:pPr algn="l"/>
                <a:r>
                  <a:rPr sz="1200" b="0">
                    <a:solidFill>
                      <a:srgbClr val="424242"/>
                    </a:solidFill>
                    <a:latin typeface="Source Code Pro"/>
                  </a:rPr>
                  <a:t>Specifying the Steps</a:t>
                </a: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786384" y="2226564"/>
                <a:ext cx="3685031" cy="7315"/>
              </a:xfrm>
              <a:prstGeom prst="rect">
                <a:avLst/>
              </a:prstGeom>
              <a:solidFill>
                <a:srgbClr val="D8D8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</p:grpSp>
        <p:grpSp>
          <p:nvGrpSpPr>
            <p:cNvPr id="6" name="Lecture 3"/>
            <p:cNvGrpSpPr/>
            <p:nvPr/>
          </p:nvGrpSpPr>
          <p:grpSpPr>
            <a:xfrm>
              <a:off x="384048" y="2231136"/>
              <a:ext cx="4087367" cy="405079"/>
              <a:chOff x="384048" y="2231136"/>
              <a:chExt cx="4087367" cy="405079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384048" y="2295144"/>
                <a:ext cx="274320" cy="274320"/>
              </a:xfrm>
              <a:prstGeom prst="ellipse">
                <a:avLst/>
              </a:prstGeom>
              <a:solidFill>
                <a:srgbClr val="E91D6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384048" y="2295144"/>
                <a:ext cx="274320" cy="274320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spAutoFit/>
              </a:bodyPr>
              <a:lstStyle/>
              <a:p>
                <a:pPr algn="ctr"/>
                <a:r>
                  <a:rPr sz="1200" b="1">
                    <a:solidFill>
                      <a:srgbClr val="FFFFFF"/>
                    </a:solidFill>
                    <a:latin typeface="Oswald"/>
                  </a:rPr>
                  <a:t>3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786384" y="2231136"/>
                <a:ext cx="3611879" cy="40233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spAutoFit/>
              </a:bodyPr>
              <a:lstStyle/>
              <a:p>
                <a:pPr algn="l"/>
                <a:r>
                  <a:rPr sz="1200" b="0">
                    <a:solidFill>
                      <a:srgbClr val="424242"/>
                    </a:solidFill>
                    <a:latin typeface="Source Code Pro"/>
                  </a:rPr>
                  <a:t>Meta Prompting</a:t>
                </a:r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786384" y="2628900"/>
                <a:ext cx="3685031" cy="7315"/>
              </a:xfrm>
              <a:prstGeom prst="rect">
                <a:avLst/>
              </a:prstGeom>
              <a:solidFill>
                <a:srgbClr val="D8D8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</p:grpSp>
        <p:grpSp>
          <p:nvGrpSpPr>
            <p:cNvPr id="7" name="Lecture 4"/>
            <p:cNvGrpSpPr/>
            <p:nvPr/>
          </p:nvGrpSpPr>
          <p:grpSpPr>
            <a:xfrm>
              <a:off x="384048" y="2633472"/>
              <a:ext cx="4087367" cy="405079"/>
              <a:chOff x="384048" y="2633472"/>
              <a:chExt cx="4087367" cy="405079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384048" y="2697479"/>
                <a:ext cx="274320" cy="274320"/>
              </a:xfrm>
              <a:prstGeom prst="ellipse">
                <a:avLst/>
              </a:prstGeom>
              <a:solidFill>
                <a:srgbClr val="E91D6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384048" y="2697479"/>
                <a:ext cx="274320" cy="274320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spAutoFit/>
              </a:bodyPr>
              <a:lstStyle/>
              <a:p>
                <a:pPr algn="ctr"/>
                <a:r>
                  <a:rPr sz="1200" b="1">
                    <a:solidFill>
                      <a:srgbClr val="FFFFFF"/>
                    </a:solidFill>
                    <a:latin typeface="Oswald"/>
                  </a:rPr>
                  <a:t>4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786384" y="2633472"/>
                <a:ext cx="3611879" cy="40233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spAutoFit/>
              </a:bodyPr>
              <a:lstStyle/>
              <a:p>
                <a:pPr algn="l"/>
                <a:r>
                  <a:rPr sz="1200" b="0">
                    <a:solidFill>
                      <a:srgbClr val="424242"/>
                    </a:solidFill>
                    <a:latin typeface="Source Code Pro"/>
                  </a:rPr>
                  <a:t>Transforming Content for Your Audience</a:t>
                </a:r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786384" y="3031236"/>
                <a:ext cx="3685031" cy="7315"/>
              </a:xfrm>
              <a:prstGeom prst="rect">
                <a:avLst/>
              </a:prstGeom>
              <a:solidFill>
                <a:srgbClr val="D8D8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</p:grpSp>
        <p:grpSp>
          <p:nvGrpSpPr>
            <p:cNvPr id="8" name="Lecture 5"/>
            <p:cNvGrpSpPr/>
            <p:nvPr/>
          </p:nvGrpSpPr>
          <p:grpSpPr>
            <a:xfrm>
              <a:off x="384048" y="3035808"/>
              <a:ext cx="4087367" cy="405079"/>
              <a:chOff x="384048" y="3035808"/>
              <a:chExt cx="4087367" cy="405079"/>
            </a:xfrm>
          </p:grpSpPr>
          <p:sp>
            <p:nvSpPr>
              <p:cNvPr id="42" name="Oval 41"/>
              <p:cNvSpPr/>
              <p:nvPr/>
            </p:nvSpPr>
            <p:spPr>
              <a:xfrm>
                <a:off x="384048" y="3099816"/>
                <a:ext cx="274320" cy="274320"/>
              </a:xfrm>
              <a:prstGeom prst="ellipse">
                <a:avLst/>
              </a:prstGeom>
              <a:solidFill>
                <a:srgbClr val="E91D6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384048" y="3099816"/>
                <a:ext cx="274320" cy="274320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spAutoFit/>
              </a:bodyPr>
              <a:lstStyle/>
              <a:p>
                <a:pPr algn="ctr"/>
                <a:r>
                  <a:rPr sz="1200" b="1">
                    <a:solidFill>
                      <a:srgbClr val="FFFFFF"/>
                    </a:solidFill>
                    <a:latin typeface="Oswald"/>
                  </a:rPr>
                  <a:t>5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786384" y="3035808"/>
                <a:ext cx="3611879" cy="40233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spAutoFit/>
              </a:bodyPr>
              <a:lstStyle/>
              <a:p>
                <a:pPr algn="l"/>
                <a:r>
                  <a:rPr sz="1200" b="0">
                    <a:solidFill>
                      <a:srgbClr val="424242"/>
                    </a:solidFill>
                    <a:latin typeface="Source Code Pro"/>
                  </a:rPr>
                  <a:t>Role Prompting</a:t>
                </a:r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786384" y="3433572"/>
                <a:ext cx="3685031" cy="7315"/>
              </a:xfrm>
              <a:prstGeom prst="rect">
                <a:avLst/>
              </a:prstGeom>
              <a:solidFill>
                <a:srgbClr val="D8D8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</p:grpSp>
        <p:grpSp>
          <p:nvGrpSpPr>
            <p:cNvPr id="9" name="Lecture 6"/>
            <p:cNvGrpSpPr/>
            <p:nvPr/>
          </p:nvGrpSpPr>
          <p:grpSpPr>
            <a:xfrm>
              <a:off x="384048" y="3438144"/>
              <a:ext cx="4087367" cy="405079"/>
              <a:chOff x="384048" y="3438144"/>
              <a:chExt cx="4087367" cy="405079"/>
            </a:xfrm>
          </p:grpSpPr>
          <p:sp>
            <p:nvSpPr>
              <p:cNvPr id="46" name="Oval 45"/>
              <p:cNvSpPr/>
              <p:nvPr/>
            </p:nvSpPr>
            <p:spPr>
              <a:xfrm>
                <a:off x="384048" y="3502152"/>
                <a:ext cx="274320" cy="274320"/>
              </a:xfrm>
              <a:prstGeom prst="ellipse">
                <a:avLst/>
              </a:prstGeom>
              <a:solidFill>
                <a:srgbClr val="E91D6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384048" y="3502152"/>
                <a:ext cx="274320" cy="274320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spAutoFit/>
              </a:bodyPr>
              <a:lstStyle/>
              <a:p>
                <a:pPr algn="ctr"/>
                <a:r>
                  <a:rPr sz="1200" b="1">
                    <a:solidFill>
                      <a:srgbClr val="FFFFFF"/>
                    </a:solidFill>
                    <a:latin typeface="Oswald"/>
                  </a:rPr>
                  <a:t>6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786384" y="3438144"/>
                <a:ext cx="3611879" cy="40233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spAutoFit/>
              </a:bodyPr>
              <a:lstStyle/>
              <a:p>
                <a:pPr algn="l"/>
                <a:r>
                  <a:rPr sz="1200" b="0">
                    <a:solidFill>
                      <a:srgbClr val="424242"/>
                    </a:solidFill>
                    <a:latin typeface="Source Code Pro"/>
                  </a:rPr>
                  <a:t>Ask for Context</a:t>
                </a:r>
              </a:p>
            </p:txBody>
          </p:sp>
          <p:sp>
            <p:nvSpPr>
              <p:cNvPr id="49" name="Rectangle 48"/>
              <p:cNvSpPr/>
              <p:nvPr/>
            </p:nvSpPr>
            <p:spPr>
              <a:xfrm>
                <a:off x="786384" y="3835908"/>
                <a:ext cx="3685031" cy="7315"/>
              </a:xfrm>
              <a:prstGeom prst="rect">
                <a:avLst/>
              </a:prstGeom>
              <a:solidFill>
                <a:srgbClr val="D8D8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</p:grpSp>
        <p:grpSp>
          <p:nvGrpSpPr>
            <p:cNvPr id="10" name="Lecture 7"/>
            <p:cNvGrpSpPr/>
            <p:nvPr/>
          </p:nvGrpSpPr>
          <p:grpSpPr>
            <a:xfrm>
              <a:off x="384048" y="3840480"/>
              <a:ext cx="4014215" cy="402336"/>
              <a:chOff x="384048" y="3840480"/>
              <a:chExt cx="4014215" cy="402336"/>
            </a:xfrm>
          </p:grpSpPr>
          <p:sp>
            <p:nvSpPr>
              <p:cNvPr id="50" name="Oval 49"/>
              <p:cNvSpPr/>
              <p:nvPr/>
            </p:nvSpPr>
            <p:spPr>
              <a:xfrm>
                <a:off x="384048" y="3904488"/>
                <a:ext cx="274320" cy="274320"/>
              </a:xfrm>
              <a:prstGeom prst="ellipse">
                <a:avLst/>
              </a:prstGeom>
              <a:solidFill>
                <a:srgbClr val="E91D6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384048" y="3904488"/>
                <a:ext cx="274320" cy="274320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spAutoFit/>
              </a:bodyPr>
              <a:lstStyle/>
              <a:p>
                <a:pPr algn="ctr"/>
                <a:r>
                  <a:rPr sz="1200" b="1">
                    <a:solidFill>
                      <a:srgbClr val="FFFFFF"/>
                    </a:solidFill>
                    <a:latin typeface="Oswald"/>
                  </a:rPr>
                  <a:t>7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786384" y="3840480"/>
                <a:ext cx="3611879" cy="40233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spAutoFit/>
              </a:bodyPr>
              <a:lstStyle/>
              <a:p>
                <a:pPr algn="l"/>
                <a:r>
                  <a:rPr sz="1200" b="0">
                    <a:solidFill>
                      <a:srgbClr val="424242"/>
                    </a:solidFill>
                    <a:latin typeface="Source Code Pro"/>
                  </a:rPr>
                  <a:t>Key Phrases To Add To Your Prompts</a:t>
                </a:r>
              </a:p>
            </p:txBody>
          </p:sp>
        </p:grpSp>
      </p:grpSp>
      <p:grpSp>
        <p:nvGrpSpPr>
          <p:cNvPr id="19" name="Lectures column 2"/>
          <p:cNvGrpSpPr/>
          <p:nvPr/>
        </p:nvGrpSpPr>
        <p:grpSpPr>
          <a:xfrm>
            <a:off x="4745736" y="1426464"/>
            <a:ext cx="4087366" cy="2816352"/>
            <a:chOff x="4745736" y="1426464"/>
            <a:chExt cx="4087366" cy="2816352"/>
          </a:xfrm>
        </p:grpSpPr>
        <p:grpSp>
          <p:nvGrpSpPr>
            <p:cNvPr id="11" name="Lecture 8"/>
            <p:cNvGrpSpPr/>
            <p:nvPr/>
          </p:nvGrpSpPr>
          <p:grpSpPr>
            <a:xfrm>
              <a:off x="4745736" y="1426464"/>
              <a:ext cx="4087366" cy="405079"/>
              <a:chOff x="4745736" y="1426464"/>
              <a:chExt cx="4087366" cy="405079"/>
            </a:xfrm>
          </p:grpSpPr>
          <p:sp>
            <p:nvSpPr>
              <p:cNvPr id="53" name="Oval 52"/>
              <p:cNvSpPr/>
              <p:nvPr/>
            </p:nvSpPr>
            <p:spPr>
              <a:xfrm>
                <a:off x="4745736" y="1490472"/>
                <a:ext cx="274320" cy="274320"/>
              </a:xfrm>
              <a:prstGeom prst="ellipse">
                <a:avLst/>
              </a:prstGeom>
              <a:solidFill>
                <a:srgbClr val="E91D6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4745736" y="1490472"/>
                <a:ext cx="274320" cy="274320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spAutoFit/>
              </a:bodyPr>
              <a:lstStyle/>
              <a:p>
                <a:pPr algn="ctr"/>
                <a:r>
                  <a:rPr sz="1200" b="1">
                    <a:solidFill>
                      <a:srgbClr val="FFFFFF"/>
                    </a:solidFill>
                    <a:latin typeface="Oswald"/>
                  </a:rPr>
                  <a:t>8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5148071" y="1426464"/>
                <a:ext cx="3611879" cy="40233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spAutoFit/>
              </a:bodyPr>
              <a:lstStyle/>
              <a:p>
                <a:pPr algn="l"/>
                <a:r>
                  <a:rPr sz="1200" b="0">
                    <a:solidFill>
                      <a:srgbClr val="424242"/>
                    </a:solidFill>
                    <a:latin typeface="Source Code Pro"/>
                  </a:rPr>
                  <a:t>Different Output Formats</a:t>
                </a:r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5148071" y="1824228"/>
                <a:ext cx="3685031" cy="7315"/>
              </a:xfrm>
              <a:prstGeom prst="rect">
                <a:avLst/>
              </a:prstGeom>
              <a:solidFill>
                <a:srgbClr val="D8D8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</p:grpSp>
        <p:grpSp>
          <p:nvGrpSpPr>
            <p:cNvPr id="12" name="Lecture 9"/>
            <p:cNvGrpSpPr/>
            <p:nvPr/>
          </p:nvGrpSpPr>
          <p:grpSpPr>
            <a:xfrm>
              <a:off x="4745736" y="1828800"/>
              <a:ext cx="4087366" cy="405079"/>
              <a:chOff x="4745736" y="1828800"/>
              <a:chExt cx="4087366" cy="405079"/>
            </a:xfrm>
          </p:grpSpPr>
          <p:sp>
            <p:nvSpPr>
              <p:cNvPr id="57" name="Oval 56"/>
              <p:cNvSpPr/>
              <p:nvPr/>
            </p:nvSpPr>
            <p:spPr>
              <a:xfrm>
                <a:off x="4745736" y="1892807"/>
                <a:ext cx="274320" cy="274320"/>
              </a:xfrm>
              <a:prstGeom prst="ellipse">
                <a:avLst/>
              </a:prstGeom>
              <a:solidFill>
                <a:srgbClr val="E91D6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4745736" y="1892807"/>
                <a:ext cx="274320" cy="274320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spAutoFit/>
              </a:bodyPr>
              <a:lstStyle/>
              <a:p>
                <a:pPr algn="ctr"/>
                <a:r>
                  <a:rPr sz="1200" b="1">
                    <a:solidFill>
                      <a:srgbClr val="FFFFFF"/>
                    </a:solidFill>
                    <a:latin typeface="Oswald"/>
                  </a:rPr>
                  <a:t>9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5148071" y="1828800"/>
                <a:ext cx="3611879" cy="40233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spAutoFit/>
              </a:bodyPr>
              <a:lstStyle/>
              <a:p>
                <a:pPr algn="l"/>
                <a:r>
                  <a:rPr sz="1200" b="0">
                    <a:solidFill>
                      <a:srgbClr val="424242"/>
                    </a:solidFill>
                    <a:latin typeface="Source Code Pro"/>
                  </a:rPr>
                  <a:t>Overcoming the Token Limit</a:t>
                </a:r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5148071" y="2226564"/>
                <a:ext cx="3685031" cy="7315"/>
              </a:xfrm>
              <a:prstGeom prst="rect">
                <a:avLst/>
              </a:prstGeom>
              <a:solidFill>
                <a:srgbClr val="D8D8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</p:grpSp>
        <p:grpSp>
          <p:nvGrpSpPr>
            <p:cNvPr id="13" name="Lecture 10"/>
            <p:cNvGrpSpPr/>
            <p:nvPr/>
          </p:nvGrpSpPr>
          <p:grpSpPr>
            <a:xfrm>
              <a:off x="4745736" y="2231136"/>
              <a:ext cx="4087366" cy="405079"/>
              <a:chOff x="4745736" y="2231136"/>
              <a:chExt cx="4087366" cy="405079"/>
            </a:xfrm>
          </p:grpSpPr>
          <p:sp>
            <p:nvSpPr>
              <p:cNvPr id="61" name="Oval 60"/>
              <p:cNvSpPr/>
              <p:nvPr/>
            </p:nvSpPr>
            <p:spPr>
              <a:xfrm>
                <a:off x="4745736" y="2295144"/>
                <a:ext cx="274320" cy="274320"/>
              </a:xfrm>
              <a:prstGeom prst="ellipse">
                <a:avLst/>
              </a:prstGeom>
              <a:solidFill>
                <a:srgbClr val="E91D6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4745736" y="2295144"/>
                <a:ext cx="274320" cy="274320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spAutoFit/>
              </a:bodyPr>
              <a:lstStyle/>
              <a:p>
                <a:pPr algn="ctr"/>
                <a:r>
                  <a:rPr sz="1200" b="1">
                    <a:solidFill>
                      <a:srgbClr val="FFFFFF"/>
                    </a:solidFill>
                    <a:latin typeface="Oswald"/>
                  </a:rPr>
                  <a:t>10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5148071" y="2231136"/>
                <a:ext cx="3611879" cy="40233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spAutoFit/>
              </a:bodyPr>
              <a:lstStyle/>
              <a:p>
                <a:pPr algn="l"/>
                <a:r>
                  <a:rPr sz="1200" b="0">
                    <a:solidFill>
                      <a:srgbClr val="424242"/>
                    </a:solidFill>
                    <a:latin typeface="Source Code Pro"/>
                  </a:rPr>
                  <a:t>Least to Most</a:t>
                </a:r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5148071" y="2628900"/>
                <a:ext cx="3685031" cy="7315"/>
              </a:xfrm>
              <a:prstGeom prst="rect">
                <a:avLst/>
              </a:prstGeom>
              <a:solidFill>
                <a:srgbClr val="D8D8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</p:grpSp>
        <p:grpSp>
          <p:nvGrpSpPr>
            <p:cNvPr id="14" name="Lecture 11"/>
            <p:cNvGrpSpPr/>
            <p:nvPr/>
          </p:nvGrpSpPr>
          <p:grpSpPr>
            <a:xfrm>
              <a:off x="4745736" y="2633472"/>
              <a:ext cx="4087366" cy="405079"/>
              <a:chOff x="4745736" y="2633472"/>
              <a:chExt cx="4087366" cy="405079"/>
            </a:xfrm>
          </p:grpSpPr>
          <p:sp>
            <p:nvSpPr>
              <p:cNvPr id="65" name="Oval 64"/>
              <p:cNvSpPr/>
              <p:nvPr/>
            </p:nvSpPr>
            <p:spPr>
              <a:xfrm>
                <a:off x="4745736" y="2697479"/>
                <a:ext cx="274320" cy="274320"/>
              </a:xfrm>
              <a:prstGeom prst="ellipse">
                <a:avLst/>
              </a:prstGeom>
              <a:solidFill>
                <a:srgbClr val="E91D6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4745736" y="2697479"/>
                <a:ext cx="274320" cy="274320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spAutoFit/>
              </a:bodyPr>
              <a:lstStyle/>
              <a:p>
                <a:pPr algn="ctr"/>
                <a:r>
                  <a:rPr sz="1200" b="1">
                    <a:solidFill>
                      <a:srgbClr val="FFFFFF"/>
                    </a:solidFill>
                    <a:latin typeface="Oswald"/>
                  </a:rPr>
                  <a:t>11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5148071" y="2633472"/>
                <a:ext cx="3611879" cy="40233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spAutoFit/>
              </a:bodyPr>
              <a:lstStyle/>
              <a:p>
                <a:pPr algn="l"/>
                <a:r>
                  <a:rPr sz="1200" b="0">
                    <a:solidFill>
                      <a:srgbClr val="424242"/>
                    </a:solidFill>
                    <a:latin typeface="Source Code Pro"/>
                  </a:rPr>
                  <a:t>Delimiters</a:t>
                </a:r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5148071" y="3031236"/>
                <a:ext cx="3685031" cy="7315"/>
              </a:xfrm>
              <a:prstGeom prst="rect">
                <a:avLst/>
              </a:prstGeom>
              <a:solidFill>
                <a:srgbClr val="D8D8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</p:grpSp>
        <p:grpSp>
          <p:nvGrpSpPr>
            <p:cNvPr id="15" name="Lecture 12"/>
            <p:cNvGrpSpPr/>
            <p:nvPr/>
          </p:nvGrpSpPr>
          <p:grpSpPr>
            <a:xfrm>
              <a:off x="4745736" y="3035808"/>
              <a:ext cx="4087366" cy="405079"/>
              <a:chOff x="4745736" y="3035808"/>
              <a:chExt cx="4087366" cy="405079"/>
            </a:xfrm>
          </p:grpSpPr>
          <p:sp>
            <p:nvSpPr>
              <p:cNvPr id="69" name="Oval 68"/>
              <p:cNvSpPr/>
              <p:nvPr/>
            </p:nvSpPr>
            <p:spPr>
              <a:xfrm>
                <a:off x="4745736" y="3099816"/>
                <a:ext cx="274320" cy="274320"/>
              </a:xfrm>
              <a:prstGeom prst="ellipse">
                <a:avLst/>
              </a:prstGeom>
              <a:solidFill>
                <a:srgbClr val="E91D6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4745736" y="3099816"/>
                <a:ext cx="274320" cy="274320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spAutoFit/>
              </a:bodyPr>
              <a:lstStyle/>
              <a:p>
                <a:pPr algn="ctr"/>
                <a:r>
                  <a:rPr sz="1200" b="1">
                    <a:solidFill>
                      <a:srgbClr val="FFFFFF"/>
                    </a:solidFill>
                    <a:latin typeface="Oswald"/>
                  </a:rPr>
                  <a:t>12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5148071" y="3035808"/>
                <a:ext cx="3611879" cy="40233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spAutoFit/>
              </a:bodyPr>
              <a:lstStyle/>
              <a:p>
                <a:pPr algn="l"/>
                <a:r>
                  <a:rPr sz="1200" b="0">
                    <a:solidFill>
                      <a:srgbClr val="424242"/>
                    </a:solidFill>
                    <a:latin typeface="Source Code Pro"/>
                  </a:rPr>
                  <a:t>Pre-Warming Chats</a:t>
                </a:r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5148071" y="3433572"/>
                <a:ext cx="3685031" cy="7315"/>
              </a:xfrm>
              <a:prstGeom prst="rect">
                <a:avLst/>
              </a:prstGeom>
              <a:solidFill>
                <a:srgbClr val="D8D8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</p:grpSp>
        <p:grpSp>
          <p:nvGrpSpPr>
            <p:cNvPr id="16" name="Lecture 13"/>
            <p:cNvGrpSpPr/>
            <p:nvPr/>
          </p:nvGrpSpPr>
          <p:grpSpPr>
            <a:xfrm>
              <a:off x="4745736" y="3438144"/>
              <a:ext cx="4087366" cy="405079"/>
              <a:chOff x="4745736" y="3438144"/>
              <a:chExt cx="4087366" cy="405079"/>
            </a:xfrm>
          </p:grpSpPr>
          <p:sp>
            <p:nvSpPr>
              <p:cNvPr id="73" name="Oval 72"/>
              <p:cNvSpPr/>
              <p:nvPr/>
            </p:nvSpPr>
            <p:spPr>
              <a:xfrm>
                <a:off x="4745736" y="3502152"/>
                <a:ext cx="274320" cy="274320"/>
              </a:xfrm>
              <a:prstGeom prst="ellipse">
                <a:avLst/>
              </a:prstGeom>
              <a:solidFill>
                <a:srgbClr val="E91D6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4745736" y="3502152"/>
                <a:ext cx="274320" cy="274320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spAutoFit/>
              </a:bodyPr>
              <a:lstStyle/>
              <a:p>
                <a:pPr algn="ctr"/>
                <a:r>
                  <a:rPr sz="1200" b="1">
                    <a:solidFill>
                      <a:srgbClr val="FFFFFF"/>
                    </a:solidFill>
                    <a:latin typeface="Oswald"/>
                  </a:rPr>
                  <a:t>13</a:t>
                </a:r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5148071" y="3438144"/>
                <a:ext cx="3611879" cy="40233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spAutoFit/>
              </a:bodyPr>
              <a:lstStyle/>
              <a:p>
                <a:pPr algn="l"/>
                <a:r>
                  <a:rPr sz="1200" b="0">
                    <a:solidFill>
                      <a:srgbClr val="424242"/>
                    </a:solidFill>
                    <a:latin typeface="Source Code Pro"/>
                  </a:rPr>
                  <a:t>What is Codex and /goal</a:t>
                </a: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5148071" y="3835908"/>
                <a:ext cx="3685031" cy="7315"/>
              </a:xfrm>
              <a:prstGeom prst="rect">
                <a:avLst/>
              </a:prstGeom>
              <a:solidFill>
                <a:srgbClr val="D8D8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</p:grpSp>
        <p:grpSp>
          <p:nvGrpSpPr>
            <p:cNvPr id="17" name="Lecture 14"/>
            <p:cNvGrpSpPr/>
            <p:nvPr/>
          </p:nvGrpSpPr>
          <p:grpSpPr>
            <a:xfrm>
              <a:off x="4745736" y="3840480"/>
              <a:ext cx="4014214" cy="402336"/>
              <a:chOff x="4745736" y="3840480"/>
              <a:chExt cx="4014214" cy="402336"/>
            </a:xfrm>
          </p:grpSpPr>
          <p:sp>
            <p:nvSpPr>
              <p:cNvPr id="77" name="Oval 76"/>
              <p:cNvSpPr/>
              <p:nvPr/>
            </p:nvSpPr>
            <p:spPr>
              <a:xfrm>
                <a:off x="4745736" y="3904488"/>
                <a:ext cx="274320" cy="274320"/>
              </a:xfrm>
              <a:prstGeom prst="ellipse">
                <a:avLst/>
              </a:prstGeom>
              <a:solidFill>
                <a:srgbClr val="E91D6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/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4745736" y="3904488"/>
                <a:ext cx="274320" cy="274320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spAutoFit/>
              </a:bodyPr>
              <a:lstStyle/>
              <a:p>
                <a:pPr algn="ctr"/>
                <a:r>
                  <a:rPr sz="1200" b="1">
                    <a:solidFill>
                      <a:srgbClr val="FFFFFF"/>
                    </a:solidFill>
                    <a:latin typeface="Oswald"/>
                  </a:rPr>
                  <a:t>14</a:t>
                </a:r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5148071" y="3840480"/>
                <a:ext cx="3611879" cy="40233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spAutoFit/>
              </a:bodyPr>
              <a:lstStyle/>
              <a:p>
                <a:pPr algn="l"/>
                <a:r>
                  <a:rPr sz="1200" b="0">
                    <a:solidFill>
                      <a:srgbClr val="424242"/>
                    </a:solidFill>
                    <a:latin typeface="Source Code Pro"/>
                  </a:rPr>
                  <a:t>Adversarial Review of Outputs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