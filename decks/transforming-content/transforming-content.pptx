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Transforming Content for Your Audience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Turning the same information into the form a different reader actually needs.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Facts, a New Form for a New Reader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Source"/>
          <p:cNvGrpSpPr/>
          <p:nvPr/>
        </p:nvGrpSpPr>
        <p:grpSpPr>
          <a:xfrm>
            <a:off x="310896" y="2057400"/>
            <a:ext cx="2286000" cy="1371600"/>
            <a:chOff x="310896" y="2057400"/>
            <a:chExt cx="2286000" cy="1371600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2057400"/>
              <a:ext cx="2286000" cy="1371600"/>
            </a:xfrm>
            <a:prstGeom prst="roundRect">
              <a:avLst>
                <a:gd name="adj" fmla="val 5333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1197864" y="2203704"/>
              <a:ext cx="512064" cy="512064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-notebook-pen-whit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5638" y="2321478"/>
              <a:ext cx="276514" cy="276514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10896" y="2788920"/>
              <a:ext cx="228600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400" b="1">
                  <a:solidFill>
                    <a:srgbClr val="424242"/>
                  </a:solidFill>
                  <a:latin typeface="Source Code Pro"/>
                </a:rPr>
                <a:t>Meeting Notes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10896" y="3063240"/>
              <a:ext cx="228600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6B6B6B"/>
                  </a:solidFill>
                  <a:latin typeface="Source Code Pro"/>
                </a:rPr>
                <a:t>Rough, Long, Internal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2596896" y="2737713"/>
            <a:ext cx="420623" cy="10972"/>
          </a:xfrm>
          <a:prstGeom prst="roundRect">
            <a:avLst>
              <a:gd name="adj" fmla="val 50000"/>
            </a:avLst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017520" y="1728216"/>
            <a:ext cx="10972" cy="2029967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ight Arrow 32"/>
          <p:cNvSpPr/>
          <p:nvPr/>
        </p:nvSpPr>
        <p:spPr>
          <a:xfrm>
            <a:off x="3017520" y="1673352"/>
            <a:ext cx="475488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3017520" y="2350008"/>
            <a:ext cx="475488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3017520" y="3026664"/>
            <a:ext cx="475488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3017520" y="3703320"/>
            <a:ext cx="475488" cy="109728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Email summary"/>
          <p:cNvGrpSpPr/>
          <p:nvPr/>
        </p:nvGrpSpPr>
        <p:grpSpPr>
          <a:xfrm>
            <a:off x="3566160" y="1444752"/>
            <a:ext cx="5266944" cy="566928"/>
            <a:chOff x="3566160" y="1444752"/>
            <a:chExt cx="5266944" cy="566928"/>
          </a:xfrm>
        </p:grpSpPr>
        <p:sp>
          <p:nvSpPr>
            <p:cNvPr id="37" name="Rounded Rectangle 36"/>
            <p:cNvSpPr/>
            <p:nvPr/>
          </p:nvSpPr>
          <p:spPr>
            <a:xfrm>
              <a:off x="3566160" y="1444752"/>
              <a:ext cx="5266944" cy="566928"/>
            </a:xfrm>
            <a:prstGeom prst="roundRect">
              <a:avLst>
                <a:gd name="adj" fmla="val 9677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Oval 37"/>
            <p:cNvSpPr/>
            <p:nvPr/>
          </p:nvSpPr>
          <p:spPr>
            <a:xfrm>
              <a:off x="3675887" y="1536192"/>
              <a:ext cx="384048" cy="38404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-mail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4219" y="1624523"/>
              <a:ext cx="207385" cy="207385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4206240" y="1444752"/>
              <a:ext cx="27432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Email Summary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58000" y="1444752"/>
              <a:ext cx="18288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For the Team</a:t>
              </a:r>
            </a:p>
          </p:txBody>
        </p:sp>
      </p:grpSp>
      <p:grpSp>
        <p:nvGrpSpPr>
          <p:cNvPr id="6" name="Board slide outline"/>
          <p:cNvGrpSpPr/>
          <p:nvPr/>
        </p:nvGrpSpPr>
        <p:grpSpPr>
          <a:xfrm>
            <a:off x="3566160" y="2121408"/>
            <a:ext cx="5266944" cy="566928"/>
            <a:chOff x="3566160" y="2121408"/>
            <a:chExt cx="5266944" cy="566928"/>
          </a:xfrm>
        </p:grpSpPr>
        <p:sp>
          <p:nvSpPr>
            <p:cNvPr id="42" name="Rounded Rectangle 41"/>
            <p:cNvSpPr/>
            <p:nvPr/>
          </p:nvSpPr>
          <p:spPr>
            <a:xfrm>
              <a:off x="3566160" y="2121408"/>
              <a:ext cx="5266944" cy="566928"/>
            </a:xfrm>
            <a:prstGeom prst="roundRect">
              <a:avLst>
                <a:gd name="adj" fmla="val 9677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Oval 42"/>
            <p:cNvSpPr/>
            <p:nvPr/>
          </p:nvSpPr>
          <p:spPr>
            <a:xfrm>
              <a:off x="3675887" y="2212848"/>
              <a:ext cx="384048" cy="38404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43" descr="i-presentation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4219" y="2301179"/>
              <a:ext cx="207385" cy="207385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4206240" y="2121408"/>
              <a:ext cx="27432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Board Slide Outline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858000" y="2121408"/>
              <a:ext cx="18288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For the Directors</a:t>
              </a:r>
            </a:p>
          </p:txBody>
        </p:sp>
      </p:grpSp>
      <p:grpSp>
        <p:nvGrpSpPr>
          <p:cNvPr id="7" name="Plain-Language explainer"/>
          <p:cNvGrpSpPr/>
          <p:nvPr/>
        </p:nvGrpSpPr>
        <p:grpSpPr>
          <a:xfrm>
            <a:off x="3566160" y="2798064"/>
            <a:ext cx="5266944" cy="566928"/>
            <a:chOff x="3566160" y="2798064"/>
            <a:chExt cx="5266944" cy="566928"/>
          </a:xfrm>
        </p:grpSpPr>
        <p:sp>
          <p:nvSpPr>
            <p:cNvPr id="47" name="Rounded Rectangle 46"/>
            <p:cNvSpPr/>
            <p:nvPr/>
          </p:nvSpPr>
          <p:spPr>
            <a:xfrm>
              <a:off x="3566160" y="2798064"/>
              <a:ext cx="5266944" cy="566928"/>
            </a:xfrm>
            <a:prstGeom prst="roundRect">
              <a:avLst>
                <a:gd name="adj" fmla="val 9677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Oval 47"/>
            <p:cNvSpPr/>
            <p:nvPr/>
          </p:nvSpPr>
          <p:spPr>
            <a:xfrm>
              <a:off x="3675887" y="2889504"/>
              <a:ext cx="384048" cy="38404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48" descr="i-smile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4219" y="2977835"/>
              <a:ext cx="207385" cy="207385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4206240" y="2798064"/>
              <a:ext cx="27432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Plain-Language Explainer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858000" y="2798064"/>
              <a:ext cx="18288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For a New Starter</a:t>
              </a:r>
            </a:p>
          </p:txBody>
        </p:sp>
      </p:grpSp>
      <p:grpSp>
        <p:nvGrpSpPr>
          <p:cNvPr id="8" name="Spanish translation"/>
          <p:cNvGrpSpPr/>
          <p:nvPr/>
        </p:nvGrpSpPr>
        <p:grpSpPr>
          <a:xfrm>
            <a:off x="3566160" y="3474720"/>
            <a:ext cx="5266944" cy="566928"/>
            <a:chOff x="3566160" y="3474720"/>
            <a:chExt cx="5266944" cy="566928"/>
          </a:xfrm>
        </p:grpSpPr>
        <p:sp>
          <p:nvSpPr>
            <p:cNvPr id="52" name="Rounded Rectangle 51"/>
            <p:cNvSpPr/>
            <p:nvPr/>
          </p:nvSpPr>
          <p:spPr>
            <a:xfrm>
              <a:off x="3566160" y="3474720"/>
              <a:ext cx="5266944" cy="566928"/>
            </a:xfrm>
            <a:prstGeom prst="roundRect">
              <a:avLst>
                <a:gd name="adj" fmla="val 9677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Oval 52"/>
            <p:cNvSpPr/>
            <p:nvPr/>
          </p:nvSpPr>
          <p:spPr>
            <a:xfrm>
              <a:off x="3675887" y="3566160"/>
              <a:ext cx="384048" cy="384048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Picture 53" descr="i-languages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64219" y="3654491"/>
              <a:ext cx="207385" cy="207385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206240" y="3474720"/>
              <a:ext cx="27432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300" b="1">
                  <a:solidFill>
                    <a:srgbClr val="424242"/>
                  </a:solidFill>
                  <a:latin typeface="Source Code Pro"/>
                </a:rPr>
                <a:t>Spanish Translation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858000" y="3474720"/>
              <a:ext cx="1828800" cy="56692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For a Partner Office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information stays the same. The shape changes for whoever reads it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Six Dials You Can Turn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Dial: Audience"/>
          <p:cNvGrpSpPr/>
          <p:nvPr/>
        </p:nvGrpSpPr>
        <p:grpSpPr>
          <a:xfrm>
            <a:off x="310896" y="1426464"/>
            <a:ext cx="2670048" cy="1097280"/>
            <a:chOff x="310896" y="1426464"/>
            <a:chExt cx="2670048" cy="1097280"/>
          </a:xfrm>
        </p:grpSpPr>
        <p:sp>
          <p:nvSpPr>
            <p:cNvPr id="26" name="Oval 25"/>
            <p:cNvSpPr/>
            <p:nvPr/>
          </p:nvSpPr>
          <p:spPr>
            <a:xfrm>
              <a:off x="310896" y="1426464"/>
              <a:ext cx="420624" cy="420624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-users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639" y="1523207"/>
              <a:ext cx="227136" cy="22713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41247" y="1426464"/>
              <a:ext cx="213969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Audience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10896" y="2139696"/>
              <a:ext cx="2670048" cy="45720"/>
            </a:xfrm>
            <a:prstGeom prst="roundRect">
              <a:avLst>
                <a:gd name="adj" fmla="val 50000"/>
              </a:avLst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Rounded Rectangle 29"/>
            <p:cNvSpPr/>
            <p:nvPr/>
          </p:nvSpPr>
          <p:spPr>
            <a:xfrm>
              <a:off x="310896" y="2139696"/>
              <a:ext cx="2190353" cy="45720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Oval 30"/>
            <p:cNvSpPr/>
            <p:nvPr/>
          </p:nvSpPr>
          <p:spPr>
            <a:xfrm>
              <a:off x="2408895" y="2071115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0896" y="2286000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Your Team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645920" y="2286000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Board</a:t>
              </a:r>
            </a:p>
          </p:txBody>
        </p:sp>
      </p:grpSp>
      <p:grpSp>
        <p:nvGrpSpPr>
          <p:cNvPr id="5" name="Dial: Reading level"/>
          <p:cNvGrpSpPr/>
          <p:nvPr/>
        </p:nvGrpSpPr>
        <p:grpSpPr>
          <a:xfrm>
            <a:off x="3236976" y="1426464"/>
            <a:ext cx="2670048" cy="1097280"/>
            <a:chOff x="3236976" y="1426464"/>
            <a:chExt cx="2670048" cy="1097280"/>
          </a:xfrm>
        </p:grpSpPr>
        <p:sp>
          <p:nvSpPr>
            <p:cNvPr id="34" name="Oval 33"/>
            <p:cNvSpPr/>
            <p:nvPr/>
          </p:nvSpPr>
          <p:spPr>
            <a:xfrm>
              <a:off x="3236976" y="1426464"/>
              <a:ext cx="420624" cy="420624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i-gauge-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3719" y="1523207"/>
              <a:ext cx="227136" cy="227136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3767328" y="1426464"/>
              <a:ext cx="213969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Reading Level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236976" y="2139696"/>
              <a:ext cx="2670048" cy="45720"/>
            </a:xfrm>
            <a:prstGeom prst="roundRect">
              <a:avLst>
                <a:gd name="adj" fmla="val 50000"/>
              </a:avLst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Rounded Rectangle 37"/>
            <p:cNvSpPr/>
            <p:nvPr/>
          </p:nvSpPr>
          <p:spPr>
            <a:xfrm>
              <a:off x="3236976" y="2139696"/>
              <a:ext cx="161117" cy="45720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Oval 38"/>
            <p:cNvSpPr/>
            <p:nvPr/>
          </p:nvSpPr>
          <p:spPr>
            <a:xfrm>
              <a:off x="3305738" y="2071115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36976" y="2286000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Age Five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72000" y="2286000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Expert</a:t>
              </a:r>
            </a:p>
          </p:txBody>
        </p:sp>
      </p:grpSp>
      <p:grpSp>
        <p:nvGrpSpPr>
          <p:cNvPr id="6" name="Dial: Length"/>
          <p:cNvGrpSpPr/>
          <p:nvPr/>
        </p:nvGrpSpPr>
        <p:grpSpPr>
          <a:xfrm>
            <a:off x="6163056" y="1426464"/>
            <a:ext cx="2670048" cy="1097280"/>
            <a:chOff x="6163056" y="1426464"/>
            <a:chExt cx="2670048" cy="1097280"/>
          </a:xfrm>
        </p:grpSpPr>
        <p:sp>
          <p:nvSpPr>
            <p:cNvPr id="42" name="Oval 41"/>
            <p:cNvSpPr/>
            <p:nvPr/>
          </p:nvSpPr>
          <p:spPr>
            <a:xfrm>
              <a:off x="6163056" y="1426464"/>
              <a:ext cx="420624" cy="420624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-ruler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9799" y="1523207"/>
              <a:ext cx="227136" cy="22713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6693408" y="1426464"/>
              <a:ext cx="213969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Length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163056" y="2139696"/>
              <a:ext cx="2670048" cy="45720"/>
            </a:xfrm>
            <a:prstGeom prst="roundRect">
              <a:avLst>
                <a:gd name="adj" fmla="val 50000"/>
              </a:avLst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Rounded Rectangle 45"/>
            <p:cNvSpPr/>
            <p:nvPr/>
          </p:nvSpPr>
          <p:spPr>
            <a:xfrm>
              <a:off x="6163056" y="2139696"/>
              <a:ext cx="801928" cy="45720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Oval 46"/>
            <p:cNvSpPr/>
            <p:nvPr/>
          </p:nvSpPr>
          <p:spPr>
            <a:xfrm>
              <a:off x="6872630" y="2071115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63056" y="2286000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One Line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498079" y="2286000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Full Brief</a:t>
              </a:r>
            </a:p>
          </p:txBody>
        </p:sp>
      </p:grpSp>
      <p:grpSp>
        <p:nvGrpSpPr>
          <p:cNvPr id="7" name="Dial: Format"/>
          <p:cNvGrpSpPr/>
          <p:nvPr/>
        </p:nvGrpSpPr>
        <p:grpSpPr>
          <a:xfrm>
            <a:off x="310896" y="2761488"/>
            <a:ext cx="2670048" cy="1097280"/>
            <a:chOff x="310896" y="2761488"/>
            <a:chExt cx="2670048" cy="1097280"/>
          </a:xfrm>
        </p:grpSpPr>
        <p:sp>
          <p:nvSpPr>
            <p:cNvPr id="50" name="Oval 49"/>
            <p:cNvSpPr/>
            <p:nvPr/>
          </p:nvSpPr>
          <p:spPr>
            <a:xfrm>
              <a:off x="310896" y="2761488"/>
              <a:ext cx="420624" cy="420624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50" descr="i-layout-template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7639" y="2858231"/>
              <a:ext cx="227136" cy="227136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841247" y="2761488"/>
              <a:ext cx="213969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Format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10896" y="3474720"/>
              <a:ext cx="2670048" cy="45720"/>
            </a:xfrm>
            <a:prstGeom prst="roundRect">
              <a:avLst>
                <a:gd name="adj" fmla="val 50000"/>
              </a:avLst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4" name="Rounded Rectangle 53"/>
            <p:cNvSpPr/>
            <p:nvPr/>
          </p:nvSpPr>
          <p:spPr>
            <a:xfrm>
              <a:off x="310896" y="3474720"/>
              <a:ext cx="1869948" cy="45720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Oval 54"/>
            <p:cNvSpPr/>
            <p:nvPr/>
          </p:nvSpPr>
          <p:spPr>
            <a:xfrm>
              <a:off x="2088489" y="3406139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10896" y="3621024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Email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645920" y="3621024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Slides</a:t>
              </a:r>
            </a:p>
          </p:txBody>
        </p:sp>
      </p:grpSp>
      <p:grpSp>
        <p:nvGrpSpPr>
          <p:cNvPr id="8" name="Dial: Language"/>
          <p:cNvGrpSpPr/>
          <p:nvPr/>
        </p:nvGrpSpPr>
        <p:grpSpPr>
          <a:xfrm>
            <a:off x="3236976" y="2761488"/>
            <a:ext cx="2670048" cy="1097280"/>
            <a:chOff x="3236976" y="2761488"/>
            <a:chExt cx="2670048" cy="1097280"/>
          </a:xfrm>
        </p:grpSpPr>
        <p:sp>
          <p:nvSpPr>
            <p:cNvPr id="58" name="Oval 57"/>
            <p:cNvSpPr/>
            <p:nvPr/>
          </p:nvSpPr>
          <p:spPr>
            <a:xfrm>
              <a:off x="3236976" y="2761488"/>
              <a:ext cx="420624" cy="420624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9" name="Picture 58" descr="i-languages-p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33719" y="2858231"/>
              <a:ext cx="227136" cy="227136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3767328" y="2761488"/>
              <a:ext cx="213969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Language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3236976" y="3474720"/>
              <a:ext cx="2670048" cy="45720"/>
            </a:xfrm>
            <a:prstGeom prst="roundRect">
              <a:avLst>
                <a:gd name="adj" fmla="val 50000"/>
              </a:avLst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2" name="Rounded Rectangle 61"/>
            <p:cNvSpPr/>
            <p:nvPr/>
          </p:nvSpPr>
          <p:spPr>
            <a:xfrm>
              <a:off x="3236976" y="3474720"/>
              <a:ext cx="1335938" cy="45720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3" name="Oval 62"/>
            <p:cNvSpPr/>
            <p:nvPr/>
          </p:nvSpPr>
          <p:spPr>
            <a:xfrm>
              <a:off x="4480560" y="3406139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236976" y="3621024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English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72000" y="3621024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Any Language</a:t>
              </a:r>
            </a:p>
          </p:txBody>
        </p:sp>
      </p:grpSp>
      <p:grpSp>
        <p:nvGrpSpPr>
          <p:cNvPr id="9" name="Dial: Tone"/>
          <p:cNvGrpSpPr/>
          <p:nvPr/>
        </p:nvGrpSpPr>
        <p:grpSpPr>
          <a:xfrm>
            <a:off x="6163056" y="2761488"/>
            <a:ext cx="2670048" cy="1097280"/>
            <a:chOff x="6163056" y="2761488"/>
            <a:chExt cx="2670048" cy="1097280"/>
          </a:xfrm>
        </p:grpSpPr>
        <p:sp>
          <p:nvSpPr>
            <p:cNvPr id="66" name="Oval 65"/>
            <p:cNvSpPr/>
            <p:nvPr/>
          </p:nvSpPr>
          <p:spPr>
            <a:xfrm>
              <a:off x="6163056" y="2761488"/>
              <a:ext cx="420624" cy="420624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7" name="Picture 66" descr="i-message-circle-pin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59799" y="2858231"/>
              <a:ext cx="227136" cy="227136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6693408" y="2761488"/>
              <a:ext cx="2139696" cy="42062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Tone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6163056" y="3474720"/>
              <a:ext cx="2670048" cy="45720"/>
            </a:xfrm>
            <a:prstGeom prst="roundRect">
              <a:avLst>
                <a:gd name="adj" fmla="val 50000"/>
              </a:avLst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0" name="Rounded Rectangle 69"/>
            <p:cNvSpPr/>
            <p:nvPr/>
          </p:nvSpPr>
          <p:spPr>
            <a:xfrm>
              <a:off x="6163056" y="3474720"/>
              <a:ext cx="1068933" cy="45720"/>
            </a:xfrm>
            <a:prstGeom prst="roundRect">
              <a:avLst>
                <a:gd name="adj" fmla="val 50000"/>
              </a:avLst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Oval 70"/>
            <p:cNvSpPr/>
            <p:nvPr/>
          </p:nvSpPr>
          <p:spPr>
            <a:xfrm>
              <a:off x="7139635" y="3406139"/>
              <a:ext cx="182880" cy="1828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163056" y="3621024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Friendly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498079" y="3621024"/>
              <a:ext cx="1335024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/>
              <a:r>
                <a:rPr sz="1200" b="0">
                  <a:solidFill>
                    <a:srgbClr val="6B6B6B"/>
                  </a:solidFill>
                  <a:latin typeface="Source Code Pro"/>
                </a:rPr>
                <a:t>Formal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310896" y="4187952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"Explain it like I'm five" is one setting: reading level turned all the way 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Facts Survive, the Shape Changes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480560" cy="2990088"/>
          </a:xfrm>
          <a:prstGeom prst="roundRect">
            <a:avLst>
              <a:gd name="adj" fmla="val 174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10896" y="1426464"/>
            <a:ext cx="448056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10896" y="1619585"/>
            <a:ext cx="448056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508760"/>
            <a:ext cx="3136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057400"/>
            <a:ext cx="41879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Turn these notes into a short email for the team.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67712"/>
            <a:ext cx="41879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- q3 launch slips 2 wks (vendor)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78024"/>
            <a:ext cx="41879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- Priya owns QA plan, due Fri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688336"/>
            <a:ext cx="418795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- budget ok, +£4k contingency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2953512"/>
            <a:ext cx="4261104" cy="1280160"/>
          </a:xfrm>
          <a:prstGeom prst="roundRect">
            <a:avLst>
              <a:gd name="adj" fmla="val 357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07238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273552"/>
            <a:ext cx="39684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Subject: Q3 launch moves back two weeks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207" y="3474720"/>
            <a:ext cx="350901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6928" y="3483864"/>
            <a:ext cx="39684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 vendor delay pushes the launch by two weeks.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7" y="3685032"/>
            <a:ext cx="291465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6928" y="3694176"/>
            <a:ext cx="39684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Budget holds, with £4k in contingency.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7" y="3895344"/>
            <a:ext cx="298894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66928" y="3904488"/>
            <a:ext cx="39684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Priya will share the QA plan by Friday.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1426464"/>
            <a:ext cx="36941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Facts That Must Survive</a:t>
            </a:r>
          </a:p>
        </p:txBody>
      </p:sp>
      <p:grpSp>
        <p:nvGrpSpPr>
          <p:cNvPr id="4" name="The date"/>
          <p:cNvGrpSpPr/>
          <p:nvPr/>
        </p:nvGrpSpPr>
        <p:grpSpPr>
          <a:xfrm>
            <a:off x="5138928" y="1847088"/>
            <a:ext cx="3639312" cy="457200"/>
            <a:chOff x="5138928" y="1847088"/>
            <a:chExt cx="3639312" cy="457200"/>
          </a:xfrm>
        </p:grpSpPr>
        <p:sp>
          <p:nvSpPr>
            <p:cNvPr id="46" name="Oval 45"/>
            <p:cNvSpPr/>
            <p:nvPr/>
          </p:nvSpPr>
          <p:spPr>
            <a:xfrm>
              <a:off x="5138928" y="1865376"/>
              <a:ext cx="402336" cy="402336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7" name="Picture 46" descr="i-circle-check-whit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1465" y="1957913"/>
              <a:ext cx="217261" cy="217261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669280" y="1847088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The Date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69280" y="2066544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Two weeks later</a:t>
              </a:r>
            </a:p>
          </p:txBody>
        </p:sp>
      </p:grpSp>
      <p:grpSp>
        <p:nvGrpSpPr>
          <p:cNvPr id="5" name="The owner"/>
          <p:cNvGrpSpPr/>
          <p:nvPr/>
        </p:nvGrpSpPr>
        <p:grpSpPr>
          <a:xfrm>
            <a:off x="5138928" y="2450592"/>
            <a:ext cx="3639312" cy="457200"/>
            <a:chOff x="5138928" y="2450592"/>
            <a:chExt cx="3639312" cy="457200"/>
          </a:xfrm>
        </p:grpSpPr>
        <p:sp>
          <p:nvSpPr>
            <p:cNvPr id="50" name="Oval 49"/>
            <p:cNvSpPr/>
            <p:nvPr/>
          </p:nvSpPr>
          <p:spPr>
            <a:xfrm>
              <a:off x="5138928" y="2468880"/>
              <a:ext cx="402336" cy="402336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50" descr="i-circle-check-whit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1465" y="2561417"/>
              <a:ext cx="217261" cy="217261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5669280" y="2450592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The Owner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669280" y="2670048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Priya, by Friday</a:t>
              </a:r>
            </a:p>
          </p:txBody>
        </p:sp>
      </p:grpSp>
      <p:grpSp>
        <p:nvGrpSpPr>
          <p:cNvPr id="6" name="The figure"/>
          <p:cNvGrpSpPr/>
          <p:nvPr/>
        </p:nvGrpSpPr>
        <p:grpSpPr>
          <a:xfrm>
            <a:off x="5138928" y="3054096"/>
            <a:ext cx="3639312" cy="457200"/>
            <a:chOff x="5138928" y="3054096"/>
            <a:chExt cx="3639312" cy="457200"/>
          </a:xfrm>
        </p:grpSpPr>
        <p:sp>
          <p:nvSpPr>
            <p:cNvPr id="54" name="Oval 53"/>
            <p:cNvSpPr/>
            <p:nvPr/>
          </p:nvSpPr>
          <p:spPr>
            <a:xfrm>
              <a:off x="5138928" y="3072384"/>
              <a:ext cx="402336" cy="402336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5" name="Picture 54" descr="i-circle-check-whit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31465" y="3164921"/>
              <a:ext cx="217261" cy="217261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5669280" y="3054096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The Figure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669280" y="3273552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£4k contingency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138928" y="373075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Check each one made it across.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Prompt Pattern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444752"/>
            <a:ext cx="8522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24242"/>
                </a:solidFill>
                <a:latin typeface="Source Code Pro"/>
              </a:rPr>
              <a:t>Transform the content below.</a:t>
            </a:r>
          </a:p>
        </p:txBody>
      </p:sp>
      <p:grpSp>
        <p:nvGrpSpPr>
          <p:cNvPr id="4" name="Audience"/>
          <p:cNvGrpSpPr/>
          <p:nvPr/>
        </p:nvGrpSpPr>
        <p:grpSpPr>
          <a:xfrm>
            <a:off x="402336" y="1810512"/>
            <a:ext cx="8375904" cy="347472"/>
            <a:chOff x="402336" y="1810512"/>
            <a:chExt cx="8375904" cy="347472"/>
          </a:xfrm>
        </p:grpSpPr>
        <p:sp>
          <p:nvSpPr>
            <p:cNvPr id="27" name="Oval 26"/>
            <p:cNvSpPr/>
            <p:nvPr/>
          </p:nvSpPr>
          <p:spPr>
            <a:xfrm>
              <a:off x="402336" y="1837943"/>
              <a:ext cx="310896" cy="3108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-users-p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842" y="1909450"/>
              <a:ext cx="167883" cy="16788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841248" y="1810512"/>
              <a:ext cx="21031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Audience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7520" y="1810512"/>
              <a:ext cx="57607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{who will read it}</a:t>
              </a:r>
            </a:p>
          </p:txBody>
        </p:sp>
      </p:grpSp>
      <p:grpSp>
        <p:nvGrpSpPr>
          <p:cNvPr id="5" name="Purpose"/>
          <p:cNvGrpSpPr/>
          <p:nvPr/>
        </p:nvGrpSpPr>
        <p:grpSpPr>
          <a:xfrm>
            <a:off x="402336" y="2212848"/>
            <a:ext cx="8375904" cy="347472"/>
            <a:chOff x="402336" y="2212848"/>
            <a:chExt cx="8375904" cy="347472"/>
          </a:xfrm>
        </p:grpSpPr>
        <p:sp>
          <p:nvSpPr>
            <p:cNvPr id="31" name="Oval 30"/>
            <p:cNvSpPr/>
            <p:nvPr/>
          </p:nvSpPr>
          <p:spPr>
            <a:xfrm>
              <a:off x="402336" y="2240279"/>
              <a:ext cx="310896" cy="3108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-target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842" y="2311786"/>
              <a:ext cx="167883" cy="167883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41248" y="2212848"/>
              <a:ext cx="21031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Purpose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17520" y="2212848"/>
              <a:ext cx="57607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{what they should do or decide}</a:t>
              </a:r>
            </a:p>
          </p:txBody>
        </p:sp>
      </p:grpSp>
      <p:grpSp>
        <p:nvGrpSpPr>
          <p:cNvPr id="6" name="Format"/>
          <p:cNvGrpSpPr/>
          <p:nvPr/>
        </p:nvGrpSpPr>
        <p:grpSpPr>
          <a:xfrm>
            <a:off x="402336" y="2615184"/>
            <a:ext cx="8375904" cy="347472"/>
            <a:chOff x="402336" y="2615184"/>
            <a:chExt cx="8375904" cy="347472"/>
          </a:xfrm>
        </p:grpSpPr>
        <p:sp>
          <p:nvSpPr>
            <p:cNvPr id="35" name="Oval 34"/>
            <p:cNvSpPr/>
            <p:nvPr/>
          </p:nvSpPr>
          <p:spPr>
            <a:xfrm>
              <a:off x="402336" y="2642615"/>
              <a:ext cx="310896" cy="3108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Picture 35" descr="i-layout-template-p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842" y="2714122"/>
              <a:ext cx="167883" cy="167883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841248" y="2615184"/>
              <a:ext cx="21031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Format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017520" y="2615184"/>
              <a:ext cx="57607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{email, slide outline, FAQ}</a:t>
              </a:r>
            </a:p>
          </p:txBody>
        </p:sp>
      </p:grpSp>
      <p:grpSp>
        <p:nvGrpSpPr>
          <p:cNvPr id="7" name="Length and tone"/>
          <p:cNvGrpSpPr/>
          <p:nvPr/>
        </p:nvGrpSpPr>
        <p:grpSpPr>
          <a:xfrm>
            <a:off x="402336" y="3017520"/>
            <a:ext cx="8375904" cy="347472"/>
            <a:chOff x="402336" y="3017520"/>
            <a:chExt cx="8375904" cy="347472"/>
          </a:xfrm>
        </p:grpSpPr>
        <p:sp>
          <p:nvSpPr>
            <p:cNvPr id="39" name="Oval 38"/>
            <p:cNvSpPr/>
            <p:nvPr/>
          </p:nvSpPr>
          <p:spPr>
            <a:xfrm>
              <a:off x="402336" y="3044951"/>
              <a:ext cx="310896" cy="3108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39" descr="i-ruler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3842" y="3116458"/>
              <a:ext cx="167883" cy="167883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841248" y="3017520"/>
              <a:ext cx="21031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Length and Tone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17520" y="3017520"/>
              <a:ext cx="57607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{under 150 words, plain}</a:t>
              </a:r>
            </a:p>
          </p:txBody>
        </p:sp>
      </p:grpSp>
      <p:grpSp>
        <p:nvGrpSpPr>
          <p:cNvPr id="8" name="Keep exactly"/>
          <p:cNvGrpSpPr/>
          <p:nvPr/>
        </p:nvGrpSpPr>
        <p:grpSpPr>
          <a:xfrm>
            <a:off x="310896" y="3401568"/>
            <a:ext cx="8522208" cy="384048"/>
            <a:chOff x="310896" y="3401568"/>
            <a:chExt cx="8522208" cy="384048"/>
          </a:xfrm>
        </p:grpSpPr>
        <p:sp>
          <p:nvSpPr>
            <p:cNvPr id="43" name="Rounded Rectangle 42"/>
            <p:cNvSpPr/>
            <p:nvPr/>
          </p:nvSpPr>
          <p:spPr>
            <a:xfrm>
              <a:off x="310896" y="3401568"/>
              <a:ext cx="8522208" cy="384048"/>
            </a:xfrm>
            <a:prstGeom prst="roundRect">
              <a:avLst>
                <a:gd name="adj" fmla="val 19047"/>
              </a:avLst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Oval 43"/>
            <p:cNvSpPr/>
            <p:nvPr/>
          </p:nvSpPr>
          <p:spPr>
            <a:xfrm>
              <a:off x="402336" y="3447288"/>
              <a:ext cx="310896" cy="310896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5" name="Picture 44" descr="i-lock-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3842" y="3518794"/>
              <a:ext cx="167883" cy="167883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841248" y="3419856"/>
              <a:ext cx="21031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Keep Exactly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017520" y="3419856"/>
              <a:ext cx="57607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{numbers, names, dates, decisions}</a:t>
              </a:r>
            </a:p>
          </p:txBody>
        </p:sp>
      </p:grpSp>
      <p:grpSp>
        <p:nvGrpSpPr>
          <p:cNvPr id="9" name="Content"/>
          <p:cNvGrpSpPr/>
          <p:nvPr/>
        </p:nvGrpSpPr>
        <p:grpSpPr>
          <a:xfrm>
            <a:off x="402336" y="3822191"/>
            <a:ext cx="8375904" cy="347472"/>
            <a:chOff x="402336" y="3822191"/>
            <a:chExt cx="8375904" cy="347472"/>
          </a:xfrm>
        </p:grpSpPr>
        <p:sp>
          <p:nvSpPr>
            <p:cNvPr id="48" name="Oval 47"/>
            <p:cNvSpPr/>
            <p:nvPr/>
          </p:nvSpPr>
          <p:spPr>
            <a:xfrm>
              <a:off x="402336" y="3849624"/>
              <a:ext cx="310896" cy="310896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48" descr="i-notebook-pen-pink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3842" y="3921130"/>
              <a:ext cx="167883" cy="167883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41248" y="3822191"/>
              <a:ext cx="21031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Content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17520" y="3822191"/>
              <a:ext cx="576072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"""{paste the source here}"""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10896" y="431596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Simpler can mean wrong. Ask it to list anything it left out or rounded 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one set of meeting notes becomes two outputs in ChatGPT.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Paste Notes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Messy Meeting Write-Up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Email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511296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Audience, Purpose, Length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Board Version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511296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Same Notes, Slide Outline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Check Facts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511296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Numbers, Names, 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