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c5906e769b4624" /><Relationship Type="http://schemas.openxmlformats.org/officeDocument/2006/relationships/extended-properties" Target="/docProps/app.xml" Id="Rbabad19f4a4c4f3b" /><Relationship Type="http://schemas.openxmlformats.org/officeDocument/2006/relationships/officeDocument" Target="/ppt/presentation.xml" Id="Rd4bec7be8d45487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d5c26e7ebc844b7c"/>
  </p:sldMasterIdLst>
  <p:notesMasterIdLst>
    <p:notesMasterId xmlns:r="http://schemas.openxmlformats.org/officeDocument/2006/relationships" r:id="Re2ffb76ae540477b"/>
  </p:notesMasterIdLst>
  <p:sldIdLst>
    <p:sldId xmlns:r="http://schemas.openxmlformats.org/officeDocument/2006/relationships" id="256" r:id="Readf7b14dd1f4376"/>
    <p:sldId xmlns:r="http://schemas.openxmlformats.org/officeDocument/2006/relationships" id="257" r:id="Rf96d208c1b5c4000"/>
    <p:sldId xmlns:r="http://schemas.openxmlformats.org/officeDocument/2006/relationships" id="258" r:id="R0aac42b19a944366"/>
    <p:sldId xmlns:r="http://schemas.openxmlformats.org/officeDocument/2006/relationships" id="259" r:id="Rad358d63e1964c26"/>
    <p:sldId xmlns:r="http://schemas.openxmlformats.org/officeDocument/2006/relationships" id="260" r:id="Rdc67b5c40c4c4f33"/>
    <p:sldId xmlns:r="http://schemas.openxmlformats.org/officeDocument/2006/relationships" id="261" r:id="Re0e2c58c1bb8467d"/>
    <p:sldId xmlns:r="http://schemas.openxmlformats.org/officeDocument/2006/relationships" id="262" r:id="Rbc6c2bc5719d496b"/>
  </p:sldIdLst>
  <p:sldSz cx="9144000" cy="5143500"/>
  <p:notesSz cx="6858000" cy="9144000"/>
  <p:embeddedFontLst>
    <p:embeddedFont>
      <p:font typeface="Source Code Pro"/>
      <p:regular xmlns:r="http://schemas.openxmlformats.org/officeDocument/2006/relationships" r:id="R4d2abf7247b242df"/>
      <p:bold xmlns:r="http://schemas.openxmlformats.org/officeDocument/2006/relationships" r:id="R58fd2ceb6c454df6"/>
      <p:italic xmlns:r="http://schemas.openxmlformats.org/officeDocument/2006/relationships" r:id="Rc4cba9bb346844cd"/>
      <p:boldItalic xmlns:r="http://schemas.openxmlformats.org/officeDocument/2006/relationships" r:id="Ra9025d1658974b30"/>
    </p:embeddedFont>
    <p:embeddedFont>
      <p:font typeface="Oswald"/>
      <p:regular xmlns:r="http://schemas.openxmlformats.org/officeDocument/2006/relationships" r:id="Rff03079698054522"/>
      <p:bold xmlns:r="http://schemas.openxmlformats.org/officeDocument/2006/relationships" r:id="R7942e30966a34398"/>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1f0212fefa64c60" /><Relationship Type="http://schemas.openxmlformats.org/officeDocument/2006/relationships/slideMaster" Target="/ppt/slideMasters/slideMaster1.xml" Id="Rd5c26e7ebc844b7c" /><Relationship Type="http://schemas.openxmlformats.org/officeDocument/2006/relationships/notesMaster" Target="/ppt/notesMasters/notesMaster1.xml" Id="Re2ffb76ae540477b" /><Relationship Type="http://schemas.openxmlformats.org/officeDocument/2006/relationships/presProps" Target="/ppt/presProps.xml" Id="R29d8eaaf2a8447f2" /><Relationship Type="http://schemas.openxmlformats.org/officeDocument/2006/relationships/viewProps" Target="/ppt/viewProps.xml" Id="Rf43b8e111f724cf7" /><Relationship Type="http://schemas.openxmlformats.org/officeDocument/2006/relationships/tableStyles" Target="/ppt/tableStyles.xml" Id="R5a8a6cb5c9484ea0" /><Relationship Type="http://schemas.openxmlformats.org/officeDocument/2006/relationships/font" Target="/ppt/fonts/font.dat" Id="R4d2abf7247b242df" /><Relationship Type="http://schemas.openxmlformats.org/officeDocument/2006/relationships/font" Target="/ppt/fonts/font2.dat" Id="R58fd2ceb6c454df6" /><Relationship Type="http://schemas.openxmlformats.org/officeDocument/2006/relationships/font" Target="/ppt/fonts/font3.dat" Id="Rc4cba9bb346844cd" /><Relationship Type="http://schemas.openxmlformats.org/officeDocument/2006/relationships/font" Target="/ppt/fonts/font4.dat" Id="Ra9025d1658974b30" /><Relationship Type="http://schemas.openxmlformats.org/officeDocument/2006/relationships/font" Target="/ppt/fonts/font5.dat" Id="Rff03079698054522" /><Relationship Type="http://schemas.openxmlformats.org/officeDocument/2006/relationships/font" Target="/ppt/fonts/font6.dat" Id="R7942e30966a34398" /><Relationship Type="http://schemas.openxmlformats.org/officeDocument/2006/relationships/slide" Target="/ppt/slides/slide1.xml" Id="Readf7b14dd1f4376" /><Relationship Type="http://schemas.openxmlformats.org/officeDocument/2006/relationships/slide" Target="/ppt/slides/slide2.xml" Id="Rf96d208c1b5c4000" /><Relationship Type="http://schemas.openxmlformats.org/officeDocument/2006/relationships/slide" Target="/ppt/slides/slide3.xml" Id="R0aac42b19a944366" /><Relationship Type="http://schemas.openxmlformats.org/officeDocument/2006/relationships/slide" Target="/ppt/slides/slide4.xml" Id="Rad358d63e1964c26" /><Relationship Type="http://schemas.openxmlformats.org/officeDocument/2006/relationships/slide" Target="/ppt/slides/slide5.xml" Id="Rdc67b5c40c4c4f33" /><Relationship Type="http://schemas.openxmlformats.org/officeDocument/2006/relationships/slide" Target="/ppt/slides/slide6.xml" Id="Re0e2c58c1bb8467d" /><Relationship Type="http://schemas.openxmlformats.org/officeDocument/2006/relationships/slide" Target="/ppt/slides/slide7.xml" Id="Rbc6c2bc5719d49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19875c8ec74d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bc42c35e664662" /><Relationship Type="http://schemas.openxmlformats.org/officeDocument/2006/relationships/notesMaster" Target="/ppt/notesMasters/notesMaster1.xml" Id="Rfe117469b61845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5c4e7aa255452e" /><Relationship Type="http://schemas.openxmlformats.org/officeDocument/2006/relationships/notesMaster" Target="/ppt/notesMasters/notesMaster1.xml" Id="Rca9dd50f57e94a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4acc3f93674ea0" /><Relationship Type="http://schemas.openxmlformats.org/officeDocument/2006/relationships/notesMaster" Target="/ppt/notesMasters/notesMaster1.xml" Id="R9dd61cfe825343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27cbd07d5c4da6" /><Relationship Type="http://schemas.openxmlformats.org/officeDocument/2006/relationships/notesMaster" Target="/ppt/notesMasters/notesMaster1.xml" Id="R7a6aa39261a848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a287596c6a4e75" /><Relationship Type="http://schemas.openxmlformats.org/officeDocument/2006/relationships/notesMaster" Target="/ppt/notesMasters/notesMaster1.xml" Id="R693c81d2c3604c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93a38e10f44a71" /><Relationship Type="http://schemas.openxmlformats.org/officeDocument/2006/relationships/notesMaster" Target="/ppt/notesMasters/notesMaster1.xml" Id="Rc37e2c87db3a448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8549dc51ff42d3" /><Relationship Type="http://schemas.openxmlformats.org/officeDocument/2006/relationships/notesMaster" Target="/ppt/notesMasters/notesMaster1.xml" Id="Rc769e0b131384f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have learned how to work directly with a provider. Now we will add a gateway between our application and different model providers. We will use OpenRouter, explain where frameworks fit, and show how usage data can support a customer credit system. The companion Python notebook lets you compare models using the same code.</a:t>
            </a:r>
          </a:p>
          <a:p xmlns:a="http://schemas.openxmlformats.org/drawingml/2006/main">
            <a:r>
              <a:t/>
            </a:r>
          </a:p>
          <a:p xmlns:a="http://schemas.openxmlformats.org/drawingml/2006/main">
            <a:r>
              <a:t>Sources: https://openrouter.ai/docs/quickstart</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Think of the gateway as a shared entry point. Your application sends a request. The gateway selects an eligible provider, forwards the request and returns the result. It can also record usage and cost. A model is the AI system you select; a provider is the host serving it. One model may be available from several hosts. Centralising this access can reduce the amount of provider-specific code and account management in your application.</a:t>
            </a:r>
          </a:p>
          <a:p xmlns:a="http://schemas.openxmlformats.org/drawingml/2006/main">
            <a:r>
              <a:t/>
            </a:r>
          </a:p>
          <a:p xmlns:a="http://schemas.openxmlformats.org/drawingml/2006/main">
            <a:r>
              <a:t>Sources: https://openrouter.ai/docs/quickstart</a:t>
            </a:r>
          </a:p>
          <a:p xmlns:a="http://schemas.openxmlformats.org/drawingml/2006/main">
            <a:r>
              <a:t>https://openrouter.ai/docs/guides/routing/provider-selection</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OpenRouter gives us a unified way to access models from different labs and hosting providers. We can send the same prompt to an OpenAI model and an open-weight model, then compare the responses. Open-weight models in this example run on cloud providers rather than your laptop. Switching a model ID is straightforward, but feature support, quality and pricing can differ. Our notebook fetches the live catalogue and checks capabilities before requesting tools or structured output.</a:t>
            </a:r>
          </a:p>
          <a:p xmlns:a="http://schemas.openxmlformats.org/drawingml/2006/main">
            <a:r>
              <a:t/>
            </a:r>
          </a:p>
          <a:p xmlns:a="http://schemas.openxmlformats.org/drawingml/2006/main">
            <a:r>
              <a:t>Sources: https://openrouter.ai/docs/quickstart</a:t>
            </a:r>
          </a:p>
          <a:p xmlns:a="http://schemas.openxmlformats.org/drawingml/2006/main">
            <a:r>
              <a:t>https://openrouter.ai/models</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products sit at different layers. OpenRouter is a hosted gateway service. LangChain provides application abstractions for models, tools and retrieval, with LangGraph supporting stateful workflows. The Vercel AI SDK is a TypeScript toolkit for building AI features and interfaces. Vercel also offers AI Gateway, which is a separate hosted service. You can use a framework above OpenRouter, or call OpenRouter directly with the Python SDK as we do in this notebook.</a:t>
            </a:r>
          </a:p>
          <a:p xmlns:a="http://schemas.openxmlformats.org/drawingml/2006/main">
            <a:r>
              <a:t/>
            </a:r>
          </a:p>
          <a:p xmlns:a="http://schemas.openxmlformats.org/drawingml/2006/main">
            <a:r>
              <a:t>Sources: https://openrouter.ai/docs/guides/community/langchain</a:t>
            </a:r>
          </a:p>
          <a:p xmlns:a="http://schemas.openxmlformats.org/drawingml/2006/main">
            <a:r>
              <a:t>https://openrouter.ai/docs/guides/community/vercel-ai-sdk</a:t>
            </a:r>
          </a:p>
          <a:p xmlns:a="http://schemas.openxmlformats.org/drawingml/2006/main">
            <a:r>
              <a:t>https://ai-sdk.dev/docs/introduction</a:t>
            </a:r>
          </a:p>
          <a:p xmlns:a="http://schemas.openxmlformats.org/drawingml/2006/main">
            <a:r>
              <a:t>https://vercel.com/docs/ai-gateway</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Provider fallback tries another host for the same model. Model fallback tries another model and may change the answer. We can prioritise price or latency and filter for required parameters or data policies. In the notebook we configure price sorting and require parameter support. The successful response alone does not prove a fallback happened. Check the resolved model and generation metadata. Stricter requirements may leave fewer eligible endpoints, so test both normal operation and failure behaviour.</a:t>
            </a:r>
          </a:p>
          <a:p xmlns:a="http://schemas.openxmlformats.org/drawingml/2006/main">
            <a:r>
              <a:t/>
            </a:r>
          </a:p>
          <a:p xmlns:a="http://schemas.openxmlformats.org/drawingml/2006/main">
            <a:r>
              <a:t>Sources: https://openrouter.ai/docs/guides/routing/provider-selection</a:t>
            </a:r>
          </a:p>
          <a:p xmlns:a="http://schemas.openxmlformats.org/drawingml/2006/main">
            <a:r>
              <a:t>https://openrouter.ai/docs/guides/routing/model-fallbacks</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OpenRouter provides usage and cost information, but your application owns the customer credit system. Store each generation ID and reconcile its total cost. Count every agent turn, including calls whose response is only a tool request. Then apply a documented conversion and rounding policy. Our Python example uses Decimal and charges each ID once. Pending cost stays pending. In production, use atomic database transactions, reserve budget before execution and reconcile retries, failures, extra tools and BYOK provider costs.</a:t>
            </a:r>
          </a:p>
          <a:p xmlns:a="http://schemas.openxmlformats.org/drawingml/2006/main">
            <a:r>
              <a:t/>
            </a:r>
          </a:p>
          <a:p xmlns:a="http://schemas.openxmlformats.org/drawingml/2006/main">
            <a:r>
              <a:t>Sources: https://openrouter.ai/docs/api/api-reference/generations/get-request-&amp;-usage-metadata-for-a-generation</a:t>
            </a:r>
          </a:p>
          <a:p xmlns:a="http://schemas.openxmlformats.org/drawingml/2006/main">
            <a:r>
              <a:t>https://openrouter.ai/docs/api_reference/limits</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companion Python notebook. Run setup, inspect the model catalogue and compare the two models using the same prompt. Then show the routing example and the settled generation metadata. We also have optional examples for streaming, structured JSON, reasoning, async requests, embeddings, hosted web tools, multimodal inputs, media generation, Responses and batches. Choose a model using the quality and cost of your own task. The next lesson adds a small agent with two Python tools.</a:t>
            </a:r>
          </a:p>
          <a:p xmlns:a="http://schemas.openxmlformats.org/drawingml/2006/main">
            <a:r>
              <a:t/>
            </a:r>
          </a:p>
          <a:p xmlns:a="http://schemas.openxmlformats.org/drawingml/2006/main">
            <a:r>
              <a:t>Sources: https://colab.research.google.com/github/BrightPool/udemy-prompt-engineering-course/blob/main/model_gateways/openrouter_features_and_agent.ipynb</a:t>
            </a:r>
          </a:p>
          <a:p xmlns:a="http://schemas.openxmlformats.org/drawingml/2006/main">
            <a:r>
              <a:t>https://openrouter.ai/models</a:t>
            </a:r>
          </a:p>
          <a:p xmlns:a="http://schemas.openxmlformats.org/drawingml/2006/main">
            <a:r>
              <a:t>Companion: model_gateways/openrouter_features_and_agent.ipynb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efa0d4b69f4a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00874bcb92f42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a7015ecacf545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c8e560bf91c44c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ec3aa86d3f4f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3bd6ff3d69a4ae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c5976a4ecf7475c"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82c498cdc67492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9cd001731564d3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b12e76867984cd7"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e3ade929f7f4835"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A15C65A5-BA3E-4C19-A24D-AB3E7A532164}"/>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2">
            <a:extLst xmlns:a="http://schemas.openxmlformats.org/drawingml/2006/main">
              <a:ext uri="{FF2B5EF4-FFF2-40B4-BE49-F238E27FC236}">
                <a16:creationId xmlns:a16="http://schemas.microsoft.com/office/drawing/2014/main" id="{162B3FEA-4A4D-4D17-83A0-396BF2B1BD61}"/>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2">
            <a:extLst xmlns:a="http://schemas.openxmlformats.org/drawingml/2006/main">
              <a:ext uri="{FF2B5EF4-FFF2-40B4-BE49-F238E27FC236}">
                <a16:creationId xmlns:a16="http://schemas.microsoft.com/office/drawing/2014/main" id="{234833DA-804B-409E-8D51-C0D186420F8F}"/>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2">
            <a:extLst xmlns:a="http://schemas.openxmlformats.org/drawingml/2006/main">
              <a:ext uri="{FF2B5EF4-FFF2-40B4-BE49-F238E27FC236}">
                <a16:creationId xmlns:a16="http://schemas.microsoft.com/office/drawing/2014/main" id="{2867F6C9-9A7E-428B-BA66-EC013935E421}"/>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2">
            <a:extLst xmlns:a="http://schemas.openxmlformats.org/drawingml/2006/main">
              <a:ext uri="{FF2B5EF4-FFF2-40B4-BE49-F238E27FC236}">
                <a16:creationId xmlns:a16="http://schemas.microsoft.com/office/drawing/2014/main" id="{25EF01C0-89D0-47BF-9204-50B0CC57610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2">
            <a:extLst xmlns:a="http://schemas.openxmlformats.org/drawingml/2006/main">
              <a:ext uri="{FF2B5EF4-FFF2-40B4-BE49-F238E27FC236}">
                <a16:creationId xmlns:a16="http://schemas.microsoft.com/office/drawing/2014/main" id="{34E2A308-C6EE-49E1-AB5C-F25412E21F4B}"/>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2" name="Google Shape;17;p3"/>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3">
            <a:extLst xmlns:a="http://schemas.openxmlformats.org/drawingml/2006/main">
              <a:ext uri="{FF2B5EF4-FFF2-40B4-BE49-F238E27FC236}">
                <a16:creationId xmlns:a16="http://schemas.microsoft.com/office/drawing/2014/main" id="{87F5BB49-83F9-40BF-8CBD-BB5C118AA62B}"/>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3">
            <a:extLst xmlns:a="http://schemas.openxmlformats.org/drawingml/2006/main">
              <a:ext uri="{FF2B5EF4-FFF2-40B4-BE49-F238E27FC236}">
                <a16:creationId xmlns:a16="http://schemas.microsoft.com/office/drawing/2014/main" id="{E0FBCDC4-D440-4354-92B3-0AFCA2582357}"/>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3">
            <a:extLst xmlns:a="http://schemas.openxmlformats.org/drawingml/2006/main">
              <a:ext uri="{FF2B5EF4-FFF2-40B4-BE49-F238E27FC236}">
                <a16:creationId xmlns:a16="http://schemas.microsoft.com/office/drawing/2014/main" id="{D064FA41-A104-4071-ACC3-7295F3847D0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3">
            <a:extLst xmlns:a="http://schemas.openxmlformats.org/drawingml/2006/main">
              <a:ext uri="{FF2B5EF4-FFF2-40B4-BE49-F238E27FC236}">
                <a16:creationId xmlns:a16="http://schemas.microsoft.com/office/drawing/2014/main" id="{29193AED-2D89-4DB1-98AC-ADB7A91F006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23" name="Google Shape;23;p4">
            <a:extLst xmlns:a="http://schemas.openxmlformats.org/drawingml/2006/main">
              <a:ext uri="{FF2B5EF4-FFF2-40B4-BE49-F238E27FC236}">
                <a16:creationId xmlns:a16="http://schemas.microsoft.com/office/drawing/2014/main" id="{FC7A2C27-6D1D-489C-A591-E9B495DF3AC0}"/>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24" name="Google Shape;24;p4">
            <a:extLst xmlns:a="http://schemas.openxmlformats.org/drawingml/2006/main">
              <a:ext uri="{FF2B5EF4-FFF2-40B4-BE49-F238E27FC236}">
                <a16:creationId xmlns:a16="http://schemas.microsoft.com/office/drawing/2014/main" id="{FEACC9D7-2F32-44A2-983E-A933466D1D93}"/>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25" name="Google Shape;25;p4">
            <a:extLst xmlns:a="http://schemas.openxmlformats.org/drawingml/2006/main">
              <a:ext uri="{FF2B5EF4-FFF2-40B4-BE49-F238E27FC236}">
                <a16:creationId xmlns:a16="http://schemas.microsoft.com/office/drawing/2014/main" id="{E2255720-CA3E-4F6A-8F60-3F0C076CA84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6" name="Google Shape;26;p4">
            <a:extLst xmlns:a="http://schemas.openxmlformats.org/drawingml/2006/main">
              <a:ext uri="{FF2B5EF4-FFF2-40B4-BE49-F238E27FC236}">
                <a16:creationId xmlns:a16="http://schemas.microsoft.com/office/drawing/2014/main" id="{DE39FBD4-C470-4E3E-ABDC-2BF5A09BF19E}"/>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34" name="Google Shape;28;p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9" name="Google Shape;29;p5">
            <a:extLst xmlns:a="http://schemas.openxmlformats.org/drawingml/2006/main">
              <a:ext uri="{FF2B5EF4-FFF2-40B4-BE49-F238E27FC236}">
                <a16:creationId xmlns:a16="http://schemas.microsoft.com/office/drawing/2014/main" id="{132130CE-2097-4985-9D04-CE9FE2EB56C2}"/>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0" name="Google Shape;30;p5">
            <a:extLst xmlns:a="http://schemas.openxmlformats.org/drawingml/2006/main">
              <a:ext uri="{FF2B5EF4-FFF2-40B4-BE49-F238E27FC236}">
                <a16:creationId xmlns:a16="http://schemas.microsoft.com/office/drawing/2014/main" id="{70BF43CA-9E2C-4737-A329-542ACC33D103}"/>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1" name="Google Shape;31;p5">
            <a:extLst xmlns:a="http://schemas.openxmlformats.org/drawingml/2006/main">
              <a:ext uri="{FF2B5EF4-FFF2-40B4-BE49-F238E27FC236}">
                <a16:creationId xmlns:a16="http://schemas.microsoft.com/office/drawing/2014/main" id="{EA7441F0-B26C-4851-B0E3-DD34C864DE14}"/>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32" name="Google Shape;32;p5">
            <a:extLst xmlns:a="http://schemas.openxmlformats.org/drawingml/2006/main">
              <a:ext uri="{FF2B5EF4-FFF2-40B4-BE49-F238E27FC236}">
                <a16:creationId xmlns:a16="http://schemas.microsoft.com/office/drawing/2014/main" id="{E1B664A4-9F83-41F1-8FEE-6E2F4704C19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3" name="Google Shape;33;p5">
            <a:extLst xmlns:a="http://schemas.openxmlformats.org/drawingml/2006/main">
              <a:ext uri="{FF2B5EF4-FFF2-40B4-BE49-F238E27FC236}">
                <a16:creationId xmlns:a16="http://schemas.microsoft.com/office/drawing/2014/main" id="{77D36C6A-956F-4EE3-B089-A03334B4706C}"/>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5" name="Google Shape;35;p6">
            <a:extLst xmlns:a="http://schemas.openxmlformats.org/drawingml/2006/main">
              <a:ext uri="{FF2B5EF4-FFF2-40B4-BE49-F238E27FC236}">
                <a16:creationId xmlns:a16="http://schemas.microsoft.com/office/drawing/2014/main" id="{B2115EE3-0FBA-42E8-AAE9-8FAA49EA9CA0}"/>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6" name="Google Shape;36;p6">
            <a:extLst xmlns:a="http://schemas.openxmlformats.org/drawingml/2006/main">
              <a:ext uri="{FF2B5EF4-FFF2-40B4-BE49-F238E27FC236}">
                <a16:creationId xmlns:a16="http://schemas.microsoft.com/office/drawing/2014/main" id="{A34DA8BA-2579-4B17-86D2-2377595AB65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7" name="Google Shape;37;p6">
            <a:extLst xmlns:a="http://schemas.openxmlformats.org/drawingml/2006/main">
              <a:ext uri="{FF2B5EF4-FFF2-40B4-BE49-F238E27FC236}">
                <a16:creationId xmlns:a16="http://schemas.microsoft.com/office/drawing/2014/main" id="{8E75BA9B-22D7-4328-B806-F7424082D56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4" name="Google Shape;39;p7"/>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0" name="Google Shape;40;p7">
            <a:extLst xmlns:a="http://schemas.openxmlformats.org/drawingml/2006/main">
              <a:ext uri="{FF2B5EF4-FFF2-40B4-BE49-F238E27FC236}">
                <a16:creationId xmlns:a16="http://schemas.microsoft.com/office/drawing/2014/main" id="{4C217D8A-AC2D-4B54-83E9-3D6C4C0AD635}"/>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1" name="Google Shape;41;p7">
            <a:extLst xmlns:a="http://schemas.openxmlformats.org/drawingml/2006/main">
              <a:ext uri="{FF2B5EF4-FFF2-40B4-BE49-F238E27FC236}">
                <a16:creationId xmlns:a16="http://schemas.microsoft.com/office/drawing/2014/main" id="{890BB6E8-1EE1-42DE-9DB0-0E383EA2F172}"/>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2" name="Google Shape;42;p7">
            <a:extLst xmlns:a="http://schemas.openxmlformats.org/drawingml/2006/main">
              <a:ext uri="{FF2B5EF4-FFF2-40B4-BE49-F238E27FC236}">
                <a16:creationId xmlns:a16="http://schemas.microsoft.com/office/drawing/2014/main" id="{89CEDB3F-FF14-4A00-93E0-FD38D7E6E00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3" name="Google Shape;43;p7">
            <a:extLst xmlns:a="http://schemas.openxmlformats.org/drawingml/2006/main">
              <a:ext uri="{FF2B5EF4-FFF2-40B4-BE49-F238E27FC236}">
                <a16:creationId xmlns:a16="http://schemas.microsoft.com/office/drawing/2014/main" id="{14B8E6E3-1424-4D08-B136-D30297CE6E7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5" name="Google Shape;45;p8">
            <a:extLst xmlns:a="http://schemas.openxmlformats.org/drawingml/2006/main">
              <a:ext uri="{FF2B5EF4-FFF2-40B4-BE49-F238E27FC236}">
                <a16:creationId xmlns:a16="http://schemas.microsoft.com/office/drawing/2014/main" id="{67D977A5-FE94-47E4-8708-42CE6E97C4BC}"/>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6" name="Google Shape;46;p8">
            <a:extLst xmlns:a="http://schemas.openxmlformats.org/drawingml/2006/main">
              <a:ext uri="{FF2B5EF4-FFF2-40B4-BE49-F238E27FC236}">
                <a16:creationId xmlns:a16="http://schemas.microsoft.com/office/drawing/2014/main" id="{3314E0F4-F567-42C3-B700-213B5DBE7B7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7" name="Google Shape;47;p8">
            <a:extLst xmlns:a="http://schemas.openxmlformats.org/drawingml/2006/main">
              <a:ext uri="{FF2B5EF4-FFF2-40B4-BE49-F238E27FC236}">
                <a16:creationId xmlns:a16="http://schemas.microsoft.com/office/drawing/2014/main" id="{9F3DEB48-73EC-4225-936B-24A97F157CD7}"/>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49" name="Google Shape;49;p9">
            <a:extLst xmlns:a="http://schemas.openxmlformats.org/drawingml/2006/main">
              <a:ext uri="{FF2B5EF4-FFF2-40B4-BE49-F238E27FC236}">
                <a16:creationId xmlns:a16="http://schemas.microsoft.com/office/drawing/2014/main" id="{89D28E0C-12C6-4D5F-A473-69444EA13D0D}"/>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57" name="Google Shape;50;p9"/>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1" name="Google Shape;51;p9">
            <a:extLst xmlns:a="http://schemas.openxmlformats.org/drawingml/2006/main">
              <a:ext uri="{FF2B5EF4-FFF2-40B4-BE49-F238E27FC236}">
                <a16:creationId xmlns:a16="http://schemas.microsoft.com/office/drawing/2014/main" id="{045F566A-9953-4DEB-A230-DD3C4C456540}"/>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2" name="Google Shape;52;p9">
            <a:extLst xmlns:a="http://schemas.openxmlformats.org/drawingml/2006/main">
              <a:ext uri="{FF2B5EF4-FFF2-40B4-BE49-F238E27FC236}">
                <a16:creationId xmlns:a16="http://schemas.microsoft.com/office/drawing/2014/main" id="{2CAA97E2-8CD0-4FAB-9BA6-B5CDDD60B902}"/>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3" name="Google Shape;53;p9">
            <a:extLst xmlns:a="http://schemas.openxmlformats.org/drawingml/2006/main">
              <a:ext uri="{FF2B5EF4-FFF2-40B4-BE49-F238E27FC236}">
                <a16:creationId xmlns:a16="http://schemas.microsoft.com/office/drawing/2014/main" id="{0737440D-71F9-4E69-B241-E788AE3B5C58}"/>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4" name="Google Shape;54;p9">
            <a:extLst xmlns:a="http://schemas.openxmlformats.org/drawingml/2006/main">
              <a:ext uri="{FF2B5EF4-FFF2-40B4-BE49-F238E27FC236}">
                <a16:creationId xmlns:a16="http://schemas.microsoft.com/office/drawing/2014/main" id="{7A96C8F0-0E51-486E-815A-19A3ACBE602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5" name="Google Shape;55;p9">
            <a:extLst xmlns:a="http://schemas.openxmlformats.org/drawingml/2006/main">
              <a:ext uri="{FF2B5EF4-FFF2-40B4-BE49-F238E27FC236}">
                <a16:creationId xmlns:a16="http://schemas.microsoft.com/office/drawing/2014/main" id="{BB1FEA99-CCB7-4242-AF94-E9A8ABE41BB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57" name="Google Shape;57;p10">
            <a:extLst xmlns:a="http://schemas.openxmlformats.org/drawingml/2006/main">
              <a:ext uri="{FF2B5EF4-FFF2-40B4-BE49-F238E27FC236}">
                <a16:creationId xmlns:a16="http://schemas.microsoft.com/office/drawing/2014/main" id="{EEFFB2D3-E10E-4F44-9D47-4D07AB405507}"/>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58" name="Google Shape;58;p10">
            <a:extLst xmlns:a="http://schemas.openxmlformats.org/drawingml/2006/main">
              <a:ext uri="{FF2B5EF4-FFF2-40B4-BE49-F238E27FC236}">
                <a16:creationId xmlns:a16="http://schemas.microsoft.com/office/drawing/2014/main" id="{731DFC24-1225-48D1-88B7-4ED94BABED0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9" name="Google Shape;59;p10">
            <a:extLst xmlns:a="http://schemas.openxmlformats.org/drawingml/2006/main">
              <a:ext uri="{FF2B5EF4-FFF2-40B4-BE49-F238E27FC236}">
                <a16:creationId xmlns:a16="http://schemas.microsoft.com/office/drawing/2014/main" id="{0BD02C9A-E0E7-4B33-8090-CF2492FB7A5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6" name="Google Shape;61;p11"/>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2" name="Google Shape;62;p11">
            <a:extLst xmlns:a="http://schemas.openxmlformats.org/drawingml/2006/main">
              <a:ext uri="{FF2B5EF4-FFF2-40B4-BE49-F238E27FC236}">
                <a16:creationId xmlns:a16="http://schemas.microsoft.com/office/drawing/2014/main" id="{0D3E28AA-4572-4669-BF8D-0C56703C2D23}"/>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3" name="Google Shape;63;p11">
            <a:extLst xmlns:a="http://schemas.openxmlformats.org/drawingml/2006/main">
              <a:ext uri="{FF2B5EF4-FFF2-40B4-BE49-F238E27FC236}">
                <a16:creationId xmlns:a16="http://schemas.microsoft.com/office/drawing/2014/main" id="{FE724C34-E08E-438C-9D35-390142F9DF6D}"/>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4" name="Google Shape;64;p11">
            <a:extLst xmlns:a="http://schemas.openxmlformats.org/drawingml/2006/main">
              <a:ext uri="{FF2B5EF4-FFF2-40B4-BE49-F238E27FC236}">
                <a16:creationId xmlns:a16="http://schemas.microsoft.com/office/drawing/2014/main" id="{1947FE49-609E-49C2-82D5-88C736ACCDF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5" name="Google Shape;65;p11">
            <a:extLst xmlns:a="http://schemas.openxmlformats.org/drawingml/2006/main">
              <a:ext uri="{FF2B5EF4-FFF2-40B4-BE49-F238E27FC236}">
                <a16:creationId xmlns:a16="http://schemas.microsoft.com/office/drawing/2014/main" id="{A5CFF65F-8638-4606-9F7D-83E86FAE650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67" name="Google Shape;67;p12">
            <a:extLst xmlns:a="http://schemas.openxmlformats.org/drawingml/2006/main">
              <a:ext uri="{FF2B5EF4-FFF2-40B4-BE49-F238E27FC236}">
                <a16:creationId xmlns:a16="http://schemas.microsoft.com/office/drawing/2014/main" id="{4E16050B-BAF7-4B3D-B74F-F9329013CDC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12">
            <a:extLst xmlns:a="http://schemas.openxmlformats.org/drawingml/2006/main">
              <a:ext uri="{FF2B5EF4-FFF2-40B4-BE49-F238E27FC236}">
                <a16:creationId xmlns:a16="http://schemas.microsoft.com/office/drawing/2014/main" id="{95D56AC4-ACBA-4795-9E44-041A80891127}"/>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8a6b31b52242f7" /><Relationship Type="http://schemas.openxmlformats.org/officeDocument/2006/relationships/slideLayout" Target="/ppt/slideLayouts/slideLayout1.xml" Id="Raaa130e591d943c8" /><Relationship Type="http://schemas.openxmlformats.org/officeDocument/2006/relationships/slideLayout" Target="/ppt/slideLayouts/slideLayout2.xml" Id="Rbf1a88c5ff4f4e45" /><Relationship Type="http://schemas.openxmlformats.org/officeDocument/2006/relationships/slideLayout" Target="/ppt/slideLayouts/slideLayout3.xml" Id="R1cfcb3cfb90545ec" /><Relationship Type="http://schemas.openxmlformats.org/officeDocument/2006/relationships/slideLayout" Target="/ppt/slideLayouts/slideLayout4.xml" Id="Rc44f892202cd4c46" /><Relationship Type="http://schemas.openxmlformats.org/officeDocument/2006/relationships/slideLayout" Target="/ppt/slideLayouts/slideLayout5.xml" Id="Rbb4011dc0fc646ef" /><Relationship Type="http://schemas.openxmlformats.org/officeDocument/2006/relationships/slideLayout" Target="/ppt/slideLayouts/slideLayout6.xml" Id="Ra5d22e654b304dd0" /><Relationship Type="http://schemas.openxmlformats.org/officeDocument/2006/relationships/slideLayout" Target="/ppt/slideLayouts/slideLayout7.xml" Id="R7f0dd1050d3a48d9" /><Relationship Type="http://schemas.openxmlformats.org/officeDocument/2006/relationships/slideLayout" Target="/ppt/slideLayouts/slideLayout8.xml" Id="R6724db5244574761" /><Relationship Type="http://schemas.openxmlformats.org/officeDocument/2006/relationships/slideLayout" Target="/ppt/slideLayouts/slideLayout9.xml" Id="R86fa691a9dc543d9" /><Relationship Type="http://schemas.openxmlformats.org/officeDocument/2006/relationships/slideLayout" Target="/ppt/slideLayouts/slideLayout10.xml" Id="Rbb584462245745d5" /><Relationship Type="http://schemas.openxmlformats.org/officeDocument/2006/relationships/slideLayout" Target="/ppt/slideLayouts/slideLayout11.xml" Id="Ra62a48dfe98a4bdb"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6AEE4BAA-DDA3-435C-82AA-F6D62676843D}"/>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D59A5760-54C6-4A36-A307-1E14C60105C2}"/>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A769D37C-C6BF-4187-ACD0-66A7C0CAE53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aaa130e591d943c8"/>
    <p:sldLayoutId xmlns:r="http://schemas.openxmlformats.org/officeDocument/2006/relationships" id="2147483650" r:id="Rbf1a88c5ff4f4e45"/>
    <p:sldLayoutId xmlns:r="http://schemas.openxmlformats.org/officeDocument/2006/relationships" id="2147483651" r:id="R1cfcb3cfb90545ec"/>
    <p:sldLayoutId xmlns:r="http://schemas.openxmlformats.org/officeDocument/2006/relationships" id="2147483652" r:id="Rc44f892202cd4c46"/>
    <p:sldLayoutId xmlns:r="http://schemas.openxmlformats.org/officeDocument/2006/relationships" id="2147483653" r:id="Rbb4011dc0fc646ef"/>
    <p:sldLayoutId xmlns:r="http://schemas.openxmlformats.org/officeDocument/2006/relationships" id="2147483654" r:id="Ra5d22e654b304dd0"/>
    <p:sldLayoutId xmlns:r="http://schemas.openxmlformats.org/officeDocument/2006/relationships" id="2147483655" r:id="R7f0dd1050d3a48d9"/>
    <p:sldLayoutId xmlns:r="http://schemas.openxmlformats.org/officeDocument/2006/relationships" id="2147483656" r:id="R6724db5244574761"/>
    <p:sldLayoutId xmlns:r="http://schemas.openxmlformats.org/officeDocument/2006/relationships" id="2147483657" r:id="R86fa691a9dc543d9"/>
    <p:sldLayoutId xmlns:r="http://schemas.openxmlformats.org/officeDocument/2006/relationships" id="2147483658" r:id="Rbb584462245745d5"/>
    <p:sldLayoutId xmlns:r="http://schemas.openxmlformats.org/officeDocument/2006/relationships" id="2147483659" r:id="Ra62a48dfe98a4bdb"/>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041f981d2746c3" /><Relationship Type="http://schemas.openxmlformats.org/officeDocument/2006/relationships/notesSlide" Target="/ppt/notesSlides/notesSlide1.xml" Id="R4b2f63efa8f14f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bac04e9912f4576" /><Relationship Type="http://schemas.openxmlformats.org/officeDocument/2006/relationships/hyperlink" Target="https://openrouter.ai/docs/quickstart" TargetMode="External" Id="R914fe175d79d4611" /><Relationship Type="http://schemas.openxmlformats.org/officeDocument/2006/relationships/notesSlide" Target="/ppt/notesSlides/notesSlide2.xml" Id="Rf8c0a20a84e444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8fa309ba6a8428f" /><Relationship Type="http://schemas.openxmlformats.org/officeDocument/2006/relationships/image" Target="/ppt/media/image.png" Id="R58951afd8dd54ebd" /><Relationship Type="http://schemas.openxmlformats.org/officeDocument/2006/relationships/hyperlink" Target="https://openrouter.ai/models" TargetMode="External" Id="Ree2049ce145d4550" /><Relationship Type="http://schemas.openxmlformats.org/officeDocument/2006/relationships/notesSlide" Target="/ppt/notesSlides/notesSlide3.xml" Id="Ra607232fc7ef4e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afc493c0ee64e60" /><Relationship Type="http://schemas.openxmlformats.org/officeDocument/2006/relationships/hyperlink" Target="https://openrouter.ai/docs/guides/community/vercel-ai-sdk" TargetMode="External" Id="R2f1bde8418cb41ca" /><Relationship Type="http://schemas.openxmlformats.org/officeDocument/2006/relationships/notesSlide" Target="/ppt/notesSlides/notesSlide4.xml" Id="Rb52ac6ac449842c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157d73a0a734528" /><Relationship Type="http://schemas.openxmlformats.org/officeDocument/2006/relationships/hyperlink" Target="https://openrouter.ai/docs/guides/routing/provider-selection" TargetMode="External" Id="R87e930b2031c471f" /><Relationship Type="http://schemas.openxmlformats.org/officeDocument/2006/relationships/notesSlide" Target="/ppt/notesSlides/notesSlide5.xml" Id="Rd4ec2f7eb0ce44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b5698f0d5a342e7" /><Relationship Type="http://schemas.openxmlformats.org/officeDocument/2006/relationships/hyperlink" Target="https://openrouter.ai/docs/api/api-reference/generations/get-request-&amp;-usage-metadata-for-a-generation" TargetMode="External" Id="R198c995dab0949e1" /><Relationship Type="http://schemas.openxmlformats.org/officeDocument/2006/relationships/notesSlide" Target="/ppt/notesSlides/notesSlide6.xml" Id="Rad2e7503f5364d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f91ec6a1810d48ae" /><Relationship Type="http://schemas.openxmlformats.org/officeDocument/2006/relationships/hyperlink" Target="https://colab.research.google.com/github/BrightPool/udemy-prompt-engineering-course/blob/main/model_gateways/openrouter_features_and_agent.ipynb" TargetMode="External" Id="R3101589398f54a97" /><Relationship Type="http://schemas.openxmlformats.org/officeDocument/2006/relationships/notesSlide" Target="/ppt/notesSlides/notesSlide7.xml" Id="R201bf7102d2f492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73" name="Google Shape;73;p13">
            <a:extLst xmlns:a="http://schemas.openxmlformats.org/drawingml/2006/main">
              <a:ext uri="{FF2B5EF4-FFF2-40B4-BE49-F238E27FC236}">
                <a16:creationId xmlns:a16="http://schemas.microsoft.com/office/drawing/2014/main" id="{7982C514-8AB3-4261-93C2-640D33BC938C}"/>
              </a:ext>
            </a:extLst>
          </p:cNvPr>
          <p:cNvSpPr>
            <a:spLocks xmlns:a="http://schemas.openxmlformats.org/drawingml/2006/main" noGrp="1"/>
          </p:cNvSpPr>
          <p:nvPr>
            <p:ph type="ctrTitle" idx="0"/>
          </p:nvPr>
        </p:nvSpPr>
        <p:spPr>
          <a:xfrm xmlns:a="http://schemas.openxmlformats.org/drawingml/2006/main">
            <a:off x="409575" y="990600"/>
            <a:ext cx="8324850" cy="1876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05000"/>
              </a:lnSpc>
              <a:spcBef>
                <a:spcPts val="0"/>
              </a:spcBef>
              <a:spcAft>
                <a:spcPts val="0"/>
              </a:spcAft>
              <a:buSzPts val="6000"/>
              <a:buNone/>
              <a:defRPr sz="4350">
                <a:solidFill>
                  <a:srgbClr val="FFFFFF"/>
                </a:solidFill>
                <a:latin typeface="Oswald"/>
                <a:ea typeface="Oswald"/>
                <a:cs typeface="Oswald"/>
              </a:defRPr>
            </a:pPr>
            <a:r>
              <a:rPr sz="4350">
                <a:solidFill>
                  <a:srgbClr val="FFFFFF"/>
                </a:solidFill>
                <a:latin typeface="Oswald"/>
                <a:ea typeface="Oswald"/>
                <a:cs typeface="Oswald"/>
              </a:rPr>
              <a:t>Model Gateways +</a:t>
            </a:r>
            <a:endParaRPr/>
          </a:p>
          <a:p xmlns:a="http://schemas.openxmlformats.org/drawingml/2006/main">
            <a:pPr marL="0" lvl="0" indent="0" algn="ctr">
              <a:lnSpc>
                <a:spcPct val="105000"/>
              </a:lnSpc>
              <a:spcBef>
                <a:spcPts val="0"/>
              </a:spcBef>
              <a:spcAft>
                <a:spcPts val="0"/>
              </a:spcAft>
              <a:buSzPts val="6000"/>
              <a:buNone/>
              <a:defRPr sz="4350">
                <a:solidFill>
                  <a:srgbClr val="FFFFFF"/>
                </a:solidFill>
                <a:latin typeface="Oswald"/>
                <a:ea typeface="Oswald"/>
                <a:cs typeface="Oswald"/>
              </a:defRPr>
            </a:pPr>
            <a:r>
              <a:rPr sz="4350">
                <a:solidFill>
                  <a:srgbClr val="FFFFFF"/>
                </a:solidFill>
                <a:latin typeface="Oswald"/>
                <a:ea typeface="Oswald"/>
                <a:cs typeface="Oswald"/>
              </a:rPr>
              <a:t>Model Agnostic Frameworks</a:t>
            </a:r>
            <a:endParaRPr/>
          </a:p>
        </p:txBody>
      </p:sp>
      <p:sp>
        <p:nvSpPr>
          <p:cNvPr id="74" name="Google Shape;74;p13">
            <a:extLst xmlns:a="http://schemas.openxmlformats.org/drawingml/2006/main">
              <a:ext uri="{FF2B5EF4-FFF2-40B4-BE49-F238E27FC236}">
                <a16:creationId xmlns:a16="http://schemas.microsoft.com/office/drawing/2014/main" id="{12B90116-F8DA-452D-90BF-CC4EE554EF95}"/>
              </a:ext>
            </a:extLst>
          </p:cNvPr>
          <p:cNvSpPr>
            <a:spLocks xmlns:a="http://schemas.openxmlformats.org/drawingml/2006/main" noGrp="1"/>
          </p:cNvSpPr>
          <p:nvPr>
            <p:ph type="subTitle" idx="1"/>
          </p:nvPr>
        </p:nvSpPr>
        <p:spPr>
          <a:xfrm xmlns:a="http://schemas.openxmlformats.org/drawingml/2006/main">
            <a:off x="571500" y="3476625"/>
            <a:ext cx="8001000" cy="790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20000"/>
              </a:lnSpc>
              <a:spcBef>
                <a:spcPts val="0"/>
              </a:spcBef>
              <a:spcAft>
                <a:spcPts val="0"/>
              </a:spcAft>
              <a:buSzPts val="3600"/>
              <a:buNone/>
              <a:defRPr sz="1725">
                <a:solidFill>
                  <a:srgbClr val="424242"/>
                </a:solidFill>
                <a:latin typeface="Source Code Pro"/>
                <a:ea typeface="Source Code Pro"/>
                <a:cs typeface="Source Code Pro"/>
              </a:defRPr>
            </a:pPr>
            <a:r>
              <a:rPr sz="1725">
                <a:solidFill>
                  <a:srgbClr val="424242"/>
                </a:solidFill>
                <a:latin typeface="Source Code Pro"/>
                <a:ea typeface="Source Code Pro"/>
                <a:cs typeface="Source Code Pro"/>
              </a:rPr>
              <a:t>One application. A choice of models.</a:t>
            </a:r>
            <a:endParaRPr/>
          </a:p>
          <a:p xmlns:a="http://schemas.openxmlformats.org/drawingml/2006/main">
            <a:pPr marL="0" lvl="0" indent="0" algn="ctr">
              <a:lnSpc>
                <a:spcPct val="120000"/>
              </a:lnSpc>
              <a:spcBef>
                <a:spcPts val="0"/>
              </a:spcBef>
              <a:spcAft>
                <a:spcPts val="0"/>
              </a:spcAft>
              <a:buSzPts val="3600"/>
              <a:buNone/>
              <a:defRPr sz="1725">
                <a:solidFill>
                  <a:srgbClr val="424242"/>
                </a:solidFill>
                <a:latin typeface="Source Code Pro"/>
                <a:ea typeface="Source Code Pro"/>
                <a:cs typeface="Source Code Pro"/>
              </a:defRPr>
            </a:pPr>
            <a:r>
              <a:rPr sz="1725">
                <a:solidFill>
                  <a:srgbClr val="424242"/>
                </a:solidFill>
                <a:latin typeface="Source Code Pro"/>
                <a:ea typeface="Source Code Pro"/>
                <a:cs typeface="Source Code Pro"/>
              </a:rPr>
              <a:t>Part 10 · Going Deeper</a:t>
            </a:r>
            <a:endParaRPr/>
          </a:p>
        </p:txBody>
      </p:sp>
    </p:spTree>
    <p:extLst>
      <p:ext uri="{BB962C8B-B14F-4D97-AF65-F5344CB8AC3E}">
        <p14:creationId xmlns:p14="http://schemas.microsoft.com/office/powerpoint/2010/main" val="202610016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What Is a Model Gateway?</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A shared API between your application and model providers.">
            <a:extLst xmlns:a="http://schemas.openxmlformats.org/drawingml/2006/main">
              <a:ext uri="{FF2B5EF4-FFF2-40B4-BE49-F238E27FC236}">
                <a16:creationId xmlns:a16="http://schemas.microsoft.com/office/drawing/2014/main" id="{4A18E9FF-C7A5-485C-8CC3-CC0F4A3ECAE9}"/>
              </a:ext>
            </a:extLst>
          </p:cNvPr>
          <p:cNvSpPr>
            <a:spLocks xmlns:a="http://schemas.openxmlformats.org/drawingml/2006/main" noGrp="1"/>
          </p:cNvSpPr>
          <p:nvPr/>
        </p:nvSpPr>
        <p:spPr>
          <a:xfrm xmlns:a="http://schemas.openxmlformats.org/drawingml/2006/main">
            <a:off x="400050" y="1504950"/>
            <a:ext cx="83439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A shared API between your application and model providers.</a:t>
            </a:r>
          </a:p>
        </p:txBody>
      </p:sp>
      <p:sp>
        <p:nvSpPr>
          <p:cNvPr id="185" name="Your application">
            <a:extLst xmlns:a="http://schemas.openxmlformats.org/drawingml/2006/main">
              <a:ext uri="{FF2B5EF4-FFF2-40B4-BE49-F238E27FC236}">
                <a16:creationId xmlns:a16="http://schemas.microsoft.com/office/drawing/2014/main" id="{720679F0-087F-4306-A733-39A8DF99718D}"/>
              </a:ext>
            </a:extLst>
          </p:cNvPr>
          <p:cNvSpPr>
            <a:spLocks xmlns:a="http://schemas.openxmlformats.org/drawingml/2006/main" noGrp="1"/>
          </p:cNvSpPr>
          <p:nvPr/>
        </p:nvSpPr>
        <p:spPr>
          <a:xfrm xmlns:a="http://schemas.openxmlformats.org/drawingml/2006/main">
            <a:off x="400050" y="2352675"/>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Your application</a:t>
            </a:r>
          </a:p>
        </p:txBody>
      </p:sp>
      <p:sp>
        <p:nvSpPr>
          <p:cNvPr id="186" name="Gateway">
            <a:extLst xmlns:a="http://schemas.openxmlformats.org/drawingml/2006/main">
              <a:ext uri="{FF2B5EF4-FFF2-40B4-BE49-F238E27FC236}">
                <a16:creationId xmlns:a16="http://schemas.microsoft.com/office/drawing/2014/main" id="{B5911C0C-7C69-4A2F-937C-CE0FDD0D9A13}"/>
              </a:ext>
            </a:extLst>
          </p:cNvPr>
          <p:cNvSpPr>
            <a:spLocks xmlns:a="http://schemas.openxmlformats.org/drawingml/2006/main" noGrp="1"/>
          </p:cNvSpPr>
          <p:nvPr/>
        </p:nvSpPr>
        <p:spPr>
          <a:xfrm xmlns:a="http://schemas.openxmlformats.org/drawingml/2006/main">
            <a:off x="3467100" y="2352675"/>
            <a:ext cx="2381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Gateway</a:t>
            </a:r>
          </a:p>
        </p:txBody>
      </p:sp>
      <p:sp>
        <p:nvSpPr>
          <p:cNvPr id="187" name="Models + providers">
            <a:extLst xmlns:a="http://schemas.openxmlformats.org/drawingml/2006/main">
              <a:ext uri="{FF2B5EF4-FFF2-40B4-BE49-F238E27FC236}">
                <a16:creationId xmlns:a16="http://schemas.microsoft.com/office/drawing/2014/main" id="{127FF419-1A58-4BD4-9F76-AD91A7497D83}"/>
              </a:ext>
            </a:extLst>
          </p:cNvPr>
          <p:cNvSpPr>
            <a:spLocks xmlns:a="http://schemas.openxmlformats.org/drawingml/2006/main" noGrp="1"/>
          </p:cNvSpPr>
          <p:nvPr/>
        </p:nvSpPr>
        <p:spPr>
          <a:xfrm xmlns:a="http://schemas.openxmlformats.org/drawingml/2006/main">
            <a:off x="6172200" y="2352675"/>
            <a:ext cx="266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Models + providers</a:t>
            </a:r>
          </a:p>
        </p:txBody>
      </p:sp>
      <p:sp>
        <p:nvSpPr>
          <p:cNvPr id="188" name="Sends a prompt">
            <a:extLst xmlns:a="http://schemas.openxmlformats.org/drawingml/2006/main">
              <a:ext uri="{FF2B5EF4-FFF2-40B4-BE49-F238E27FC236}">
                <a16:creationId xmlns:a16="http://schemas.microsoft.com/office/drawing/2014/main" id="{E07F4B97-99B9-40CB-A440-1D883A0EF701}"/>
              </a:ext>
            </a:extLst>
          </p:cNvPr>
          <p:cNvSpPr>
            <a:spLocks xmlns:a="http://schemas.openxmlformats.org/drawingml/2006/main" noGrp="1"/>
          </p:cNvSpPr>
          <p:nvPr/>
        </p:nvSpPr>
        <p:spPr>
          <a:xfrm xmlns:a="http://schemas.openxmlformats.org/drawingml/2006/main">
            <a:off x="400050" y="2876550"/>
            <a:ext cx="2571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Sends a prompt</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and requirements.</a:t>
            </a:r>
          </a:p>
        </p:txBody>
      </p:sp>
      <p:sp>
        <p:nvSpPr>
          <p:cNvPr id="189" name="Authenticates, routes">
            <a:extLst xmlns:a="http://schemas.openxmlformats.org/drawingml/2006/main">
              <a:ext uri="{FF2B5EF4-FFF2-40B4-BE49-F238E27FC236}">
                <a16:creationId xmlns:a16="http://schemas.microsoft.com/office/drawing/2014/main" id="{C9D11FC5-8A68-4699-910B-B6F8C3084A81}"/>
              </a:ext>
            </a:extLst>
          </p:cNvPr>
          <p:cNvSpPr>
            <a:spLocks xmlns:a="http://schemas.openxmlformats.org/drawingml/2006/main" noGrp="1"/>
          </p:cNvSpPr>
          <p:nvPr/>
        </p:nvSpPr>
        <p:spPr>
          <a:xfrm xmlns:a="http://schemas.openxmlformats.org/drawingml/2006/main">
            <a:off x="3467100" y="2876550"/>
            <a:ext cx="2428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Authenticates, routes</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and records usage.</a:t>
            </a:r>
          </a:p>
        </p:txBody>
      </p:sp>
      <p:sp>
        <p:nvSpPr>
          <p:cNvPr id="190" name="Run the selected">
            <a:extLst xmlns:a="http://schemas.openxmlformats.org/drawingml/2006/main">
              <a:ext uri="{FF2B5EF4-FFF2-40B4-BE49-F238E27FC236}">
                <a16:creationId xmlns:a16="http://schemas.microsoft.com/office/drawing/2014/main" id="{E8D3562A-0FC4-4143-99F8-064030699D50}"/>
              </a:ext>
            </a:extLst>
          </p:cNvPr>
          <p:cNvSpPr>
            <a:spLocks xmlns:a="http://schemas.openxmlformats.org/drawingml/2006/main" noGrp="1"/>
          </p:cNvSpPr>
          <p:nvPr/>
        </p:nvSpPr>
        <p:spPr>
          <a:xfrm xmlns:a="http://schemas.openxmlformats.org/drawingml/2006/main">
            <a:off x="6172200" y="2876550"/>
            <a:ext cx="266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Run the selected</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model and reply.</a:t>
            </a:r>
          </a:p>
        </p:txBody>
      </p:sp>
      <p:sp>
        <p:nvSpPr>
          <p:cNvPr id="191" name="Centralise access, routing and billing across providers.">
            <a:extLst xmlns:a="http://schemas.openxmlformats.org/drawingml/2006/main">
              <a:ext uri="{FF2B5EF4-FFF2-40B4-BE49-F238E27FC236}">
                <a16:creationId xmlns:a16="http://schemas.microsoft.com/office/drawing/2014/main" id="{2A33D694-CE8B-49A2-9101-37E74F6E80BB}"/>
              </a:ext>
            </a:extLst>
          </p:cNvPr>
          <p:cNvSpPr>
            <a:spLocks xmlns:a="http://schemas.openxmlformats.org/drawingml/2006/main" noGrp="1"/>
          </p:cNvSpPr>
          <p:nvPr/>
        </p:nvSpPr>
        <p:spPr>
          <a:xfrm xmlns:a="http://schemas.openxmlformats.org/drawingml/2006/main">
            <a:off x="400050" y="3971925"/>
            <a:ext cx="8343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1">
                <a:solidFill>
                  <a:srgbClr val="424242"/>
                </a:solidFill>
                <a:latin typeface="Source Code Pro"/>
                <a:ea typeface="Source Code Pro"/>
                <a:cs typeface="Source Code Pro"/>
              </a:defRPr>
            </a:pPr>
            <a:r>
              <a:rPr sz="1575" b="1">
                <a:solidFill>
                  <a:srgbClr val="424242"/>
                </a:solidFill>
                <a:latin typeface="Source Code Pro"/>
                <a:ea typeface="Source Code Pro"/>
                <a:cs typeface="Source Code Pro"/>
              </a:rPr>
              <a:t>Centralise access, routing and billing across providers.</a:t>
            </a:r>
          </a:p>
        </p:txBody>
      </p:sp>
      <p:sp>
        <p:nvSpPr>
          <p:cNvPr id="192" name="Explore OpenRouter">
            <a:extLst xmlns:a="http://schemas.openxmlformats.org/drawingml/2006/main">
              <a:ext uri="{FF2B5EF4-FFF2-40B4-BE49-F238E27FC236}">
                <a16:creationId xmlns:a16="http://schemas.microsoft.com/office/drawing/2014/main" id="{7C95BFD0-9266-409E-8CC6-5F391E562DAD}"/>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914fe175d79d4611"/>
              </a:rPr>
              <a:t>Explore OpenRouter</a:t>
            </a:r>
          </a:p>
        </p:txBody>
      </p:sp>
    </p:spTree>
    <p:extLst>
      <p:ext uri="{BB962C8B-B14F-4D97-AF65-F5344CB8AC3E}">
        <p14:creationId xmlns:p14="http://schemas.microsoft.com/office/powerpoint/2010/main" val="202610016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OpenRouter: One API, Many Model Choices</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pic>
        <p:nvPicPr>
          <p:cNvPr id="193" name=""/>
          <p:cNvPicPr>
            <a:picLocks xmlns:a="http://schemas.openxmlformats.org/drawingml/2006/main" noChangeAspect="1"/>
          </p:cNvPicPr>
          <p:nvPr/>
        </p:nvPicPr>
        <p:blipFill>
          <a:blip xmlns:r="http://schemas.openxmlformats.org/officeDocument/2006/relationships" xmlns:a="http://schemas.openxmlformats.org/drawingml/2006/main" r:embed="R58951afd8dd54ebd"/>
          <a:stretch xmlns:a="http://schemas.openxmlformats.org/drawingml/2006/main"/>
        </p:blipFill>
        <p:spPr>
          <a:xfrm xmlns:a="http://schemas.openxmlformats.org/drawingml/2006/main">
            <a:off x="400050" y="1623840"/>
            <a:ext cx="2714625" cy="448019"/>
          </a:xfrm>
          <a:prstGeom xmlns:a="http://schemas.openxmlformats.org/drawingml/2006/main" prst="rect">
            <a:avLst/>
          </a:prstGeom>
        </p:spPr>
      </p:pic>
      <p:sp>
        <p:nvSpPr>
          <p:cNvPr id="185" name="Use one endpoint and API key to access supported models.">
            <a:extLst xmlns:a="http://schemas.openxmlformats.org/drawingml/2006/main">
              <a:ext uri="{FF2B5EF4-FFF2-40B4-BE49-F238E27FC236}">
                <a16:creationId xmlns:a16="http://schemas.microsoft.com/office/drawing/2014/main" id="{589272C4-F3D5-4F37-B36C-736B06C2A288}"/>
              </a:ext>
            </a:extLst>
          </p:cNvPr>
          <p:cNvSpPr>
            <a:spLocks xmlns:a="http://schemas.openxmlformats.org/drawingml/2006/main" noGrp="1"/>
          </p:cNvSpPr>
          <p:nvPr/>
        </p:nvSpPr>
        <p:spPr>
          <a:xfrm xmlns:a="http://schemas.openxmlformats.org/drawingml/2006/main">
            <a:off x="400050" y="2495550"/>
            <a:ext cx="834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Use one endpoint and API key to access supported models.</a:t>
            </a:r>
          </a:p>
        </p:txBody>
      </p:sp>
      <p:sp>
        <p:nvSpPr>
          <p:cNvPr id="186" name="Compare models">
            <a:extLst xmlns:a="http://schemas.openxmlformats.org/drawingml/2006/main">
              <a:ext uri="{FF2B5EF4-FFF2-40B4-BE49-F238E27FC236}">
                <a16:creationId xmlns:a16="http://schemas.microsoft.com/office/drawing/2014/main" id="{A6DFACD6-BFF3-4096-AC28-28955281FBB0}"/>
              </a:ext>
            </a:extLst>
          </p:cNvPr>
          <p:cNvSpPr>
            <a:spLocks xmlns:a="http://schemas.openxmlformats.org/drawingml/2006/main" noGrp="1"/>
          </p:cNvSpPr>
          <p:nvPr/>
        </p:nvSpPr>
        <p:spPr>
          <a:xfrm xmlns:a="http://schemas.openxmlformats.org/drawingml/2006/main">
            <a:off x="400050" y="3257550"/>
            <a:ext cx="4000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Compare models</a:t>
            </a:r>
          </a:p>
        </p:txBody>
      </p:sp>
      <p:sp>
        <p:nvSpPr>
          <p:cNvPr id="187" name="Keep your integration">
            <a:extLst xmlns:a="http://schemas.openxmlformats.org/drawingml/2006/main">
              <a:ext uri="{FF2B5EF4-FFF2-40B4-BE49-F238E27FC236}">
                <a16:creationId xmlns:a16="http://schemas.microsoft.com/office/drawing/2014/main" id="{126F8B02-A644-410B-9714-52F67880C914}"/>
              </a:ext>
            </a:extLst>
          </p:cNvPr>
          <p:cNvSpPr>
            <a:spLocks xmlns:a="http://schemas.openxmlformats.org/drawingml/2006/main" noGrp="1"/>
          </p:cNvSpPr>
          <p:nvPr/>
        </p:nvSpPr>
        <p:spPr>
          <a:xfrm xmlns:a="http://schemas.openxmlformats.org/drawingml/2006/main">
            <a:off x="4972050" y="3257550"/>
            <a:ext cx="3857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Keep your integration</a:t>
            </a:r>
          </a:p>
        </p:txBody>
      </p:sp>
      <p:sp>
        <p:nvSpPr>
          <p:cNvPr id="188" name="Commercial and open-weight">
            <a:extLst xmlns:a="http://schemas.openxmlformats.org/drawingml/2006/main">
              <a:ext uri="{FF2B5EF4-FFF2-40B4-BE49-F238E27FC236}">
                <a16:creationId xmlns:a16="http://schemas.microsoft.com/office/drawing/2014/main" id="{C86D2063-FB51-4C99-BDA2-EAC52D6EB748}"/>
              </a:ext>
            </a:extLst>
          </p:cNvPr>
          <p:cNvSpPr>
            <a:spLocks xmlns:a="http://schemas.openxmlformats.org/drawingml/2006/main" noGrp="1"/>
          </p:cNvSpPr>
          <p:nvPr/>
        </p:nvSpPr>
        <p:spPr>
          <a:xfrm xmlns:a="http://schemas.openxmlformats.org/drawingml/2006/main">
            <a:off x="400050" y="372427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Commercial and open-weight</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models from different labs.</a:t>
            </a:r>
          </a:p>
        </p:txBody>
      </p:sp>
      <p:sp>
        <p:nvSpPr>
          <p:cNvPr id="189" name="Change the model ID.">
            <a:extLst xmlns:a="http://schemas.openxmlformats.org/drawingml/2006/main">
              <a:ext uri="{FF2B5EF4-FFF2-40B4-BE49-F238E27FC236}">
                <a16:creationId xmlns:a16="http://schemas.microsoft.com/office/drawing/2014/main" id="{2D87CC0E-A859-48A9-A04A-E4871EEBCC0E}"/>
              </a:ext>
            </a:extLst>
          </p:cNvPr>
          <p:cNvSpPr>
            <a:spLocks xmlns:a="http://schemas.openxmlformats.org/drawingml/2006/main" noGrp="1"/>
          </p:cNvSpPr>
          <p:nvPr/>
        </p:nvSpPr>
        <p:spPr>
          <a:xfrm xmlns:a="http://schemas.openxmlformats.org/drawingml/2006/main">
            <a:off x="4972050" y="3724275"/>
            <a:ext cx="3857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Change the model ID.</a:t>
            </a:r>
          </a:p>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Check capabilities each time.</a:t>
            </a:r>
          </a:p>
        </p:txBody>
      </p:sp>
      <p:sp>
        <p:nvSpPr>
          <p:cNvPr id="190" name="Browse models, supported features and current pricing">
            <a:extLst xmlns:a="http://schemas.openxmlformats.org/drawingml/2006/main">
              <a:ext uri="{FF2B5EF4-FFF2-40B4-BE49-F238E27FC236}">
                <a16:creationId xmlns:a16="http://schemas.microsoft.com/office/drawing/2014/main" id="{D522CC5E-E1AF-43D6-A468-9E12215606A0}"/>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ee2049ce145d4550"/>
              </a:rPr>
              <a:t>Browse models, supported features and current pricing</a:t>
            </a:r>
          </a:p>
        </p:txBody>
      </p:sp>
    </p:spTree>
    <p:extLst>
      <p:ext uri="{BB962C8B-B14F-4D97-AF65-F5344CB8AC3E}">
        <p14:creationId xmlns:p14="http://schemas.microsoft.com/office/powerpoint/2010/main" val="202610016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Gateways and Frameworks Work Together</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graphicFrame>
        <p:nvGraphicFramePr>
          <p:cNvPr id="189" name=""/>
          <p:cNvGraphicFramePr/>
          <p:nvPr/>
        </p:nvGraphicFramePr>
        <p:xfrm>
          <a:off xmlns:a="http://schemas.openxmlformats.org/drawingml/2006/main" x="400050" y="1514475"/>
          <a:ext xmlns:a="http://schemas.openxmlformats.org/drawingml/2006/main" cx="8343900" cy="2533650"/>
        </p:xfrm>
        <a:graphic xmlns:a="http://schemas.openxmlformats.org/drawingml/2006/main">
          <a:graphicData uri="http://schemas.openxmlformats.org/drawingml/2006/table">
            <a:tbl>
              <a:tblPr firstRow="0" bandRow="0"/>
              <a:tblGrid>
                <a:gridCol w="1666875"/>
                <a:gridCol w="3476625"/>
                <a:gridCol w="3200400"/>
              </a:tblGrid>
              <a:tr h="633413">
                <a:tc>
                  <a:txBody>
                    <a:bodyPr wrap="square" lIns="114300" tIns="95250" rIns="95250" bIns="76200">
                      <a:noAutofit/>
                    </a:bodyPr>
                    <a:lstStyle/>
                    <a:p>
                      <a:pPr>
                        <a:lnSpc>
                          <a:spcPct val="115000"/>
                        </a:lnSpc>
                        <a:buNone/>
                      </a:pPr>
                      <a:r>
                        <a:rPr sz="1350" b="1">
                          <a:solidFill>
                            <a:srgbClr val="FFFFFF"/>
                          </a:solidFill>
                          <a:latin typeface="Source Code Pro"/>
                          <a:ea typeface="Source Code Pro"/>
                          <a:cs typeface="Source Code Pro"/>
                        </a:rPr>
                        <a:t>Product</a:t>
                      </a:r>
                    </a:p>
                  </a:txBody>
                  <a:tcPr marL="91440" marR="91440" marT="45720" marB="45720" anchor="ctr">
                    <a:solidFill>
                      <a:srgbClr val="E91D63"/>
                    </a:solidFill>
                  </a:tcPr>
                </a:tc>
                <a:tc>
                  <a:txBody>
                    <a:bodyPr wrap="square" lIns="114300" tIns="95250" rIns="95250" bIns="76200">
                      <a:noAutofit/>
                    </a:bodyPr>
                    <a:lstStyle/>
                    <a:p>
                      <a:pPr>
                        <a:lnSpc>
                          <a:spcPct val="115000"/>
                        </a:lnSpc>
                        <a:buNone/>
                      </a:pPr>
                      <a:r>
                        <a:rPr sz="1350" b="1">
                          <a:solidFill>
                            <a:srgbClr val="FFFFFF"/>
                          </a:solidFill>
                          <a:latin typeface="Source Code Pro"/>
                          <a:ea typeface="Source Code Pro"/>
                          <a:cs typeface="Source Code Pro"/>
                        </a:rPr>
                        <a:t>What it provides</a:t>
                      </a:r>
                    </a:p>
                  </a:txBody>
                  <a:tcPr marL="91440" marR="91440" marT="45720" marB="45720" anchor="ctr">
                    <a:solidFill>
                      <a:srgbClr val="E91D63"/>
                    </a:solidFill>
                  </a:tcPr>
                </a:tc>
                <a:tc>
                  <a:txBody>
                    <a:bodyPr wrap="square" lIns="114300" tIns="95250" rIns="95250" bIns="76200">
                      <a:noAutofit/>
                    </a:bodyPr>
                    <a:lstStyle/>
                    <a:p>
                      <a:pPr>
                        <a:lnSpc>
                          <a:spcPct val="115000"/>
                        </a:lnSpc>
                        <a:buNone/>
                      </a:pPr>
                      <a:r>
                        <a:rPr sz="1350" b="1">
                          <a:solidFill>
                            <a:srgbClr val="FFFFFF"/>
                          </a:solidFill>
                          <a:latin typeface="Source Code Pro"/>
                          <a:ea typeface="Source Code Pro"/>
                          <a:cs typeface="Source Code Pro"/>
                        </a:rPr>
                        <a:t>Where it fits</a:t>
                      </a:r>
                    </a:p>
                  </a:txBody>
                  <a:tcPr marL="91440" marR="91440" marT="45720" marB="45720" anchor="ctr">
                    <a:solidFill>
                      <a:srgbClr val="E91D63"/>
                    </a:solidFill>
                  </a:tcPr>
                </a:tc>
              </a:tr>
              <a:tr h="633413">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OpenRouter</a:t>
                      </a:r>
                    </a:p>
                  </a:txBody>
                  <a:tcPr marL="91440" marR="91440" marT="45720" marB="45720" anchor="ctr">
                    <a:solidFill>
                      <a:srgbClr val="FFFFFF"/>
                    </a:solidFill>
                  </a:tcPr>
                </a:tc>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Hosted model routing</a:t>
                      </a:r>
                    </a:p>
                    <a:p>
                      <a:pPr>
                        <a:lnSpc>
                          <a:spcPct val="115000"/>
                        </a:lnSpc>
                        <a:buNone/>
                      </a:pPr>
                      <a:r>
                        <a:rPr sz="1275" b="0">
                          <a:solidFill>
                            <a:srgbClr val="424242"/>
                          </a:solidFill>
                          <a:latin typeface="Source Code Pro"/>
                          <a:ea typeface="Source Code Pro"/>
                          <a:cs typeface="Source Code Pro"/>
                        </a:rPr>
                        <a:t>and usage reporting</a:t>
                      </a:r>
                    </a:p>
                  </a:txBody>
                  <a:tcPr marL="91440" marR="91440" marT="45720" marB="45720" anchor="ctr">
                    <a:solidFill>
                      <a:srgbClr val="FFFFFF"/>
                    </a:solidFill>
                  </a:tcPr>
                </a:tc>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Gateway service</a:t>
                      </a:r>
                    </a:p>
                  </a:txBody>
                  <a:tcPr marL="91440" marR="91440" marT="45720" marB="45720" anchor="ctr">
                    <a:solidFill>
                      <a:srgbClr val="FFFFFF"/>
                    </a:solidFill>
                  </a:tcPr>
                </a:tc>
              </a:tr>
              <a:tr h="633413">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LangChain</a:t>
                      </a:r>
                    </a:p>
                  </a:txBody>
                  <a:tcPr marL="91440" marR="91440" marT="45720" marB="45720" anchor="ctr">
                    <a:solidFill>
                      <a:srgbClr val="FFFFFF"/>
                    </a:solidFill>
                  </a:tcPr>
                </a:tc>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Models, tools, retrieval</a:t>
                      </a:r>
                    </a:p>
                    <a:p>
                      <a:pPr>
                        <a:lnSpc>
                          <a:spcPct val="115000"/>
                        </a:lnSpc>
                        <a:buNone/>
                      </a:pPr>
                      <a:r>
                        <a:rPr sz="1275" b="0">
                          <a:solidFill>
                            <a:srgbClr val="424242"/>
                          </a:solidFill>
                          <a:latin typeface="Source Code Pro"/>
                          <a:ea typeface="Source Code Pro"/>
                          <a:cs typeface="Source Code Pro"/>
                        </a:rPr>
                        <a:t>and workflow abstractions</a:t>
                      </a:r>
                    </a:p>
                  </a:txBody>
                  <a:tcPr marL="91440" marR="91440" marT="45720" marB="45720" anchor="ctr">
                    <a:solidFill>
                      <a:srgbClr val="FFFFFF"/>
                    </a:solidFill>
                  </a:tcPr>
                </a:tc>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Python / TypeScript</a:t>
                      </a:r>
                    </a:p>
                    <a:p>
                      <a:pPr>
                        <a:lnSpc>
                          <a:spcPct val="115000"/>
                        </a:lnSpc>
                        <a:buNone/>
                      </a:pPr>
                      <a:r>
                        <a:rPr sz="1275" b="0">
                          <a:solidFill>
                            <a:srgbClr val="424242"/>
                          </a:solidFill>
                          <a:latin typeface="Source Code Pro"/>
                          <a:ea typeface="Source Code Pro"/>
                          <a:cs typeface="Source Code Pro"/>
                        </a:rPr>
                        <a:t>application framework</a:t>
                      </a:r>
                    </a:p>
                  </a:txBody>
                  <a:tcPr marL="91440" marR="91440" marT="45720" marB="45720" anchor="ctr">
                    <a:solidFill>
                      <a:srgbClr val="FFFFFF"/>
                    </a:solidFill>
                  </a:tcPr>
                </a:tc>
              </a:tr>
              <a:tr h="633413">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Vercel AI SDK</a:t>
                      </a:r>
                    </a:p>
                  </a:txBody>
                  <a:tcPr marL="91440" marR="91440" marT="45720" marB="45720" anchor="ctr">
                    <a:solidFill>
                      <a:srgbClr val="FFFFFF"/>
                    </a:solidFill>
                  </a:tcPr>
                </a:tc>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Generation, streaming,</a:t>
                      </a:r>
                    </a:p>
                    <a:p>
                      <a:pPr>
                        <a:lnSpc>
                          <a:spcPct val="115000"/>
                        </a:lnSpc>
                        <a:buNone/>
                      </a:pPr>
                      <a:r>
                        <a:rPr sz="1275" b="0">
                          <a:solidFill>
                            <a:srgbClr val="424242"/>
                          </a:solidFill>
                          <a:latin typeface="Source Code Pro"/>
                          <a:ea typeface="Source Code Pro"/>
                          <a:cs typeface="Source Code Pro"/>
                        </a:rPr>
                        <a:t>tools and UI integration</a:t>
                      </a:r>
                    </a:p>
                  </a:txBody>
                  <a:tcPr marL="91440" marR="91440" marT="45720" marB="45720" anchor="ctr">
                    <a:solidFill>
                      <a:srgbClr val="FFFFFF"/>
                    </a:solidFill>
                  </a:tcPr>
                </a:tc>
                <a:tc>
                  <a:txBody>
                    <a:bodyPr wrap="square" lIns="114300" tIns="95250" rIns="95250" bIns="76200">
                      <a:noAutofit/>
                    </a:bodyPr>
                    <a:lstStyle/>
                    <a:p>
                      <a:pPr>
                        <a:lnSpc>
                          <a:spcPct val="115000"/>
                        </a:lnSpc>
                        <a:buNone/>
                      </a:pPr>
                      <a:r>
                        <a:rPr sz="1275" b="0">
                          <a:solidFill>
                            <a:srgbClr val="424242"/>
                          </a:solidFill>
                          <a:latin typeface="Source Code Pro"/>
                          <a:ea typeface="Source Code Pro"/>
                          <a:cs typeface="Source Code Pro"/>
                        </a:rPr>
                        <a:t>TypeScript</a:t>
                      </a:r>
                    </a:p>
                    <a:p>
                      <a:pPr>
                        <a:lnSpc>
                          <a:spcPct val="115000"/>
                        </a:lnSpc>
                        <a:buNone/>
                      </a:pPr>
                      <a:r>
                        <a:rPr sz="1275" b="0">
                          <a:solidFill>
                            <a:srgbClr val="424242"/>
                          </a:solidFill>
                          <a:latin typeface="Source Code Pro"/>
                          <a:ea typeface="Source Code Pro"/>
                          <a:cs typeface="Source Code Pro"/>
                        </a:rPr>
                        <a:t>application toolkit</a:t>
                      </a:r>
                    </a:p>
                  </a:txBody>
                  <a:tcPr marL="91440" marR="91440" marT="45720" marB="45720" anchor="ctr">
                    <a:solidFill>
                      <a:srgbClr val="FFFFFF"/>
                    </a:solidFill>
                  </a:tcPr>
                </a:tc>
              </a:tr>
            </a:tbl>
          </a:graphicData>
        </a:graphic>
      </p:graphicFrame>
      <p:sp>
        <p:nvSpPr>
          <p:cNvPr id="185" name="Vercel AI Gateway is a separate hosted gateway product.">
            <a:extLst xmlns:a="http://schemas.openxmlformats.org/drawingml/2006/main">
              <a:ext uri="{FF2B5EF4-FFF2-40B4-BE49-F238E27FC236}">
                <a16:creationId xmlns:a16="http://schemas.microsoft.com/office/drawing/2014/main" id="{95D4B9E7-9E87-4507-8ABC-E77D0E103829}"/>
              </a:ext>
            </a:extLst>
          </p:cNvPr>
          <p:cNvSpPr>
            <a:spLocks xmlns:a="http://schemas.openxmlformats.org/drawingml/2006/main" noGrp="1"/>
          </p:cNvSpPr>
          <p:nvPr/>
        </p:nvSpPr>
        <p:spPr>
          <a:xfrm xmlns:a="http://schemas.openxmlformats.org/drawingml/2006/main">
            <a:off x="400050" y="4181475"/>
            <a:ext cx="8343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a:solidFill>
                  <a:srgbClr val="424242"/>
                </a:solidFill>
                <a:latin typeface="Source Code Pro"/>
                <a:ea typeface="Source Code Pro"/>
                <a:cs typeface="Source Code Pro"/>
              </a:defRPr>
            </a:pPr>
            <a:r>
              <a:rPr sz="1350" b="1">
                <a:solidFill>
                  <a:srgbClr val="424242"/>
                </a:solidFill>
                <a:latin typeface="Source Code Pro"/>
                <a:ea typeface="Source Code Pro"/>
                <a:cs typeface="Source Code Pro"/>
              </a:rPr>
              <a:t>Vercel AI Gateway is a separate hosted gateway product.</a:t>
            </a:r>
          </a:p>
        </p:txBody>
      </p:sp>
      <p:sp>
        <p:nvSpPr>
          <p:cNvPr id="186" name="OpenRouter integrations: LangChain and Vercel AI SDK">
            <a:extLst xmlns:a="http://schemas.openxmlformats.org/drawingml/2006/main">
              <a:ext uri="{FF2B5EF4-FFF2-40B4-BE49-F238E27FC236}">
                <a16:creationId xmlns:a16="http://schemas.microsoft.com/office/drawing/2014/main" id="{01F6CBAC-B285-4F56-92E0-5DDB097D254C}"/>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2f1bde8418cb41ca"/>
              </a:rPr>
              <a:t>OpenRouter integrations: LangChain and Vercel AI SDK</a:t>
            </a:r>
          </a:p>
        </p:txBody>
      </p:sp>
    </p:spTree>
    <p:extLst>
      <p:ext uri="{BB962C8B-B14F-4D97-AF65-F5344CB8AC3E}">
        <p14:creationId xmlns:p14="http://schemas.microsoft.com/office/powerpoint/2010/main" val="202610016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Choose a Route That Fits the Task</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Provider fallback">
            <a:extLst xmlns:a="http://schemas.openxmlformats.org/drawingml/2006/main">
              <a:ext uri="{FF2B5EF4-FFF2-40B4-BE49-F238E27FC236}">
                <a16:creationId xmlns:a16="http://schemas.microsoft.com/office/drawing/2014/main" id="{C2ACACD3-31B3-46CD-9FFD-FD01C9196A98}"/>
              </a:ext>
            </a:extLst>
          </p:cNvPr>
          <p:cNvSpPr>
            <a:spLocks xmlns:a="http://schemas.openxmlformats.org/drawingml/2006/main" noGrp="1"/>
          </p:cNvSpPr>
          <p:nvPr/>
        </p:nvSpPr>
        <p:spPr>
          <a:xfrm xmlns:a="http://schemas.openxmlformats.org/drawingml/2006/main">
            <a:off x="400050" y="1590675"/>
            <a:ext cx="3962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Provider fallback</a:t>
            </a:r>
          </a:p>
        </p:txBody>
      </p:sp>
      <p:sp>
        <p:nvSpPr>
          <p:cNvPr id="185" name="Model fallback">
            <a:extLst xmlns:a="http://schemas.openxmlformats.org/drawingml/2006/main">
              <a:ext uri="{FF2B5EF4-FFF2-40B4-BE49-F238E27FC236}">
                <a16:creationId xmlns:a16="http://schemas.microsoft.com/office/drawing/2014/main" id="{55A33058-8089-47DF-A118-7BA6DF5D5EC8}"/>
              </a:ext>
            </a:extLst>
          </p:cNvPr>
          <p:cNvSpPr>
            <a:spLocks xmlns:a="http://schemas.openxmlformats.org/drawingml/2006/main" noGrp="1"/>
          </p:cNvSpPr>
          <p:nvPr/>
        </p:nvSpPr>
        <p:spPr>
          <a:xfrm xmlns:a="http://schemas.openxmlformats.org/drawingml/2006/main">
            <a:off x="4972050" y="1590675"/>
            <a:ext cx="3848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Model fallback</a:t>
            </a:r>
          </a:p>
        </p:txBody>
      </p:sp>
      <p:sp>
        <p:nvSpPr>
          <p:cNvPr id="186" name="Another host serves">
            <a:extLst xmlns:a="http://schemas.openxmlformats.org/drawingml/2006/main">
              <a:ext uri="{FF2B5EF4-FFF2-40B4-BE49-F238E27FC236}">
                <a16:creationId xmlns:a16="http://schemas.microsoft.com/office/drawing/2014/main" id="{86CD4E59-E554-497E-BFE7-3A1EC6F16E45}"/>
              </a:ext>
            </a:extLst>
          </p:cNvPr>
          <p:cNvSpPr>
            <a:spLocks xmlns:a="http://schemas.openxmlformats.org/drawingml/2006/main" noGrp="1"/>
          </p:cNvSpPr>
          <p:nvPr/>
        </p:nvSpPr>
        <p:spPr>
          <a:xfrm xmlns:a="http://schemas.openxmlformats.org/drawingml/2006/main">
            <a:off x="400050" y="2066925"/>
            <a:ext cx="39814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Another host serves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the same model.</a:t>
            </a:r>
          </a:p>
        </p:txBody>
      </p:sp>
      <p:sp>
        <p:nvSpPr>
          <p:cNvPr id="187" name="Another model answers">
            <a:extLst xmlns:a="http://schemas.openxmlformats.org/drawingml/2006/main">
              <a:ext uri="{FF2B5EF4-FFF2-40B4-BE49-F238E27FC236}">
                <a16:creationId xmlns:a16="http://schemas.microsoft.com/office/drawing/2014/main" id="{BE9A6F03-8ED9-448D-92A0-001083CB87D5}"/>
              </a:ext>
            </a:extLst>
          </p:cNvPr>
          <p:cNvSpPr>
            <a:spLocks xmlns:a="http://schemas.openxmlformats.org/drawingml/2006/main" noGrp="1"/>
          </p:cNvSpPr>
          <p:nvPr/>
        </p:nvSpPr>
        <p:spPr>
          <a:xfrm xmlns:a="http://schemas.openxmlformats.org/drawingml/2006/main">
            <a:off x="4972050" y="2066925"/>
            <a:ext cx="384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Another model answers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the request.</a:t>
            </a:r>
          </a:p>
        </p:txBody>
      </p:sp>
      <p:sp>
        <p:nvSpPr>
          <p:cNvPr id="188" name="Set your requirements">
            <a:extLst xmlns:a="http://schemas.openxmlformats.org/drawingml/2006/main">
              <a:ext uri="{FF2B5EF4-FFF2-40B4-BE49-F238E27FC236}">
                <a16:creationId xmlns:a16="http://schemas.microsoft.com/office/drawing/2014/main" id="{FF643534-5286-4E9F-9C29-AFCB442D8EC0}"/>
              </a:ext>
            </a:extLst>
          </p:cNvPr>
          <p:cNvSpPr>
            <a:spLocks xmlns:a="http://schemas.openxmlformats.org/drawingml/2006/main" noGrp="1"/>
          </p:cNvSpPr>
          <p:nvPr/>
        </p:nvSpPr>
        <p:spPr>
          <a:xfrm xmlns:a="http://schemas.openxmlformats.org/drawingml/2006/main">
            <a:off x="400050" y="3067050"/>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Set your requirements</a:t>
            </a:r>
          </a:p>
        </p:txBody>
      </p:sp>
      <p:sp>
        <p:nvSpPr>
          <p:cNvPr id="189" name="Price, latency, tool support and data policies">
            <a:extLst xmlns:a="http://schemas.openxmlformats.org/drawingml/2006/main">
              <a:ext uri="{FF2B5EF4-FFF2-40B4-BE49-F238E27FC236}">
                <a16:creationId xmlns:a16="http://schemas.microsoft.com/office/drawing/2014/main" id="{5F7BE1CD-131E-4974-A86A-311400B68207}"/>
              </a:ext>
            </a:extLst>
          </p:cNvPr>
          <p:cNvSpPr>
            <a:spLocks xmlns:a="http://schemas.openxmlformats.org/drawingml/2006/main" noGrp="1"/>
          </p:cNvSpPr>
          <p:nvPr/>
        </p:nvSpPr>
        <p:spPr>
          <a:xfrm xmlns:a="http://schemas.openxmlformats.org/drawingml/2006/main">
            <a:off x="400050" y="3571875"/>
            <a:ext cx="8343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Price, latency, tool support and data policies</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can narrow the eligible routes.</a:t>
            </a:r>
          </a:p>
        </p:txBody>
      </p:sp>
      <p:sp>
        <p:nvSpPr>
          <p:cNvPr id="190" name="Inspect the resolved model and provider after the call.">
            <a:extLst xmlns:a="http://schemas.openxmlformats.org/drawingml/2006/main">
              <a:ext uri="{FF2B5EF4-FFF2-40B4-BE49-F238E27FC236}">
                <a16:creationId xmlns:a16="http://schemas.microsoft.com/office/drawing/2014/main" id="{8F63BF87-D33B-48A2-9C26-0BF36781A068}"/>
              </a:ext>
            </a:extLst>
          </p:cNvPr>
          <p:cNvSpPr>
            <a:spLocks xmlns:a="http://schemas.openxmlformats.org/drawingml/2006/main" noGrp="1"/>
          </p:cNvSpPr>
          <p:nvPr/>
        </p:nvSpPr>
        <p:spPr>
          <a:xfrm xmlns:a="http://schemas.openxmlformats.org/drawingml/2006/main">
            <a:off x="400050" y="4210050"/>
            <a:ext cx="8343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1">
                <a:solidFill>
                  <a:srgbClr val="424242"/>
                </a:solidFill>
                <a:latin typeface="Source Code Pro"/>
                <a:ea typeface="Source Code Pro"/>
                <a:cs typeface="Source Code Pro"/>
              </a:defRPr>
            </a:pPr>
            <a:r>
              <a:rPr sz="1350" b="1">
                <a:solidFill>
                  <a:srgbClr val="424242"/>
                </a:solidFill>
                <a:latin typeface="Source Code Pro"/>
                <a:ea typeface="Source Code Pro"/>
                <a:cs typeface="Source Code Pro"/>
              </a:rPr>
              <a:t>Inspect the resolved model and provider after the call.</a:t>
            </a:r>
          </a:p>
        </p:txBody>
      </p:sp>
      <p:sp>
        <p:nvSpPr>
          <p:cNvPr id="191" name="Provider routing and fallback controls">
            <a:extLst xmlns:a="http://schemas.openxmlformats.org/drawingml/2006/main">
              <a:ext uri="{FF2B5EF4-FFF2-40B4-BE49-F238E27FC236}">
                <a16:creationId xmlns:a16="http://schemas.microsoft.com/office/drawing/2014/main" id="{C25AA942-921D-4259-8CBD-657BD3980A8B}"/>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87e930b2031c471f"/>
              </a:rPr>
              <a:t>Provider routing and fallback controls</a:t>
            </a:r>
          </a:p>
        </p:txBody>
      </p:sp>
    </p:spTree>
    <p:extLst>
      <p:ext uri="{BB962C8B-B14F-4D97-AF65-F5344CB8AC3E}">
        <p14:creationId xmlns:p14="http://schemas.microsoft.com/office/powerpoint/2010/main" val="202610016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Use Actual Costs to Build Customer Credits</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1  Record every model turn">
            <a:extLst xmlns:a="http://schemas.openxmlformats.org/drawingml/2006/main">
              <a:ext uri="{FF2B5EF4-FFF2-40B4-BE49-F238E27FC236}">
                <a16:creationId xmlns:a16="http://schemas.microsoft.com/office/drawing/2014/main" id="{6D48530F-95C4-4AA0-A80F-EAB8B70B9241}"/>
              </a:ext>
            </a:extLst>
          </p:cNvPr>
          <p:cNvSpPr>
            <a:spLocks xmlns:a="http://schemas.openxmlformats.org/drawingml/2006/main" noGrp="1"/>
          </p:cNvSpPr>
          <p:nvPr/>
        </p:nvSpPr>
        <p:spPr>
          <a:xfrm xmlns:a="http://schemas.openxmlformats.org/drawingml/2006/main">
            <a:off x="400050" y="153352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1  Record every model turn</a:t>
            </a:r>
          </a:p>
        </p:txBody>
      </p:sp>
      <p:sp>
        <p:nvSpPr>
          <p:cNvPr id="185" name="Keep generation IDs, including tool-request turns.">
            <a:extLst xmlns:a="http://schemas.openxmlformats.org/drawingml/2006/main">
              <a:ext uri="{FF2B5EF4-FFF2-40B4-BE49-F238E27FC236}">
                <a16:creationId xmlns:a16="http://schemas.microsoft.com/office/drawing/2014/main" id="{7F2EE0B7-4020-44DD-99CE-1F175F377132}"/>
              </a:ext>
            </a:extLst>
          </p:cNvPr>
          <p:cNvSpPr>
            <a:spLocks xmlns:a="http://schemas.openxmlformats.org/drawingml/2006/main" noGrp="1"/>
          </p:cNvSpPr>
          <p:nvPr/>
        </p:nvSpPr>
        <p:spPr>
          <a:xfrm xmlns:a="http://schemas.openxmlformats.org/drawingml/2006/main">
            <a:off x="400050" y="1962150"/>
            <a:ext cx="8343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Keep generation IDs, including tool-request turns.</a:t>
            </a:r>
          </a:p>
        </p:txBody>
      </p:sp>
      <p:sp>
        <p:nvSpPr>
          <p:cNvPr id="186" name="2  Retrieve the actual charge">
            <a:extLst xmlns:a="http://schemas.openxmlformats.org/drawingml/2006/main">
              <a:ext uri="{FF2B5EF4-FFF2-40B4-BE49-F238E27FC236}">
                <a16:creationId xmlns:a16="http://schemas.microsoft.com/office/drawing/2014/main" id="{8F483547-11C1-4A10-AF58-5C1780C224B4}"/>
              </a:ext>
            </a:extLst>
          </p:cNvPr>
          <p:cNvSpPr>
            <a:spLocks xmlns:a="http://schemas.openxmlformats.org/drawingml/2006/main" noGrp="1"/>
          </p:cNvSpPr>
          <p:nvPr/>
        </p:nvSpPr>
        <p:spPr>
          <a:xfrm xmlns:a="http://schemas.openxmlformats.org/drawingml/2006/main">
            <a:off x="400050" y="2590800"/>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2  Retrieve the actual charge</a:t>
            </a:r>
          </a:p>
        </p:txBody>
      </p:sp>
      <p:sp>
        <p:nvSpPr>
          <p:cNvPr id="187" name="Read total_cost in USD from generation metadata.">
            <a:extLst xmlns:a="http://schemas.openxmlformats.org/drawingml/2006/main">
              <a:ext uri="{FF2B5EF4-FFF2-40B4-BE49-F238E27FC236}">
                <a16:creationId xmlns:a16="http://schemas.microsoft.com/office/drawing/2014/main" id="{E7085055-AC98-4316-9165-C32E404A4FAC}"/>
              </a:ext>
            </a:extLst>
          </p:cNvPr>
          <p:cNvSpPr>
            <a:spLocks xmlns:a="http://schemas.openxmlformats.org/drawingml/2006/main" noGrp="1"/>
          </p:cNvSpPr>
          <p:nvPr/>
        </p:nvSpPr>
        <p:spPr>
          <a:xfrm xmlns:a="http://schemas.openxmlformats.org/drawingml/2006/main">
            <a:off x="400050" y="3019425"/>
            <a:ext cx="8343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Read total_cost in USD from generation metadata.</a:t>
            </a:r>
          </a:p>
        </p:txBody>
      </p:sp>
      <p:sp>
        <p:nvSpPr>
          <p:cNvPr id="188" name="3  Apply your own credit policy">
            <a:extLst xmlns:a="http://schemas.openxmlformats.org/drawingml/2006/main">
              <a:ext uri="{FF2B5EF4-FFF2-40B4-BE49-F238E27FC236}">
                <a16:creationId xmlns:a16="http://schemas.microsoft.com/office/drawing/2014/main" id="{315B9DA6-17DB-457D-82F6-0A62307A78B0}"/>
              </a:ext>
            </a:extLst>
          </p:cNvPr>
          <p:cNvSpPr>
            <a:spLocks xmlns:a="http://schemas.openxmlformats.org/drawingml/2006/main" noGrp="1"/>
          </p:cNvSpPr>
          <p:nvPr/>
        </p:nvSpPr>
        <p:spPr>
          <a:xfrm xmlns:a="http://schemas.openxmlformats.org/drawingml/2006/main">
            <a:off x="400050" y="364807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3  Apply your own credit policy</a:t>
            </a:r>
          </a:p>
        </p:txBody>
      </p:sp>
      <p:sp>
        <p:nvSpPr>
          <p:cNvPr id="189" name="Set conversion + rounding. Charge each ID once.">
            <a:extLst xmlns:a="http://schemas.openxmlformats.org/drawingml/2006/main">
              <a:ext uri="{FF2B5EF4-FFF2-40B4-BE49-F238E27FC236}">
                <a16:creationId xmlns:a16="http://schemas.microsoft.com/office/drawing/2014/main" id="{A876A23D-4C49-4392-A750-D445B845AF58}"/>
              </a:ext>
            </a:extLst>
          </p:cNvPr>
          <p:cNvSpPr>
            <a:spLocks xmlns:a="http://schemas.openxmlformats.org/drawingml/2006/main" noGrp="1"/>
          </p:cNvSpPr>
          <p:nvPr/>
        </p:nvSpPr>
        <p:spPr>
          <a:xfrm xmlns:a="http://schemas.openxmlformats.org/drawingml/2006/main">
            <a:off x="400050" y="4076700"/>
            <a:ext cx="83439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0">
                <a:solidFill>
                  <a:srgbClr val="424242"/>
                </a:solidFill>
                <a:latin typeface="Source Code Pro"/>
                <a:ea typeface="Source Code Pro"/>
                <a:cs typeface="Source Code Pro"/>
              </a:defRPr>
            </a:pPr>
            <a:r>
              <a:rPr sz="1500" b="0">
                <a:solidFill>
                  <a:srgbClr val="424242"/>
                </a:solidFill>
                <a:latin typeface="Source Code Pro"/>
                <a:ea typeface="Source Code Pro"/>
                <a:cs typeface="Source Code Pro"/>
              </a:rPr>
              <a:t>Set conversion + rounding. Charge each ID once.</a:t>
            </a:r>
          </a:p>
        </p:txBody>
      </p:sp>
      <p:sp>
        <p:nvSpPr>
          <p:cNvPr id="190" name="Your customer ledger is separate from OpenRouter account credits">
            <a:extLst xmlns:a="http://schemas.openxmlformats.org/drawingml/2006/main">
              <a:ext uri="{FF2B5EF4-FFF2-40B4-BE49-F238E27FC236}">
                <a16:creationId xmlns:a16="http://schemas.microsoft.com/office/drawing/2014/main" id="{71A053F3-F6E4-4E2A-B957-54F141A8582C}"/>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198c995dab0949e1"/>
              </a:rPr>
              <a:t>Your customer ledger is separate from OpenRouter account credits</a:t>
            </a:r>
          </a:p>
        </p:txBody>
      </p:sp>
    </p:spTree>
    <p:extLst>
      <p:ext uri="{BB962C8B-B14F-4D97-AF65-F5344CB8AC3E}">
        <p14:creationId xmlns:p14="http://schemas.microsoft.com/office/powerpoint/2010/main" val="202610016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81" name="Google Shape;181;p26">
            <a:extLst xmlns:a="http://schemas.openxmlformats.org/drawingml/2006/main">
              <a:ext uri="{FF2B5EF4-FFF2-40B4-BE49-F238E27FC236}">
                <a16:creationId xmlns:a16="http://schemas.microsoft.com/office/drawing/2014/main" id="{98286616-C411-48F5-87EC-45567992FC72}"/>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Try It: Compare, Route, Measure</a:t>
            </a:r>
            <a:endParaRPr/>
          </a:p>
        </p:txBody>
      </p:sp>
      <p:sp>
        <p:nvSpPr>
          <p:cNvPr id="183" name="Google Shape;183;p26">
            <a:extLst xmlns:a="http://schemas.openxmlformats.org/drawingml/2006/main">
              <a:ext uri="{FF2B5EF4-FFF2-40B4-BE49-F238E27FC236}">
                <a16:creationId xmlns:a16="http://schemas.microsoft.com/office/drawing/2014/main" id="{9ADF81D0-1DF7-4232-9542-E35A869B3F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lvl="0" indent="0" algn="r">
              <a:lnSpc>
                <a:spcPct val="100000"/>
              </a:lnSpc>
              <a:spcBef>
                <a:spcPts val="0"/>
              </a:spcBef>
              <a:spcAft>
                <a:spcPts val="0"/>
              </a:spcAft>
              <a:buSzPts val="1000"/>
              <a:buNone/>
            </a:pPr>
            <a:fld id="{00000000-1234-1234-1234-123412341234}" type="slidenum">
              <a:t>‹#›</a:t>
            </a:fld>
            <a:endParaRPr/>
          </a:p>
        </p:txBody>
      </p:sp>
      <p:sp>
        <p:nvSpPr>
          <p:cNvPr id="184" name="Start with a real task">
            <a:extLst xmlns:a="http://schemas.openxmlformats.org/drawingml/2006/main">
              <a:ext uri="{FF2B5EF4-FFF2-40B4-BE49-F238E27FC236}">
                <a16:creationId xmlns:a16="http://schemas.microsoft.com/office/drawing/2014/main" id="{C871BA69-C85A-4175-96F9-D816E50E9DF5}"/>
              </a:ext>
            </a:extLst>
          </p:cNvPr>
          <p:cNvSpPr>
            <a:spLocks xmlns:a="http://schemas.openxmlformats.org/drawingml/2006/main" noGrp="1"/>
          </p:cNvSpPr>
          <p:nvPr/>
        </p:nvSpPr>
        <p:spPr>
          <a:xfrm xmlns:a="http://schemas.openxmlformats.org/drawingml/2006/main">
            <a:off x="400050" y="155257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Start with a real task</a:t>
            </a:r>
          </a:p>
        </p:txBody>
      </p:sp>
      <p:sp>
        <p:nvSpPr>
          <p:cNvPr id="185" name="Send the same prompt to two models.">
            <a:extLst xmlns:a="http://schemas.openxmlformats.org/drawingml/2006/main">
              <a:ext uri="{FF2B5EF4-FFF2-40B4-BE49-F238E27FC236}">
                <a16:creationId xmlns:a16="http://schemas.microsoft.com/office/drawing/2014/main" id="{A8A2113B-0BC8-4BE7-A3F9-F4C34C3F1711}"/>
              </a:ext>
            </a:extLst>
          </p:cNvPr>
          <p:cNvSpPr>
            <a:spLocks xmlns:a="http://schemas.openxmlformats.org/drawingml/2006/main" noGrp="1"/>
          </p:cNvSpPr>
          <p:nvPr/>
        </p:nvSpPr>
        <p:spPr>
          <a:xfrm xmlns:a="http://schemas.openxmlformats.org/drawingml/2006/main">
            <a:off x="400050" y="2057400"/>
            <a:ext cx="83439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Send the same prompt to two models.</a:t>
            </a:r>
          </a:p>
          <a:p xmlns:a="http://schemas.openxmlformats.org/drawingml/2006/main">
            <a:pPr algn="l">
              <a:lnSpc>
                <a:spcPct val="120000"/>
              </a:lnSpc>
              <a:buNone/>
              <a:defRPr sz="1725" b="0">
                <a:solidFill>
                  <a:srgbClr val="424242"/>
                </a:solidFill>
                <a:latin typeface="Source Code Pro"/>
                <a:ea typeface="Source Code Pro"/>
                <a:cs typeface="Source Code Pro"/>
              </a:defRPr>
            </a:pPr>
            <a:r>
              <a:rPr sz="1725" b="0">
                <a:solidFill>
                  <a:srgbClr val="424242"/>
                </a:solidFill>
                <a:latin typeface="Source Code Pro"/>
                <a:ea typeface="Source Code Pro"/>
                <a:cs typeface="Source Code Pro"/>
              </a:rPr>
              <a:t>Compare accuracy, instruction following and usefulness.</a:t>
            </a:r>
          </a:p>
        </p:txBody>
      </p:sp>
      <p:sp>
        <p:nvSpPr>
          <p:cNvPr id="186" name="Then inspect the evidence">
            <a:extLst xmlns:a="http://schemas.openxmlformats.org/drawingml/2006/main">
              <a:ext uri="{FF2B5EF4-FFF2-40B4-BE49-F238E27FC236}">
                <a16:creationId xmlns:a16="http://schemas.microsoft.com/office/drawing/2014/main" id="{30767091-4D4B-4CE3-8184-87B3BA2F2711}"/>
              </a:ext>
            </a:extLst>
          </p:cNvPr>
          <p:cNvSpPr>
            <a:spLocks xmlns:a="http://schemas.openxmlformats.org/drawingml/2006/main" noGrp="1"/>
          </p:cNvSpPr>
          <p:nvPr/>
        </p:nvSpPr>
        <p:spPr>
          <a:xfrm xmlns:a="http://schemas.openxmlformats.org/drawingml/2006/main">
            <a:off x="400050" y="3209925"/>
            <a:ext cx="83439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100" b="0">
                <a:solidFill>
                  <a:srgbClr val="E91D63"/>
                </a:solidFill>
                <a:latin typeface="Oswald"/>
                <a:ea typeface="Oswald"/>
                <a:cs typeface="Oswald"/>
              </a:defRPr>
            </a:pPr>
            <a:r>
              <a:rPr sz="2100" b="0">
                <a:solidFill>
                  <a:srgbClr val="E91D63"/>
                </a:solidFill>
                <a:latin typeface="Oswald"/>
                <a:ea typeface="Oswald"/>
                <a:cs typeface="Oswald"/>
              </a:rPr>
              <a:t>Then inspect the evidence</a:t>
            </a:r>
          </a:p>
        </p:txBody>
      </p:sp>
      <p:sp>
        <p:nvSpPr>
          <p:cNvPr id="187" name="Check capabilities, resolved model, provider and cost.">
            <a:extLst xmlns:a="http://schemas.openxmlformats.org/drawingml/2006/main">
              <a:ext uri="{FF2B5EF4-FFF2-40B4-BE49-F238E27FC236}">
                <a16:creationId xmlns:a16="http://schemas.microsoft.com/office/drawing/2014/main" id="{D5D0AF25-69B1-471E-AC87-E80EAD2A3D15}"/>
              </a:ext>
            </a:extLst>
          </p:cNvPr>
          <p:cNvSpPr>
            <a:spLocks xmlns:a="http://schemas.openxmlformats.org/drawingml/2006/main" noGrp="1"/>
          </p:cNvSpPr>
          <p:nvPr/>
        </p:nvSpPr>
        <p:spPr>
          <a:xfrm xmlns:a="http://schemas.openxmlformats.org/drawingml/2006/main">
            <a:off x="400050" y="3714750"/>
            <a:ext cx="8343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Check capabilities, resolved model, provider and cost.</a:t>
            </a:r>
          </a:p>
          <a:p xmlns:a="http://schemas.openxmlformats.org/drawingml/2006/main">
            <a:pPr algn="l">
              <a:lnSpc>
                <a:spcPct val="120000"/>
              </a:lnSpc>
              <a:buNone/>
              <a:defRPr sz="1575" b="0">
                <a:solidFill>
                  <a:srgbClr val="424242"/>
                </a:solidFill>
                <a:latin typeface="Source Code Pro"/>
                <a:ea typeface="Source Code Pro"/>
                <a:cs typeface="Source Code Pro"/>
              </a:defRPr>
            </a:pPr>
            <a:r>
              <a:rPr sz="1575" b="0">
                <a:solidFill>
                  <a:srgbClr val="424242"/>
                </a:solidFill>
                <a:latin typeface="Source Code Pro"/>
                <a:ea typeface="Source Code Pro"/>
                <a:cs typeface="Source Code Pro"/>
              </a:rPr>
              <a:t>Choose using your own evaluations.</a:t>
            </a:r>
          </a:p>
        </p:txBody>
      </p:sp>
      <p:sp>
        <p:nvSpPr>
          <p:cNvPr id="188" name="Open the companion Python notebook in Google Colab">
            <a:extLst xmlns:a="http://schemas.openxmlformats.org/drawingml/2006/main">
              <a:ext uri="{FF2B5EF4-FFF2-40B4-BE49-F238E27FC236}">
                <a16:creationId xmlns:a16="http://schemas.microsoft.com/office/drawing/2014/main" id="{022C780D-362D-453F-9C40-501E865CBEB7}"/>
              </a:ext>
            </a:extLst>
          </p:cNvPr>
          <p:cNvSpPr>
            <a:spLocks xmlns:a="http://schemas.openxmlformats.org/drawingml/2006/main" noGrp="1"/>
          </p:cNvSpPr>
          <p:nvPr/>
        </p:nvSpPr>
        <p:spPr>
          <a:xfrm xmlns:a="http://schemas.openxmlformats.org/drawingml/2006/main">
            <a:off x="400050" y="4543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3101589398f54a97"/>
              </a:rPr>
              <a:t>Open the companion Python notebook in Google Colab</a:t>
            </a:r>
          </a:p>
        </p:txBody>
      </p:sp>
    </p:spTree>
    <p:extLst>
      <p:ext uri="{BB962C8B-B14F-4D97-AF65-F5344CB8AC3E}">
        <p14:creationId xmlns:p14="http://schemas.microsoft.com/office/powerpoint/2010/main" val="2026100166"/>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2026-10-01T13:05:40.1600000Z</dcterms:created>
  <dcterms:modified xsi:type="dcterms:W3CDTF">2026-10-01T13:05:40.1610000Z</dcterms:modified>
</coreProperties>
</file>