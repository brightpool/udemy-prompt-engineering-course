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70" r:id="rId5"/>
    <p:sldMasterId id="2147483671" r:id="rId6"/>
  </p:sldMasterIdLst>
  <p:notesMasterIdLst>
    <p:notesMasterId r:id="rId7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</p:sldIdLst>
  <p:sldSz cy="5143500" cx="9144000"/>
  <p:notesSz cx="6858000" cy="9144000"/>
  <p:embeddedFontLst>
    <p:embeddedFont>
      <p:font typeface="Source Code Pro"/>
      <p:regular r:id="rId24"/>
      <p:bold r:id="rId25"/>
      <p:italic r:id="rId26"/>
      <p:boldItalic r:id="rId27"/>
    </p:embeddedFont>
    <p:embeddedFont>
      <p:font typeface="Oswald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673574E-313A-4E41-A38C-36F247BE0EA5}">
  <a:tblStyle styleId="{3673574E-313A-4E41-A38C-36F247BE0EA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709F496F-DB3D-4476-992D-8F9A65F7952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4" Type="http://schemas.openxmlformats.org/officeDocument/2006/relationships/font" Target="fonts/SourceCodePro-regular.fntdata"/><Relationship Id="rId25" Type="http://schemas.openxmlformats.org/officeDocument/2006/relationships/font" Target="fonts/SourceCodePro-bold.fntdata"/><Relationship Id="rId26" Type="http://schemas.openxmlformats.org/officeDocument/2006/relationships/font" Target="fonts/SourceCodePro-italic.fntdata"/><Relationship Id="rId27" Type="http://schemas.openxmlformats.org/officeDocument/2006/relationships/font" Target="fonts/SourceCodePro-boldItalic.fntdata"/><Relationship Id="rId28" Type="http://schemas.openxmlformats.org/officeDocument/2006/relationships/font" Target="fonts/Oswald-regular.fntdata"/><Relationship Id="rId29" Type="http://schemas.openxmlformats.org/officeDocument/2006/relationships/font" Target="fonts/Oswald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10800000">
            <a:off x="4226100" y="2933550"/>
            <a:ext cx="691800" cy="3885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25" y="0"/>
            <a:ext cx="9144000" cy="312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" name="Google Shape;15;p2"/>
          <p:cNvSpPr txBox="1"/>
          <p:nvPr/>
        </p:nvSpPr>
        <p:spPr>
          <a:xfrm>
            <a:off x="411175" y="79900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11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0" y="1567350"/>
            <a:ext cx="9144000" cy="200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Google Shape;20;p3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3" name="Google Shape;23;p4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Google Shape;26;p4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Google Shape;28;p5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9" name="Google Shape;29;p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3117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5"/>
          <p:cNvSpPr txBox="1"/>
          <p:nvPr>
            <p:ph idx="2" type="body"/>
          </p:nvPr>
        </p:nvSpPr>
        <p:spPr>
          <a:xfrm>
            <a:off x="48324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5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" name="Google Shape;37;p6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Google Shape;39;p7"/>
          <p:cNvCxnSpPr/>
          <p:nvPr/>
        </p:nvCxnSpPr>
        <p:spPr>
          <a:xfrm>
            <a:off x="418675" y="145778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40" name="Google Shape;40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1" name="Google Shape;41;p7"/>
          <p:cNvSpPr txBox="1"/>
          <p:nvPr>
            <p:ph idx="1" type="body"/>
          </p:nvPr>
        </p:nvSpPr>
        <p:spPr>
          <a:xfrm>
            <a:off x="311700" y="1618204"/>
            <a:ext cx="2808000" cy="29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" name="Google Shape;43;p7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/>
          <p:nvPr>
            <p:ph type="title"/>
          </p:nvPr>
        </p:nvSpPr>
        <p:spPr>
          <a:xfrm>
            <a:off x="490250" y="528900"/>
            <a:ext cx="5678100" cy="408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" name="Google Shape;47;p8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1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7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577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" name="Google Shape;55;p9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 txBox="1"/>
          <p:nvPr>
            <p:ph idx="1" type="body"/>
          </p:nvPr>
        </p:nvSpPr>
        <p:spPr>
          <a:xfrm>
            <a:off x="311700" y="406472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swald"/>
              <a:buNone/>
              <a:defRPr sz="2100"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" name="Google Shape;59;p10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13275" y="2988275"/>
            <a:ext cx="910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3" name="Google Shape;63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11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Google Shape;68;p12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/>
          <p:nvPr/>
        </p:nvSpPr>
        <p:spPr>
          <a:xfrm rot="10800000">
            <a:off x="4226100" y="2933550"/>
            <a:ext cx="691800" cy="3885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4"/>
          <p:cNvSpPr/>
          <p:nvPr/>
        </p:nvSpPr>
        <p:spPr>
          <a:xfrm>
            <a:off x="-25" y="0"/>
            <a:ext cx="9144000" cy="312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4"/>
          <p:cNvSpPr txBox="1"/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7" name="Google Shape;77;p14"/>
          <p:cNvSpPr txBox="1"/>
          <p:nvPr>
            <p:ph idx="1" type="subTitle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8" name="Google Shape;7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" name="Google Shape;79;p14"/>
          <p:cNvSpPr txBox="1"/>
          <p:nvPr/>
        </p:nvSpPr>
        <p:spPr>
          <a:xfrm>
            <a:off x="411175" y="79900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1100" u="none" cap="none" strike="noStrike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Google Shape;81;p15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82" name="Google Shape;82;p1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" name="Google Shape;83;p15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5" name="Google Shape;85;p15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/>
          <p:nvPr/>
        </p:nvSpPr>
        <p:spPr>
          <a:xfrm>
            <a:off x="0" y="1567350"/>
            <a:ext cx="9144000" cy="200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6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0" name="Google Shape;90;p16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" name="Google Shape;92;p17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93" name="Google Shape;93;p17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4" name="Google Shape;94;p17"/>
          <p:cNvSpPr txBox="1"/>
          <p:nvPr>
            <p:ph idx="1" type="body"/>
          </p:nvPr>
        </p:nvSpPr>
        <p:spPr>
          <a:xfrm>
            <a:off x="311700" y="1468825"/>
            <a:ext cx="39999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5" name="Google Shape;95;p17"/>
          <p:cNvSpPr txBox="1"/>
          <p:nvPr>
            <p:ph idx="2" type="body"/>
          </p:nvPr>
        </p:nvSpPr>
        <p:spPr>
          <a:xfrm>
            <a:off x="4832400" y="1468825"/>
            <a:ext cx="39999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6" name="Google Shape;9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7" name="Google Shape;97;p17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0" name="Google Shape;10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18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3" name="Google Shape;103;p19"/>
          <p:cNvCxnSpPr/>
          <p:nvPr/>
        </p:nvCxnSpPr>
        <p:spPr>
          <a:xfrm>
            <a:off x="418675" y="145778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104" name="Google Shape;104;p19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311700" y="1618204"/>
            <a:ext cx="2808000" cy="29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6" name="Google Shape;10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7" name="Google Shape;107;p19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title"/>
          </p:nvPr>
        </p:nvSpPr>
        <p:spPr>
          <a:xfrm>
            <a:off x="490250" y="528900"/>
            <a:ext cx="5678100" cy="40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0" name="Google Shape;11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/>
          <p:nvPr/>
        </p:nvSpPr>
        <p:spPr>
          <a:xfrm>
            <a:off x="4572000" y="17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4" name="Google Shape;114;p21"/>
          <p:cNvCxnSpPr/>
          <p:nvPr/>
        </p:nvCxnSpPr>
        <p:spPr>
          <a:xfrm>
            <a:off x="5029675" y="4495500"/>
            <a:ext cx="577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115" name="Google Shape;115;p21"/>
          <p:cNvSpPr txBox="1"/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6" name="Google Shape;116;p21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7" name="Google Shape;117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idx="1" type="body"/>
          </p:nvPr>
        </p:nvSpPr>
        <p:spPr>
          <a:xfrm>
            <a:off x="311700" y="406472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swald"/>
              <a:buNone/>
              <a:defRPr sz="2100"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122" name="Google Shape;12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3" name="Google Shape;123;p22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5" name="Google Shape;125;p23"/>
          <p:cNvCxnSpPr/>
          <p:nvPr/>
        </p:nvCxnSpPr>
        <p:spPr>
          <a:xfrm>
            <a:off x="413275" y="2988275"/>
            <a:ext cx="910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126" name="Google Shape;126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7" name="Google Shape;127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8" name="Google Shape;128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9" name="Google Shape;129;p23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2" name="Google Shape;132;p24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dern-writer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dern-writer">
    <p:bg>
      <p:bgPr>
        <a:solidFill>
          <a:schemeClr val="lt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3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1" name="Google Shape;71;p13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b="0" i="0" sz="18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72" name="Google Shape;7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Avoiding Bias in a Chat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>
              <a:buNone/>
            </a:pPr>
            <a:r>
              <a:t>How the context around a question can steer the answer before it is written.</a:t>
            </a:r>
          </a:p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Four Sources Can Shape the Answer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" name="Memory"/>
          <p:cNvGrpSpPr/>
          <p:nvPr/>
        </p:nvGrpSpPr>
        <p:grpSpPr>
          <a:xfrm>
            <a:off x="310896" y="1426464"/>
            <a:ext cx="3383280" cy="548640"/>
            <a:chOff x="310896" y="1426464"/>
            <a:chExt cx="3383280" cy="548640"/>
          </a:xfrm>
        </p:grpSpPr>
        <p:sp>
          <p:nvSpPr>
            <p:cNvPr id="26" name="Rounded Rectangle 25"/>
            <p:cNvSpPr/>
            <p:nvPr/>
          </p:nvSpPr>
          <p:spPr>
            <a:xfrm>
              <a:off x="310896" y="1426464"/>
              <a:ext cx="3383280" cy="548640"/>
            </a:xfrm>
            <a:prstGeom prst="roundRect">
              <a:avLst>
                <a:gd name="adj" fmla="val 8333"/>
              </a:avLst>
            </a:prstGeom>
            <a:solidFill>
              <a:srgbClr val="F5F5F7"/>
            </a:solidFill>
            <a:ln w="9525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27" name="Oval 26"/>
            <p:cNvSpPr/>
            <p:nvPr/>
          </p:nvSpPr>
          <p:spPr>
            <a:xfrm>
              <a:off x="420624" y="1508760"/>
              <a:ext cx="384048" cy="38404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28" name="Picture 27" descr="icon-brain-ink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05114" y="1593250"/>
              <a:ext cx="215066" cy="215066"/>
            </a:xfrm>
            <a:prstGeom prst="rect">
              <a:avLst/>
            </a:prstGeom>
          </p:spPr>
        </p:pic>
        <p:sp>
          <p:nvSpPr>
            <p:cNvPr id="29" name="TextBox 28"/>
            <p:cNvSpPr txBox="1"/>
            <p:nvPr/>
          </p:nvSpPr>
          <p:spPr>
            <a:xfrm>
              <a:off x="932688" y="1490472"/>
              <a:ext cx="2651760" cy="2377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200" b="1">
                  <a:solidFill>
                    <a:srgbClr val="424242"/>
                  </a:solidFill>
                  <a:latin typeface="Source Code Pro"/>
                </a:rPr>
                <a:t>Memory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932688" y="1709928"/>
              <a:ext cx="2651760" cy="219456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200" b="0">
                  <a:solidFill>
                    <a:srgbClr val="6B6B6B"/>
                  </a:solidFill>
                  <a:latin typeface="Source Code Pro"/>
                </a:rPr>
                <a:t>Saved Facts</a:t>
              </a:r>
            </a:p>
          </p:txBody>
        </p:sp>
      </p:grpSp>
      <p:cxnSp>
        <p:nvCxnSpPr>
          <p:cNvPr id="31" name="Connector 30"/>
          <p:cNvCxnSpPr/>
          <p:nvPr/>
        </p:nvCxnSpPr>
        <p:spPr>
          <a:xfrm>
            <a:off x="3694176" y="1700784"/>
            <a:ext cx="365760" cy="0"/>
          </a:xfrm>
          <a:prstGeom prst="line">
            <a:avLst/>
          </a:prstGeom>
          <a:ln w="12700">
            <a:solidFill>
              <a:srgbClr val="ED17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" name="Custom instructions"/>
          <p:cNvGrpSpPr/>
          <p:nvPr/>
        </p:nvGrpSpPr>
        <p:grpSpPr>
          <a:xfrm>
            <a:off x="310896" y="2084832"/>
            <a:ext cx="3383280" cy="548640"/>
            <a:chOff x="310896" y="2084832"/>
            <a:chExt cx="3383280" cy="548640"/>
          </a:xfrm>
        </p:grpSpPr>
        <p:sp>
          <p:nvSpPr>
            <p:cNvPr id="32" name="Rounded Rectangle 31"/>
            <p:cNvSpPr/>
            <p:nvPr/>
          </p:nvSpPr>
          <p:spPr>
            <a:xfrm>
              <a:off x="310896" y="2084832"/>
              <a:ext cx="3383280" cy="548640"/>
            </a:xfrm>
            <a:prstGeom prst="roundRect">
              <a:avLst>
                <a:gd name="adj" fmla="val 8333"/>
              </a:avLst>
            </a:prstGeom>
            <a:solidFill>
              <a:srgbClr val="F5F5F7"/>
            </a:solidFill>
            <a:ln w="9525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3" name="Oval 32"/>
            <p:cNvSpPr/>
            <p:nvPr/>
          </p:nvSpPr>
          <p:spPr>
            <a:xfrm>
              <a:off x="420624" y="2167128"/>
              <a:ext cx="384048" cy="38404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4" name="Picture 33" descr="icon-sliders-horizontal-ink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5114" y="2251618"/>
              <a:ext cx="215066" cy="215066"/>
            </a:xfrm>
            <a:prstGeom prst="rect">
              <a:avLst/>
            </a:prstGeom>
          </p:spPr>
        </p:pic>
        <p:sp>
          <p:nvSpPr>
            <p:cNvPr id="35" name="TextBox 34"/>
            <p:cNvSpPr txBox="1"/>
            <p:nvPr/>
          </p:nvSpPr>
          <p:spPr>
            <a:xfrm>
              <a:off x="932688" y="2148840"/>
              <a:ext cx="2651760" cy="2377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200" b="1">
                  <a:solidFill>
                    <a:srgbClr val="424242"/>
                  </a:solidFill>
                  <a:latin typeface="Source Code Pro"/>
                </a:rPr>
                <a:t>Custom Instructions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932688" y="2368296"/>
              <a:ext cx="2651760" cy="219456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200" b="0">
                  <a:solidFill>
                    <a:srgbClr val="6B6B6B"/>
                  </a:solidFill>
                  <a:latin typeface="Source Code Pro"/>
                </a:rPr>
                <a:t>Standing Directions</a:t>
              </a:r>
            </a:p>
          </p:txBody>
        </p:sp>
      </p:grpSp>
      <p:cxnSp>
        <p:nvCxnSpPr>
          <p:cNvPr id="37" name="Connector 36"/>
          <p:cNvCxnSpPr/>
          <p:nvPr/>
        </p:nvCxnSpPr>
        <p:spPr>
          <a:xfrm>
            <a:off x="3694176" y="2359152"/>
            <a:ext cx="365760" cy="0"/>
          </a:xfrm>
          <a:prstGeom prst="line">
            <a:avLst/>
          </a:prstGeom>
          <a:ln w="12700">
            <a:solidFill>
              <a:srgbClr val="ED17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" name="Chat history"/>
          <p:cNvGrpSpPr/>
          <p:nvPr/>
        </p:nvGrpSpPr>
        <p:grpSpPr>
          <a:xfrm>
            <a:off x="310896" y="2743200"/>
            <a:ext cx="3383280" cy="548640"/>
            <a:chOff x="310896" y="2743200"/>
            <a:chExt cx="3383280" cy="548640"/>
          </a:xfrm>
        </p:grpSpPr>
        <p:sp>
          <p:nvSpPr>
            <p:cNvPr id="38" name="Rounded Rectangle 37"/>
            <p:cNvSpPr/>
            <p:nvPr/>
          </p:nvSpPr>
          <p:spPr>
            <a:xfrm>
              <a:off x="310896" y="2743200"/>
              <a:ext cx="3383280" cy="548640"/>
            </a:xfrm>
            <a:prstGeom prst="roundRect">
              <a:avLst>
                <a:gd name="adj" fmla="val 8333"/>
              </a:avLst>
            </a:prstGeom>
            <a:solidFill>
              <a:srgbClr val="F5F5F7"/>
            </a:solidFill>
            <a:ln w="9525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9" name="Oval 38"/>
            <p:cNvSpPr/>
            <p:nvPr/>
          </p:nvSpPr>
          <p:spPr>
            <a:xfrm>
              <a:off x="420624" y="2825496"/>
              <a:ext cx="384048" cy="38404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40" name="Picture 39" descr="icon-history-ink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5114" y="2909986"/>
              <a:ext cx="215066" cy="215066"/>
            </a:xfrm>
            <a:prstGeom prst="rect">
              <a:avLst/>
            </a:prstGeom>
          </p:spPr>
        </p:pic>
        <p:sp>
          <p:nvSpPr>
            <p:cNvPr id="41" name="TextBox 40"/>
            <p:cNvSpPr txBox="1"/>
            <p:nvPr/>
          </p:nvSpPr>
          <p:spPr>
            <a:xfrm>
              <a:off x="932688" y="2807208"/>
              <a:ext cx="2651760" cy="2377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200" b="1">
                  <a:solidFill>
                    <a:srgbClr val="424242"/>
                  </a:solidFill>
                  <a:latin typeface="Source Code Pro"/>
                </a:rPr>
                <a:t>Chat History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932688" y="3026664"/>
              <a:ext cx="2651760" cy="219456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200" b="0">
                  <a:solidFill>
                    <a:srgbClr val="6B6B6B"/>
                  </a:solidFill>
                  <a:latin typeface="Source Code Pro"/>
                </a:rPr>
                <a:t>Earlier Turns</a:t>
              </a:r>
            </a:p>
          </p:txBody>
        </p:sp>
      </p:grpSp>
      <p:cxnSp>
        <p:nvCxnSpPr>
          <p:cNvPr id="43" name="Connector 42"/>
          <p:cNvCxnSpPr/>
          <p:nvPr/>
        </p:nvCxnSpPr>
        <p:spPr>
          <a:xfrm>
            <a:off x="3694176" y="3017520"/>
            <a:ext cx="365760" cy="0"/>
          </a:xfrm>
          <a:prstGeom prst="line">
            <a:avLst/>
          </a:prstGeom>
          <a:ln w="12700">
            <a:solidFill>
              <a:srgbClr val="ED17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" name="Your question"/>
          <p:cNvGrpSpPr/>
          <p:nvPr/>
        </p:nvGrpSpPr>
        <p:grpSpPr>
          <a:xfrm>
            <a:off x="310896" y="3401568"/>
            <a:ext cx="3383280" cy="548640"/>
            <a:chOff x="310896" y="3401568"/>
            <a:chExt cx="3383280" cy="548640"/>
          </a:xfrm>
        </p:grpSpPr>
        <p:sp>
          <p:nvSpPr>
            <p:cNvPr id="44" name="Rounded Rectangle 43"/>
            <p:cNvSpPr/>
            <p:nvPr/>
          </p:nvSpPr>
          <p:spPr>
            <a:xfrm>
              <a:off x="310896" y="3401568"/>
              <a:ext cx="3383280" cy="548640"/>
            </a:xfrm>
            <a:prstGeom prst="roundRect">
              <a:avLst>
                <a:gd name="adj" fmla="val 8333"/>
              </a:avLst>
            </a:prstGeom>
            <a:solidFill>
              <a:srgbClr val="FBE4EC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45" name="Oval 44"/>
            <p:cNvSpPr/>
            <p:nvPr/>
          </p:nvSpPr>
          <p:spPr>
            <a:xfrm>
              <a:off x="420624" y="3483864"/>
              <a:ext cx="384048" cy="38404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46" name="Picture 45" descr="icon-message-circle-question-pink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05114" y="3568354"/>
              <a:ext cx="215066" cy="215066"/>
            </a:xfrm>
            <a:prstGeom prst="rect">
              <a:avLst/>
            </a:prstGeom>
          </p:spPr>
        </p:pic>
        <p:sp>
          <p:nvSpPr>
            <p:cNvPr id="47" name="TextBox 46"/>
            <p:cNvSpPr txBox="1"/>
            <p:nvPr/>
          </p:nvSpPr>
          <p:spPr>
            <a:xfrm>
              <a:off x="932688" y="3465576"/>
              <a:ext cx="2651760" cy="2377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200" b="1">
                  <a:solidFill>
                    <a:srgbClr val="424242"/>
                  </a:solidFill>
                  <a:latin typeface="Source Code Pro"/>
                </a:rPr>
                <a:t>Your Question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932688" y="3685032"/>
              <a:ext cx="2651760" cy="219456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200" b="0">
                  <a:solidFill>
                    <a:srgbClr val="6B6B6B"/>
                  </a:solidFill>
                  <a:latin typeface="Source Code Pro"/>
                </a:rPr>
                <a:t>The Frame Used Now</a:t>
              </a:r>
            </a:p>
          </p:txBody>
        </p:sp>
      </p:grpSp>
      <p:cxnSp>
        <p:nvCxnSpPr>
          <p:cNvPr id="49" name="Connector 48"/>
          <p:cNvCxnSpPr/>
          <p:nvPr/>
        </p:nvCxnSpPr>
        <p:spPr>
          <a:xfrm>
            <a:off x="3694176" y="3675888"/>
            <a:ext cx="365760" cy="0"/>
          </a:xfrm>
          <a:prstGeom prst="line">
            <a:avLst/>
          </a:prstGeom>
          <a:ln w="12700">
            <a:solidFill>
              <a:srgbClr val="ED17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059936" y="1700784"/>
            <a:ext cx="0" cy="1975104"/>
          </a:xfrm>
          <a:prstGeom prst="line">
            <a:avLst/>
          </a:prstGeom>
          <a:ln w="12700">
            <a:solidFill>
              <a:srgbClr val="ED17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ight Arrow 50"/>
          <p:cNvSpPr/>
          <p:nvPr/>
        </p:nvSpPr>
        <p:spPr>
          <a:xfrm>
            <a:off x="4059936" y="2642616"/>
            <a:ext cx="365760" cy="91440"/>
          </a:xfrm>
          <a:prstGeom prst="rightArrow">
            <a:avLst/>
          </a:prstGeom>
          <a:solidFill>
            <a:srgbClr val="ED1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8" name="The model"/>
          <p:cNvGrpSpPr/>
          <p:nvPr/>
        </p:nvGrpSpPr>
        <p:grpSpPr>
          <a:xfrm>
            <a:off x="4517136" y="2185415"/>
            <a:ext cx="1737360" cy="1005840"/>
            <a:chOff x="4517136" y="2185415"/>
            <a:chExt cx="1737360" cy="1005840"/>
          </a:xfrm>
        </p:grpSpPr>
        <p:sp>
          <p:nvSpPr>
            <p:cNvPr id="52" name="Rounded Rectangle 51"/>
            <p:cNvSpPr/>
            <p:nvPr/>
          </p:nvSpPr>
          <p:spPr>
            <a:xfrm>
              <a:off x="4517136" y="2185415"/>
              <a:ext cx="1737360" cy="1005840"/>
            </a:xfrm>
            <a:prstGeom prst="roundRect">
              <a:avLst>
                <a:gd name="adj" fmla="val 5454"/>
              </a:avLst>
            </a:prstGeom>
            <a:solidFill>
              <a:srgbClr val="FFFFFF"/>
            </a:solidFill>
            <a:ln w="9525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53" name="Oval 52"/>
            <p:cNvSpPr/>
            <p:nvPr/>
          </p:nvSpPr>
          <p:spPr>
            <a:xfrm>
              <a:off x="5193792" y="2286000"/>
              <a:ext cx="384048" cy="384048"/>
            </a:xfrm>
            <a:prstGeom prst="ellipse">
              <a:avLst/>
            </a:prstGeom>
            <a:solidFill>
              <a:srgbClr val="F5F5F7"/>
            </a:solidFill>
            <a:ln w="9525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54" name="Picture 53" descr="icon-cpu-ink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278282" y="2370490"/>
              <a:ext cx="215066" cy="215066"/>
            </a:xfrm>
            <a:prstGeom prst="rect">
              <a:avLst/>
            </a:prstGeom>
          </p:spPr>
        </p:pic>
        <p:sp>
          <p:nvSpPr>
            <p:cNvPr id="55" name="TextBox 54"/>
            <p:cNvSpPr txBox="1"/>
            <p:nvPr/>
          </p:nvSpPr>
          <p:spPr>
            <a:xfrm>
              <a:off x="4517136" y="2743200"/>
              <a:ext cx="1737360" cy="27432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300" b="1">
                  <a:solidFill>
                    <a:srgbClr val="424242"/>
                  </a:solidFill>
                  <a:latin typeface="Source Code Pro"/>
                </a:rPr>
                <a:t>The Model</a:t>
              </a:r>
            </a:p>
          </p:txBody>
        </p:sp>
      </p:grpSp>
      <p:sp>
        <p:nvSpPr>
          <p:cNvPr id="56" name="Right Arrow 55"/>
          <p:cNvSpPr/>
          <p:nvPr/>
        </p:nvSpPr>
        <p:spPr>
          <a:xfrm>
            <a:off x="6345936" y="2642616"/>
            <a:ext cx="365760" cy="91440"/>
          </a:xfrm>
          <a:prstGeom prst="rightArrow">
            <a:avLst/>
          </a:prstGeom>
          <a:solidFill>
            <a:srgbClr val="ED1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6803136" y="2185415"/>
            <a:ext cx="2029968" cy="1005840"/>
          </a:xfrm>
          <a:prstGeom prst="roundRect">
            <a:avLst>
              <a:gd name="adj" fmla="val 4545"/>
            </a:avLst>
          </a:prstGeom>
          <a:solidFill>
            <a:srgbClr val="FBE4EC"/>
          </a:solidFill>
          <a:ln w="12700">
            <a:solidFill>
              <a:srgbClr val="E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TextBox 57"/>
          <p:cNvSpPr txBox="1"/>
          <p:nvPr/>
        </p:nvSpPr>
        <p:spPr>
          <a:xfrm>
            <a:off x="6894576" y="2386584"/>
            <a:ext cx="18470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424242"/>
                </a:solidFill>
                <a:latin typeface="Source Code Pro"/>
              </a:rPr>
              <a:t>The Answer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94576" y="2734056"/>
            <a:ext cx="184708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Tilted by All Four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10896" y="4114800"/>
            <a:ext cx="85222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All four are useful. All four can tilt the answer.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 - Question Framing Changes What Gets Searched For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" name="Question A"/>
          <p:cNvGrpSpPr/>
          <p:nvPr/>
        </p:nvGrpSpPr>
        <p:grpSpPr>
          <a:xfrm>
            <a:off x="310896" y="1389888"/>
            <a:ext cx="4160520" cy="2761488"/>
            <a:chOff x="310896" y="1389888"/>
            <a:chExt cx="4160520" cy="2761488"/>
          </a:xfrm>
        </p:grpSpPr>
        <p:sp>
          <p:nvSpPr>
            <p:cNvPr id="26" name="Rounded Rectangle 25"/>
            <p:cNvSpPr/>
            <p:nvPr/>
          </p:nvSpPr>
          <p:spPr>
            <a:xfrm>
              <a:off x="310896" y="1389888"/>
              <a:ext cx="4160520" cy="2761488"/>
            </a:xfrm>
            <a:prstGeom prst="roundRect">
              <a:avLst>
                <a:gd name="adj" fmla="val 1655"/>
              </a:avLst>
            </a:prstGeom>
            <a:solidFill>
              <a:srgbClr val="FFFFFF"/>
            </a:solidFill>
            <a:ln w="9525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27" name="TextBox 26"/>
            <p:cNvSpPr txBox="1"/>
            <p:nvPr/>
          </p:nvSpPr>
          <p:spPr>
            <a:xfrm>
              <a:off x="530352" y="1499616"/>
              <a:ext cx="3721608" cy="219456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200" b="1">
                  <a:solidFill>
                    <a:srgbClr val="6B6B6B"/>
                  </a:solidFill>
                  <a:latin typeface="Source Code Pro"/>
                </a:rPr>
                <a:t>Question A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530352" y="1737360"/>
              <a:ext cx="3721608" cy="51206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sz="1300" b="0">
                  <a:solidFill>
                    <a:srgbClr val="424242"/>
                  </a:solidFill>
                  <a:latin typeface="Source Code Pro"/>
                </a:rPr>
                <a:t>"Which evidence supports this plan?"</a:t>
              </a:r>
            </a:p>
          </p:txBody>
        </p:sp>
        <p:sp>
          <p:nvSpPr>
            <p:cNvPr id="29" name="Oval 28"/>
            <p:cNvSpPr/>
            <p:nvPr/>
          </p:nvSpPr>
          <p:spPr>
            <a:xfrm>
              <a:off x="877824" y="2487168"/>
              <a:ext cx="274320" cy="274320"/>
            </a:xfrm>
            <a:prstGeom prst="ellipse">
              <a:avLst/>
            </a:prstGeom>
            <a:solidFill>
              <a:srgbClr val="E91D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Oval 29"/>
            <p:cNvSpPr/>
            <p:nvPr/>
          </p:nvSpPr>
          <p:spPr>
            <a:xfrm>
              <a:off x="877824" y="2907792"/>
              <a:ext cx="274320" cy="274320"/>
            </a:xfrm>
            <a:prstGeom prst="ellipse">
              <a:avLst/>
            </a:prstGeom>
            <a:solidFill>
              <a:srgbClr val="E91D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Oval 30"/>
            <p:cNvSpPr/>
            <p:nvPr/>
          </p:nvSpPr>
          <p:spPr>
            <a:xfrm>
              <a:off x="1389888" y="2487168"/>
              <a:ext cx="274320" cy="274320"/>
            </a:xfrm>
            <a:prstGeom prst="ellipse">
              <a:avLst/>
            </a:prstGeom>
            <a:solidFill>
              <a:srgbClr val="E91D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Oval 31"/>
            <p:cNvSpPr/>
            <p:nvPr/>
          </p:nvSpPr>
          <p:spPr>
            <a:xfrm>
              <a:off x="1389888" y="2907792"/>
              <a:ext cx="274320" cy="274320"/>
            </a:xfrm>
            <a:prstGeom prst="ellipse">
              <a:avLst/>
            </a:prstGeom>
            <a:solidFill>
              <a:srgbClr val="E91D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Oval 32"/>
            <p:cNvSpPr/>
            <p:nvPr/>
          </p:nvSpPr>
          <p:spPr>
            <a:xfrm>
              <a:off x="1901952" y="2487168"/>
              <a:ext cx="274320" cy="274320"/>
            </a:xfrm>
            <a:prstGeom prst="ellipse">
              <a:avLst/>
            </a:prstGeom>
            <a:solidFill>
              <a:srgbClr val="E91D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Oval 33"/>
            <p:cNvSpPr/>
            <p:nvPr/>
          </p:nvSpPr>
          <p:spPr>
            <a:xfrm>
              <a:off x="1901952" y="2907792"/>
              <a:ext cx="274320" cy="274320"/>
            </a:xfrm>
            <a:prstGeom prst="ellipse">
              <a:avLst/>
            </a:prstGeom>
            <a:solidFill>
              <a:srgbClr val="E91D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Oval 34"/>
            <p:cNvSpPr/>
            <p:nvPr/>
          </p:nvSpPr>
          <p:spPr>
            <a:xfrm>
              <a:off x="2414016" y="2487168"/>
              <a:ext cx="274320" cy="274320"/>
            </a:xfrm>
            <a:prstGeom prst="ellipse">
              <a:avLst/>
            </a:prstGeom>
            <a:solidFill>
              <a:srgbClr val="C9C9C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Oval 35"/>
            <p:cNvSpPr/>
            <p:nvPr/>
          </p:nvSpPr>
          <p:spPr>
            <a:xfrm>
              <a:off x="2414016" y="2907792"/>
              <a:ext cx="274320" cy="274320"/>
            </a:xfrm>
            <a:prstGeom prst="ellipse">
              <a:avLst/>
            </a:prstGeom>
            <a:solidFill>
              <a:srgbClr val="C9C9C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Oval 36"/>
            <p:cNvSpPr/>
            <p:nvPr/>
          </p:nvSpPr>
          <p:spPr>
            <a:xfrm>
              <a:off x="2926080" y="2487168"/>
              <a:ext cx="274320" cy="274320"/>
            </a:xfrm>
            <a:prstGeom prst="ellipse">
              <a:avLst/>
            </a:prstGeom>
            <a:solidFill>
              <a:srgbClr val="C9C9C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Oval 37"/>
            <p:cNvSpPr/>
            <p:nvPr/>
          </p:nvSpPr>
          <p:spPr>
            <a:xfrm>
              <a:off x="2926080" y="2907792"/>
              <a:ext cx="274320" cy="274320"/>
            </a:xfrm>
            <a:prstGeom prst="ellipse">
              <a:avLst/>
            </a:prstGeom>
            <a:solidFill>
              <a:srgbClr val="C9C9C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Oval 38"/>
            <p:cNvSpPr/>
            <p:nvPr/>
          </p:nvSpPr>
          <p:spPr>
            <a:xfrm>
              <a:off x="3438144" y="2487168"/>
              <a:ext cx="274320" cy="274320"/>
            </a:xfrm>
            <a:prstGeom prst="ellipse">
              <a:avLst/>
            </a:prstGeom>
            <a:solidFill>
              <a:srgbClr val="C9C9C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Oval 39"/>
            <p:cNvSpPr/>
            <p:nvPr/>
          </p:nvSpPr>
          <p:spPr>
            <a:xfrm>
              <a:off x="3438144" y="2907792"/>
              <a:ext cx="274320" cy="274320"/>
            </a:xfrm>
            <a:prstGeom prst="ellipse">
              <a:avLst/>
            </a:prstGeom>
            <a:solidFill>
              <a:srgbClr val="C9C9C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786384" y="3401568"/>
              <a:ext cx="1536192" cy="219456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200" b="1">
                  <a:solidFill>
                    <a:srgbClr val="E91D63"/>
                  </a:solidFill>
                  <a:latin typeface="Source Code Pro"/>
                </a:rPr>
                <a:t>For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2322576" y="3401568"/>
              <a:ext cx="1536192" cy="219456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200" b="1">
                  <a:solidFill>
                    <a:srgbClr val="6B6B6B"/>
                  </a:solidFill>
                  <a:latin typeface="Source Code Pro"/>
                </a:rPr>
                <a:t>Against</a:t>
              </a:r>
            </a:p>
          </p:txBody>
        </p:sp>
        <p:sp>
          <p:nvSpPr>
            <p:cNvPr id="43" name="Rounded Rectangle 42"/>
            <p:cNvSpPr/>
            <p:nvPr/>
          </p:nvSpPr>
          <p:spPr>
            <a:xfrm>
              <a:off x="749808" y="2359152"/>
              <a:ext cx="1554480" cy="950976"/>
            </a:xfrm>
            <a:prstGeom prst="roundRect">
              <a:avLst>
                <a:gd name="adj" fmla="val 7692"/>
              </a:avLst>
            </a:prstGeom>
            <a:noFill/>
            <a:ln w="19050">
              <a:solidFill>
                <a:srgbClr val="E91D63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44" name="TextBox 43"/>
            <p:cNvSpPr txBox="1"/>
            <p:nvPr/>
          </p:nvSpPr>
          <p:spPr>
            <a:xfrm>
              <a:off x="530352" y="3785615"/>
              <a:ext cx="3721608" cy="2377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200" b="1">
                  <a:solidFill>
                    <a:srgbClr val="424242"/>
                  </a:solidFill>
                  <a:latin typeface="Source Code Pro"/>
                </a:rPr>
                <a:t>Finds one side only.</a:t>
              </a:r>
            </a:p>
          </p:txBody>
        </p:sp>
      </p:grpSp>
      <p:grpSp>
        <p:nvGrpSpPr>
          <p:cNvPr id="5" name="Question B"/>
          <p:cNvGrpSpPr/>
          <p:nvPr/>
        </p:nvGrpSpPr>
        <p:grpSpPr>
          <a:xfrm>
            <a:off x="4672583" y="1389888"/>
            <a:ext cx="4160520" cy="2761488"/>
            <a:chOff x="4672583" y="1389888"/>
            <a:chExt cx="4160520" cy="2761488"/>
          </a:xfrm>
        </p:grpSpPr>
        <p:sp>
          <p:nvSpPr>
            <p:cNvPr id="45" name="Rounded Rectangle 44"/>
            <p:cNvSpPr/>
            <p:nvPr/>
          </p:nvSpPr>
          <p:spPr>
            <a:xfrm>
              <a:off x="4672583" y="1389888"/>
              <a:ext cx="4160520" cy="2761488"/>
            </a:xfrm>
            <a:prstGeom prst="roundRect">
              <a:avLst>
                <a:gd name="adj" fmla="val 1655"/>
              </a:avLst>
            </a:prstGeom>
            <a:solidFill>
              <a:srgbClr val="FFFFFF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46" name="TextBox 45"/>
            <p:cNvSpPr txBox="1"/>
            <p:nvPr/>
          </p:nvSpPr>
          <p:spPr>
            <a:xfrm>
              <a:off x="4892040" y="1499616"/>
              <a:ext cx="3721608" cy="219456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200" b="1">
                  <a:solidFill>
                    <a:srgbClr val="E91D63"/>
                  </a:solidFill>
                  <a:latin typeface="Source Code Pro"/>
                </a:rPr>
                <a:t>Question B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4892040" y="1737360"/>
              <a:ext cx="3721608" cy="51206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sz="1300" b="0">
                  <a:solidFill>
                    <a:srgbClr val="424242"/>
                  </a:solidFill>
                  <a:latin typeface="Source Code Pro"/>
                </a:rPr>
                <a:t>"What evidence supports or challenges this plan?"</a:t>
              </a:r>
            </a:p>
          </p:txBody>
        </p:sp>
        <p:sp>
          <p:nvSpPr>
            <p:cNvPr id="48" name="Oval 47"/>
            <p:cNvSpPr/>
            <p:nvPr/>
          </p:nvSpPr>
          <p:spPr>
            <a:xfrm>
              <a:off x="5239512" y="2487168"/>
              <a:ext cx="274320" cy="274320"/>
            </a:xfrm>
            <a:prstGeom prst="ellipse">
              <a:avLst/>
            </a:prstGeom>
            <a:solidFill>
              <a:srgbClr val="E91D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Oval 48"/>
            <p:cNvSpPr/>
            <p:nvPr/>
          </p:nvSpPr>
          <p:spPr>
            <a:xfrm>
              <a:off x="5239512" y="2907792"/>
              <a:ext cx="274320" cy="274320"/>
            </a:xfrm>
            <a:prstGeom prst="ellipse">
              <a:avLst/>
            </a:prstGeom>
            <a:solidFill>
              <a:srgbClr val="E91D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0" name="Oval 49"/>
            <p:cNvSpPr/>
            <p:nvPr/>
          </p:nvSpPr>
          <p:spPr>
            <a:xfrm>
              <a:off x="5751575" y="2487168"/>
              <a:ext cx="274320" cy="274320"/>
            </a:xfrm>
            <a:prstGeom prst="ellipse">
              <a:avLst/>
            </a:prstGeom>
            <a:solidFill>
              <a:srgbClr val="E91D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Oval 50"/>
            <p:cNvSpPr/>
            <p:nvPr/>
          </p:nvSpPr>
          <p:spPr>
            <a:xfrm>
              <a:off x="5751575" y="2907792"/>
              <a:ext cx="274320" cy="274320"/>
            </a:xfrm>
            <a:prstGeom prst="ellipse">
              <a:avLst/>
            </a:prstGeom>
            <a:solidFill>
              <a:srgbClr val="E91D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2" name="Oval 51"/>
            <p:cNvSpPr/>
            <p:nvPr/>
          </p:nvSpPr>
          <p:spPr>
            <a:xfrm>
              <a:off x="6263640" y="2487168"/>
              <a:ext cx="274320" cy="274320"/>
            </a:xfrm>
            <a:prstGeom prst="ellipse">
              <a:avLst/>
            </a:prstGeom>
            <a:solidFill>
              <a:srgbClr val="E91D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Oval 52"/>
            <p:cNvSpPr/>
            <p:nvPr/>
          </p:nvSpPr>
          <p:spPr>
            <a:xfrm>
              <a:off x="6263640" y="2907792"/>
              <a:ext cx="274320" cy="274320"/>
            </a:xfrm>
            <a:prstGeom prst="ellipse">
              <a:avLst/>
            </a:prstGeom>
            <a:solidFill>
              <a:srgbClr val="E91D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4" name="Oval 53"/>
            <p:cNvSpPr/>
            <p:nvPr/>
          </p:nvSpPr>
          <p:spPr>
            <a:xfrm>
              <a:off x="6775704" y="2487168"/>
              <a:ext cx="274320" cy="274320"/>
            </a:xfrm>
            <a:prstGeom prst="ellipse">
              <a:avLst/>
            </a:prstGeom>
            <a:solidFill>
              <a:srgbClr val="C9C9C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Oval 54"/>
            <p:cNvSpPr/>
            <p:nvPr/>
          </p:nvSpPr>
          <p:spPr>
            <a:xfrm>
              <a:off x="6775704" y="2907792"/>
              <a:ext cx="274320" cy="274320"/>
            </a:xfrm>
            <a:prstGeom prst="ellipse">
              <a:avLst/>
            </a:prstGeom>
            <a:solidFill>
              <a:srgbClr val="C9C9C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6" name="Oval 55"/>
            <p:cNvSpPr/>
            <p:nvPr/>
          </p:nvSpPr>
          <p:spPr>
            <a:xfrm>
              <a:off x="7287768" y="2487168"/>
              <a:ext cx="274320" cy="274320"/>
            </a:xfrm>
            <a:prstGeom prst="ellipse">
              <a:avLst/>
            </a:prstGeom>
            <a:solidFill>
              <a:srgbClr val="C9C9C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7" name="Oval 56"/>
            <p:cNvSpPr/>
            <p:nvPr/>
          </p:nvSpPr>
          <p:spPr>
            <a:xfrm>
              <a:off x="7287768" y="2907792"/>
              <a:ext cx="274320" cy="274320"/>
            </a:xfrm>
            <a:prstGeom prst="ellipse">
              <a:avLst/>
            </a:prstGeom>
            <a:solidFill>
              <a:srgbClr val="C9C9C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8" name="Oval 57"/>
            <p:cNvSpPr/>
            <p:nvPr/>
          </p:nvSpPr>
          <p:spPr>
            <a:xfrm>
              <a:off x="7799831" y="2487168"/>
              <a:ext cx="274320" cy="274320"/>
            </a:xfrm>
            <a:prstGeom prst="ellipse">
              <a:avLst/>
            </a:prstGeom>
            <a:solidFill>
              <a:srgbClr val="C9C9C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Oval 58"/>
            <p:cNvSpPr/>
            <p:nvPr/>
          </p:nvSpPr>
          <p:spPr>
            <a:xfrm>
              <a:off x="7799831" y="2907792"/>
              <a:ext cx="274320" cy="274320"/>
            </a:xfrm>
            <a:prstGeom prst="ellipse">
              <a:avLst/>
            </a:prstGeom>
            <a:solidFill>
              <a:srgbClr val="C9C9C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5148072" y="3401568"/>
              <a:ext cx="1536192" cy="219456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200" b="1">
                  <a:solidFill>
                    <a:srgbClr val="E91D63"/>
                  </a:solidFill>
                  <a:latin typeface="Source Code Pro"/>
                </a:rPr>
                <a:t>For</a:t>
              </a: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6684264" y="3401568"/>
              <a:ext cx="1536192" cy="219456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ctr"/>
              <a:r>
                <a:rPr sz="1200" b="1">
                  <a:solidFill>
                    <a:srgbClr val="6B6B6B"/>
                  </a:solidFill>
                  <a:latin typeface="Source Code Pro"/>
                </a:rPr>
                <a:t>Against</a:t>
              </a:r>
            </a:p>
          </p:txBody>
        </p:sp>
        <p:sp>
          <p:nvSpPr>
            <p:cNvPr id="62" name="Rounded Rectangle 61"/>
            <p:cNvSpPr/>
            <p:nvPr/>
          </p:nvSpPr>
          <p:spPr>
            <a:xfrm>
              <a:off x="5111496" y="2359152"/>
              <a:ext cx="3090672" cy="950976"/>
            </a:xfrm>
            <a:prstGeom prst="roundRect">
              <a:avLst>
                <a:gd name="adj" fmla="val 7692"/>
              </a:avLst>
            </a:prstGeom>
            <a:noFill/>
            <a:ln w="19050">
              <a:solidFill>
                <a:srgbClr val="E91D63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63" name="TextBox 62"/>
            <p:cNvSpPr txBox="1"/>
            <p:nvPr/>
          </p:nvSpPr>
          <p:spPr>
            <a:xfrm>
              <a:off x="4892040" y="3785615"/>
              <a:ext cx="3721608" cy="237744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200" b="1">
                  <a:solidFill>
                    <a:srgbClr val="E91D63"/>
                  </a:solidFill>
                  <a:latin typeface="Source Code Pro"/>
                </a:rPr>
                <a:t>Finds both sides.</a:t>
              </a:r>
            </a:p>
          </p:txBody>
        </p:sp>
      </p:grpSp>
      <p:sp>
        <p:nvSpPr>
          <p:cNvPr id="64" name="TextBox 63"/>
          <p:cNvSpPr txBox="1"/>
          <p:nvPr/>
        </p:nvSpPr>
        <p:spPr>
          <a:xfrm>
            <a:off x="310896" y="4261104"/>
            <a:ext cx="85222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The wording sets where the model looks.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Ownership Words Invite Agreement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10896" y="1426464"/>
            <a:ext cx="4160520" cy="2359152"/>
          </a:xfrm>
          <a:prstGeom prst="roundRect">
            <a:avLst>
              <a:gd name="adj" fmla="val 2000"/>
            </a:avLst>
          </a:prstGeom>
          <a:solidFill>
            <a:srgbClr val="30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310896" y="1426464"/>
            <a:ext cx="4160520" cy="301752"/>
          </a:xfrm>
          <a:prstGeom prst="roundRect">
            <a:avLst>
              <a:gd name="adj" fmla="val 18181"/>
            </a:avLst>
          </a:prstGeom>
          <a:solidFill>
            <a:srgbClr val="25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310896" y="1619585"/>
            <a:ext cx="4160520" cy="108630"/>
          </a:xfrm>
          <a:prstGeom prst="rect">
            <a:avLst/>
          </a:prstGeom>
          <a:solidFill>
            <a:srgbClr val="25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57200" y="1508760"/>
            <a:ext cx="291236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7F7FA"/>
                </a:solidFill>
                <a:latin typeface="Arial"/>
              </a:rPr>
              <a:t>AI Assistant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27831" y="1527048"/>
            <a:ext cx="109728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85" b="0">
                <a:solidFill>
                  <a:srgbClr val="C6C7D0"/>
                </a:solidFill>
                <a:latin typeface="Arial"/>
              </a:rPr>
              <a:t>Loaded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1856232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User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2057400"/>
            <a:ext cx="3867911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I wrote this launch plan and 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2267712"/>
            <a:ext cx="3867911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think it's strong. Is it good?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20624" y="2532888"/>
            <a:ext cx="3941063" cy="1069848"/>
          </a:xfrm>
          <a:prstGeom prst="roundRect">
            <a:avLst>
              <a:gd name="adj" fmla="val 4273"/>
            </a:avLst>
          </a:prstGeom>
          <a:solidFill>
            <a:srgbClr val="3C3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66928" y="2651760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AI Assistant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21207" y="2843784"/>
            <a:ext cx="2171700" cy="201168"/>
          </a:xfrm>
          <a:prstGeom prst="roundRect">
            <a:avLst>
              <a:gd name="adj" fmla="val 18181"/>
            </a:avLst>
          </a:prstGeom>
          <a:solidFill>
            <a:srgbClr val="71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566928" y="2852928"/>
            <a:ext cx="3648455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Yes, it's a strong plan. The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21207" y="3054096"/>
            <a:ext cx="2245995" cy="201168"/>
          </a:xfrm>
          <a:prstGeom prst="roundRect">
            <a:avLst>
              <a:gd name="adj" fmla="val 18181"/>
            </a:avLst>
          </a:prstGeom>
          <a:solidFill>
            <a:srgbClr val="71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566928" y="3063240"/>
            <a:ext cx="3648455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timeline is realistic and the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21207" y="3264408"/>
            <a:ext cx="1280160" cy="201168"/>
          </a:xfrm>
          <a:prstGeom prst="roundRect">
            <a:avLst>
              <a:gd name="adj" fmla="val 18181"/>
            </a:avLst>
          </a:prstGeom>
          <a:solidFill>
            <a:srgbClr val="71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566928" y="3273552"/>
            <a:ext cx="3648455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goals are clear.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672583" y="1426464"/>
            <a:ext cx="4160520" cy="2359152"/>
          </a:xfrm>
          <a:prstGeom prst="roundRect">
            <a:avLst>
              <a:gd name="adj" fmla="val 2000"/>
            </a:avLst>
          </a:prstGeom>
          <a:solidFill>
            <a:srgbClr val="30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ounded Rectangle 42"/>
          <p:cNvSpPr/>
          <p:nvPr/>
        </p:nvSpPr>
        <p:spPr>
          <a:xfrm>
            <a:off x="4672583" y="1426464"/>
            <a:ext cx="4160520" cy="301752"/>
          </a:xfrm>
          <a:prstGeom prst="roundRect">
            <a:avLst>
              <a:gd name="adj" fmla="val 18181"/>
            </a:avLst>
          </a:prstGeom>
          <a:solidFill>
            <a:srgbClr val="25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4672583" y="1619585"/>
            <a:ext cx="4160520" cy="108630"/>
          </a:xfrm>
          <a:prstGeom prst="rect">
            <a:avLst/>
          </a:prstGeom>
          <a:solidFill>
            <a:srgbClr val="25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4818888" y="1508760"/>
            <a:ext cx="2912363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7F7FA"/>
                </a:solidFill>
                <a:latin typeface="Arial"/>
              </a:rPr>
              <a:t>AI Assistant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89520" y="1527048"/>
            <a:ext cx="109728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85" b="0">
                <a:solidFill>
                  <a:srgbClr val="C6C7D0"/>
                </a:solidFill>
                <a:latin typeface="Arial"/>
              </a:rPr>
              <a:t>Neutral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18888" y="1856232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User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18888" y="2057400"/>
            <a:ext cx="3867911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Here is a launch plan. List its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18888" y="2267712"/>
            <a:ext cx="3867911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three biggest weaknesses.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782312" y="2532888"/>
            <a:ext cx="3941063" cy="1069848"/>
          </a:xfrm>
          <a:prstGeom prst="roundRect">
            <a:avLst>
              <a:gd name="adj" fmla="val 4273"/>
            </a:avLst>
          </a:prstGeom>
          <a:solidFill>
            <a:srgbClr val="3C3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4928616" y="2651760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AI Assistant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882896" y="2843784"/>
            <a:ext cx="2543175" cy="201168"/>
          </a:xfrm>
          <a:prstGeom prst="roundRect">
            <a:avLst>
              <a:gd name="adj" fmla="val 18181"/>
            </a:avLst>
          </a:prstGeom>
          <a:solidFill>
            <a:srgbClr val="71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4928616" y="2852928"/>
            <a:ext cx="3648455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1. No owner for customer support.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882896" y="3054096"/>
            <a:ext cx="2320290" cy="201168"/>
          </a:xfrm>
          <a:prstGeom prst="roundRect">
            <a:avLst>
              <a:gd name="adj" fmla="val 18181"/>
            </a:avLst>
          </a:prstGeom>
          <a:solidFill>
            <a:srgbClr val="71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TextBox 53"/>
          <p:cNvSpPr txBox="1"/>
          <p:nvPr/>
        </p:nvSpPr>
        <p:spPr>
          <a:xfrm>
            <a:off x="4928616" y="3063240"/>
            <a:ext cx="3648455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2. The timeline has no buffer.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882896" y="3264408"/>
            <a:ext cx="2245995" cy="201168"/>
          </a:xfrm>
          <a:prstGeom prst="roundRect">
            <a:avLst>
              <a:gd name="adj" fmla="val 18181"/>
            </a:avLst>
          </a:prstGeom>
          <a:solidFill>
            <a:srgbClr val="71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4928616" y="3273552"/>
            <a:ext cx="3648455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3. Success is not measurable.</a:t>
            </a:r>
          </a:p>
        </p:txBody>
      </p:sp>
      <p:grpSp>
        <p:nvGrpSpPr>
          <p:cNvPr id="4" name="Invites agreement"/>
          <p:cNvGrpSpPr/>
          <p:nvPr/>
        </p:nvGrpSpPr>
        <p:grpSpPr>
          <a:xfrm>
            <a:off x="310896" y="3895344"/>
            <a:ext cx="2779776" cy="310896"/>
            <a:chOff x="310896" y="3895344"/>
            <a:chExt cx="2779776" cy="310896"/>
          </a:xfrm>
        </p:grpSpPr>
        <p:sp>
          <p:nvSpPr>
            <p:cNvPr id="58" name="Oval 57"/>
            <p:cNvSpPr/>
            <p:nvPr/>
          </p:nvSpPr>
          <p:spPr>
            <a:xfrm>
              <a:off x="310896" y="3895344"/>
              <a:ext cx="310896" cy="310896"/>
            </a:xfrm>
            <a:prstGeom prst="ellipse">
              <a:avLst/>
            </a:prstGeom>
            <a:solidFill>
              <a:srgbClr val="F5F5F7"/>
            </a:solidFill>
            <a:ln w="9525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59" name="Picture 58" descr="icon-triangle-alert-ink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79293" y="3963741"/>
              <a:ext cx="174101" cy="174101"/>
            </a:xfrm>
            <a:prstGeom prst="rect">
              <a:avLst/>
            </a:prstGeom>
          </p:spPr>
        </p:pic>
        <p:sp>
          <p:nvSpPr>
            <p:cNvPr id="60" name="TextBox 59"/>
            <p:cNvSpPr txBox="1"/>
            <p:nvPr/>
          </p:nvSpPr>
          <p:spPr>
            <a:xfrm>
              <a:off x="713232" y="3895344"/>
              <a:ext cx="2377440" cy="310896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1">
                  <a:solidFill>
                    <a:srgbClr val="424242"/>
                  </a:solidFill>
                  <a:latin typeface="Source Code Pro"/>
                </a:rPr>
                <a:t>Invites Agreement</a:t>
              </a:r>
            </a:p>
          </p:txBody>
        </p:sp>
      </p:grpSp>
      <p:grpSp>
        <p:nvGrpSpPr>
          <p:cNvPr id="5" name="Invites critique"/>
          <p:cNvGrpSpPr/>
          <p:nvPr/>
        </p:nvGrpSpPr>
        <p:grpSpPr>
          <a:xfrm>
            <a:off x="4672583" y="3895344"/>
            <a:ext cx="2779777" cy="310896"/>
            <a:chOff x="4672583" y="3895344"/>
            <a:chExt cx="2779777" cy="310896"/>
          </a:xfrm>
        </p:grpSpPr>
        <p:sp>
          <p:nvSpPr>
            <p:cNvPr id="61" name="Oval 60"/>
            <p:cNvSpPr/>
            <p:nvPr/>
          </p:nvSpPr>
          <p:spPr>
            <a:xfrm>
              <a:off x="4672583" y="3895344"/>
              <a:ext cx="310896" cy="310896"/>
            </a:xfrm>
            <a:prstGeom prst="ellipse">
              <a:avLst/>
            </a:prstGeom>
            <a:solidFill>
              <a:srgbClr val="FBE4EC"/>
            </a:solidFill>
            <a:ln w="9525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62" name="Picture 61" descr="icon-check-pink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40981" y="3963741"/>
              <a:ext cx="174101" cy="174101"/>
            </a:xfrm>
            <a:prstGeom prst="rect">
              <a:avLst/>
            </a:prstGeom>
          </p:spPr>
        </p:pic>
        <p:sp>
          <p:nvSpPr>
            <p:cNvPr id="63" name="TextBox 62"/>
            <p:cNvSpPr txBox="1"/>
            <p:nvPr/>
          </p:nvSpPr>
          <p:spPr>
            <a:xfrm>
              <a:off x="5074920" y="3895344"/>
              <a:ext cx="2377440" cy="310896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1">
                  <a:solidFill>
                    <a:srgbClr val="E91D63"/>
                  </a:solidFill>
                  <a:latin typeface="Source Code Pro"/>
                </a:rPr>
                <a:t>Invites Critique</a:t>
              </a:r>
            </a:p>
          </p:txBody>
        </p:sp>
      </p:grpSp>
      <p:sp>
        <p:nvSpPr>
          <p:cNvPr id="64" name="TextBox 63"/>
          <p:cNvSpPr txBox="1"/>
          <p:nvPr/>
        </p:nvSpPr>
        <p:spPr>
          <a:xfrm>
            <a:off x="310896" y="4297680"/>
            <a:ext cx="85222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Models are tuned to please. "I" and "my" tell them what pleases you.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Ask Neutral Questions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10896" y="1389888"/>
            <a:ext cx="37490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B6B6B"/>
                </a:solidFill>
                <a:latin typeface="Source Code Pro"/>
              </a:rPr>
              <a:t>Loaded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1389888"/>
            <a:ext cx="4169663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91D63"/>
                </a:solidFill>
                <a:latin typeface="Source Code Pro"/>
              </a:rPr>
              <a:t>Neutral</a:t>
            </a:r>
          </a:p>
        </p:txBody>
      </p:sp>
      <p:grpSp>
        <p:nvGrpSpPr>
          <p:cNvPr id="4" name="Loaded to neutral"/>
          <p:cNvGrpSpPr/>
          <p:nvPr/>
        </p:nvGrpSpPr>
        <p:grpSpPr>
          <a:xfrm>
            <a:off x="310896" y="1700784"/>
            <a:ext cx="8522207" cy="512064"/>
            <a:chOff x="310896" y="1700784"/>
            <a:chExt cx="8522207" cy="512064"/>
          </a:xfrm>
        </p:grpSpPr>
        <p:sp>
          <p:nvSpPr>
            <p:cNvPr id="28" name="Rounded Rectangle 27"/>
            <p:cNvSpPr/>
            <p:nvPr/>
          </p:nvSpPr>
          <p:spPr>
            <a:xfrm>
              <a:off x="310896" y="1700784"/>
              <a:ext cx="3749039" cy="512064"/>
            </a:xfrm>
            <a:prstGeom prst="roundRect">
              <a:avLst>
                <a:gd name="adj" fmla="val 14285"/>
              </a:avLst>
            </a:prstGeom>
            <a:solidFill>
              <a:srgbClr val="F5F5F7"/>
            </a:solidFill>
            <a:ln w="9525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29" name="Oval 28"/>
            <p:cNvSpPr/>
            <p:nvPr/>
          </p:nvSpPr>
          <p:spPr>
            <a:xfrm>
              <a:off x="402336" y="1801368"/>
              <a:ext cx="310896" cy="31089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0" name="Picture 29" descr="icon-triangle-alert-ink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0733" y="1869765"/>
              <a:ext cx="174101" cy="174101"/>
            </a:xfrm>
            <a:prstGeom prst="rect">
              <a:avLst/>
            </a:prstGeom>
          </p:spPr>
        </p:pic>
        <p:sp>
          <p:nvSpPr>
            <p:cNvPr id="31" name="TextBox 30"/>
            <p:cNvSpPr txBox="1"/>
            <p:nvPr/>
          </p:nvSpPr>
          <p:spPr>
            <a:xfrm>
              <a:off x="804672" y="1700784"/>
              <a:ext cx="3163823" cy="51206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6B6B6B"/>
                  </a:solidFill>
                  <a:latin typeface="Source Code Pro"/>
                </a:rPr>
                <a:t>"I think X is better. Right?"</a:t>
              </a:r>
            </a:p>
          </p:txBody>
        </p:sp>
        <p:sp>
          <p:nvSpPr>
            <p:cNvPr id="32" name="Right Arrow 31"/>
            <p:cNvSpPr/>
            <p:nvPr/>
          </p:nvSpPr>
          <p:spPr>
            <a:xfrm>
              <a:off x="4187951" y="1911096"/>
              <a:ext cx="347472" cy="91440"/>
            </a:xfrm>
            <a:prstGeom prst="rightArrow">
              <a:avLst/>
            </a:prstGeom>
            <a:solidFill>
              <a:srgbClr val="ED17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4663440" y="1700784"/>
              <a:ext cx="4169663" cy="512064"/>
            </a:xfrm>
            <a:prstGeom prst="roundRect">
              <a:avLst>
                <a:gd name="adj" fmla="val 14285"/>
              </a:avLst>
            </a:prstGeom>
            <a:solidFill>
              <a:srgbClr val="FBE4EC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4" name="Oval 33"/>
            <p:cNvSpPr/>
            <p:nvPr/>
          </p:nvSpPr>
          <p:spPr>
            <a:xfrm>
              <a:off x="4754879" y="1801368"/>
              <a:ext cx="310896" cy="31089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5" name="Picture 34" descr="icon-check-pink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23277" y="1869765"/>
              <a:ext cx="174101" cy="174101"/>
            </a:xfrm>
            <a:prstGeom prst="rect">
              <a:avLst/>
            </a:prstGeom>
          </p:spPr>
        </p:pic>
        <p:sp>
          <p:nvSpPr>
            <p:cNvPr id="36" name="TextBox 35"/>
            <p:cNvSpPr txBox="1"/>
            <p:nvPr/>
          </p:nvSpPr>
          <p:spPr>
            <a:xfrm>
              <a:off x="5157216" y="1700784"/>
              <a:ext cx="3584447" cy="51206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424242"/>
                  </a:solidFill>
                  <a:latin typeface="Source Code Pro"/>
                </a:rPr>
                <a:t>"Which is better for &lt;goal&gt;: X or Y?"</a:t>
              </a:r>
            </a:p>
          </p:txBody>
        </p:sp>
      </p:grpSp>
      <p:grpSp>
        <p:nvGrpSpPr>
          <p:cNvPr id="5" name="Loaded to neutral"/>
          <p:cNvGrpSpPr/>
          <p:nvPr/>
        </p:nvGrpSpPr>
        <p:grpSpPr>
          <a:xfrm>
            <a:off x="310896" y="2340864"/>
            <a:ext cx="8522207" cy="512064"/>
            <a:chOff x="310896" y="2340864"/>
            <a:chExt cx="8522207" cy="512064"/>
          </a:xfrm>
        </p:grpSpPr>
        <p:sp>
          <p:nvSpPr>
            <p:cNvPr id="37" name="Rounded Rectangle 36"/>
            <p:cNvSpPr/>
            <p:nvPr/>
          </p:nvSpPr>
          <p:spPr>
            <a:xfrm>
              <a:off x="310896" y="2340864"/>
              <a:ext cx="3749039" cy="512064"/>
            </a:xfrm>
            <a:prstGeom prst="roundRect">
              <a:avLst>
                <a:gd name="adj" fmla="val 14285"/>
              </a:avLst>
            </a:prstGeom>
            <a:solidFill>
              <a:srgbClr val="F5F5F7"/>
            </a:solidFill>
            <a:ln w="9525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8" name="Oval 37"/>
            <p:cNvSpPr/>
            <p:nvPr/>
          </p:nvSpPr>
          <p:spPr>
            <a:xfrm>
              <a:off x="402336" y="2441448"/>
              <a:ext cx="310896" cy="31089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9" name="Picture 38" descr="icon-triangle-alert-ink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0733" y="2509845"/>
              <a:ext cx="174101" cy="174101"/>
            </a:xfrm>
            <a:prstGeom prst="rect">
              <a:avLst/>
            </a:prstGeom>
          </p:spPr>
        </p:pic>
        <p:sp>
          <p:nvSpPr>
            <p:cNvPr id="40" name="TextBox 39"/>
            <p:cNvSpPr txBox="1"/>
            <p:nvPr/>
          </p:nvSpPr>
          <p:spPr>
            <a:xfrm>
              <a:off x="804672" y="2340864"/>
              <a:ext cx="3163823" cy="51206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6B6B6B"/>
                  </a:solidFill>
                  <a:latin typeface="Source Code Pro"/>
                </a:rPr>
                <a:t>"My essay is good, isn't it?"</a:t>
              </a:r>
            </a:p>
          </p:txBody>
        </p:sp>
        <p:sp>
          <p:nvSpPr>
            <p:cNvPr id="41" name="Right Arrow 40"/>
            <p:cNvSpPr/>
            <p:nvPr/>
          </p:nvSpPr>
          <p:spPr>
            <a:xfrm>
              <a:off x="4187951" y="2551176"/>
              <a:ext cx="347472" cy="91440"/>
            </a:xfrm>
            <a:prstGeom prst="rightArrow">
              <a:avLst/>
            </a:prstGeom>
            <a:solidFill>
              <a:srgbClr val="ED17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Rounded Rectangle 41"/>
            <p:cNvSpPr/>
            <p:nvPr/>
          </p:nvSpPr>
          <p:spPr>
            <a:xfrm>
              <a:off x="4663440" y="2340864"/>
              <a:ext cx="4169663" cy="512064"/>
            </a:xfrm>
            <a:prstGeom prst="roundRect">
              <a:avLst>
                <a:gd name="adj" fmla="val 14285"/>
              </a:avLst>
            </a:prstGeom>
            <a:solidFill>
              <a:srgbClr val="FBE4EC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43" name="Oval 42"/>
            <p:cNvSpPr/>
            <p:nvPr/>
          </p:nvSpPr>
          <p:spPr>
            <a:xfrm>
              <a:off x="4754879" y="2441448"/>
              <a:ext cx="310896" cy="31089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44" name="Picture 43" descr="icon-check-pink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23277" y="2509845"/>
              <a:ext cx="174101" cy="174101"/>
            </a:xfrm>
            <a:prstGeom prst="rect">
              <a:avLst/>
            </a:prstGeom>
          </p:spPr>
        </p:pic>
        <p:sp>
          <p:nvSpPr>
            <p:cNvPr id="45" name="TextBox 44"/>
            <p:cNvSpPr txBox="1"/>
            <p:nvPr/>
          </p:nvSpPr>
          <p:spPr>
            <a:xfrm>
              <a:off x="5157216" y="2340864"/>
              <a:ext cx="3584447" cy="51206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424242"/>
                  </a:solidFill>
                  <a:latin typeface="Source Code Pro"/>
                </a:rPr>
                <a:t>"Review this essay against &lt;criteria&gt;."</a:t>
              </a:r>
            </a:p>
          </p:txBody>
        </p:sp>
      </p:grpSp>
      <p:grpSp>
        <p:nvGrpSpPr>
          <p:cNvPr id="6" name="Loaded to neutral"/>
          <p:cNvGrpSpPr/>
          <p:nvPr/>
        </p:nvGrpSpPr>
        <p:grpSpPr>
          <a:xfrm>
            <a:off x="310896" y="2980944"/>
            <a:ext cx="8522207" cy="512064"/>
            <a:chOff x="310896" y="2980944"/>
            <a:chExt cx="8522207" cy="512064"/>
          </a:xfrm>
        </p:grpSpPr>
        <p:sp>
          <p:nvSpPr>
            <p:cNvPr id="46" name="Rounded Rectangle 45"/>
            <p:cNvSpPr/>
            <p:nvPr/>
          </p:nvSpPr>
          <p:spPr>
            <a:xfrm>
              <a:off x="310896" y="2980944"/>
              <a:ext cx="3749039" cy="512064"/>
            </a:xfrm>
            <a:prstGeom prst="roundRect">
              <a:avLst>
                <a:gd name="adj" fmla="val 14285"/>
              </a:avLst>
            </a:prstGeom>
            <a:solidFill>
              <a:srgbClr val="F5F5F7"/>
            </a:solidFill>
            <a:ln w="9525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47" name="Oval 46"/>
            <p:cNvSpPr/>
            <p:nvPr/>
          </p:nvSpPr>
          <p:spPr>
            <a:xfrm>
              <a:off x="402336" y="3081528"/>
              <a:ext cx="310896" cy="31089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48" name="Picture 47" descr="icon-triangle-alert-ink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0733" y="3149925"/>
              <a:ext cx="174101" cy="174101"/>
            </a:xfrm>
            <a:prstGeom prst="rect">
              <a:avLst/>
            </a:prstGeom>
          </p:spPr>
        </p:pic>
        <p:sp>
          <p:nvSpPr>
            <p:cNvPr id="49" name="TextBox 48"/>
            <p:cNvSpPr txBox="1"/>
            <p:nvPr/>
          </p:nvSpPr>
          <p:spPr>
            <a:xfrm>
              <a:off x="804672" y="2980944"/>
              <a:ext cx="3163823" cy="51206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6B6B6B"/>
                  </a:solidFill>
                  <a:latin typeface="Source Code Pro"/>
                </a:rPr>
                <a:t>"Why is X the best option?"</a:t>
              </a:r>
            </a:p>
          </p:txBody>
        </p:sp>
        <p:sp>
          <p:nvSpPr>
            <p:cNvPr id="50" name="Right Arrow 49"/>
            <p:cNvSpPr/>
            <p:nvPr/>
          </p:nvSpPr>
          <p:spPr>
            <a:xfrm>
              <a:off x="4187951" y="3191256"/>
              <a:ext cx="347472" cy="91440"/>
            </a:xfrm>
            <a:prstGeom prst="rightArrow">
              <a:avLst/>
            </a:prstGeom>
            <a:solidFill>
              <a:srgbClr val="ED17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Rounded Rectangle 50"/>
            <p:cNvSpPr/>
            <p:nvPr/>
          </p:nvSpPr>
          <p:spPr>
            <a:xfrm>
              <a:off x="4663440" y="2980944"/>
              <a:ext cx="4169663" cy="512064"/>
            </a:xfrm>
            <a:prstGeom prst="roundRect">
              <a:avLst>
                <a:gd name="adj" fmla="val 14285"/>
              </a:avLst>
            </a:prstGeom>
            <a:solidFill>
              <a:srgbClr val="FBE4EC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52" name="Oval 51"/>
            <p:cNvSpPr/>
            <p:nvPr/>
          </p:nvSpPr>
          <p:spPr>
            <a:xfrm>
              <a:off x="4754879" y="3081528"/>
              <a:ext cx="310896" cy="31089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53" name="Picture 52" descr="icon-check-pink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23277" y="3149925"/>
              <a:ext cx="174101" cy="174101"/>
            </a:xfrm>
            <a:prstGeom prst="rect">
              <a:avLst/>
            </a:prstGeom>
          </p:spPr>
        </p:pic>
        <p:sp>
          <p:nvSpPr>
            <p:cNvPr id="54" name="TextBox 53"/>
            <p:cNvSpPr txBox="1"/>
            <p:nvPr/>
          </p:nvSpPr>
          <p:spPr>
            <a:xfrm>
              <a:off x="5157216" y="2980944"/>
              <a:ext cx="3584447" cy="51206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424242"/>
                  </a:solidFill>
                  <a:latin typeface="Source Code Pro"/>
                </a:rPr>
                <a:t>"Compare X, Y and Z on &lt;criteria&gt;."</a:t>
              </a:r>
            </a:p>
          </p:txBody>
        </p:sp>
      </p:grpSp>
      <p:grpSp>
        <p:nvGrpSpPr>
          <p:cNvPr id="7" name="Loaded to neutral"/>
          <p:cNvGrpSpPr/>
          <p:nvPr/>
        </p:nvGrpSpPr>
        <p:grpSpPr>
          <a:xfrm>
            <a:off x="310896" y="3621024"/>
            <a:ext cx="8522207" cy="512064"/>
            <a:chOff x="310896" y="3621024"/>
            <a:chExt cx="8522207" cy="512064"/>
          </a:xfrm>
        </p:grpSpPr>
        <p:sp>
          <p:nvSpPr>
            <p:cNvPr id="55" name="Rounded Rectangle 54"/>
            <p:cNvSpPr/>
            <p:nvPr/>
          </p:nvSpPr>
          <p:spPr>
            <a:xfrm>
              <a:off x="310896" y="3621024"/>
              <a:ext cx="3749039" cy="512064"/>
            </a:xfrm>
            <a:prstGeom prst="roundRect">
              <a:avLst>
                <a:gd name="adj" fmla="val 14285"/>
              </a:avLst>
            </a:prstGeom>
            <a:solidFill>
              <a:srgbClr val="F5F5F7"/>
            </a:solidFill>
            <a:ln w="9525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56" name="Oval 55"/>
            <p:cNvSpPr/>
            <p:nvPr/>
          </p:nvSpPr>
          <p:spPr>
            <a:xfrm>
              <a:off x="402336" y="3721608"/>
              <a:ext cx="310896" cy="31089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57" name="Picture 56" descr="icon-triangle-alert-ink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70733" y="3790005"/>
              <a:ext cx="174101" cy="174101"/>
            </a:xfrm>
            <a:prstGeom prst="rect">
              <a:avLst/>
            </a:prstGeom>
          </p:spPr>
        </p:pic>
        <p:sp>
          <p:nvSpPr>
            <p:cNvPr id="58" name="TextBox 57"/>
            <p:cNvSpPr txBox="1"/>
            <p:nvPr/>
          </p:nvSpPr>
          <p:spPr>
            <a:xfrm>
              <a:off x="804672" y="3621024"/>
              <a:ext cx="3163823" cy="51206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6B6B6B"/>
                  </a:solidFill>
                  <a:latin typeface="Source Code Pro"/>
                </a:rPr>
                <a:t>"I'm sure the bug is in the API."</a:t>
              </a:r>
            </a:p>
          </p:txBody>
        </p:sp>
        <p:sp>
          <p:nvSpPr>
            <p:cNvPr id="59" name="Right Arrow 58"/>
            <p:cNvSpPr/>
            <p:nvPr/>
          </p:nvSpPr>
          <p:spPr>
            <a:xfrm>
              <a:off x="4187951" y="3831336"/>
              <a:ext cx="347472" cy="91440"/>
            </a:xfrm>
            <a:prstGeom prst="rightArrow">
              <a:avLst/>
            </a:prstGeom>
            <a:solidFill>
              <a:srgbClr val="ED176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0" name="Rounded Rectangle 59"/>
            <p:cNvSpPr/>
            <p:nvPr/>
          </p:nvSpPr>
          <p:spPr>
            <a:xfrm>
              <a:off x="4663440" y="3621024"/>
              <a:ext cx="4169663" cy="512064"/>
            </a:xfrm>
            <a:prstGeom prst="roundRect">
              <a:avLst>
                <a:gd name="adj" fmla="val 14285"/>
              </a:avLst>
            </a:prstGeom>
            <a:solidFill>
              <a:srgbClr val="FBE4EC"/>
            </a:solidFill>
            <a:ln w="12700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61" name="Oval 60"/>
            <p:cNvSpPr/>
            <p:nvPr/>
          </p:nvSpPr>
          <p:spPr>
            <a:xfrm>
              <a:off x="4754879" y="3721608"/>
              <a:ext cx="310896" cy="31089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E91D6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62" name="Picture 61" descr="icon-check-pink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23277" y="3790005"/>
              <a:ext cx="174101" cy="174101"/>
            </a:xfrm>
            <a:prstGeom prst="rect">
              <a:avLst/>
            </a:prstGeom>
          </p:spPr>
        </p:pic>
        <p:sp>
          <p:nvSpPr>
            <p:cNvPr id="63" name="TextBox 62"/>
            <p:cNvSpPr txBox="1"/>
            <p:nvPr/>
          </p:nvSpPr>
          <p:spPr>
            <a:xfrm>
              <a:off x="5157216" y="3621024"/>
              <a:ext cx="3584447" cy="512064"/>
            </a:xfrm>
            <a:prstGeom prst="rect">
              <a:avLst/>
            </a:prstGeom>
            <a:noFill/>
          </p:spPr>
          <p:txBody>
            <a:bodyPr wrap="square" lIns="0" rIns="0" tIns="0" bIns="0" anchor="ctr">
              <a:spAutoFit/>
            </a:bodyPr>
            <a:lstStyle/>
            <a:p>
              <a:pPr algn="l"/>
              <a:r>
                <a:rPr sz="1200" b="0">
                  <a:solidFill>
                    <a:srgbClr val="424242"/>
                  </a:solidFill>
                  <a:latin typeface="Source Code Pro"/>
                </a:rPr>
                <a:t>"Rank the likely causes of this bug."</a:t>
              </a:r>
            </a:p>
          </p:txBody>
        </p:sp>
      </p:grpSp>
      <p:sp>
        <p:nvSpPr>
          <p:cNvPr id="64" name="TextBox 63"/>
          <p:cNvSpPr txBox="1"/>
          <p:nvPr/>
        </p:nvSpPr>
        <p:spPr>
          <a:xfrm>
            <a:off x="310896" y="4315968"/>
            <a:ext cx="85222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Drop "I" and "my". Put the options side by side. Ask for the case against.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It Matters - Awareness Gives You a Way to Check the Frame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" name="Memory"/>
          <p:cNvGrpSpPr/>
          <p:nvPr/>
        </p:nvGrpSpPr>
        <p:grpSpPr>
          <a:xfrm>
            <a:off x="310896" y="1426464"/>
            <a:ext cx="1993392" cy="2816352"/>
            <a:chOff x="310896" y="1426464"/>
            <a:chExt cx="1993392" cy="2816352"/>
          </a:xfrm>
        </p:grpSpPr>
        <p:sp>
          <p:nvSpPr>
            <p:cNvPr id="26" name="Rounded Rectangle 25"/>
            <p:cNvSpPr/>
            <p:nvPr/>
          </p:nvSpPr>
          <p:spPr>
            <a:xfrm>
              <a:off x="310896" y="1426464"/>
              <a:ext cx="1993392" cy="2706624"/>
            </a:xfrm>
            <a:prstGeom prst="roundRect">
              <a:avLst>
                <a:gd name="adj" fmla="val 2293"/>
              </a:avLst>
            </a:prstGeom>
            <a:solidFill>
              <a:srgbClr val="FFFFFF"/>
            </a:solidFill>
            <a:ln w="9525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27" name="Oval 26"/>
            <p:cNvSpPr/>
            <p:nvPr/>
          </p:nvSpPr>
          <p:spPr>
            <a:xfrm>
              <a:off x="493776" y="1572768"/>
              <a:ext cx="420624" cy="420624"/>
            </a:xfrm>
            <a:prstGeom prst="ellipse">
              <a:avLst/>
            </a:prstGeom>
            <a:solidFill>
              <a:srgbClr val="F5F5F7"/>
            </a:solidFill>
            <a:ln w="9525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28" name="Picture 27" descr="icon-brain-ink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86313" y="1665305"/>
              <a:ext cx="235549" cy="235549"/>
            </a:xfrm>
            <a:prstGeom prst="rect">
              <a:avLst/>
            </a:prstGeom>
          </p:spPr>
        </p:pic>
        <p:sp>
          <p:nvSpPr>
            <p:cNvPr id="29" name="TextBox 28"/>
            <p:cNvSpPr txBox="1"/>
            <p:nvPr/>
          </p:nvSpPr>
          <p:spPr>
            <a:xfrm>
              <a:off x="493776" y="2103120"/>
              <a:ext cx="1627632" cy="27432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400" b="1">
                  <a:solidFill>
                    <a:srgbClr val="424242"/>
                  </a:solidFill>
                  <a:latin typeface="Source Code Pro"/>
                </a:rPr>
                <a:t>Memory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493776" y="2395728"/>
              <a:ext cx="1627632" cy="54864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6B6B6B"/>
                  </a:solidFill>
                  <a:latin typeface="Source Code Pro"/>
                </a:rPr>
                <a:t>Preferences should persist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493776" y="2999232"/>
              <a:ext cx="1627632" cy="7315"/>
            </a:xfrm>
            <a:prstGeom prst="rect">
              <a:avLst/>
            </a:prstGeom>
            <a:solidFill>
              <a:srgbClr val="D8D8D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2" name="TextBox 31"/>
            <p:cNvSpPr txBox="1"/>
            <p:nvPr/>
          </p:nvSpPr>
          <p:spPr>
            <a:xfrm>
              <a:off x="493776" y="3090672"/>
              <a:ext cx="1627632" cy="219456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200" b="1">
                  <a:solidFill>
                    <a:srgbClr val="E91D63"/>
                  </a:solidFill>
                  <a:latin typeface="Source Code Pro"/>
                </a:rPr>
                <a:t>Check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93776" y="3328416"/>
              <a:ext cx="1627632" cy="9144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424242"/>
                  </a:solidFill>
                  <a:latin typeface="Source Code Pro"/>
                </a:rPr>
                <a:t>Is an old preference steering this?</a:t>
              </a:r>
            </a:p>
          </p:txBody>
        </p:sp>
      </p:grpSp>
      <p:grpSp>
        <p:nvGrpSpPr>
          <p:cNvPr id="5" name="Instructions"/>
          <p:cNvGrpSpPr/>
          <p:nvPr/>
        </p:nvGrpSpPr>
        <p:grpSpPr>
          <a:xfrm>
            <a:off x="2487168" y="1426464"/>
            <a:ext cx="1993392" cy="2816352"/>
            <a:chOff x="2487168" y="1426464"/>
            <a:chExt cx="1993392" cy="2816352"/>
          </a:xfrm>
        </p:grpSpPr>
        <p:sp>
          <p:nvSpPr>
            <p:cNvPr id="34" name="Rounded Rectangle 33"/>
            <p:cNvSpPr/>
            <p:nvPr/>
          </p:nvSpPr>
          <p:spPr>
            <a:xfrm>
              <a:off x="2487168" y="1426464"/>
              <a:ext cx="1993392" cy="2706624"/>
            </a:xfrm>
            <a:prstGeom prst="roundRect">
              <a:avLst>
                <a:gd name="adj" fmla="val 2293"/>
              </a:avLst>
            </a:prstGeom>
            <a:solidFill>
              <a:srgbClr val="FFFFFF"/>
            </a:solidFill>
            <a:ln w="9525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35" name="Oval 34"/>
            <p:cNvSpPr/>
            <p:nvPr/>
          </p:nvSpPr>
          <p:spPr>
            <a:xfrm>
              <a:off x="2670048" y="1572768"/>
              <a:ext cx="420624" cy="420624"/>
            </a:xfrm>
            <a:prstGeom prst="ellipse">
              <a:avLst/>
            </a:prstGeom>
            <a:solidFill>
              <a:srgbClr val="F5F5F7"/>
            </a:solidFill>
            <a:ln w="9525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36" name="Picture 35" descr="icon-sliders-horizontal-ink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762585" y="1665305"/>
              <a:ext cx="235549" cy="235549"/>
            </a:xfrm>
            <a:prstGeom prst="rect">
              <a:avLst/>
            </a:prstGeom>
          </p:spPr>
        </p:pic>
        <p:sp>
          <p:nvSpPr>
            <p:cNvPr id="37" name="TextBox 36"/>
            <p:cNvSpPr txBox="1"/>
            <p:nvPr/>
          </p:nvSpPr>
          <p:spPr>
            <a:xfrm>
              <a:off x="2670048" y="2103120"/>
              <a:ext cx="1627632" cy="27432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400" b="1">
                  <a:solidFill>
                    <a:srgbClr val="424242"/>
                  </a:solidFill>
                  <a:latin typeface="Source Code Pro"/>
                </a:rPr>
                <a:t>Instructions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2670048" y="2395728"/>
              <a:ext cx="1627632" cy="54864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6B6B6B"/>
                  </a:solidFill>
                  <a:latin typeface="Source Code Pro"/>
                </a:rPr>
                <a:t>The same rules should repeat</a:t>
              </a: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2670048" y="2999232"/>
              <a:ext cx="1627632" cy="7315"/>
            </a:xfrm>
            <a:prstGeom prst="rect">
              <a:avLst/>
            </a:prstGeom>
            <a:solidFill>
              <a:srgbClr val="D8D8D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40" name="TextBox 39"/>
            <p:cNvSpPr txBox="1"/>
            <p:nvPr/>
          </p:nvSpPr>
          <p:spPr>
            <a:xfrm>
              <a:off x="2670048" y="3090672"/>
              <a:ext cx="1627632" cy="219456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200" b="1">
                  <a:solidFill>
                    <a:srgbClr val="E91D63"/>
                  </a:solidFill>
                  <a:latin typeface="Source Code Pro"/>
                </a:rPr>
                <a:t>Check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2670048" y="3328416"/>
              <a:ext cx="1627632" cy="9144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424242"/>
                  </a:solidFill>
                  <a:latin typeface="Source Code Pro"/>
                </a:rPr>
                <a:t>Do the rules favour one outcome?</a:t>
              </a:r>
            </a:p>
          </p:txBody>
        </p:sp>
      </p:grpSp>
      <p:grpSp>
        <p:nvGrpSpPr>
          <p:cNvPr id="6" name="Chat history"/>
          <p:cNvGrpSpPr/>
          <p:nvPr/>
        </p:nvGrpSpPr>
        <p:grpSpPr>
          <a:xfrm>
            <a:off x="4663440" y="1426464"/>
            <a:ext cx="1993392" cy="2816352"/>
            <a:chOff x="4663440" y="1426464"/>
            <a:chExt cx="1993392" cy="2816352"/>
          </a:xfrm>
        </p:grpSpPr>
        <p:sp>
          <p:nvSpPr>
            <p:cNvPr id="42" name="Rounded Rectangle 41"/>
            <p:cNvSpPr/>
            <p:nvPr/>
          </p:nvSpPr>
          <p:spPr>
            <a:xfrm>
              <a:off x="4663440" y="1426464"/>
              <a:ext cx="1993392" cy="2706624"/>
            </a:xfrm>
            <a:prstGeom prst="roundRect">
              <a:avLst>
                <a:gd name="adj" fmla="val 2293"/>
              </a:avLst>
            </a:prstGeom>
            <a:solidFill>
              <a:srgbClr val="FFFFFF"/>
            </a:solidFill>
            <a:ln w="9525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43" name="Oval 42"/>
            <p:cNvSpPr/>
            <p:nvPr/>
          </p:nvSpPr>
          <p:spPr>
            <a:xfrm>
              <a:off x="4846320" y="1572768"/>
              <a:ext cx="420624" cy="420624"/>
            </a:xfrm>
            <a:prstGeom prst="ellipse">
              <a:avLst/>
            </a:prstGeom>
            <a:solidFill>
              <a:srgbClr val="F5F5F7"/>
            </a:solidFill>
            <a:ln w="9525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44" name="Picture 43" descr="icon-history-ink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38857" y="1665305"/>
              <a:ext cx="235549" cy="235549"/>
            </a:xfrm>
            <a:prstGeom prst="rect">
              <a:avLst/>
            </a:prstGeom>
          </p:spPr>
        </p:pic>
        <p:sp>
          <p:nvSpPr>
            <p:cNvPr id="45" name="TextBox 44"/>
            <p:cNvSpPr txBox="1"/>
            <p:nvPr/>
          </p:nvSpPr>
          <p:spPr>
            <a:xfrm>
              <a:off x="4846320" y="2103120"/>
              <a:ext cx="1627632" cy="27432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400" b="1">
                  <a:solidFill>
                    <a:srgbClr val="424242"/>
                  </a:solidFill>
                  <a:latin typeface="Source Code Pro"/>
                </a:rPr>
                <a:t>Chat History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4846320" y="2395728"/>
              <a:ext cx="1627632" cy="54864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6B6B6B"/>
                  </a:solidFill>
                  <a:latin typeface="Source Code Pro"/>
                </a:rPr>
                <a:t>The task spans several turns</a:t>
              </a: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4846320" y="2999232"/>
              <a:ext cx="1627632" cy="7315"/>
            </a:xfrm>
            <a:prstGeom prst="rect">
              <a:avLst/>
            </a:prstGeom>
            <a:solidFill>
              <a:srgbClr val="D8D8D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48" name="TextBox 47"/>
            <p:cNvSpPr txBox="1"/>
            <p:nvPr/>
          </p:nvSpPr>
          <p:spPr>
            <a:xfrm>
              <a:off x="4846320" y="3090672"/>
              <a:ext cx="1627632" cy="219456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200" b="1">
                  <a:solidFill>
                    <a:srgbClr val="E91D63"/>
                  </a:solidFill>
                  <a:latin typeface="Source Code Pro"/>
                </a:rPr>
                <a:t>Check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4846320" y="3328416"/>
              <a:ext cx="1627632" cy="9144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424242"/>
                  </a:solidFill>
                  <a:latin typeface="Source Code Pro"/>
                </a:rPr>
                <a:t>Would a fresh chat answer differently?</a:t>
              </a:r>
            </a:p>
          </p:txBody>
        </p:sp>
      </p:grpSp>
      <p:grpSp>
        <p:nvGrpSpPr>
          <p:cNvPr id="7" name="Question"/>
          <p:cNvGrpSpPr/>
          <p:nvPr/>
        </p:nvGrpSpPr>
        <p:grpSpPr>
          <a:xfrm>
            <a:off x="6839712" y="1426464"/>
            <a:ext cx="1993392" cy="2816352"/>
            <a:chOff x="6839712" y="1426464"/>
            <a:chExt cx="1993392" cy="2816352"/>
          </a:xfrm>
        </p:grpSpPr>
        <p:sp>
          <p:nvSpPr>
            <p:cNvPr id="50" name="Rounded Rectangle 49"/>
            <p:cNvSpPr/>
            <p:nvPr/>
          </p:nvSpPr>
          <p:spPr>
            <a:xfrm>
              <a:off x="6839712" y="1426464"/>
              <a:ext cx="1993392" cy="2706624"/>
            </a:xfrm>
            <a:prstGeom prst="roundRect">
              <a:avLst>
                <a:gd name="adj" fmla="val 2293"/>
              </a:avLst>
            </a:prstGeom>
            <a:solidFill>
              <a:srgbClr val="FFFFFF"/>
            </a:solidFill>
            <a:ln w="9525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51" name="Oval 50"/>
            <p:cNvSpPr/>
            <p:nvPr/>
          </p:nvSpPr>
          <p:spPr>
            <a:xfrm>
              <a:off x="7022592" y="1572768"/>
              <a:ext cx="420624" cy="420624"/>
            </a:xfrm>
            <a:prstGeom prst="ellipse">
              <a:avLst/>
            </a:prstGeom>
            <a:solidFill>
              <a:srgbClr val="F5F5F7"/>
            </a:solidFill>
            <a:ln w="9525">
              <a:solidFill>
                <a:srgbClr val="D8D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pic>
          <p:nvPicPr>
            <p:cNvPr id="52" name="Picture 51" descr="icon-message-circle-question-ink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115129" y="1665305"/>
              <a:ext cx="235549" cy="235549"/>
            </a:xfrm>
            <a:prstGeom prst="rect">
              <a:avLst/>
            </a:prstGeom>
          </p:spPr>
        </p:pic>
        <p:sp>
          <p:nvSpPr>
            <p:cNvPr id="53" name="TextBox 52"/>
            <p:cNvSpPr txBox="1"/>
            <p:nvPr/>
          </p:nvSpPr>
          <p:spPr>
            <a:xfrm>
              <a:off x="7022592" y="2103120"/>
              <a:ext cx="1627632" cy="27432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400" b="1">
                  <a:solidFill>
                    <a:srgbClr val="424242"/>
                  </a:solidFill>
                  <a:latin typeface="Source Code Pro"/>
                </a:rPr>
                <a:t>Question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7022592" y="2395728"/>
              <a:ext cx="1627632" cy="54864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6B6B6B"/>
                  </a:solidFill>
                  <a:latin typeface="Source Code Pro"/>
                </a:rPr>
                <a:t>You need a focused answer</a:t>
              </a:r>
            </a:p>
          </p:txBody>
        </p:sp>
        <p:sp>
          <p:nvSpPr>
            <p:cNvPr id="55" name="Rectangle 54"/>
            <p:cNvSpPr/>
            <p:nvPr/>
          </p:nvSpPr>
          <p:spPr>
            <a:xfrm>
              <a:off x="7022592" y="2999232"/>
              <a:ext cx="1627632" cy="7315"/>
            </a:xfrm>
            <a:prstGeom prst="rect">
              <a:avLst/>
            </a:prstGeom>
            <a:solidFill>
              <a:srgbClr val="D8D8D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/>
          </p:txBody>
        </p:sp>
        <p:sp>
          <p:nvSpPr>
            <p:cNvPr id="56" name="TextBox 55"/>
            <p:cNvSpPr txBox="1"/>
            <p:nvPr/>
          </p:nvSpPr>
          <p:spPr>
            <a:xfrm>
              <a:off x="7022592" y="3090672"/>
              <a:ext cx="1627632" cy="219456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/>
              <a:r>
                <a:rPr sz="1200" b="1">
                  <a:solidFill>
                    <a:srgbClr val="E91D63"/>
                  </a:solidFill>
                  <a:latin typeface="Source Code Pro"/>
                </a:rPr>
                <a:t>Check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7022592" y="3328416"/>
              <a:ext cx="1627632" cy="914400"/>
            </a:xfrm>
            <a:prstGeom prst="rect">
              <a:avLst/>
            </a:prstGeom>
            <a:noFill/>
          </p:spPr>
          <p:txBody>
            <a:bodyPr wrap="square" lIns="0" rIns="0" tIns="0" bIns="0" anchor="t">
              <a:sp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424242"/>
                  </a:solidFill>
                  <a:latin typeface="Source Code Pro"/>
                </a:rPr>
                <a:t>Did the wording exclude alternatives?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0" y="0"/>
            <a:ext cx="9144000" cy="1572768"/>
          </a:xfrm>
          <a:prstGeom prst="rect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502920" y="0"/>
            <a:ext cx="8138160" cy="1572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0" b="0">
                <a:solidFill>
                  <a:srgbClr val="FFFFFF"/>
                </a:solidFill>
                <a:latin typeface="Oswald"/>
              </a:rPr>
              <a:t>Let's See It in Action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2920" y="1883664"/>
            <a:ext cx="81381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424242"/>
                </a:solidFill>
                <a:latin typeface="Source Code Pro"/>
              </a:rPr>
              <a:t>See the frame, then test whether it changed the answer.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02920" y="2450592"/>
            <a:ext cx="1842516" cy="1716024"/>
          </a:xfrm>
          <a:prstGeom prst="roundRect">
            <a:avLst>
              <a:gd name="adj" fmla="val 2664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Oval 71"/>
          <p:cNvSpPr/>
          <p:nvPr/>
        </p:nvSpPr>
        <p:spPr>
          <a:xfrm>
            <a:off x="722376" y="2670048"/>
            <a:ext cx="384048" cy="384048"/>
          </a:xfrm>
          <a:prstGeom prst="ellipse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722376" y="26700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Oswald"/>
              </a:rPr>
              <a:t>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04088" y="3127248"/>
            <a:ext cx="1440180" cy="39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Inspect the Context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04088" y="3651504"/>
            <a:ext cx="1440180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Memory and Instructions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2601468" y="2450592"/>
            <a:ext cx="1842516" cy="1716024"/>
          </a:xfrm>
          <a:prstGeom prst="roundRect">
            <a:avLst>
              <a:gd name="adj" fmla="val 2664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Oval 76"/>
          <p:cNvSpPr/>
          <p:nvPr/>
        </p:nvSpPr>
        <p:spPr>
          <a:xfrm>
            <a:off x="2820924" y="2670048"/>
            <a:ext cx="384048" cy="384048"/>
          </a:xfrm>
          <a:prstGeom prst="ellipse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2820924" y="26700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Oswald"/>
              </a:rPr>
              <a:t>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802636" y="3127248"/>
            <a:ext cx="1440180" cy="39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Open a Fresh Chat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2802636" y="3651504"/>
            <a:ext cx="1440180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Remove Earlier Framing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4700016" y="2450592"/>
            <a:ext cx="1842516" cy="1716024"/>
          </a:xfrm>
          <a:prstGeom prst="roundRect">
            <a:avLst>
              <a:gd name="adj" fmla="val 2664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Oval 81"/>
          <p:cNvSpPr/>
          <p:nvPr/>
        </p:nvSpPr>
        <p:spPr>
          <a:xfrm>
            <a:off x="4919472" y="2670048"/>
            <a:ext cx="384048" cy="384048"/>
          </a:xfrm>
          <a:prstGeom prst="ellipse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4919472" y="26700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Oswald"/>
              </a:rPr>
              <a:t>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901183" y="3127248"/>
            <a:ext cx="1440180" cy="39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Rewrite the Question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901183" y="3651504"/>
            <a:ext cx="1440180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Drop 'I' and 'My'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6798564" y="2450592"/>
            <a:ext cx="1842516" cy="1716024"/>
          </a:xfrm>
          <a:prstGeom prst="roundRect">
            <a:avLst>
              <a:gd name="adj" fmla="val 2664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Oval 86"/>
          <p:cNvSpPr/>
          <p:nvPr/>
        </p:nvSpPr>
        <p:spPr>
          <a:xfrm>
            <a:off x="7018020" y="2670048"/>
            <a:ext cx="384048" cy="384048"/>
          </a:xfrm>
          <a:prstGeom prst="ellipse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TextBox 87"/>
          <p:cNvSpPr txBox="1"/>
          <p:nvPr/>
        </p:nvSpPr>
        <p:spPr>
          <a:xfrm>
            <a:off x="7018020" y="26700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Oswald"/>
              </a:rPr>
              <a:t>4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999731" y="3127248"/>
            <a:ext cx="1440180" cy="39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Compare the Answers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999731" y="3651504"/>
            <a:ext cx="1440180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Notice What Changed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0838F"/>
      </a:accent5>
      <a:accent6>
        <a:srgbClr val="F8E71C"/>
      </a:accent6>
      <a:hlink>
        <a:srgbClr val="00838F"/>
      </a:hlink>
      <a:folHlink>
        <a:srgbClr val="0083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0838F"/>
      </a:accent5>
      <a:accent6>
        <a:srgbClr val="F8E71C"/>
      </a:accent6>
      <a:hlink>
        <a:srgbClr val="00838F"/>
      </a:hlink>
      <a:folHlink>
        <a:srgbClr val="0083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