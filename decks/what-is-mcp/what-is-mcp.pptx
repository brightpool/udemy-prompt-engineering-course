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70" r:id="rId5"/>
    <p:sldMasterId id="2147483671" r:id="rId6"/>
  </p:sldMasterIdLst>
  <p:notesMasterIdLst>
    <p:notesMasterId r:id="rId7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13"/>
    <p:sldId id="267" r:id="rId12"/>
  </p:sldIdLst>
  <p:sldSz cy="5143500" cx="9144000"/>
  <p:notesSz cx="6858000" cy="9144000"/>
  <p:embeddedFontLst>
    <p:embeddedFont>
      <p:font typeface="Source Code Pro"/>
      <p:regular r:id="rId24"/>
      <p:bold r:id="rId25"/>
      <p:italic r:id="rId26"/>
      <p:boldItalic r:id="rId27"/>
    </p:embeddedFont>
    <p:embeddedFont>
      <p:font typeface="Oswald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673574E-313A-4E41-A38C-36F247BE0EA5}">
  <a:tblStyle styleId="{3673574E-313A-4E41-A38C-36F247BE0EA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709F496F-DB3D-4476-992D-8F9A65F7952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12" Type="http://schemas.openxmlformats.org/officeDocument/2006/relationships/slide" Target="slides/slide12.xml"/><Relationship Id="rId13" Type="http://schemas.openxmlformats.org/officeDocument/2006/relationships/slide" Target="slides/slide1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font" Target="fonts/SourceCodePro-regular.fntdata"/><Relationship Id="rId25" Type="http://schemas.openxmlformats.org/officeDocument/2006/relationships/font" Target="fonts/SourceCodePro-bold.fntdata"/><Relationship Id="rId26" Type="http://schemas.openxmlformats.org/officeDocument/2006/relationships/font" Target="fonts/SourceCodePro-italic.fntdata"/><Relationship Id="rId27" Type="http://schemas.openxmlformats.org/officeDocument/2006/relationships/font" Target="fonts/SourceCodePro-boldItalic.fntdata"/><Relationship Id="rId28" Type="http://schemas.openxmlformats.org/officeDocument/2006/relationships/font" Target="fonts/Oswald-regular.fntdata"/><Relationship Id="rId29" Type="http://schemas.openxmlformats.org/officeDocument/2006/relationships/font" Target="fonts/Oswal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" name="Google Shape;15;p2"/>
          <p:cNvSpPr txBox="1"/>
          <p:nvPr/>
        </p:nvSpPr>
        <p:spPr>
          <a:xfrm>
            <a:off x="411175" y="79900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11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Google Shape;20;p3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3" name="Google Shape;23;p4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Google Shape;26;p4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Google Shape;28;p5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9" name="Google Shape;29;p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5"/>
          <p:cNvSpPr txBox="1"/>
          <p:nvPr>
            <p:ph idx="2" type="body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5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" name="Google Shape;37;p6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Google Shape;39;p7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40" name="Google Shape;4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1" name="Google Shape;41;p7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" name="Google Shape;43;p7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/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" name="Google Shape;47;p8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9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/>
          <p:nvPr>
            <p:ph idx="1" type="body"/>
          </p:nvPr>
        </p:nvSpPr>
        <p:spPr>
          <a:xfrm>
            <a:off x="311700" y="406472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" name="Google Shape;59;p10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3" name="Google Shape;63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1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Google Shape;68;p12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4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" name="Google Shape;77;p14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8" name="Google Shape;7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" name="Google Shape;79;p14"/>
          <p:cNvSpPr txBox="1"/>
          <p:nvPr/>
        </p:nvSpPr>
        <p:spPr>
          <a:xfrm>
            <a:off x="411175" y="79900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1100" u="none" cap="none" strike="noStrike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Google Shape;81;p15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82" name="Google Shape;82;p1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" name="Google Shape;83;p15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" name="Google Shape;85;p15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6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0" name="Google Shape;90;p16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" name="Google Shape;92;p17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93" name="Google Shape;93;p17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4" name="Google Shape;94;p17"/>
          <p:cNvSpPr txBox="1"/>
          <p:nvPr>
            <p:ph idx="1" type="body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5" name="Google Shape;95;p17"/>
          <p:cNvSpPr txBox="1"/>
          <p:nvPr>
            <p:ph idx="2" type="body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6" name="Google Shape;9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" name="Google Shape;97;p17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0" name="Google Shape;10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18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3" name="Google Shape;103;p19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04" name="Google Shape;104;p19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6" name="Google Shape;10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7" name="Google Shape;107;p19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0" name="Google Shape;11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4" name="Google Shape;114;p21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15" name="Google Shape;115;p21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6" name="Google Shape;116;p21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7" name="Google Shape;117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idx="1" type="body"/>
          </p:nvPr>
        </p:nvSpPr>
        <p:spPr>
          <a:xfrm>
            <a:off x="311700" y="406472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122" name="Google Shape;12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" name="Google Shape;123;p22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5" name="Google Shape;125;p23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26" name="Google Shape;126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7" name="Google Shape;127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8" name="Google Shape;128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" name="Google Shape;129;p23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2" name="Google Shape;132;p24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-writer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-writer">
    <p:bg>
      <p:bgPr>
        <a:solidFill>
          <a:schemeClr val="lt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3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1" name="Google Shape;71;p13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b="0" i="0" sz="18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72" name="Google Shape;7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What Is MCP?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r>
              <a:t>How an assistant plugs into the software you already use, through one shared standard instead of a bespoke integration each time.</a:t>
            </a:r>
          </a:p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Common Standard for Reaching Your Other Systems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32120" y="1389888"/>
            <a:ext cx="3300984" cy="2852928"/>
          </a:xfrm>
        </p:spPr>
        <p:txBody>
          <a:bodyPr wrap="square" anchor="ctr"/>
          <a:lstStyle/>
          <a:p>
            <a:pPr marL="0" indent="0">
              <a:buNone/>
            </a:pPr>
            <a:r>
              <a:t>MCP - the Model Context Protocol - is an open standard for connecting an assistant to other software. The system at the other end runs a server, which lists the jobs it can do. Any assistant that speaks the standard can use any server.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65760" y="1426464"/>
            <a:ext cx="4663440" cy="2779776"/>
          </a:xfrm>
          <a:prstGeom prst="roundRect">
            <a:avLst>
              <a:gd name="adj" fmla="val 1764"/>
            </a:avLst>
          </a:prstGeom>
          <a:solidFill>
            <a:srgbClr val="30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365760" y="1426464"/>
            <a:ext cx="4663440" cy="301752"/>
          </a:xfrm>
          <a:prstGeom prst="roundRect">
            <a:avLst>
              <a:gd name="adj" fmla="val 18181"/>
            </a:avLst>
          </a:prstGeom>
          <a:solidFill>
            <a:srgbClr val="25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365760" y="1619585"/>
            <a:ext cx="4663440" cy="108630"/>
          </a:xfrm>
          <a:prstGeom prst="rect">
            <a:avLst/>
          </a:prstGeom>
          <a:solidFill>
            <a:srgbClr val="25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12064" y="1508760"/>
            <a:ext cx="326440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7F7FA"/>
                </a:solidFill>
                <a:latin typeface="Arial"/>
              </a:rPr>
              <a:t>ChatGPT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85615" y="1527048"/>
            <a:ext cx="109728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85" b="0">
                <a:solidFill>
                  <a:srgbClr val="C6C7D0"/>
                </a:solidFill>
                <a:latin typeface="Arial"/>
              </a:rPr>
              <a:t>Demonstration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" y="1856232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User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" y="2057400"/>
            <a:ext cx="4370831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Total last month's invoices by client.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4" y="2322576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Calling a connected system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6344" y="2514600"/>
            <a:ext cx="3137535" cy="201168"/>
          </a:xfrm>
          <a:prstGeom prst="roundRect">
            <a:avLst>
              <a:gd name="adj" fmla="val 18181"/>
            </a:avLst>
          </a:prstGeom>
          <a:solidFill>
            <a:srgbClr val="71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12064" y="2523744"/>
            <a:ext cx="4370831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Example Accounting - invoices, last month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75488" y="2734056"/>
            <a:ext cx="4443983" cy="914400"/>
          </a:xfrm>
          <a:prstGeom prst="roundRect">
            <a:avLst>
              <a:gd name="adj" fmla="val 5000"/>
            </a:avLst>
          </a:prstGeom>
          <a:solidFill>
            <a:srgbClr val="3C3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21792" y="2852928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AI Assistant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" y="3054096"/>
            <a:ext cx="4151375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Six invoices, £14,200 in total.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3264408"/>
            <a:ext cx="4151375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Three clients account for most of it.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12064" y="3794759"/>
            <a:ext cx="4370831" cy="301752"/>
          </a:xfrm>
          <a:prstGeom prst="roundRect">
            <a:avLst>
              <a:gd name="adj" fmla="val 15151"/>
            </a:avLst>
          </a:prstGeom>
          <a:solidFill>
            <a:srgbClr val="3C3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30936" y="3867911"/>
            <a:ext cx="3749039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0">
                <a:solidFill>
                  <a:srgbClr val="C6C7D0"/>
                </a:solidFill>
                <a:latin typeface="Arial"/>
              </a:rPr>
              <a:t>Send a message…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608576" y="3840479"/>
            <a:ext cx="210312" cy="210312"/>
          </a:xfrm>
          <a:prstGeom prst="roundRect">
            <a:avLst>
              <a:gd name="adj" fmla="val 21739"/>
            </a:avLst>
          </a:prstGeom>
          <a:solidFill>
            <a:srgbClr val="E4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4608576" y="3840479"/>
            <a:ext cx="21031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25" b="0">
                <a:solidFill>
                  <a:srgbClr val="25262C"/>
                </a:solidFill>
                <a:latin typeface="Arial"/>
              </a:rPr>
              <a:t>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Skill Is Not a Connection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10896" y="1426464"/>
            <a:ext cx="4078224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93776" y="1572768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24242"/>
                </a:solidFill>
                <a:latin typeface="Source Code Pro"/>
              </a:rPr>
              <a:t>A skill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" y="1975104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—  Instructions the assistant follows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" y="2286000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—  Written in words, by you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" y="2596896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—  Changes how it works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" y="2907791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—  Travels with the assistant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0" y="1426464"/>
            <a:ext cx="4078224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937760" y="1572768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91D63"/>
                </a:solidFill>
                <a:latin typeface="Source Code Pro"/>
              </a:rPr>
              <a:t>MCP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37760" y="1975104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—  A live link to another system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37760" y="2286000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—  Spoken between programs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37760" y="2596896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—  Changes what it can reach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37760" y="2907791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—  Lives wherever that system runs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0896" y="3767328"/>
            <a:ext cx="8522208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A "connector" or an "app" is usually an MCP server: the small program a system runs so assistants can reach it. A "plugin" is the bundle shipped around one - a server plus the skills for using it. The two stack rather than compete.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 It Was Invented to Solve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10896" y="1426464"/>
            <a:ext cx="4078224" cy="2377440"/>
          </a:xfrm>
          <a:prstGeom prst="roundRect">
            <a:avLst>
              <a:gd name="adj" fmla="val 2307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93776" y="1554480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24242"/>
                </a:solidFill>
                <a:latin typeface="Source Code Pro"/>
              </a:rPr>
              <a:t>Every pair, wired by hand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0" y="1426464"/>
            <a:ext cx="4078224" cy="2377440"/>
          </a:xfrm>
          <a:prstGeom prst="roundRect">
            <a:avLst>
              <a:gd name="adj" fmla="val 2307"/>
            </a:avLst>
          </a:prstGeom>
          <a:solidFill>
            <a:srgbClr val="FFFFFF"/>
          </a:solidFill>
          <a:ln w="12700">
            <a:solidFill>
              <a:srgbClr val="E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937760" y="1554480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91D63"/>
                </a:solidFill>
                <a:latin typeface="Source Code Pro"/>
              </a:rPr>
              <a:t>One protocol in the middle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12064" y="1883664"/>
            <a:ext cx="1170432" cy="402336"/>
          </a:xfrm>
          <a:prstGeom prst="roundRect">
            <a:avLst>
              <a:gd name="adj" fmla="val 11363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" y="1883664"/>
            <a:ext cx="98755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424242"/>
                </a:solidFill>
                <a:latin typeface="Source Code Pro"/>
              </a:rPr>
              <a:t>Assistant 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980944" y="1883664"/>
            <a:ext cx="1170432" cy="402336"/>
          </a:xfrm>
          <a:prstGeom prst="roundRect">
            <a:avLst>
              <a:gd name="adj" fmla="val 11363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3072384" y="1883664"/>
            <a:ext cx="98755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424242"/>
                </a:solidFill>
                <a:latin typeface="Source Code Pro"/>
              </a:rPr>
              <a:t>System 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12064" y="2395728"/>
            <a:ext cx="1170432" cy="402336"/>
          </a:xfrm>
          <a:prstGeom prst="roundRect">
            <a:avLst>
              <a:gd name="adj" fmla="val 11363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03504" y="2395728"/>
            <a:ext cx="98755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424242"/>
                </a:solidFill>
                <a:latin typeface="Source Code Pro"/>
              </a:rPr>
              <a:t>Assistant B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980944" y="2395728"/>
            <a:ext cx="1170432" cy="402336"/>
          </a:xfrm>
          <a:prstGeom prst="roundRect">
            <a:avLst>
              <a:gd name="adj" fmla="val 11363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3072384" y="2395728"/>
            <a:ext cx="98755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424242"/>
                </a:solidFill>
                <a:latin typeface="Source Code Pro"/>
              </a:rPr>
              <a:t>System 2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12064" y="2907792"/>
            <a:ext cx="1170432" cy="402336"/>
          </a:xfrm>
          <a:prstGeom prst="roundRect">
            <a:avLst>
              <a:gd name="adj" fmla="val 11363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03504" y="2907792"/>
            <a:ext cx="98755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424242"/>
                </a:solidFill>
                <a:latin typeface="Source Code Pro"/>
              </a:rPr>
              <a:t>Assistant C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980944" y="2907792"/>
            <a:ext cx="1170432" cy="402336"/>
          </a:xfrm>
          <a:prstGeom prst="roundRect">
            <a:avLst>
              <a:gd name="adj" fmla="val 11363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3072384" y="2907792"/>
            <a:ext cx="98755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424242"/>
                </a:solidFill>
                <a:latin typeface="Source Code Pro"/>
              </a:rPr>
              <a:t>System 3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682496" y="2084832"/>
            <a:ext cx="1298448" cy="0"/>
          </a:xfrm>
          <a:prstGeom prst="line">
            <a:avLst/>
          </a:prstGeom>
          <a:ln w="12700">
            <a:solidFill>
              <a:srgbClr val="D8D8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682496" y="2084832"/>
            <a:ext cx="1298448" cy="512064"/>
          </a:xfrm>
          <a:prstGeom prst="line">
            <a:avLst/>
          </a:prstGeom>
          <a:ln w="12700">
            <a:solidFill>
              <a:srgbClr val="D8D8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682496" y="2084832"/>
            <a:ext cx="1298448" cy="1024128"/>
          </a:xfrm>
          <a:prstGeom prst="line">
            <a:avLst/>
          </a:prstGeom>
          <a:ln w="12700">
            <a:solidFill>
              <a:srgbClr val="D8D8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682496" y="2084832"/>
            <a:ext cx="1298448" cy="512064"/>
          </a:xfrm>
          <a:prstGeom prst="line">
            <a:avLst/>
          </a:prstGeom>
          <a:ln w="12700">
            <a:solidFill>
              <a:srgbClr val="D8D8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682496" y="2596896"/>
            <a:ext cx="1298448" cy="0"/>
          </a:xfrm>
          <a:prstGeom prst="line">
            <a:avLst/>
          </a:prstGeom>
          <a:ln w="12700">
            <a:solidFill>
              <a:srgbClr val="D8D8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682496" y="2596896"/>
            <a:ext cx="1298448" cy="512064"/>
          </a:xfrm>
          <a:prstGeom prst="line">
            <a:avLst/>
          </a:prstGeom>
          <a:ln w="12700">
            <a:solidFill>
              <a:srgbClr val="D8D8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1682496" y="2084832"/>
            <a:ext cx="1298448" cy="1024128"/>
          </a:xfrm>
          <a:prstGeom prst="line">
            <a:avLst/>
          </a:prstGeom>
          <a:ln w="12700">
            <a:solidFill>
              <a:srgbClr val="D8D8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1682496" y="2596896"/>
            <a:ext cx="1298448" cy="512064"/>
          </a:xfrm>
          <a:prstGeom prst="line">
            <a:avLst/>
          </a:prstGeom>
          <a:ln w="12700">
            <a:solidFill>
              <a:srgbClr val="D8D8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682496" y="3108960"/>
            <a:ext cx="1298448" cy="0"/>
          </a:xfrm>
          <a:prstGeom prst="line">
            <a:avLst/>
          </a:prstGeom>
          <a:ln w="12700">
            <a:solidFill>
              <a:srgbClr val="D8D8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4956048" y="1883664"/>
            <a:ext cx="1097280" cy="402336"/>
          </a:xfrm>
          <a:prstGeom prst="roundRect">
            <a:avLst>
              <a:gd name="adj" fmla="val 11363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5047488" y="1883664"/>
            <a:ext cx="9144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424242"/>
                </a:solidFill>
                <a:latin typeface="Source Code Pro"/>
              </a:rPr>
              <a:t>Assistant A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589520" y="1883664"/>
            <a:ext cx="1097280" cy="402336"/>
          </a:xfrm>
          <a:prstGeom prst="roundRect">
            <a:avLst>
              <a:gd name="adj" fmla="val 11363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7680960" y="1883664"/>
            <a:ext cx="9144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424242"/>
                </a:solidFill>
                <a:latin typeface="Source Code Pro"/>
              </a:rPr>
              <a:t>System 1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053328" y="2084832"/>
            <a:ext cx="438912" cy="512064"/>
          </a:xfrm>
          <a:prstGeom prst="line">
            <a:avLst/>
          </a:prstGeom>
          <a:ln w="15875">
            <a:solidFill>
              <a:srgbClr val="ED17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7278624" y="2084832"/>
            <a:ext cx="310896" cy="512064"/>
          </a:xfrm>
          <a:prstGeom prst="line">
            <a:avLst/>
          </a:prstGeom>
          <a:ln w="15875">
            <a:solidFill>
              <a:srgbClr val="ED17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4956048" y="2395728"/>
            <a:ext cx="1097280" cy="402336"/>
          </a:xfrm>
          <a:prstGeom prst="roundRect">
            <a:avLst>
              <a:gd name="adj" fmla="val 11363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5047488" y="2395728"/>
            <a:ext cx="9144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424242"/>
                </a:solidFill>
                <a:latin typeface="Source Code Pro"/>
              </a:rPr>
              <a:t>Assistant B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589520" y="2395728"/>
            <a:ext cx="1097280" cy="402336"/>
          </a:xfrm>
          <a:prstGeom prst="roundRect">
            <a:avLst>
              <a:gd name="adj" fmla="val 11363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7680960" y="2395728"/>
            <a:ext cx="9144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424242"/>
                </a:solidFill>
                <a:latin typeface="Source Code Pro"/>
              </a:rPr>
              <a:t>System 2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6053328" y="2596896"/>
            <a:ext cx="438912" cy="0"/>
          </a:xfrm>
          <a:prstGeom prst="line">
            <a:avLst/>
          </a:prstGeom>
          <a:ln w="15875">
            <a:solidFill>
              <a:srgbClr val="ED17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7278624" y="2596896"/>
            <a:ext cx="310896" cy="0"/>
          </a:xfrm>
          <a:prstGeom prst="line">
            <a:avLst/>
          </a:prstGeom>
          <a:ln w="15875">
            <a:solidFill>
              <a:srgbClr val="ED17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ounded Rectangle 62"/>
          <p:cNvSpPr/>
          <p:nvPr/>
        </p:nvSpPr>
        <p:spPr>
          <a:xfrm>
            <a:off x="4956048" y="2907792"/>
            <a:ext cx="1097280" cy="402336"/>
          </a:xfrm>
          <a:prstGeom prst="roundRect">
            <a:avLst>
              <a:gd name="adj" fmla="val 11363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5047488" y="2907792"/>
            <a:ext cx="9144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424242"/>
                </a:solidFill>
                <a:latin typeface="Source Code Pro"/>
              </a:rPr>
              <a:t>Assistant C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589520" y="2907792"/>
            <a:ext cx="1097280" cy="402336"/>
          </a:xfrm>
          <a:prstGeom prst="roundRect">
            <a:avLst>
              <a:gd name="adj" fmla="val 11363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7680960" y="2907792"/>
            <a:ext cx="9144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424242"/>
                </a:solidFill>
                <a:latin typeface="Source Code Pro"/>
              </a:rPr>
              <a:t>System 3</a:t>
            </a:r>
          </a:p>
        </p:txBody>
      </p:sp>
      <p:cxnSp>
        <p:nvCxnSpPr>
          <p:cNvPr id="67" name="Connector 66"/>
          <p:cNvCxnSpPr/>
          <p:nvPr/>
        </p:nvCxnSpPr>
        <p:spPr>
          <a:xfrm flipV="1">
            <a:off x="6053328" y="2596896"/>
            <a:ext cx="438912" cy="512064"/>
          </a:xfrm>
          <a:prstGeom prst="line">
            <a:avLst/>
          </a:prstGeom>
          <a:ln w="15875">
            <a:solidFill>
              <a:srgbClr val="ED17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7278624" y="2596896"/>
            <a:ext cx="310896" cy="512064"/>
          </a:xfrm>
          <a:prstGeom prst="line">
            <a:avLst/>
          </a:prstGeom>
          <a:ln w="15875">
            <a:solidFill>
              <a:srgbClr val="ED17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68"/>
          <p:cNvSpPr/>
          <p:nvPr/>
        </p:nvSpPr>
        <p:spPr>
          <a:xfrm>
            <a:off x="6492240" y="1883664"/>
            <a:ext cx="786384" cy="1426464"/>
          </a:xfrm>
          <a:prstGeom prst="roundRect">
            <a:avLst>
              <a:gd name="adj" fmla="val 5813"/>
            </a:avLst>
          </a:prstGeom>
          <a:solidFill>
            <a:srgbClr val="FBE4EC"/>
          </a:solidFill>
          <a:ln w="12700">
            <a:solidFill>
              <a:srgbClr val="E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6583679" y="1883664"/>
            <a:ext cx="603503" cy="1426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424242"/>
                </a:solidFill>
                <a:latin typeface="Source Code Pro"/>
              </a:rPr>
              <a:t>MCP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10896" y="3950208"/>
            <a:ext cx="8522208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Three assistants and three systems is nine integrations to build and keep working; four and ten is forty. Through one protocol each side learns the standard once, so the work adds up instead of multiplying - and no single company owns the plug.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 - Tools, Resources and Prompts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310896" y="1426464"/>
          <a:ext cx="8522207" cy="20116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466186"/>
                <a:gridCol w="4032012"/>
                <a:gridCol w="3024009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24242"/>
                          </a:solidFill>
                          <a:latin typeface="Source Code Pro"/>
                        </a:rPr>
                        <a:t/>
                      </a:r>
                    </a:p>
                  </a:txBody>
                  <a:tcPr marL="91440" marR="91440" marT="36576" marB="36576" anchor="ctr">
                    <a:lnT w="9525" cap="flat">
                      <a:solidFill>
                        <a:srgbClr val="D8D8DE"/>
                      </a:solidFill>
                    </a:lnT>
                    <a:lnB w="15875" cap="flat">
                      <a:solidFill>
                        <a:srgbClr val="42424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24242"/>
                          </a:solidFill>
                          <a:latin typeface="Source Code Pro"/>
                        </a:rPr>
                        <a:t>What it is</a:t>
                      </a:r>
                    </a:p>
                  </a:txBody>
                  <a:tcPr marL="91440" marR="91440" marT="36576" marB="36576" anchor="ctr">
                    <a:lnT w="9525" cap="flat">
                      <a:solidFill>
                        <a:srgbClr val="D8D8DE"/>
                      </a:solidFill>
                    </a:lnT>
                    <a:lnB w="15875" cap="flat">
                      <a:solidFill>
                        <a:srgbClr val="42424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24242"/>
                          </a:solidFill>
                          <a:latin typeface="Source Code Pro"/>
                        </a:rPr>
                        <a:t>For example</a:t>
                      </a:r>
                    </a:p>
                  </a:txBody>
                  <a:tcPr marL="91440" marR="91440" marT="36576" marB="36576" anchor="ctr">
                    <a:lnT w="9525" cap="flat">
                      <a:solidFill>
                        <a:srgbClr val="D8D8DE"/>
                      </a:solidFill>
                    </a:lnT>
                    <a:lnB w="15875" cap="flat">
                      <a:solidFill>
                        <a:srgbClr val="42424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Tools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Actions the assistant can take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Raise an invoice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Resources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Data it is allowed to read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This month's invoices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Prompts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Ready-made instructions the server supplies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Draft a chase-up email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310896" y="3621024"/>
            <a:ext cx="8522208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One connection, three kinds of thing. Tools are the ones that change something in the world, so they are the ones a well-behaved assistant stops and asks you about. Reading is quiet; doing should not be.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It Finds Out What It Can Do When It Connects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10896" y="1426464"/>
            <a:ext cx="1897380" cy="1051560"/>
          </a:xfrm>
          <a:prstGeom prst="roundRect">
            <a:avLst>
              <a:gd name="adj" fmla="val 4347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02336" y="1650492"/>
            <a:ext cx="17145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424242"/>
                </a:solidFill>
                <a:latin typeface="Source Code Pro"/>
              </a:rPr>
              <a:t>Connect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2336" y="1997964"/>
            <a:ext cx="17145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assistant to server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2272284" y="1906524"/>
            <a:ext cx="182880" cy="91440"/>
          </a:xfrm>
          <a:prstGeom prst="rightArrow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519172" y="1426464"/>
            <a:ext cx="1897380" cy="1051560"/>
          </a:xfrm>
          <a:prstGeom prst="roundRect">
            <a:avLst>
              <a:gd name="adj" fmla="val 4347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2610612" y="1603248"/>
            <a:ext cx="17145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424242"/>
                </a:solidFill>
                <a:latin typeface="Source Code Pro"/>
              </a:rPr>
              <a:t>Discover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10612" y="1950720"/>
            <a:ext cx="1714500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what the server offers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4480560" y="1906524"/>
            <a:ext cx="182880" cy="91440"/>
          </a:xfrm>
          <a:prstGeom prst="rightArrow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727448" y="1426464"/>
            <a:ext cx="1897380" cy="1051560"/>
          </a:xfrm>
          <a:prstGeom prst="roundRect">
            <a:avLst>
              <a:gd name="adj" fmla="val 4347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4818888" y="1650492"/>
            <a:ext cx="17145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424242"/>
                </a:solidFill>
                <a:latin typeface="Source Code Pro"/>
              </a:rPr>
              <a:t>Ask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18888" y="1997964"/>
            <a:ext cx="17145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in plain language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6688836" y="1906524"/>
            <a:ext cx="182880" cy="91440"/>
          </a:xfrm>
          <a:prstGeom prst="rightArrow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935724" y="1426464"/>
            <a:ext cx="1897380" cy="1051560"/>
          </a:xfrm>
          <a:prstGeom prst="roundRect">
            <a:avLst>
              <a:gd name="adj" fmla="val 4347"/>
            </a:avLst>
          </a:prstGeom>
          <a:solidFill>
            <a:srgbClr val="FBE4EC"/>
          </a:solidFill>
          <a:ln w="12700">
            <a:solidFill>
              <a:srgbClr val="E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7027164" y="1603248"/>
            <a:ext cx="17145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424242"/>
                </a:solidFill>
                <a:latin typeface="Source Code Pro"/>
              </a:rPr>
              <a:t>Call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27164" y="1950720"/>
            <a:ext cx="1714500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a tool, and read the result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0896" y="3346704"/>
            <a:ext cx="8522208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Nothing is hard-wired. The assistant finds out what a server can do at the moment it connects, which is why a system built last week works in an assistant built last year. That discovery step is the standard's real trick.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Actually Reaches the Model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10896" y="1426464"/>
            <a:ext cx="5394960" cy="603504"/>
          </a:xfrm>
          <a:prstGeom prst="roundRect">
            <a:avLst>
              <a:gd name="adj" fmla="val 6060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57200" y="1426464"/>
            <a:ext cx="2805379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Source Code Pro"/>
              </a:rPr>
              <a:t>The tools on offer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78124" y="1426464"/>
            <a:ext cx="2173528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Source Code Pro"/>
              </a:rPr>
              <a:t>listed by the server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10896" y="2093976"/>
            <a:ext cx="5394960" cy="603504"/>
          </a:xfrm>
          <a:prstGeom prst="roundRect">
            <a:avLst>
              <a:gd name="adj" fmla="val 6060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57200" y="2093976"/>
            <a:ext cx="2805379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Source Code Pro"/>
              </a:rPr>
              <a:t>Your message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78124" y="2093976"/>
            <a:ext cx="2173528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Source Code Pro"/>
              </a:rPr>
              <a:t>typed just now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10896" y="2761488"/>
            <a:ext cx="5394960" cy="603504"/>
          </a:xfrm>
          <a:prstGeom prst="roundRect">
            <a:avLst>
              <a:gd name="adj" fmla="val 6060"/>
            </a:avLst>
          </a:prstGeom>
          <a:solidFill>
            <a:srgbClr val="FBE4EC"/>
          </a:solidFill>
          <a:ln w="12700">
            <a:solidFill>
              <a:srgbClr val="E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57200" y="2761488"/>
            <a:ext cx="2805379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424242"/>
                </a:solidFill>
                <a:latin typeface="Source Code Pro"/>
              </a:rPr>
              <a:t>The tool result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78124" y="2761488"/>
            <a:ext cx="2173528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Source Code Pro"/>
              </a:rPr>
              <a:t>sent back by the server</a:t>
            </a:r>
          </a:p>
        </p:txBody>
      </p:sp>
      <p:sp>
        <p:nvSpPr>
          <p:cNvPr id="35" name="Down Arrow 34"/>
          <p:cNvSpPr/>
          <p:nvPr/>
        </p:nvSpPr>
        <p:spPr>
          <a:xfrm>
            <a:off x="2834640" y="3465576"/>
            <a:ext cx="310896" cy="201168"/>
          </a:xfrm>
          <a:prstGeom prst="downArrow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10896" y="3758184"/>
            <a:ext cx="5394960" cy="566928"/>
          </a:xfrm>
          <a:prstGeom prst="roundRect">
            <a:avLst>
              <a:gd name="adj" fmla="val 8064"/>
            </a:avLst>
          </a:prstGeom>
          <a:solidFill>
            <a:srgbClr val="FBE4EC"/>
          </a:solidFill>
          <a:ln w="12700">
            <a:solidFill>
              <a:srgbClr val="E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402336" y="3758184"/>
            <a:ext cx="52120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424242"/>
                </a:solidFill>
                <a:latin typeface="Source Code Pro"/>
              </a:rPr>
              <a:t>The model reads all three the same way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1463040"/>
            <a:ext cx="2889504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A tool's description and a tool's result are text, written by whoever runs that server, landing in the same window as your own instructions. The model cannot tell them apart.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a Connection Stops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0896" y="1426464"/>
            <a:ext cx="3849624" cy="2212848"/>
          </a:xfrm>
        </p:spPr>
        <p:txBody>
          <a:bodyPr wrap="square" anchor="ctr"/>
          <a:lstStyle/>
          <a:p>
            <a:pPr marL="0" indent="0">
              <a:buNone/>
            </a:pPr>
            <a:r>
              <a:t>A connection is narrow in both directions. The server sees the tool calls sent to it, not your whole conversation, and it acts with the permissions you granted - which are yours, not the assistant's.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4663440" y="1426464"/>
            <a:ext cx="4169663" cy="2212848"/>
          </a:xfrm>
          <a:prstGeom prst="roundRect">
            <a:avLst>
              <a:gd name="adj" fmla="val 1935"/>
            </a:avLst>
          </a:prstGeom>
          <a:solidFill>
            <a:srgbClr val="30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4663440" y="1426464"/>
            <a:ext cx="4169663" cy="301752"/>
          </a:xfrm>
          <a:prstGeom prst="roundRect">
            <a:avLst>
              <a:gd name="adj" fmla="val 18181"/>
            </a:avLst>
          </a:prstGeom>
          <a:solidFill>
            <a:srgbClr val="25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4663440" y="1619585"/>
            <a:ext cx="4169663" cy="108630"/>
          </a:xfrm>
          <a:prstGeom prst="rect">
            <a:avLst/>
          </a:prstGeom>
          <a:solidFill>
            <a:srgbClr val="25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809744" y="1508760"/>
            <a:ext cx="29187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7F7FA"/>
                </a:solidFill>
                <a:latin typeface="Arial"/>
              </a:rPr>
              <a:t>Example Accounting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0" y="1527048"/>
            <a:ext cx="109728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85" b="0">
                <a:solidFill>
                  <a:srgbClr val="C6C7D0"/>
                </a:solidFill>
                <a:latin typeface="Arial"/>
              </a:rPr>
              <a:t>Connected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9744" y="1856232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It can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09744" y="2057400"/>
            <a:ext cx="3877055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List invoices you already have access to.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09744" y="2267712"/>
            <a:ext cx="3877055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Raise a draft invoice, once approved.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09744" y="2569464"/>
            <a:ext cx="3877055" cy="9144"/>
          </a:xfrm>
          <a:prstGeom prst="rect">
            <a:avLst/>
          </a:prstGeom>
          <a:solidFill>
            <a:srgbClr val="3C3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4809744" y="2660904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It cannot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9744" y="2862072"/>
            <a:ext cx="3877055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Read your other conversations.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09744" y="3072384"/>
            <a:ext cx="3877055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Reach a system you never connected.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09744" y="3282696"/>
            <a:ext cx="3877055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Do more than your own account may do.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0896" y="3785615"/>
            <a:ext cx="8522208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The boundary only protects you in one direction. What a server offers is the server's to change, so a tool can appear, vanish or quietly start doing something different, and nothing in your conversation announces 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It Matters - Built Once, Works Everywhere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310896" y="1426464"/>
          <a:ext cx="8522207" cy="21488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24369"/>
                <a:gridCol w="3298919"/>
                <a:gridCol w="3298919"/>
              </a:tblGrid>
              <a:tr h="42976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24242"/>
                          </a:solidFill>
                          <a:latin typeface="Source Code Pro"/>
                        </a:rPr>
                        <a:t/>
                      </a:r>
                    </a:p>
                  </a:txBody>
                  <a:tcPr marL="91440" marR="91440" marT="36576" marB="36576" anchor="ctr">
                    <a:lnT w="9525" cap="flat">
                      <a:solidFill>
                        <a:srgbClr val="D8D8DE"/>
                      </a:solidFill>
                    </a:lnT>
                    <a:lnB w="15875" cap="flat">
                      <a:solidFill>
                        <a:srgbClr val="42424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24242"/>
                          </a:solidFill>
                          <a:latin typeface="Source Code Pro"/>
                        </a:rPr>
                        <a:t>A bespoke integration</a:t>
                      </a:r>
                    </a:p>
                  </a:txBody>
                  <a:tcPr marL="91440" marR="91440" marT="36576" marB="36576" anchor="ctr">
                    <a:lnT w="9525" cap="flat">
                      <a:solidFill>
                        <a:srgbClr val="D8D8DE"/>
                      </a:solidFill>
                    </a:lnT>
                    <a:lnB w="15875" cap="flat">
                      <a:solidFill>
                        <a:srgbClr val="42424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24242"/>
                          </a:solidFill>
                          <a:latin typeface="Source Code Pro"/>
                        </a:rPr>
                        <a:t>Through MCP</a:t>
                      </a:r>
                    </a:p>
                  </a:txBody>
                  <a:tcPr marL="91440" marR="91440" marT="36576" marB="36576" anchor="ctr">
                    <a:lnT w="9525" cap="flat">
                      <a:solidFill>
                        <a:srgbClr val="D8D8DE"/>
                      </a:solidFill>
                    </a:lnT>
                    <a:lnB w="15875" cap="flat">
                      <a:solidFill>
                        <a:srgbClr val="42424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Built for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One assistant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Any assistant that speaks it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If you switch tools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Built again from scratch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Reconnect and carry on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A capability you want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Wait for the vendor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Connect a server yourself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Failure mode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Nothing connects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Too much connects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310896" y="3785615"/>
            <a:ext cx="852220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That last row is the change worth noticing. The old complaint was that your assistant could not reach your systems. The new problem is deciding which of them it should.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Judging a Server Before You Connect It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10896" y="1426464"/>
            <a:ext cx="5120640" cy="475488"/>
          </a:xfrm>
          <a:prstGeom prst="roundRect">
            <a:avLst>
              <a:gd name="adj" fmla="val 11538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75488" y="1426464"/>
            <a:ext cx="29260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E91D63"/>
                </a:solidFill>
                <a:latin typeface="Source Code Pro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1426464"/>
            <a:ext cx="444398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Source Code Pro"/>
              </a:rPr>
              <a:t>Who runs it - the service itself, or a stranger's copy?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10896" y="2029968"/>
            <a:ext cx="5120640" cy="475488"/>
          </a:xfrm>
          <a:prstGeom prst="roundRect">
            <a:avLst>
              <a:gd name="adj" fmla="val 11538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75488" y="2029968"/>
            <a:ext cx="29260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E91D63"/>
                </a:solidFill>
                <a:latin typeface="Source Code Pro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2029968"/>
            <a:ext cx="444398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Source Code Pro"/>
              </a:rPr>
              <a:t>It acts as you, with your access, not the assistant's.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10896" y="2633472"/>
            <a:ext cx="5120640" cy="475488"/>
          </a:xfrm>
          <a:prstGeom prst="roundRect">
            <a:avLst>
              <a:gd name="adj" fmla="val 11538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75488" y="2633472"/>
            <a:ext cx="29260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E91D63"/>
                </a:solidFill>
                <a:latin typeface="Source Code Pro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2633472"/>
            <a:ext cx="444398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Source Code Pro"/>
              </a:rPr>
              <a:t>Can it only read, or can it also write?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10896" y="3236976"/>
            <a:ext cx="5120640" cy="475488"/>
          </a:xfrm>
          <a:prstGeom prst="roundRect">
            <a:avLst>
              <a:gd name="adj" fmla="val 11538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475488" y="3236976"/>
            <a:ext cx="29260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E91D63"/>
                </a:solidFill>
                <a:latin typeface="Source Code Pro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3236976"/>
            <a:ext cx="444398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Source Code Pro"/>
              </a:rPr>
              <a:t>Its words arrive as instructions the model may follow.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0" y="1463040"/>
            <a:ext cx="3163824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A connected server is not a feature you switched on. It is a third party holding a set of your permissions, and everything it says arrives in the same window as everything you say.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You will almost never write one of these. Your job is choosing which to trust: connect few, prefer the server the service runs itself, and allow writing only where you would allow a new colleague.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a Connection Earns Its Place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874519"/>
            <a:ext cx="3999900" cy="2679191"/>
          </a:xfrm>
        </p:spPr>
        <p:txBody>
          <a:bodyPr/>
          <a:lstStyle/>
          <a:p>
            <a:r>
              <a:t>The work needs live data from a system you own</a:t>
            </a:r>
          </a:p>
          <a:p>
            <a:r>
              <a:t>You run the same lookup every week</a:t>
            </a:r>
          </a:p>
          <a:p>
            <a:r>
              <a:t>The assistant has to act, not only advise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4832400" y="1874519"/>
            <a:ext cx="3999900" cy="2679191"/>
          </a:xfrm>
        </p:spPr>
        <p:txBody>
          <a:bodyPr/>
          <a:lstStyle/>
          <a:p>
            <a:r>
              <a:t>A single file upload would do</a:t>
            </a:r>
          </a:p>
          <a:p>
            <a:r>
              <a:t>It is a one-off you will never repeat</a:t>
            </a:r>
          </a:p>
          <a:p>
            <a:r>
              <a:t>You would not hand a new colleague the same access</a:t>
            </a:r>
          </a:p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10896" y="1444752"/>
            <a:ext cx="3995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24242"/>
                </a:solidFill>
                <a:latin typeface="Source Code Pro"/>
              </a:rPr>
              <a:t>Connect a server when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28032" y="1444752"/>
            <a:ext cx="3995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24242"/>
                </a:solidFill>
                <a:latin typeface="Source Code Pro"/>
              </a:rPr>
              <a:t>Do not bother when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0" y="0"/>
            <a:ext cx="9144000" cy="1572768"/>
          </a:xfrm>
          <a:prstGeom prst="rect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502920" y="0"/>
            <a:ext cx="8138160" cy="1572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0" b="0">
                <a:solidFill>
                  <a:srgbClr val="FFFFFF"/>
                </a:solidFill>
                <a:latin typeface="Oswald"/>
              </a:rPr>
              <a:t>Let's See It in Action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2920" y="1883664"/>
            <a:ext cx="8138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424242"/>
                </a:solidFill>
                <a:latin typeface="Source Code Pro"/>
              </a:rPr>
              <a:t>That is the principle. Now we plug one in and watch it work.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02920" y="2450592"/>
            <a:ext cx="2542032" cy="169164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Oval 71"/>
          <p:cNvSpPr/>
          <p:nvPr/>
        </p:nvSpPr>
        <p:spPr>
          <a:xfrm>
            <a:off x="722376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722376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04088" y="3127248"/>
            <a:ext cx="213969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Open the connections list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04088" y="3630168"/>
            <a:ext cx="213969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and see what is already there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300983" y="2450592"/>
            <a:ext cx="2542032" cy="169164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Oval 76"/>
          <p:cNvSpPr/>
          <p:nvPr/>
        </p:nvSpPr>
        <p:spPr>
          <a:xfrm>
            <a:off x="3520439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3520439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502151" y="3127248"/>
            <a:ext cx="213969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Connect one server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502151" y="3630168"/>
            <a:ext cx="213969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and read what it asks you for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099047" y="2450592"/>
            <a:ext cx="2542032" cy="169164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Oval 81"/>
          <p:cNvSpPr/>
          <p:nvPr/>
        </p:nvSpPr>
        <p:spPr>
          <a:xfrm>
            <a:off x="6318503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6318503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300215" y="3127248"/>
            <a:ext cx="213969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Ask something that needs it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300215" y="3630168"/>
            <a:ext cx="213969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and watch the call come back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0838F"/>
      </a:accent5>
      <a:accent6>
        <a:srgbClr val="F8E71C"/>
      </a:accent6>
      <a:hlink>
        <a:srgbClr val="00838F"/>
      </a:hlink>
      <a:folHlink>
        <a:srgbClr val="0083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0838F"/>
      </a:accent5>
      <a:accent6>
        <a:srgbClr val="F8E71C"/>
      </a:accent6>
      <a:hlink>
        <a:srgbClr val="00838F"/>
      </a:hlink>
      <a:folHlink>
        <a:srgbClr val="0083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