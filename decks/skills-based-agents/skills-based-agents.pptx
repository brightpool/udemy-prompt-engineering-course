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812781ae504365" /><Relationship Type="http://schemas.openxmlformats.org/officeDocument/2006/relationships/extended-properties" Target="/docProps/app.xml" Id="Rfb79f8d656ad46d5" /><Relationship Type="http://schemas.openxmlformats.org/officeDocument/2006/relationships/officeDocument" Target="/ppt/presentation.xml" Id="Rb7bb6de1efb94df1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1bde97d003684ddb"/>
  </p:sldMasterIdLst>
  <p:notesMasterIdLst>
    <p:notesMasterId xmlns:r="http://schemas.openxmlformats.org/officeDocument/2006/relationships" r:id="R9bd6aed1dd834489"/>
  </p:notesMasterIdLst>
  <p:sldIdLst>
    <p:sldId xmlns:r="http://schemas.openxmlformats.org/officeDocument/2006/relationships" id="256" r:id="R9595974d405845e4"/>
    <p:sldId xmlns:r="http://schemas.openxmlformats.org/officeDocument/2006/relationships" id="257" r:id="R465216fc209246bd"/>
  </p:sldIdLst>
  <p:sldSz cx="9144000" cy="5143500"/>
  <p:notesSz cx="6858000" cy="9144000"/>
  <p:embeddedFontLst>
    <p:embeddedFont>
      <p:font typeface="Source Code Pro"/>
      <p:regular xmlns:r="http://schemas.openxmlformats.org/officeDocument/2006/relationships" r:id="Rbe2e4a63eed8401c"/>
      <p:bold xmlns:r="http://schemas.openxmlformats.org/officeDocument/2006/relationships" r:id="Rc50cb5ec78324272"/>
      <p:italic xmlns:r="http://schemas.openxmlformats.org/officeDocument/2006/relationships" r:id="R8e98ea9375a34804"/>
      <p:boldItalic xmlns:r="http://schemas.openxmlformats.org/officeDocument/2006/relationships" r:id="Rc31d0f6f67074023"/>
    </p:embeddedFont>
    <p:embeddedFont>
      <p:font typeface="Oswald"/>
      <p:regular xmlns:r="http://schemas.openxmlformats.org/officeDocument/2006/relationships" r:id="Re3f8f4bd3de54d18"/>
      <p:bold xmlns:r="http://schemas.openxmlformats.org/officeDocument/2006/relationships" r:id="Rdb1a9411f5724c1f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44ee036a9d4af2" /><Relationship Type="http://schemas.openxmlformats.org/officeDocument/2006/relationships/slideMaster" Target="/ppt/slideMasters/slideMaster1.xml" Id="R1bde97d003684ddb" /><Relationship Type="http://schemas.openxmlformats.org/officeDocument/2006/relationships/notesMaster" Target="/ppt/notesMasters/notesMaster1.xml" Id="R9bd6aed1dd834489" /><Relationship Type="http://schemas.openxmlformats.org/officeDocument/2006/relationships/presProps" Target="/ppt/presProps.xml" Id="Rd9ee3787985f4750" /><Relationship Type="http://schemas.openxmlformats.org/officeDocument/2006/relationships/viewProps" Target="/ppt/viewProps.xml" Id="Rc9c053fa61aa40df" /><Relationship Type="http://schemas.openxmlformats.org/officeDocument/2006/relationships/tableStyles" Target="/ppt/tableStyles.xml" Id="R8f71d3facd584a23" /><Relationship Type="http://schemas.openxmlformats.org/officeDocument/2006/relationships/font" Target="/ppt/fonts/font.dat" Id="Rbe2e4a63eed8401c" /><Relationship Type="http://schemas.openxmlformats.org/officeDocument/2006/relationships/font" Target="/ppt/fonts/font2.dat" Id="Rc50cb5ec78324272" /><Relationship Type="http://schemas.openxmlformats.org/officeDocument/2006/relationships/font" Target="/ppt/fonts/font3.dat" Id="R8e98ea9375a34804" /><Relationship Type="http://schemas.openxmlformats.org/officeDocument/2006/relationships/font" Target="/ppt/fonts/font4.dat" Id="Rc31d0f6f67074023" /><Relationship Type="http://schemas.openxmlformats.org/officeDocument/2006/relationships/font" Target="/ppt/fonts/font5.dat" Id="Re3f8f4bd3de54d18" /><Relationship Type="http://schemas.openxmlformats.org/officeDocument/2006/relationships/font" Target="/ppt/fonts/font6.dat" Id="Rdb1a9411f5724c1f" /><Relationship Type="http://schemas.openxmlformats.org/officeDocument/2006/relationships/slide" Target="/ppt/slides/slide1.xml" Id="R9595974d405845e4" /><Relationship Type="http://schemas.openxmlformats.org/officeDocument/2006/relationships/slide" Target="/ppt/slides/slide2.xml" Id="R465216fc209246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38b20d03204c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dern Writ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afcc43196b47ea" /><Relationship Type="http://schemas.openxmlformats.org/officeDocument/2006/relationships/notesMaster" Target="/ppt/notesMasters/notesMaster1.xml" Id="R6abd24e1d8054c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2fca10c1c3447b" /><Relationship Type="http://schemas.openxmlformats.org/officeDocument/2006/relationships/notesMaster" Target="/ppt/notesMasters/notesMaster1.xml" Id="Rb1631f280bc14f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lesson builds on the managed agent harness from Part 7. A skill is a reusable folder with a SKILL.md manifest and optional supporting files. Its name and description tell the agent when the skill is relevant; full instructions describe how to perform the work. Keep scripts, reference material and templates alongside it and link to them from the manifest. Our example is a sales-report skill that tells an agent to calculate totals using a supplied Python script, create a standard report and check the arithmetic. The supporting script handles the repeatable calculations while the model decides how to use it for the task. Tools and skills have different roles: tools provide actions, while a skill packages a process for carrying out a task. Skill discovery does not guarantee correct execution, so we still evaluate the output. Show the manifest and the folder in building_ai_agents/skills_based_agents.ipynb, then run the notebook example.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https://developers.openai.com/api/docs/guides/tools-skills, https://agentskills.io/specification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There are two setup steps in our managed Agents API example. First, install the skill folder and supporting files in the sandbox. The notebook supplies small files through environment.files; hosted environment files are prepared before setup commands run. Second, register the parent directory in environment.capability_directories. If the skill is /workspace/skills/sales-report/SKILL.md, the parent directory is /workspace/skills. The harness discovers the skill's metadata, and the model can read its full instructions and supporting files. The snippet is the environment configuration used when creating an Agents API session; skill_files is the list prepared in the notebook. Then submit a short task that explicitly asks for the sales-report skill. The notebook checks saved execution commands for a successful read of SKILL.md and a successful execution of summarize_sales.py, then downloads and verifies the report, CSV and JSON summary. Keep these checks separate from the model's own claim that it used a skill. This directory-discovery setup is distinct from Responses API hosted shell skill_reference attachments. Attach reviewed instructions and code, retain appropriate tool permissions, and check the final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https://developers.openai.com/api/docs/guides/tools-skills#agents-api, https://developers.openai.com/api/docs/guides/agents-api/environments/openai-hosted, https://developers.openai.com/api/docs/guides/agents-api/environments/files</a:t>
            </a:r>
          </a:p>
          <a:p xmlns:a="http://schemas.openxmlformats.org/drawingml/2006/main">
            <a:r>
              <a:t>Companion notebook: building_ai_agents/skills_based_agents.ipynb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d367a4ae75469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bc8950093143c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c361bfc9fd43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c7d44c603d40d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8ba42f0d9a4f1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53a81b7b0d435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27ff481ef24cf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b1e4410bb4466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8c79d1aad942c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dcdfcf4350407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17a71bc9c54f26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8B806723-2829-44A6-86BE-3383E6D5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226100" y="2933550"/>
            <a:ext cx="691800" cy="38850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61006912-CEC5-4C41-A440-B13AF8DC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" y="0"/>
            <a:ext cx="91440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B1874D4A-E0EC-4A69-A4FD-26FE77577CF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11175" y="644300"/>
            <a:ext cx="8282400" cy="210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3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1711B0DA-47E8-4426-AB93-56105471D6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1175" y="3398250"/>
            <a:ext cx="8282400" cy="126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</a:defRPr>
            </a:lvl9pPr>
          </a:lstStyle>
          <a:p xmlns:a="http://schemas.openxmlformats.org/drawingml/2006/main"/>
        </p:txBody>
      </p:sp>
      <p:sp>
        <p:nv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1BB39070-E084-40BE-83D7-86982EA1B6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5" name="Google Shape;15;p2">
            <a:extLst xmlns:a="http://schemas.openxmlformats.org/drawingml/2006/main">
              <a:ext uri="{FF2B5EF4-FFF2-40B4-BE49-F238E27FC236}">
                <a16:creationId xmlns:a16="http://schemas.microsoft.com/office/drawing/2014/main" id="{2693F5F8-FE0D-4DF6-9985-3BF6863A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75" y="79900"/>
            <a:ext cx="8282400" cy="38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0" i="0" u="non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</a:rPr>
              <a:t>The Complete Prompt Engineering for AI Bootcamp</a:t>
            </a:r>
            <a:endParaRPr sz="1100" b="0" i="0" u="none" cap="none">
              <a:solidFill>
                <a:schemeClr val="lt1"/>
              </a:solidFill>
              <a:latin typeface="Source Code Pro"/>
              <a:ea typeface="Source Code Pro"/>
              <a:cs typeface="Source Code Pro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Google Shape;17;p3"/>
          <p:cNvCxnSpPr/>
          <p:nvPr/>
        </p:nvCxnSpPr>
        <p:spPr>
          <a:xfrm xmlns:a="http://schemas.openxmlformats.org/drawingml/2006/main">
            <a:off x="429200" y="1275577"/>
            <a:ext cx="614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FE70DBA1-6975-43DE-BF6F-01307F5775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372500"/>
            <a:ext cx="8520600" cy="7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D696BEA4-0340-4D42-9F18-18E3018542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468825"/>
            <a:ext cx="8520600" cy="309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5F925136-1C3E-4677-9892-0036568542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BC976FDD-01B5-4E75-ABF1-3C24604E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00" y="4669825"/>
            <a:ext cx="8282400" cy="38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rPr>
              <a:t>The Complete Prompt Engineering for AI Bootcamp</a:t>
            </a:r>
            <a:endParaRPr sz="900" b="0" i="0" u="none" cap="none">
              <a:solidFill>
                <a:schemeClr val="dk2"/>
              </a:solidFill>
              <a:latin typeface="Source Code Pro"/>
              <a:ea typeface="Source Code Pro"/>
              <a:cs typeface="Source Code Pro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oogle Shape;23;p4">
            <a:extLst xmlns:a="http://schemas.openxmlformats.org/drawingml/2006/main">
              <a:ext uri="{FF2B5EF4-FFF2-40B4-BE49-F238E27FC236}">
                <a16:creationId xmlns:a16="http://schemas.microsoft.com/office/drawing/2014/main" id="{9F7DE868-0DE1-4938-8131-925BC83D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67350"/>
            <a:ext cx="9144000" cy="2008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Google Shape;24;p4">
            <a:extLst xmlns:a="http://schemas.openxmlformats.org/drawingml/2006/main">
              <a:ext uri="{FF2B5EF4-FFF2-40B4-BE49-F238E27FC236}">
                <a16:creationId xmlns:a16="http://schemas.microsoft.com/office/drawing/2014/main" id="{6291A3FE-F2B9-4A6A-8B26-88781C4E5D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0800" y="1889700"/>
            <a:ext cx="8282400" cy="15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5" name="Google Shape;25;p4">
            <a:extLst xmlns:a="http://schemas.openxmlformats.org/drawingml/2006/main">
              <a:ext uri="{FF2B5EF4-FFF2-40B4-BE49-F238E27FC236}">
                <a16:creationId xmlns:a16="http://schemas.microsoft.com/office/drawing/2014/main" id="{7FF1784B-7BB8-43FC-8DA3-2A9911715E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27029C36-AD39-473D-BA7A-98DFDB0B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00" y="4669825"/>
            <a:ext cx="8282400" cy="38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rPr>
              <a:t>The Complete Prompt Engineering for AI Bootcamp</a:t>
            </a:r>
            <a:endParaRPr sz="900" b="0" i="0" u="none" cap="none">
              <a:solidFill>
                <a:schemeClr val="dk2"/>
              </a:solidFill>
              <a:latin typeface="Source Code Pro"/>
              <a:ea typeface="Source Code Pro"/>
              <a:cs typeface="Source Code Pro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4" name="Google Shape;28;p5"/>
          <p:cNvCxnSpPr/>
          <p:nvPr/>
        </p:nvCxnSpPr>
        <p:spPr>
          <a:xfrm xmlns:a="http://schemas.openxmlformats.org/drawingml/2006/main">
            <a:off x="429200" y="1275577"/>
            <a:ext cx="614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29" name="Google Shape;29;p5">
            <a:extLst xmlns:a="http://schemas.openxmlformats.org/drawingml/2006/main">
              <a:ext uri="{FF2B5EF4-FFF2-40B4-BE49-F238E27FC236}">
                <a16:creationId xmlns:a16="http://schemas.microsoft.com/office/drawing/2014/main" id="{613C2F18-734C-46D3-81F4-DEA4659569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372500"/>
            <a:ext cx="8520600" cy="7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30" name="Google Shape;30;p5">
            <a:extLst xmlns:a="http://schemas.openxmlformats.org/drawingml/2006/main">
              <a:ext uri="{FF2B5EF4-FFF2-40B4-BE49-F238E27FC236}">
                <a16:creationId xmlns:a16="http://schemas.microsoft.com/office/drawing/2014/main" id="{FC0F1F6E-9254-4ADD-B81F-598E20B514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468825"/>
            <a:ext cx="3999900" cy="309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5">
            <a:extLst xmlns:a="http://schemas.openxmlformats.org/drawingml/2006/main">
              <a:ext uri="{FF2B5EF4-FFF2-40B4-BE49-F238E27FC236}">
                <a16:creationId xmlns:a16="http://schemas.microsoft.com/office/drawing/2014/main" id="{A185C99A-2AE0-4A66-9E10-14012655969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468825"/>
            <a:ext cx="3999900" cy="309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2" name="Google Shape;32;p5">
            <a:extLst xmlns:a="http://schemas.openxmlformats.org/drawingml/2006/main">
              <a:ext uri="{FF2B5EF4-FFF2-40B4-BE49-F238E27FC236}">
                <a16:creationId xmlns:a16="http://schemas.microsoft.com/office/drawing/2014/main" id="{E921742E-67F3-402F-B334-0320740766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33" name="Google Shape;33;p5">
            <a:extLst xmlns:a="http://schemas.openxmlformats.org/drawingml/2006/main">
              <a:ext uri="{FF2B5EF4-FFF2-40B4-BE49-F238E27FC236}">
                <a16:creationId xmlns:a16="http://schemas.microsoft.com/office/drawing/2014/main" id="{DAB794BF-0239-4588-936D-5FB07FC2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00" y="4669825"/>
            <a:ext cx="8282400" cy="38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rPr>
              <a:t>The Complete Prompt Engineering for AI Bootcamp</a:t>
            </a:r>
            <a:endParaRPr sz="900" b="0" i="0" u="none" cap="none">
              <a:solidFill>
                <a:schemeClr val="dk2"/>
              </a:solidFill>
              <a:latin typeface="Source Code Pro"/>
              <a:ea typeface="Source Code Pro"/>
              <a:cs typeface="Source Code Pro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Google Shape;35;p6">
            <a:extLst xmlns:a="http://schemas.openxmlformats.org/drawingml/2006/main">
              <a:ext uri="{FF2B5EF4-FFF2-40B4-BE49-F238E27FC236}">
                <a16:creationId xmlns:a16="http://schemas.microsoft.com/office/drawing/2014/main" id="{352EADBF-262F-496E-8287-F44F07E298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372500"/>
            <a:ext cx="8520600" cy="7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36" name="Google Shape;36;p6">
            <a:extLst xmlns:a="http://schemas.openxmlformats.org/drawingml/2006/main">
              <a:ext uri="{FF2B5EF4-FFF2-40B4-BE49-F238E27FC236}">
                <a16:creationId xmlns:a16="http://schemas.microsoft.com/office/drawing/2014/main" id="{2D4707F9-19FE-43F6-9DA1-32AAB56322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37" name="Google Shape;37;p6">
            <a:extLst xmlns:a="http://schemas.openxmlformats.org/drawingml/2006/main">
              <a:ext uri="{FF2B5EF4-FFF2-40B4-BE49-F238E27FC236}">
                <a16:creationId xmlns:a16="http://schemas.microsoft.com/office/drawing/2014/main" id="{0498A750-F980-49BC-94E4-7FD31513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00" y="4669825"/>
            <a:ext cx="8282400" cy="38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rPr>
              <a:t>The Complete Prompt Engineering for AI Bootcamp</a:t>
            </a:r>
            <a:endParaRPr sz="900" b="0" i="0" u="none" cap="none">
              <a:solidFill>
                <a:schemeClr val="dk2"/>
              </a:solidFill>
              <a:latin typeface="Source Code Pro"/>
              <a:ea typeface="Source Code Pro"/>
              <a:cs typeface="Source Code Pro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4" name="Google Shape;39;p7"/>
          <p:cNvCxnSpPr/>
          <p:nvPr/>
        </p:nvCxnSpPr>
        <p:spPr>
          <a:xfrm xmlns:a="http://schemas.openxmlformats.org/drawingml/2006/main">
            <a:off x="418675" y="1457787"/>
            <a:ext cx="614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40" name="Google Shape;40;p7">
            <a:extLst xmlns:a="http://schemas.openxmlformats.org/drawingml/2006/main">
              <a:ext uri="{FF2B5EF4-FFF2-40B4-BE49-F238E27FC236}">
                <a16:creationId xmlns:a16="http://schemas.microsoft.com/office/drawing/2014/main" id="{3F5B7A65-6486-4D13-829B-1BF92D60F0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631800"/>
            <a:ext cx="2808000" cy="7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41" name="Google Shape;41;p7">
            <a:extLst xmlns:a="http://schemas.openxmlformats.org/drawingml/2006/main">
              <a:ext uri="{FF2B5EF4-FFF2-40B4-BE49-F238E27FC236}">
                <a16:creationId xmlns:a16="http://schemas.microsoft.com/office/drawing/2014/main" id="{C96B003D-C067-4426-8880-C1E5908F85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618204"/>
            <a:ext cx="2808000" cy="295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42" name="Google Shape;42;p7">
            <a:extLst xmlns:a="http://schemas.openxmlformats.org/drawingml/2006/main">
              <a:ext uri="{FF2B5EF4-FFF2-40B4-BE49-F238E27FC236}">
                <a16:creationId xmlns:a16="http://schemas.microsoft.com/office/drawing/2014/main" id="{936E1A72-478D-4EB8-85C9-072319609A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43" name="Google Shape;43;p7">
            <a:extLst xmlns:a="http://schemas.openxmlformats.org/drawingml/2006/main">
              <a:ext uri="{FF2B5EF4-FFF2-40B4-BE49-F238E27FC236}">
                <a16:creationId xmlns:a16="http://schemas.microsoft.com/office/drawing/2014/main" id="{64477FDF-40A6-425B-962D-9481870F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00" y="4669825"/>
            <a:ext cx="8282400" cy="38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rPr>
              <a:t>The Complete Prompt Engineering for AI Bootcamp</a:t>
            </a:r>
            <a:endParaRPr sz="900" b="0" i="0" u="none" cap="none">
              <a:solidFill>
                <a:schemeClr val="dk2"/>
              </a:solidFill>
              <a:latin typeface="Source Code Pro"/>
              <a:ea typeface="Source Code Pro"/>
              <a:cs typeface="Source Code Pro"/>
            </a:endParaRPr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8">
            <a:extLst xmlns:a="http://schemas.openxmlformats.org/drawingml/2006/main">
              <a:ext uri="{FF2B5EF4-FFF2-40B4-BE49-F238E27FC236}">
                <a16:creationId xmlns:a16="http://schemas.microsoft.com/office/drawing/2014/main" id="{88416C70-7C86-4D2F-8DEB-5DADCC848D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528900"/>
            <a:ext cx="5678100" cy="40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6" name="Google Shape;46;p8">
            <a:extLst xmlns:a="http://schemas.openxmlformats.org/drawingml/2006/main">
              <a:ext uri="{FF2B5EF4-FFF2-40B4-BE49-F238E27FC236}">
                <a16:creationId xmlns:a16="http://schemas.microsoft.com/office/drawing/2014/main" id="{04524965-A1DB-4A61-8E14-D4ABD15216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47" name="Google Shape;47;p8">
            <a:extLst xmlns:a="http://schemas.openxmlformats.org/drawingml/2006/main">
              <a:ext uri="{FF2B5EF4-FFF2-40B4-BE49-F238E27FC236}">
                <a16:creationId xmlns:a16="http://schemas.microsoft.com/office/drawing/2014/main" id="{9CAAB6EC-3719-445D-B3C4-7C7BB757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00" y="4669825"/>
            <a:ext cx="8282400" cy="38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</a:rPr>
              <a:t>The Complete Prompt Engineering for AI Bootcamp (2023)</a:t>
            </a:r>
            <a:endParaRPr sz="900" b="0" i="0" u="none" cap="none">
              <a:solidFill>
                <a:schemeClr val="lt1"/>
              </a:solidFill>
              <a:latin typeface="Source Code Pro"/>
              <a:ea typeface="Source Code Pro"/>
              <a:cs typeface="Source Code Pro"/>
            </a:endParaRPr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9">
            <a:extLst xmlns:a="http://schemas.openxmlformats.org/drawingml/2006/main">
              <a:ext uri="{FF2B5EF4-FFF2-40B4-BE49-F238E27FC236}">
                <a16:creationId xmlns:a16="http://schemas.microsoft.com/office/drawing/2014/main" id="{C4B58615-772A-4056-91CC-733A3006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7" name="Google Shape;50;p9"/>
          <p:cNvCxnSpPr/>
          <p:nvPr/>
        </p:nvCxnSpPr>
        <p:spPr>
          <a:xfrm xmlns:a="http://schemas.openxmlformats.org/drawingml/2006/main">
            <a:off x="5029675" y="4495500"/>
            <a:ext cx="57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51" name="Google Shape;51;p9">
            <a:extLst xmlns:a="http://schemas.openxmlformats.org/drawingml/2006/main">
              <a:ext uri="{FF2B5EF4-FFF2-40B4-BE49-F238E27FC236}">
                <a16:creationId xmlns:a16="http://schemas.microsoft.com/office/drawing/2014/main" id="{F5BC6337-792E-4A3B-83BB-5A2A2B9241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078750"/>
            <a:ext cx="4045200" cy="178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52" name="Google Shape;52;p9">
            <a:extLst xmlns:a="http://schemas.openxmlformats.org/drawingml/2006/main">
              <a:ext uri="{FF2B5EF4-FFF2-40B4-BE49-F238E27FC236}">
                <a16:creationId xmlns:a16="http://schemas.microsoft.com/office/drawing/2014/main" id="{0AEE1615-34FE-44DE-92A3-04B493A723E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921401"/>
            <a:ext cx="4045200" cy="134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53" name="Google Shape;53;p9">
            <a:extLst xmlns:a="http://schemas.openxmlformats.org/drawingml/2006/main">
              <a:ext uri="{FF2B5EF4-FFF2-40B4-BE49-F238E27FC236}">
                <a16:creationId xmlns:a16="http://schemas.microsoft.com/office/drawing/2014/main" id="{CEE2C384-C706-4C80-A001-3D064A3F8C5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200"/>
            <a:ext cx="3837000" cy="369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4" name="Google Shape;54;p9">
            <a:extLst xmlns:a="http://schemas.openxmlformats.org/drawingml/2006/main">
              <a:ext uri="{FF2B5EF4-FFF2-40B4-BE49-F238E27FC236}">
                <a16:creationId xmlns:a16="http://schemas.microsoft.com/office/drawing/2014/main" id="{94CE78A2-77B2-4106-841D-6AE475F2B8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55" name="Google Shape;55;p9">
            <a:extLst xmlns:a="http://schemas.openxmlformats.org/drawingml/2006/main">
              <a:ext uri="{FF2B5EF4-FFF2-40B4-BE49-F238E27FC236}">
                <a16:creationId xmlns:a16="http://schemas.microsoft.com/office/drawing/2014/main" id="{21E12A31-D7E8-4EC0-B502-0BEFAB17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00" y="4669825"/>
            <a:ext cx="8282400" cy="38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rPr>
              <a:t>The Complete Prompt Engineering for AI Bootcamp</a:t>
            </a:r>
            <a:endParaRPr sz="900" b="0" i="0" u="none" cap="none">
              <a:solidFill>
                <a:schemeClr val="dk2"/>
              </a:solidFill>
              <a:latin typeface="Source Code Pro"/>
              <a:ea typeface="Source Code Pro"/>
              <a:cs typeface="Source Code Pro"/>
            </a:endParaRPr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Google Shape;57;p10">
            <a:extLst xmlns:a="http://schemas.openxmlformats.org/drawingml/2006/main">
              <a:ext uri="{FF2B5EF4-FFF2-40B4-BE49-F238E27FC236}">
                <a16:creationId xmlns:a16="http://schemas.microsoft.com/office/drawing/2014/main" id="{A0BA2942-3A20-4540-B821-8292B6209B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064725"/>
            <a:ext cx="5998800" cy="6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</a:defRPr>
            </a:lvl1pPr>
          </a:lstStyle>
          <a:p xmlns:a="http://schemas.openxmlformats.org/drawingml/2006/main"/>
        </p:txBody>
      </p:sp>
      <p:sp>
        <p:nvSpPr>
          <p:cNvPr id="58" name="Google Shape;58;p10">
            <a:extLst xmlns:a="http://schemas.openxmlformats.org/drawingml/2006/main">
              <a:ext uri="{FF2B5EF4-FFF2-40B4-BE49-F238E27FC236}">
                <a16:creationId xmlns:a16="http://schemas.microsoft.com/office/drawing/2014/main" id="{DD76E5B8-C6B0-41DC-A1A1-F848998C64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59" name="Google Shape;59;p10">
            <a:extLst xmlns:a="http://schemas.openxmlformats.org/drawingml/2006/main">
              <a:ext uri="{FF2B5EF4-FFF2-40B4-BE49-F238E27FC236}">
                <a16:creationId xmlns:a16="http://schemas.microsoft.com/office/drawing/2014/main" id="{C21A95F1-19B0-4D1C-A0FD-9E32E2A7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00" y="4669825"/>
            <a:ext cx="8282400" cy="38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rPr>
              <a:t>The Complete Prompt Engineering for AI Bootcamp</a:t>
            </a:r>
            <a:endParaRPr sz="900" b="0" i="0" u="none" cap="none">
              <a:solidFill>
                <a:schemeClr val="dk2"/>
              </a:solidFill>
              <a:latin typeface="Source Code Pro"/>
              <a:ea typeface="Source Code Pro"/>
              <a:cs typeface="Source Code Pro"/>
            </a:endParaRPr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6" name="Google Shape;61;p11"/>
          <p:cNvCxnSpPr/>
          <p:nvPr/>
        </p:nvCxnSpPr>
        <p:spPr>
          <a:xfrm xmlns:a="http://schemas.openxmlformats.org/drawingml/2006/main">
            <a:off x="413275" y="2988275"/>
            <a:ext cx="910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62" name="Google Shape;62;p11">
            <a:extLst xmlns:a="http://schemas.openxmlformats.org/drawingml/2006/main">
              <a:ext uri="{FF2B5EF4-FFF2-40B4-BE49-F238E27FC236}">
                <a16:creationId xmlns:a16="http://schemas.microsoft.com/office/drawing/2014/main" id="{2864AEF7-D165-4FAA-B917-996261EDCFD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63" name="Google Shape;63;p11">
            <a:extLst xmlns:a="http://schemas.openxmlformats.org/drawingml/2006/main">
              <a:ext uri="{FF2B5EF4-FFF2-40B4-BE49-F238E27FC236}">
                <a16:creationId xmlns:a16="http://schemas.microsoft.com/office/drawing/2014/main" id="{BFB5E60E-7E84-4258-977F-8B49A62FA5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64" name="Google Shape;64;p11">
            <a:extLst xmlns:a="http://schemas.openxmlformats.org/drawingml/2006/main">
              <a:ext uri="{FF2B5EF4-FFF2-40B4-BE49-F238E27FC236}">
                <a16:creationId xmlns:a16="http://schemas.microsoft.com/office/drawing/2014/main" id="{5991A8CC-A223-4653-93BD-AC891F3E70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65" name="Google Shape;65;p11">
            <a:extLst xmlns:a="http://schemas.openxmlformats.org/drawingml/2006/main">
              <a:ext uri="{FF2B5EF4-FFF2-40B4-BE49-F238E27FC236}">
                <a16:creationId xmlns:a16="http://schemas.microsoft.com/office/drawing/2014/main" id="{EAE513A3-38E6-47EE-8B64-38308681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00" y="4669825"/>
            <a:ext cx="8282400" cy="38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rPr>
              <a:t>The Complete Prompt Engineering for AI Bootcamp</a:t>
            </a:r>
            <a:endParaRPr sz="900" b="0" i="0" u="none" cap="none">
              <a:solidFill>
                <a:schemeClr val="dk2"/>
              </a:solidFill>
              <a:latin typeface="Source Code Pro"/>
              <a:ea typeface="Source Code Pro"/>
              <a:cs typeface="Source Code Pro"/>
            </a:endParaRPr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12">
            <a:extLst xmlns:a="http://schemas.openxmlformats.org/drawingml/2006/main">
              <a:ext uri="{FF2B5EF4-FFF2-40B4-BE49-F238E27FC236}">
                <a16:creationId xmlns:a16="http://schemas.microsoft.com/office/drawing/2014/main" id="{FD19988A-3D0B-46A5-8469-CCC393EFFC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68" name="Google Shape;68;p12">
            <a:extLst xmlns:a="http://schemas.openxmlformats.org/drawingml/2006/main">
              <a:ext uri="{FF2B5EF4-FFF2-40B4-BE49-F238E27FC236}">
                <a16:creationId xmlns:a16="http://schemas.microsoft.com/office/drawing/2014/main" id="{32205E09-F0CC-4CD4-9DBB-1DB6A900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00" y="4669825"/>
            <a:ext cx="8282400" cy="38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rPr>
              <a:t>The Complete Prompt Engineering for AI Bootcamp</a:t>
            </a:r>
            <a:endParaRPr sz="900" b="0" i="0" u="none" cap="none">
              <a:solidFill>
                <a:schemeClr val="dk2"/>
              </a:solidFill>
              <a:latin typeface="Source Code Pro"/>
              <a:ea typeface="Source Code Pro"/>
              <a:cs typeface="Source Code Pro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949158564d413e" /><Relationship Type="http://schemas.openxmlformats.org/officeDocument/2006/relationships/slideLayout" Target="/ppt/slideLayouts/slideLayout1.xml" Id="R940596bf0ade4a27" /><Relationship Type="http://schemas.openxmlformats.org/officeDocument/2006/relationships/slideLayout" Target="/ppt/slideLayouts/slideLayout2.xml" Id="Rf42ae48c67eb4fac" /><Relationship Type="http://schemas.openxmlformats.org/officeDocument/2006/relationships/slideLayout" Target="/ppt/slideLayouts/slideLayout3.xml" Id="Rd4e9f8041cad4094" /><Relationship Type="http://schemas.openxmlformats.org/officeDocument/2006/relationships/slideLayout" Target="/ppt/slideLayouts/slideLayout4.xml" Id="Rbe0799c7d0104692" /><Relationship Type="http://schemas.openxmlformats.org/officeDocument/2006/relationships/slideLayout" Target="/ppt/slideLayouts/slideLayout5.xml" Id="Rbafb3c9b7db5438a" /><Relationship Type="http://schemas.openxmlformats.org/officeDocument/2006/relationships/slideLayout" Target="/ppt/slideLayouts/slideLayout6.xml" Id="R94b5e9bf01d94739" /><Relationship Type="http://schemas.openxmlformats.org/officeDocument/2006/relationships/slideLayout" Target="/ppt/slideLayouts/slideLayout7.xml" Id="R2d44fce08e904914" /><Relationship Type="http://schemas.openxmlformats.org/officeDocument/2006/relationships/slideLayout" Target="/ppt/slideLayouts/slideLayout8.xml" Id="R57191c854e0d473f" /><Relationship Type="http://schemas.openxmlformats.org/officeDocument/2006/relationships/slideLayout" Target="/ppt/slideLayouts/slideLayout9.xml" Id="Rb2b861d846694556" /><Relationship Type="http://schemas.openxmlformats.org/officeDocument/2006/relationships/slideLayout" Target="/ppt/slideLayouts/slideLayout10.xml" Id="Rc8c5e150286c4168" /><Relationship Type="http://schemas.openxmlformats.org/officeDocument/2006/relationships/slideLayout" Target="/ppt/slideLayouts/slideLayout11.xml" Id="Rad6c71c32b6c4bcc" /></Relationships>
</file>

<file path=ppt/slideMasters/slideMaster1.xml><?xml version="1.0" encoding="utf-8"?>
<p:sldMaster xmlns:p="http://schemas.openxmlformats.org/presentationml/2006/main">
  <p:cSld name="modern-writer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1B95095C-97F0-47B3-87A5-05DD17E2DF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372500"/>
            <a:ext cx="8520600" cy="7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0" i="0" u="none" cap="none">
                <a:solidFill>
                  <a:schemeClr val="dk2"/>
                </a:solidFill>
                <a:latin typeface="Oswald"/>
                <a:ea typeface="Oswald"/>
                <a:cs typeface="Oswald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0" i="0" u="none" cap="none">
                <a:solidFill>
                  <a:schemeClr val="dk2"/>
                </a:solidFill>
                <a:latin typeface="Oswald"/>
                <a:ea typeface="Oswald"/>
                <a:cs typeface="Oswald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0" i="0" u="none" cap="none">
                <a:solidFill>
                  <a:schemeClr val="dk2"/>
                </a:solidFill>
                <a:latin typeface="Oswald"/>
                <a:ea typeface="Oswald"/>
                <a:cs typeface="Oswald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0" i="0" u="none" cap="none">
                <a:solidFill>
                  <a:schemeClr val="dk2"/>
                </a:solidFill>
                <a:latin typeface="Oswald"/>
                <a:ea typeface="Oswald"/>
                <a:cs typeface="Oswald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0" i="0" u="none" cap="none">
                <a:solidFill>
                  <a:schemeClr val="dk2"/>
                </a:solidFill>
                <a:latin typeface="Oswald"/>
                <a:ea typeface="Oswald"/>
                <a:cs typeface="Oswald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0" i="0" u="none" cap="none">
                <a:solidFill>
                  <a:schemeClr val="dk2"/>
                </a:solidFill>
                <a:latin typeface="Oswald"/>
                <a:ea typeface="Oswald"/>
                <a:cs typeface="Oswald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0" i="0" u="none" cap="none">
                <a:solidFill>
                  <a:schemeClr val="dk2"/>
                </a:solidFill>
                <a:latin typeface="Oswald"/>
                <a:ea typeface="Oswald"/>
                <a:cs typeface="Oswald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0" i="0" u="none" cap="none">
                <a:solidFill>
                  <a:schemeClr val="dk2"/>
                </a:solidFill>
                <a:latin typeface="Oswald"/>
                <a:ea typeface="Oswald"/>
                <a:cs typeface="Oswald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0" i="0" u="none" cap="none">
                <a:solidFill>
                  <a:schemeClr val="dk2"/>
                </a:solidFill>
                <a:latin typeface="Oswald"/>
                <a:ea typeface="Oswald"/>
                <a:cs typeface="Oswald"/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E2B9F3B2-D8F4-4ED4-9BC8-672C354929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468825"/>
            <a:ext cx="8520600" cy="309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sz="14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sz="14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sz="14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sz="14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sz="14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sz="14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sz="14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sz="14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C383D756-5604-423D-9300-0332CF67BE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0596bf0ade4a27"/>
    <p:sldLayoutId xmlns:r="http://schemas.openxmlformats.org/officeDocument/2006/relationships" id="2147483650" r:id="Rf42ae48c67eb4fac"/>
    <p:sldLayoutId xmlns:r="http://schemas.openxmlformats.org/officeDocument/2006/relationships" id="2147483651" r:id="Rd4e9f8041cad4094"/>
    <p:sldLayoutId xmlns:r="http://schemas.openxmlformats.org/officeDocument/2006/relationships" id="2147483652" r:id="Rbe0799c7d0104692"/>
    <p:sldLayoutId xmlns:r="http://schemas.openxmlformats.org/officeDocument/2006/relationships" id="2147483653" r:id="Rbafb3c9b7db5438a"/>
    <p:sldLayoutId xmlns:r="http://schemas.openxmlformats.org/officeDocument/2006/relationships" id="2147483654" r:id="R94b5e9bf01d94739"/>
    <p:sldLayoutId xmlns:r="http://schemas.openxmlformats.org/officeDocument/2006/relationships" id="2147483655" r:id="R2d44fce08e904914"/>
    <p:sldLayoutId xmlns:r="http://schemas.openxmlformats.org/officeDocument/2006/relationships" id="2147483656" r:id="R57191c854e0d473f"/>
    <p:sldLayoutId xmlns:r="http://schemas.openxmlformats.org/officeDocument/2006/relationships" id="2147483657" r:id="Rb2b861d846694556"/>
    <p:sldLayoutId xmlns:r="http://schemas.openxmlformats.org/officeDocument/2006/relationships" id="2147483658" r:id="Rc8c5e150286c4168"/>
    <p:sldLayoutId xmlns:r="http://schemas.openxmlformats.org/officeDocument/2006/relationships" id="2147483659" r:id="Rad6c71c32b6c4bcc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dern Writ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c9b559886e4633" /><Relationship Type="http://schemas.openxmlformats.org/officeDocument/2006/relationships/hyperlink" Target="https://developers.openai.com/api/docs/guides/tools-skills" TargetMode="External" Id="R9f23c87e711c4753" /><Relationship Type="http://schemas.openxmlformats.org/officeDocument/2006/relationships/notesSlide" Target="/ppt/notesSlides/notesSlide1.xml" Id="R2ddc6f802e8a4b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f3ec6cc92d473c" /><Relationship Type="http://schemas.openxmlformats.org/officeDocument/2006/relationships/hyperlink" Target="https://developers.openai.com/api/docs/guides/tools-skills#agents-api" TargetMode="External" Id="R28131a7d51e94c61" /><Relationship Type="http://schemas.openxmlformats.org/officeDocument/2006/relationships/notesSlide" Target="/ppt/notesSlides/notesSlide2.xml" Id="R576a813bbdc1496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1" name="Google Shape;181;p26">
            <a:extLst xmlns:a="http://schemas.openxmlformats.org/drawingml/2006/main">
              <a:ext uri="{FF2B5EF4-FFF2-40B4-BE49-F238E27FC236}">
                <a16:creationId xmlns:a16="http://schemas.microsoft.com/office/drawing/2014/main" id="{715ECB2A-F95F-49FF-A0BC-88EA886EC2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523875"/>
            <a:ext cx="834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rgbClr val="424242"/>
                </a:solidFill>
                <a:latin typeface="Oswald"/>
                <a:ea typeface="Oswald"/>
                <a:cs typeface="Oswald"/>
              </a:defRPr>
            </a:pPr>
            <a:r>
              <a:rPr sz="3000">
                <a:solidFill>
                  <a:srgbClr val="424242"/>
                </a:solidFill>
                <a:latin typeface="Oswald"/>
                <a:ea typeface="Oswald"/>
                <a:cs typeface="Oswald"/>
              </a:rPr>
              <a:t>Skills Give Agents a Repeatable Process</a:t>
            </a:r>
            <a:endParaRPr/>
          </a:p>
        </p:txBody>
      </p:sp>
      <p:sp>
        <p:nvSpPr>
          <p:cNvPr id="183" name="Google Shape;183;p26">
            <a:extLst xmlns:a="http://schemas.openxmlformats.org/drawingml/2006/main">
              <a:ext uri="{FF2B5EF4-FFF2-40B4-BE49-F238E27FC236}">
                <a16:creationId xmlns:a16="http://schemas.microsoft.com/office/drawing/2014/main" id="{2A076993-5716-44E1-A817-66F8021F57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84" name="Package a workflow once. Reuse it across different tasks.">
            <a:extLst xmlns:a="http://schemas.openxmlformats.org/drawingml/2006/main">
              <a:ext uri="{FF2B5EF4-FFF2-40B4-BE49-F238E27FC236}">
                <a16:creationId xmlns:a16="http://schemas.microsoft.com/office/drawing/2014/main" id="{97C1FF16-0B38-4409-9E40-6D16A203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14475"/>
            <a:ext cx="834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650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Package a workflow once. Reuse it across different tasks.</a:t>
            </a:r>
          </a:p>
        </p:txBody>
      </p:sp>
      <p:sp>
        <p:nvSpPr>
          <p:cNvPr id="185" name="A skill is a folder">
            <a:extLst xmlns:a="http://schemas.openxmlformats.org/drawingml/2006/main">
              <a:ext uri="{FF2B5EF4-FFF2-40B4-BE49-F238E27FC236}">
                <a16:creationId xmlns:a16="http://schemas.microsoft.com/office/drawing/2014/main" id="{E9D12E54-71D6-49D4-8E64-3C104E0F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955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250" b="0">
                <a:solidFill>
                  <a:srgbClr val="E91D63"/>
                </a:solidFill>
                <a:latin typeface="Oswald"/>
                <a:ea typeface="Oswald"/>
                <a:cs typeface="Oswald"/>
              </a:defRPr>
            </a:pPr>
            <a:r>
              <a:rPr sz="2250" b="0">
                <a:solidFill>
                  <a:srgbClr val="E91D63"/>
                </a:solidFill>
                <a:latin typeface="Oswald"/>
                <a:ea typeface="Oswald"/>
                <a:cs typeface="Oswald"/>
              </a:rPr>
              <a:t>A skill is a folder</a:t>
            </a:r>
          </a:p>
        </p:txBody>
      </p:sp>
      <p:sp>
        <p:nvSpPr>
          <p:cNvPr id="186" name="sales-report/">
            <a:extLst xmlns:a="http://schemas.openxmlformats.org/drawingml/2006/main">
              <a:ext uri="{FF2B5EF4-FFF2-40B4-BE49-F238E27FC236}">
                <a16:creationId xmlns:a16="http://schemas.microsoft.com/office/drawing/2014/main" id="{B017ADB1-603F-45B1-B70B-AE1A42B0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76550"/>
            <a:ext cx="4381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57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sales-report/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57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  SKILL.md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57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  scripts/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57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    summarize_sales.py</a:t>
            </a:r>
          </a:p>
        </p:txBody>
      </p:sp>
      <p:sp>
        <p:nvSpPr>
          <p:cNvPr id="187" name="The agent discovers and uses it">
            <a:extLst xmlns:a="http://schemas.openxmlformats.org/drawingml/2006/main">
              <a:ext uri="{FF2B5EF4-FFF2-40B4-BE49-F238E27FC236}">
                <a16:creationId xmlns:a16="http://schemas.microsoft.com/office/drawing/2014/main" id="{8BC30EC5-8A28-4384-8EF6-90A453EF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295525"/>
            <a:ext cx="3752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175" b="0">
                <a:solidFill>
                  <a:srgbClr val="E91D63"/>
                </a:solidFill>
                <a:latin typeface="Oswald"/>
                <a:ea typeface="Oswald"/>
                <a:cs typeface="Oswald"/>
              </a:defRPr>
            </a:pPr>
            <a:r>
              <a:rPr sz="2175" b="0">
                <a:solidFill>
                  <a:srgbClr val="E91D63"/>
                </a:solidFill>
                <a:latin typeface="Oswald"/>
                <a:ea typeface="Oswald"/>
                <a:cs typeface="Oswald"/>
              </a:rPr>
              <a:t>The agent discovers and uses it</a:t>
            </a:r>
          </a:p>
        </p:txBody>
      </p:sp>
      <p:sp>
        <p:nvSpPr>
          <p:cNvPr id="188" name="Name + description: when to use.">
            <a:extLst xmlns:a="http://schemas.openxmlformats.org/drawingml/2006/main">
              <a:ext uri="{FF2B5EF4-FFF2-40B4-BE49-F238E27FC236}">
                <a16:creationId xmlns:a16="http://schemas.microsoft.com/office/drawing/2014/main" id="{18DFD355-64E2-4554-BAD8-9B83012F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876550"/>
            <a:ext cx="3762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42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Name + description: when to use.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42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Instructions: steps to follow.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42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Supporting files: scripts,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42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references and templates.</a:t>
            </a:r>
          </a:p>
        </p:txBody>
      </p:sp>
      <p:sp>
        <p:nvSpPr>
          <p:cNvPr id="189" name="Tools enable actions. Skills guide the process.">
            <a:extLst xmlns:a="http://schemas.openxmlformats.org/drawingml/2006/main">
              <a:ext uri="{FF2B5EF4-FFF2-40B4-BE49-F238E27FC236}">
                <a16:creationId xmlns:a16="http://schemas.microsoft.com/office/drawing/2014/main" id="{C4759E2E-886A-40B6-AE82-1036B205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0050"/>
            <a:ext cx="834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1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425" b="1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Tools enable actions. Skills guide the process.</a:t>
            </a:r>
          </a:p>
        </p:txBody>
      </p:sp>
      <p:sp>
        <p:nvSpPr>
          <p:cNvPr id="190" name="Official Skills guide">
            <a:extLst xmlns:a="http://schemas.openxmlformats.org/drawingml/2006/main">
              <a:ext uri="{FF2B5EF4-FFF2-40B4-BE49-F238E27FC236}">
                <a16:creationId xmlns:a16="http://schemas.microsoft.com/office/drawing/2014/main" id="{9F0D99D4-08F9-4C2F-A0A3-BB8BAC8F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00838F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200" b="0" u="sng">
                <a:solidFill>
                  <a:srgbClr val="00838F"/>
                </a:solidFill>
                <a:latin typeface="Source Code Pro"/>
                <a:ea typeface="Source Code Pro"/>
                <a:cs typeface="Source Code Pro"/>
                <a:hlinkClick xmlns:r="http://schemas.openxmlformats.org/officeDocument/2006/relationships" r:id="R9f23c87e711c4753"/>
              </a:rPr>
              <a:t>Official Skills guide</a:t>
            </a:r>
          </a:p>
        </p:txBody>
      </p:sp>
    </p:spTree>
    <p:extLst>
      <p:ext uri="{BB962C8B-B14F-4D97-AF65-F5344CB8AC3E}">
        <p14:creationId xmlns:p14="http://schemas.microsoft.com/office/powerpoint/2010/main" val="202610015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1" name="Google Shape;181;p26">
            <a:extLst xmlns:a="http://schemas.openxmlformats.org/drawingml/2006/main">
              <a:ext uri="{FF2B5EF4-FFF2-40B4-BE49-F238E27FC236}">
                <a16:creationId xmlns:a16="http://schemas.microsoft.com/office/drawing/2014/main" id="{715ECB2A-F95F-49FF-A0BC-88EA886EC2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523875"/>
            <a:ext cx="834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rgbClr val="424242"/>
                </a:solidFill>
                <a:latin typeface="Oswald"/>
                <a:ea typeface="Oswald"/>
                <a:cs typeface="Oswald"/>
              </a:defRPr>
            </a:pPr>
            <a:r>
              <a:rPr sz="3000">
                <a:solidFill>
                  <a:srgbClr val="424242"/>
                </a:solidFill>
                <a:latin typeface="Oswald"/>
                <a:ea typeface="Oswald"/>
                <a:cs typeface="Oswald"/>
              </a:rPr>
              <a:t>Attach the Skill, Then Run the Agent</a:t>
            </a:r>
            <a:endParaRPr/>
          </a:p>
        </p:txBody>
      </p:sp>
      <p:sp>
        <p:nvSpPr>
          <p:cNvPr id="183" name="Google Shape;183;p26">
            <a:extLst xmlns:a="http://schemas.openxmlformats.org/drawingml/2006/main">
              <a:ext uri="{FF2B5EF4-FFF2-40B4-BE49-F238E27FC236}">
                <a16:creationId xmlns:a16="http://schemas.microsoft.com/office/drawing/2014/main" id="{2A076993-5716-44E1-A817-66F8021F57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84" name="Agents API: make the skill available inside the sandbox.">
            <a:extLst xmlns:a="http://schemas.openxmlformats.org/drawingml/2006/main">
              <a:ext uri="{FF2B5EF4-FFF2-40B4-BE49-F238E27FC236}">
                <a16:creationId xmlns:a16="http://schemas.microsoft.com/office/drawing/2014/main" id="{9B8995C9-0FB3-4A39-915B-E1ABCFD2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14475"/>
            <a:ext cx="834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650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Agents API: make the skill available inside the sandbox.</a:t>
            </a:r>
          </a:p>
        </p:txBody>
      </p:sp>
      <p:sp>
        <p:nvSpPr>
          <p:cNvPr id="185" name="1  Add the skill files">
            <a:extLst xmlns:a="http://schemas.openxmlformats.org/drawingml/2006/main">
              <a:ext uri="{FF2B5EF4-FFF2-40B4-BE49-F238E27FC236}">
                <a16:creationId xmlns:a16="http://schemas.microsoft.com/office/drawing/2014/main" id="{82FB7994-B296-4957-98BA-FF3C2483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4229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025" b="0">
                <a:solidFill>
                  <a:srgbClr val="E91D63"/>
                </a:solidFill>
                <a:latin typeface="Oswald"/>
                <a:ea typeface="Oswald"/>
                <a:cs typeface="Oswald"/>
              </a:defRPr>
            </a:pPr>
            <a:r>
              <a:rPr sz="2025" b="0">
                <a:solidFill>
                  <a:srgbClr val="E91D63"/>
                </a:solidFill>
                <a:latin typeface="Oswald"/>
                <a:ea typeface="Oswald"/>
                <a:cs typeface="Oswald"/>
              </a:rPr>
              <a:t>1  Add the skill files</a:t>
            </a:r>
          </a:p>
        </p:txBody>
      </p:sp>
      <p:sp>
        <p:nvSpPr>
          <p:cNvPr id="186" name="Place SKILL.md and its helper">
            <a:extLst xmlns:a="http://schemas.openxmlformats.org/drawingml/2006/main">
              <a:ext uri="{FF2B5EF4-FFF2-40B4-BE49-F238E27FC236}">
                <a16:creationId xmlns:a16="http://schemas.microsoft.com/office/drawing/2014/main" id="{C3BC718B-8FFD-43A7-8EFF-9281B022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43053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42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Place SKILL.md and its helper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42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in /workspace/skills/sales-report.</a:t>
            </a:r>
          </a:p>
        </p:txBody>
      </p:sp>
      <p:sp>
        <p:nvSpPr>
          <p:cNvPr id="187" name="2  Register the parent folder">
            <a:extLst xmlns:a="http://schemas.openxmlformats.org/drawingml/2006/main">
              <a:ext uri="{FF2B5EF4-FFF2-40B4-BE49-F238E27FC236}">
                <a16:creationId xmlns:a16="http://schemas.microsoft.com/office/drawing/2014/main" id="{3EF015A8-3990-43D9-AC4F-0616B8A0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4324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025" b="0">
                <a:solidFill>
                  <a:srgbClr val="E91D63"/>
                </a:solidFill>
                <a:latin typeface="Oswald"/>
                <a:ea typeface="Oswald"/>
                <a:cs typeface="Oswald"/>
              </a:defRPr>
            </a:pPr>
            <a:r>
              <a:rPr sz="2025" b="0">
                <a:solidFill>
                  <a:srgbClr val="E91D63"/>
                </a:solidFill>
                <a:latin typeface="Oswald"/>
                <a:ea typeface="Oswald"/>
                <a:cs typeface="Oswald"/>
              </a:rPr>
              <a:t>2  Register the parent folder</a:t>
            </a:r>
          </a:p>
        </p:txBody>
      </p:sp>
      <p:sp>
        <p:nvSpPr>
          <p:cNvPr id="188" name="The harness discovers skills">
            <a:extLst xmlns:a="http://schemas.openxmlformats.org/drawingml/2006/main">
              <a:ext uri="{FF2B5EF4-FFF2-40B4-BE49-F238E27FC236}">
                <a16:creationId xmlns:a16="http://schemas.microsoft.com/office/drawing/2014/main" id="{D67BE3AF-DCF9-49CB-A116-7686EA03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67150"/>
            <a:ext cx="430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42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The harness discovers skills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42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under /workspace/skills.</a:t>
            </a:r>
          </a:p>
        </p:txBody>
      </p:sp>
      <p:sp>
        <p:nvSpPr>
          <p:cNvPr id="189" name="Agents API session configuration">
            <a:extLst xmlns:a="http://schemas.openxmlformats.org/drawingml/2006/main">
              <a:ext uri="{FF2B5EF4-FFF2-40B4-BE49-F238E27FC236}">
                <a16:creationId xmlns:a16="http://schemas.microsoft.com/office/drawing/2014/main" id="{2237A0C7-73CF-420E-AF54-9E60C294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479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350" b="1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Agents API session configuration</a:t>
            </a:r>
          </a:p>
        </p:txBody>
      </p:sp>
      <p:sp>
        <p:nvSpPr>
          <p:cNvPr id="190" name="environment={">
            <a:extLst xmlns:a="http://schemas.openxmlformats.org/drawingml/2006/main">
              <a:ext uri="{FF2B5EF4-FFF2-40B4-BE49-F238E27FC236}">
                <a16:creationId xmlns:a16="http://schemas.microsoft.com/office/drawing/2014/main" id="{0CF16861-31AA-4055-8140-E9F5BA4F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86050"/>
            <a:ext cx="3714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27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environment={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27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  "type": "openai_hosted",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27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  "files": skill_files,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27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  "capability_directories": [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27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    "/workspace/skills"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27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  ]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27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}</a:t>
            </a:r>
          </a:p>
        </p:txBody>
      </p:sp>
      <p:sp>
        <p:nvSpPr>
          <p:cNvPr id="191" name="Run: “Use sales-report to analyse this CSV.” Then verify the output.">
            <a:extLst xmlns:a="http://schemas.openxmlformats.org/drawingml/2006/main">
              <a:ext uri="{FF2B5EF4-FFF2-40B4-BE49-F238E27FC236}">
                <a16:creationId xmlns:a16="http://schemas.microsoft.com/office/drawing/2014/main" id="{3EBD13E1-52A9-4453-9C15-3CECA62F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62475"/>
            <a:ext cx="8343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00838F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275" b="0" u="sng">
                <a:solidFill>
                  <a:srgbClr val="00838F"/>
                </a:solidFill>
                <a:latin typeface="Source Code Pro"/>
                <a:ea typeface="Source Code Pro"/>
                <a:cs typeface="Source Code Pro"/>
                <a:hlinkClick xmlns:r="http://schemas.openxmlformats.org/officeDocument/2006/relationships" r:id="R28131a7d51e94c61"/>
              </a:rPr>
              <a:t>Run: “Use sales-report to analyse this CSV.” Then verify the output.</a:t>
            </a:r>
          </a:p>
        </p:txBody>
      </p:sp>
    </p:spTree>
    <p:extLst>
      <p:ext uri="{BB962C8B-B14F-4D97-AF65-F5344CB8AC3E}">
        <p14:creationId xmlns:p14="http://schemas.microsoft.com/office/powerpoint/2010/main" val="2026100151"/>
      </p:ext>
    </p:extLst>
  </p:cSld>
</p:sld>
</file>

<file path=ppt/theme/theme1.xml><?xml version="1.0" encoding="utf-8"?>
<a:theme xmlns:a="http://schemas.openxmlformats.org/drawingml/2006/main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dern Writ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2026-10-01T11:36:52.7930000Z</dcterms:created>
  <dcterms:modified xsi:type="dcterms:W3CDTF">2026-10-01T11:36:52.7930000Z</dcterms:modified>
</coreProperties>
</file>