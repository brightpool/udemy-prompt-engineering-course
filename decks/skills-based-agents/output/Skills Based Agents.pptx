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73db01f121461e" /><Relationship Type="http://schemas.openxmlformats.org/officeDocument/2006/relationships/extended-properties" Target="/docProps/app.xml" Id="R4d9ede7d273c48f0" /><Relationship Type="http://schemas.openxmlformats.org/officeDocument/2006/relationships/officeDocument" Target="/ppt/presentation.xml" Id="Re04de0776c634a2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d8b2d4fcba04d28"/>
  </p:sldMasterIdLst>
  <p:notesMasterIdLst>
    <p:notesMasterId xmlns:r="http://schemas.openxmlformats.org/officeDocument/2006/relationships" r:id="R560c43b1e86d45ca"/>
  </p:notesMasterIdLst>
  <p:sldIdLst>
    <p:sldId xmlns:r="http://schemas.openxmlformats.org/officeDocument/2006/relationships" id="256" r:id="Rf2fbe124fb174192"/>
    <p:sldId xmlns:r="http://schemas.openxmlformats.org/officeDocument/2006/relationships" id="257" r:id="R34efec1af276452f"/>
  </p:sldIdLst>
  <p:sldSz cx="9144000" cy="5143500"/>
  <p:notesSz cx="6858000" cy="9144000"/>
  <p:embeddedFontLst>
    <p:embeddedFont>
      <p:font typeface="Source Code Pro"/>
      <p:regular xmlns:r="http://schemas.openxmlformats.org/officeDocument/2006/relationships" r:id="R22ebdc3e244b4d72"/>
      <p:bold xmlns:r="http://schemas.openxmlformats.org/officeDocument/2006/relationships" r:id="R82996b7911d64a01"/>
      <p:italic xmlns:r="http://schemas.openxmlformats.org/officeDocument/2006/relationships" r:id="Rdfc367e04c4a48b9"/>
      <p:boldItalic xmlns:r="http://schemas.openxmlformats.org/officeDocument/2006/relationships" r:id="R1c7cb0d2c1714c7c"/>
    </p:embeddedFont>
    <p:embeddedFont>
      <p:font typeface="Oswald"/>
      <p:regular xmlns:r="http://schemas.openxmlformats.org/officeDocument/2006/relationships" r:id="Rf36fef2dcead4384"/>
      <p:bold xmlns:r="http://schemas.openxmlformats.org/officeDocument/2006/relationships" r:id="R573e8f84dc6b4e6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2494c71ab40a6" /><Relationship Type="http://schemas.openxmlformats.org/officeDocument/2006/relationships/slideMaster" Target="/ppt/slideMasters/slideMaster1.xml" Id="R6d8b2d4fcba04d28" /><Relationship Type="http://schemas.openxmlformats.org/officeDocument/2006/relationships/notesMaster" Target="/ppt/notesMasters/notesMaster1.xml" Id="R560c43b1e86d45ca" /><Relationship Type="http://schemas.openxmlformats.org/officeDocument/2006/relationships/presProps" Target="/ppt/presProps.xml" Id="R14cdbfcb2b644c8e" /><Relationship Type="http://schemas.openxmlformats.org/officeDocument/2006/relationships/viewProps" Target="/ppt/viewProps.xml" Id="Rc406b8ef112745bb" /><Relationship Type="http://schemas.openxmlformats.org/officeDocument/2006/relationships/tableStyles" Target="/ppt/tableStyles.xml" Id="R51da941dc3374c23" /><Relationship Type="http://schemas.openxmlformats.org/officeDocument/2006/relationships/font" Target="/ppt/fonts/font.dat" Id="R22ebdc3e244b4d72" /><Relationship Type="http://schemas.openxmlformats.org/officeDocument/2006/relationships/font" Target="/ppt/fonts/font2.dat" Id="R82996b7911d64a01" /><Relationship Type="http://schemas.openxmlformats.org/officeDocument/2006/relationships/font" Target="/ppt/fonts/font3.dat" Id="Rdfc367e04c4a48b9" /><Relationship Type="http://schemas.openxmlformats.org/officeDocument/2006/relationships/font" Target="/ppt/fonts/font4.dat" Id="R1c7cb0d2c1714c7c" /><Relationship Type="http://schemas.openxmlformats.org/officeDocument/2006/relationships/font" Target="/ppt/fonts/font5.dat" Id="Rf36fef2dcead4384" /><Relationship Type="http://schemas.openxmlformats.org/officeDocument/2006/relationships/font" Target="/ppt/fonts/font6.dat" Id="R573e8f84dc6b4e6f" /><Relationship Type="http://schemas.openxmlformats.org/officeDocument/2006/relationships/slide" Target="/ppt/slides/slide1.xml" Id="Rf2fbe124fb174192" /><Relationship Type="http://schemas.openxmlformats.org/officeDocument/2006/relationships/slide" Target="/ppt/slides/slide2.xml" Id="R34efec1af276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ca28aa872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ern Wri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75139f2e264ed2" /><Relationship Type="http://schemas.openxmlformats.org/officeDocument/2006/relationships/notesMaster" Target="/ppt/notesMasters/notesMaster1.xml" Id="R55012bfedb8840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6d060becf4c2d" /><Relationship Type="http://schemas.openxmlformats.org/officeDocument/2006/relationships/notesMaster" Target="/ppt/notesMasters/notesMaster1.xml" Id="R4255df00415845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lesson builds on the managed agent harness from Part 7. A skill is a reusable folder with a SKILL.md manifest and optional supporting files. Its name and description tell the agent when the skill is relevant; full instructions describe how to perform the work. Keep scripts, reference material and templates alongside it and link to them from the manifest. Our example is a sales-report skill that tells an agent to calculate totals using a supplied Python script, create a standard report and check the arithmetic. The supporting script handles the repeatable calculations while the model decides how to use it for the task. Tools and skills have different roles: tools provide actions, while a skill packages a process for carrying out a task. Skill discovery does not guarantee correct execution, so we still evaluate the output. Show the manifest and the folder in building_ai_agents/skills_based_agents.ipynb, then run the notebook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https://developers.openai.com/api/docs/guides/tools-skills, https://agentskills.io/specification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are two setup steps in our managed Agents API example. First, install the skill folder and supporting files in the sandbox. The notebook supplies small files through environment.files; hosted environment files are prepared before setup commands run. Second, register the parent directory in environment.capability_directories. If the skill is /workspace/skills/sales-report/SKILL.md, the parent directory is /workspace/skills. The harness discovers the skill's metadata, and the model can read its full instructions and supporting files. The snippet is the environment configuration used when creating an Agents API session; skill_files is the list prepared in the notebook. Then submit a short task that explicitly asks for the sales-report skill. The notebook checks saved execution commands for a successful read of SKILL.md and a successful execution of summarize_sales.py, then downloads and verifies the report, CSV and JSON summary. Keep these checks separate from the model's own claim that it used a skill. This directory-discovery setup is distinct from Responses API hosted shell skill_reference attachments. Attach reviewed instructions and code, retain appropriate tool permissions, and check the final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https://developers.openai.com/api/docs/guides/tools-skills#agents-api, https://developers.openai.com/api/docs/guides/agents-api/environments/openai-hosted, https://developers.openai.com/api/docs/guides/agents-api/environments/files</a:t>
            </a:r>
          </a:p>
          <a:p xmlns:a="http://schemas.openxmlformats.org/drawingml/2006/main">
            <a:r>
              <a:t>Companion notebook: building_ai_agents/skills_based_agents.ipynb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b1b1f27ad46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0edc699f643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64370261c47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87b526a2944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1d28494784c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7623386ba43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8da4d5ec54f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64d9c8ee94f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f2f5af28c4f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75f2e1e12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b07085cd243b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2201058-CF54-4EA0-B065-7B65A636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26100" y="2933550"/>
            <a:ext cx="691800" cy="38850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3AB22F9-9A9E-4A70-A4E2-9152D39D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" y="0"/>
            <a:ext cx="91440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2CC3C3D-FF67-49F8-91D8-39C5ED3040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1175" y="644300"/>
            <a:ext cx="8282400" cy="210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3568F672-9ED3-41A8-B380-C79102282A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1175" y="3398250"/>
            <a:ext cx="8282400" cy="12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0E74458-F8A9-4CC3-9015-5834B106C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B0EAA220-1924-4284-9220-B724ED0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75" y="79900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1100" b="0" i="0" u="none" cap="none">
              <a:solidFill>
                <a:schemeClr val="lt1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Google Shape;17;p3"/>
          <p:cNvCxnSpPr/>
          <p:nvPr/>
        </p:nvCxnSpPr>
        <p:spPr>
          <a:xfrm xmlns:a="http://schemas.openxmlformats.org/drawingml/2006/main">
            <a:off x="429200" y="1275577"/>
            <a:ext cx="61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CCE5230A-2165-4CAD-9A3C-CAC901E58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A7A99A15-186F-4DAB-A8BB-043B271FF9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68825"/>
            <a:ext cx="85206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CCA3F5A7-4A92-4C84-8764-83C4C5EB53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3D71CC81-16E6-417A-9D78-4D43DB9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038E7980-8BD6-4943-A871-EFAB192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7350"/>
            <a:ext cx="9144000" cy="2008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2FA938A8-E2EA-42BB-89B0-490DA2520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0800" y="1889700"/>
            <a:ext cx="8282400" cy="15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71476781-D5BC-4499-854A-CFA85B5E9B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8103A985-71E9-4C62-9283-3AB7F4A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Google Shape;28;p5"/>
          <p:cNvCxnSpPr/>
          <p:nvPr/>
        </p:nvCxnSpPr>
        <p:spPr>
          <a:xfrm xmlns:a="http://schemas.openxmlformats.org/drawingml/2006/main">
            <a:off x="429200" y="1275577"/>
            <a:ext cx="61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E0B8E30B-25DE-408E-9F24-5235F1D76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ECA6D4EC-D8FB-4F45-9058-27B00B1AA6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68825"/>
            <a:ext cx="39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E22AC53E-E608-48EE-9CE4-894E82A2C7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468825"/>
            <a:ext cx="39999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04AD8D03-D934-4924-A2D1-636D657FBD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9158D8DA-F643-4FD4-87B0-C5B86A2C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95C3C3F9-6796-484A-8AB9-D9763982B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9E245650-3023-48BA-BA8C-8F575B3ED3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E04D3A6E-2B41-40E1-864C-ECA32DB5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Google Shape;39;p7"/>
          <p:cNvCxnSpPr/>
          <p:nvPr/>
        </p:nvCxnSpPr>
        <p:spPr>
          <a:xfrm xmlns:a="http://schemas.openxmlformats.org/drawingml/2006/main">
            <a:off x="418675" y="1457787"/>
            <a:ext cx="614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0" name="Google Shape;40;p7">
            <a:extLst xmlns:a="http://schemas.openxmlformats.org/drawingml/2006/main">
              <a:ext uri="{FF2B5EF4-FFF2-40B4-BE49-F238E27FC236}">
                <a16:creationId xmlns:a16="http://schemas.microsoft.com/office/drawing/2014/main" id="{70C4FCD9-0784-4D55-B65C-B64B27CB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6318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7D3F01CC-77C7-4D8A-8785-B937FC11F9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618204"/>
            <a:ext cx="2808000" cy="295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3396CB65-35C7-4A48-B65A-40FEAAE8C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D67C7D38-4D2C-4D24-BBB1-6FE52F5F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8">
            <a:extLst xmlns:a="http://schemas.openxmlformats.org/drawingml/2006/main">
              <a:ext uri="{FF2B5EF4-FFF2-40B4-BE49-F238E27FC236}">
                <a16:creationId xmlns:a16="http://schemas.microsoft.com/office/drawing/2014/main" id="{C73C0823-AAE0-4978-8BE5-AE17821D2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528900"/>
            <a:ext cx="5678100" cy="40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6" name="Google Shape;46;p8">
            <a:extLst xmlns:a="http://schemas.openxmlformats.org/drawingml/2006/main">
              <a:ext uri="{FF2B5EF4-FFF2-40B4-BE49-F238E27FC236}">
                <a16:creationId xmlns:a16="http://schemas.microsoft.com/office/drawing/2014/main" id="{9A309763-1B16-4482-B0A5-FA42F1DACC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47" name="Google Shape;47;p8">
            <a:extLst xmlns:a="http://schemas.openxmlformats.org/drawingml/2006/main">
              <a:ext uri="{FF2B5EF4-FFF2-40B4-BE49-F238E27FC236}">
                <a16:creationId xmlns:a16="http://schemas.microsoft.com/office/drawing/2014/main" id="{68F679DE-9B1C-4667-AEAF-70BB30A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 (2023)</a:t>
            </a:r>
            <a:endParaRPr sz="900" b="0" i="0" u="none" cap="none">
              <a:solidFill>
                <a:schemeClr val="lt1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D927C6D5-01CC-491E-B193-A791AFD8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7" name="Google Shape;50;p9"/>
          <p:cNvCxnSpPr/>
          <p:nvPr/>
        </p:nvCxnSpPr>
        <p:spPr>
          <a:xfrm xmlns:a="http://schemas.openxmlformats.org/drawingml/2006/main">
            <a:off x="5029675" y="4495500"/>
            <a:ext cx="57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1" name="Google Shape;51;p9">
            <a:extLst xmlns:a="http://schemas.openxmlformats.org/drawingml/2006/main">
              <a:ext uri="{FF2B5EF4-FFF2-40B4-BE49-F238E27FC236}">
                <a16:creationId xmlns:a16="http://schemas.microsoft.com/office/drawing/2014/main" id="{BE4F28D2-41F0-4B19-A2D7-917B9C8D7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078750"/>
            <a:ext cx="4045200" cy="17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2" name="Google Shape;52;p9">
            <a:extLst xmlns:a="http://schemas.openxmlformats.org/drawingml/2006/main">
              <a:ext uri="{FF2B5EF4-FFF2-40B4-BE49-F238E27FC236}">
                <a16:creationId xmlns:a16="http://schemas.microsoft.com/office/drawing/2014/main" id="{008174DF-3ACF-4F76-A835-4747D07FFB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921401"/>
            <a:ext cx="4045200" cy="134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53" name="Google Shape;53;p9">
            <a:extLst xmlns:a="http://schemas.openxmlformats.org/drawingml/2006/main">
              <a:ext uri="{FF2B5EF4-FFF2-40B4-BE49-F238E27FC236}">
                <a16:creationId xmlns:a16="http://schemas.microsoft.com/office/drawing/2014/main" id="{B22C2E81-08DB-4311-B286-CC8B5EC323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200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54" name="Google Shape;54;p9">
            <a:extLst xmlns:a="http://schemas.openxmlformats.org/drawingml/2006/main">
              <a:ext uri="{FF2B5EF4-FFF2-40B4-BE49-F238E27FC236}">
                <a16:creationId xmlns:a16="http://schemas.microsoft.com/office/drawing/2014/main" id="{3B7FC855-55A3-4031-AD2F-3D1B394C7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CE672A82-B073-4600-A2DC-7A8C72CC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0">
            <a:extLst xmlns:a="http://schemas.openxmlformats.org/drawingml/2006/main">
              <a:ext uri="{FF2B5EF4-FFF2-40B4-BE49-F238E27FC236}">
                <a16:creationId xmlns:a16="http://schemas.microsoft.com/office/drawing/2014/main" id="{0BA43CB6-1B84-4EBA-B2A1-0AC127C33A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06472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</a:defRPr>
            </a:lvl1pPr>
          </a:lstStyle>
          <a:p xmlns:a="http://schemas.openxmlformats.org/drawingml/2006/main"/>
        </p:txBody>
      </p:sp>
      <p:sp>
        <p:nvSpPr>
          <p:cNvPr id="58" name="Google Shape;58;p10">
            <a:extLst xmlns:a="http://schemas.openxmlformats.org/drawingml/2006/main">
              <a:ext uri="{FF2B5EF4-FFF2-40B4-BE49-F238E27FC236}">
                <a16:creationId xmlns:a16="http://schemas.microsoft.com/office/drawing/2014/main" id="{F0B0570C-5E31-4ABB-91C5-6FCAE9EDD3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59" name="Google Shape;59;p10">
            <a:extLst xmlns:a="http://schemas.openxmlformats.org/drawingml/2006/main">
              <a:ext uri="{FF2B5EF4-FFF2-40B4-BE49-F238E27FC236}">
                <a16:creationId xmlns:a16="http://schemas.microsoft.com/office/drawing/2014/main" id="{26528D37-2B72-4A66-8DC1-5DB3D82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6" name="Google Shape;61;p11"/>
          <p:cNvCxnSpPr/>
          <p:nvPr/>
        </p:nvCxnSpPr>
        <p:spPr>
          <a:xfrm xmlns:a="http://schemas.openxmlformats.org/drawingml/2006/main">
            <a:off x="413275" y="2988275"/>
            <a:ext cx="91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2" name="Google Shape;62;p11">
            <a:extLst xmlns:a="http://schemas.openxmlformats.org/drawingml/2006/main">
              <a:ext uri="{FF2B5EF4-FFF2-40B4-BE49-F238E27FC236}">
                <a16:creationId xmlns:a16="http://schemas.microsoft.com/office/drawing/2014/main" id="{D4153007-1895-4EFB-8D04-1E8D845D80C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63" name="Google Shape;63;p11">
            <a:extLst xmlns:a="http://schemas.openxmlformats.org/drawingml/2006/main">
              <a:ext uri="{FF2B5EF4-FFF2-40B4-BE49-F238E27FC236}">
                <a16:creationId xmlns:a16="http://schemas.microsoft.com/office/drawing/2014/main" id="{823CE704-6D8E-4422-8575-C06E2E88B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4" name="Google Shape;64;p11">
            <a:extLst xmlns:a="http://schemas.openxmlformats.org/drawingml/2006/main">
              <a:ext uri="{FF2B5EF4-FFF2-40B4-BE49-F238E27FC236}">
                <a16:creationId xmlns:a16="http://schemas.microsoft.com/office/drawing/2014/main" id="{1C62C846-1AF2-41D5-B677-DF0DA4FEB0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5" name="Google Shape;65;p11">
            <a:extLst xmlns:a="http://schemas.openxmlformats.org/drawingml/2006/main">
              <a:ext uri="{FF2B5EF4-FFF2-40B4-BE49-F238E27FC236}">
                <a16:creationId xmlns:a16="http://schemas.microsoft.com/office/drawing/2014/main" id="{2EE5FA2E-B43B-4567-BC4F-CACAE38D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2">
            <a:extLst xmlns:a="http://schemas.openxmlformats.org/drawingml/2006/main">
              <a:ext uri="{FF2B5EF4-FFF2-40B4-BE49-F238E27FC236}">
                <a16:creationId xmlns:a16="http://schemas.microsoft.com/office/drawing/2014/main" id="{85579F43-DEEA-4F61-BF74-9EFCFDB33E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68" name="Google Shape;68;p12">
            <a:extLst xmlns:a="http://schemas.openxmlformats.org/drawingml/2006/main">
              <a:ext uri="{FF2B5EF4-FFF2-40B4-BE49-F238E27FC236}">
                <a16:creationId xmlns:a16="http://schemas.microsoft.com/office/drawing/2014/main" id="{E1A3F84D-1866-4217-B423-6ECC0626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0" y="4669825"/>
            <a:ext cx="8282400" cy="38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rPr>
              <a:t>The Complete Prompt Engineering for AI Bootcamp</a:t>
            </a:r>
            <a:endParaRPr sz="900" b="0" i="0" u="none" cap="none">
              <a:solidFill>
                <a:schemeClr val="dk2"/>
              </a:solidFill>
              <a:latin typeface="Source Code Pro"/>
              <a:ea typeface="Source Code Pro"/>
              <a:cs typeface="Source Code Pr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88adbba9374cfd" /><Relationship Type="http://schemas.openxmlformats.org/officeDocument/2006/relationships/slideLayout" Target="/ppt/slideLayouts/slideLayout1.xml" Id="Rabc9e1999f714e95" /><Relationship Type="http://schemas.openxmlformats.org/officeDocument/2006/relationships/slideLayout" Target="/ppt/slideLayouts/slideLayout2.xml" Id="R257f749a7fc04721" /><Relationship Type="http://schemas.openxmlformats.org/officeDocument/2006/relationships/slideLayout" Target="/ppt/slideLayouts/slideLayout3.xml" Id="Ra83cd9a6b6cd4829" /><Relationship Type="http://schemas.openxmlformats.org/officeDocument/2006/relationships/slideLayout" Target="/ppt/slideLayouts/slideLayout4.xml" Id="R9da738aaff634b7a" /><Relationship Type="http://schemas.openxmlformats.org/officeDocument/2006/relationships/slideLayout" Target="/ppt/slideLayouts/slideLayout5.xml" Id="Rd4ba616e2851479f" /><Relationship Type="http://schemas.openxmlformats.org/officeDocument/2006/relationships/slideLayout" Target="/ppt/slideLayouts/slideLayout6.xml" Id="R5eebc067807c4f4d" /><Relationship Type="http://schemas.openxmlformats.org/officeDocument/2006/relationships/slideLayout" Target="/ppt/slideLayouts/slideLayout7.xml" Id="Rabea1eefc9304db4" /><Relationship Type="http://schemas.openxmlformats.org/officeDocument/2006/relationships/slideLayout" Target="/ppt/slideLayouts/slideLayout8.xml" Id="Rcf684264e4214798" /><Relationship Type="http://schemas.openxmlformats.org/officeDocument/2006/relationships/slideLayout" Target="/ppt/slideLayouts/slideLayout9.xml" Id="Rc8b228d7718045c4" /><Relationship Type="http://schemas.openxmlformats.org/officeDocument/2006/relationships/slideLayout" Target="/ppt/slideLayouts/slideLayout10.xml" Id="Ra0278eaec52b4cfe" /><Relationship Type="http://schemas.openxmlformats.org/officeDocument/2006/relationships/slideLayout" Target="/ppt/slideLayouts/slideLayout11.xml" Id="R77afa7eab999446b" /></Relationships>
</file>

<file path=ppt/slideMasters/slideMaster1.xml><?xml version="1.0" encoding="utf-8"?>
<p:sldMaster xmlns:p="http://schemas.openxmlformats.org/presentationml/2006/main">
  <p:cSld name="modern-writer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BEFEEF47-2AD3-4058-9D61-FBAC534761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372500"/>
            <a:ext cx="8520600" cy="7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cap="none">
                <a:solidFill>
                  <a:schemeClr val="dk2"/>
                </a:solidFill>
                <a:latin typeface="Oswald"/>
                <a:ea typeface="Oswald"/>
                <a:cs typeface="Oswald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45A3268-747C-4619-BF3F-A745B71E0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468825"/>
            <a:ext cx="8520600" cy="30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E686F67D-CA24-4A7C-82C3-CC02D8E23C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9e1999f714e95"/>
    <p:sldLayoutId xmlns:r="http://schemas.openxmlformats.org/officeDocument/2006/relationships" id="2147483650" r:id="R257f749a7fc04721"/>
    <p:sldLayoutId xmlns:r="http://schemas.openxmlformats.org/officeDocument/2006/relationships" id="2147483651" r:id="Ra83cd9a6b6cd4829"/>
    <p:sldLayoutId xmlns:r="http://schemas.openxmlformats.org/officeDocument/2006/relationships" id="2147483652" r:id="R9da738aaff634b7a"/>
    <p:sldLayoutId xmlns:r="http://schemas.openxmlformats.org/officeDocument/2006/relationships" id="2147483653" r:id="Rd4ba616e2851479f"/>
    <p:sldLayoutId xmlns:r="http://schemas.openxmlformats.org/officeDocument/2006/relationships" id="2147483654" r:id="R5eebc067807c4f4d"/>
    <p:sldLayoutId xmlns:r="http://schemas.openxmlformats.org/officeDocument/2006/relationships" id="2147483655" r:id="Rabea1eefc9304db4"/>
    <p:sldLayoutId xmlns:r="http://schemas.openxmlformats.org/officeDocument/2006/relationships" id="2147483656" r:id="Rcf684264e4214798"/>
    <p:sldLayoutId xmlns:r="http://schemas.openxmlformats.org/officeDocument/2006/relationships" id="2147483657" r:id="Rc8b228d7718045c4"/>
    <p:sldLayoutId xmlns:r="http://schemas.openxmlformats.org/officeDocument/2006/relationships" id="2147483658" r:id="Ra0278eaec52b4cfe"/>
    <p:sldLayoutId xmlns:r="http://schemas.openxmlformats.org/officeDocument/2006/relationships" id="2147483659" r:id="R77afa7eab999446b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ern Wri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4eb2f3a0647a4" /><Relationship Type="http://schemas.openxmlformats.org/officeDocument/2006/relationships/hyperlink" Target="https://developers.openai.com/api/docs/guides/tools-skills" TargetMode="External" Id="Rfa87eb3d83414214" /><Relationship Type="http://schemas.openxmlformats.org/officeDocument/2006/relationships/notesSlide" Target="/ppt/notesSlides/notesSlide1.xml" Id="Rfa99afbe0cb2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4fc6bf2e24a99" /><Relationship Type="http://schemas.openxmlformats.org/officeDocument/2006/relationships/hyperlink" Target="https://developers.openai.com/api/docs/guides/tools-skills#agents-api" TargetMode="External" Id="R9fc3f0320a834fda" /><Relationship Type="http://schemas.openxmlformats.org/officeDocument/2006/relationships/notesSlide" Target="/ppt/notesSlides/notesSlide2.xml" Id="R24d93eeb602645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26">
            <a:extLst xmlns:a="http://schemas.openxmlformats.org/drawingml/2006/main">
              <a:ext uri="{FF2B5EF4-FFF2-40B4-BE49-F238E27FC236}">
                <a16:creationId xmlns:a16="http://schemas.microsoft.com/office/drawing/2014/main" id="{18142FFD-B0FC-48F3-AD68-978EC2D9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523875"/>
            <a:ext cx="834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24242"/>
                </a:solidFill>
                <a:latin typeface="Oswald"/>
                <a:ea typeface="Oswald"/>
                <a:cs typeface="Oswald"/>
              </a:defRPr>
            </a:pPr>
            <a:r>
              <a:rPr sz="3000">
                <a:solidFill>
                  <a:srgbClr val="424242"/>
                </a:solidFill>
                <a:latin typeface="Oswald"/>
                <a:ea typeface="Oswald"/>
                <a:cs typeface="Oswald"/>
              </a:rPr>
              <a:t>Skills Give Agents a Repeatable Process</a:t>
            </a:r>
            <a:endParaRPr/>
          </a:p>
        </p:txBody>
      </p:sp>
      <p:sp>
        <p:nvSpPr>
          <p:cNvPr id="183" name="Google Shape;183;p26">
            <a:extLst xmlns:a="http://schemas.openxmlformats.org/drawingml/2006/main">
              <a:ext uri="{FF2B5EF4-FFF2-40B4-BE49-F238E27FC236}">
                <a16:creationId xmlns:a16="http://schemas.microsoft.com/office/drawing/2014/main" id="{7FE206BB-821F-4D4D-A59A-A4F7ED4FF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4" name="Package a workflow once. Reuse it across different tasks.">
            <a:extLst xmlns:a="http://schemas.openxmlformats.org/drawingml/2006/main">
              <a:ext uri="{FF2B5EF4-FFF2-40B4-BE49-F238E27FC236}">
                <a16:creationId xmlns:a16="http://schemas.microsoft.com/office/drawing/2014/main" id="{1646799E-DB1E-461B-90E3-FBEEBB1B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Package a workflow once. Reuse it across different tasks.</a:t>
            </a:r>
          </a:p>
        </p:txBody>
      </p:sp>
      <p:sp>
        <p:nvSpPr>
          <p:cNvPr id="185" name="A skill is a folder">
            <a:extLst xmlns:a="http://schemas.openxmlformats.org/drawingml/2006/main">
              <a:ext uri="{FF2B5EF4-FFF2-40B4-BE49-F238E27FC236}">
                <a16:creationId xmlns:a16="http://schemas.microsoft.com/office/drawing/2014/main" id="{3BF3E422-9275-44BE-BE1B-EBA8557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25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A skill is a folder</a:t>
            </a:r>
          </a:p>
        </p:txBody>
      </p:sp>
      <p:sp>
        <p:nvSpPr>
          <p:cNvPr id="186" name="sales-report/">
            <a:extLst xmlns:a="http://schemas.openxmlformats.org/drawingml/2006/main">
              <a:ext uri="{FF2B5EF4-FFF2-40B4-BE49-F238E27FC236}">
                <a16:creationId xmlns:a16="http://schemas.microsoft.com/office/drawing/2014/main" id="{58013D94-0855-4123-971F-7555DE2C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4381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sales-report/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SKILL.md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scripts/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5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  summarize_sales.py</a:t>
            </a:r>
          </a:p>
        </p:txBody>
      </p:sp>
      <p:sp>
        <p:nvSpPr>
          <p:cNvPr id="187" name="The agent discovers and uses it">
            <a:extLst xmlns:a="http://schemas.openxmlformats.org/drawingml/2006/main">
              <a:ext uri="{FF2B5EF4-FFF2-40B4-BE49-F238E27FC236}">
                <a16:creationId xmlns:a16="http://schemas.microsoft.com/office/drawing/2014/main" id="{406527AC-18C2-455E-96B6-0BEB9CD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295525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175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175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The agent discovers and uses it</a:t>
            </a:r>
          </a:p>
        </p:txBody>
      </p:sp>
      <p:sp>
        <p:nvSpPr>
          <p:cNvPr id="188" name="Name + description: when to use it.">
            <a:extLst xmlns:a="http://schemas.openxmlformats.org/drawingml/2006/main">
              <a:ext uri="{FF2B5EF4-FFF2-40B4-BE49-F238E27FC236}">
                <a16:creationId xmlns:a16="http://schemas.microsoft.com/office/drawing/2014/main" id="{6BD0C3D2-85B5-4BC4-A153-2592C54C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876550"/>
            <a:ext cx="3762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Name + description: when to use it.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Instructions: how to do the task.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Supporting files: scripts,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references and templates.</a:t>
            </a:r>
          </a:p>
        </p:txBody>
      </p:sp>
      <p:sp>
        <p:nvSpPr>
          <p:cNvPr id="189" name="Tools enable actions. Skills guide the process.">
            <a:extLst xmlns:a="http://schemas.openxmlformats.org/drawingml/2006/main">
              <a:ext uri="{FF2B5EF4-FFF2-40B4-BE49-F238E27FC236}">
                <a16:creationId xmlns:a16="http://schemas.microsoft.com/office/drawing/2014/main" id="{D983F302-4AD9-400A-8CBB-FF1D21A7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Tools enable actions. Skills guide the process.</a:t>
            </a:r>
          </a:p>
        </p:txBody>
      </p:sp>
      <p:sp>
        <p:nvSpPr>
          <p:cNvPr id="190" name="Official Skills guide">
            <a:extLst xmlns:a="http://schemas.openxmlformats.org/drawingml/2006/main">
              <a:ext uri="{FF2B5EF4-FFF2-40B4-BE49-F238E27FC236}">
                <a16:creationId xmlns:a16="http://schemas.microsoft.com/office/drawing/2014/main" id="{8BC82970-9993-42FA-9757-ED8355BC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00838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00" b="0" u="sng">
                <a:solidFill>
                  <a:srgbClr val="00838F"/>
                </a:solidFill>
                <a:latin typeface="Source Code Pro"/>
                <a:ea typeface="Source Code Pro"/>
                <a:cs typeface="Source Code Pro"/>
                <a:hlinkClick xmlns:r="http://schemas.openxmlformats.org/officeDocument/2006/relationships" r:id="Rfa87eb3d83414214"/>
              </a:rPr>
              <a:t>Official Skills guide</a:t>
            </a:r>
          </a:p>
        </p:txBody>
      </p:sp>
    </p:spTree>
    <p:extLst>
      <p:ext uri="{BB962C8B-B14F-4D97-AF65-F5344CB8AC3E}">
        <p14:creationId xmlns:p14="http://schemas.microsoft.com/office/powerpoint/2010/main" val="2026100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26">
            <a:extLst xmlns:a="http://schemas.openxmlformats.org/drawingml/2006/main">
              <a:ext uri="{FF2B5EF4-FFF2-40B4-BE49-F238E27FC236}">
                <a16:creationId xmlns:a16="http://schemas.microsoft.com/office/drawing/2014/main" id="{18142FFD-B0FC-48F3-AD68-978EC2D9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523875"/>
            <a:ext cx="834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24242"/>
                </a:solidFill>
                <a:latin typeface="Oswald"/>
                <a:ea typeface="Oswald"/>
                <a:cs typeface="Oswald"/>
              </a:defRPr>
            </a:pPr>
            <a:r>
              <a:rPr sz="3000">
                <a:solidFill>
                  <a:srgbClr val="424242"/>
                </a:solidFill>
                <a:latin typeface="Oswald"/>
                <a:ea typeface="Oswald"/>
                <a:cs typeface="Oswald"/>
              </a:rPr>
              <a:t>Attach the Skill, Then Run the Agent</a:t>
            </a:r>
            <a:endParaRPr/>
          </a:p>
        </p:txBody>
      </p:sp>
      <p:sp>
        <p:nvSpPr>
          <p:cNvPr id="183" name="Google Shape;183;p26">
            <a:extLst xmlns:a="http://schemas.openxmlformats.org/drawingml/2006/main">
              <a:ext uri="{FF2B5EF4-FFF2-40B4-BE49-F238E27FC236}">
                <a16:creationId xmlns:a16="http://schemas.microsoft.com/office/drawing/2014/main" id="{7FE206BB-821F-4D4D-A59A-A4F7ED4FF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4" name="Agents API: make the skill available inside the sandbox.">
            <a:extLst xmlns:a="http://schemas.openxmlformats.org/drawingml/2006/main">
              <a:ext uri="{FF2B5EF4-FFF2-40B4-BE49-F238E27FC236}">
                <a16:creationId xmlns:a16="http://schemas.microsoft.com/office/drawing/2014/main" id="{D04F8353-A88D-420F-BFF9-8A97E996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834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650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Agents API: make the skill available inside the sandbox.</a:t>
            </a:r>
          </a:p>
        </p:txBody>
      </p:sp>
      <p:sp>
        <p:nvSpPr>
          <p:cNvPr id="185" name="1  Add the skill files">
            <a:extLst xmlns:a="http://schemas.openxmlformats.org/drawingml/2006/main">
              <a:ext uri="{FF2B5EF4-FFF2-40B4-BE49-F238E27FC236}">
                <a16:creationId xmlns:a16="http://schemas.microsoft.com/office/drawing/2014/main" id="{8ACCA75A-93BE-44DD-A0FA-B195820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22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025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1  Add the skill files</a:t>
            </a:r>
          </a:p>
        </p:txBody>
      </p:sp>
      <p:sp>
        <p:nvSpPr>
          <p:cNvPr id="186" name="Place SKILL.md and its helper">
            <a:extLst xmlns:a="http://schemas.openxmlformats.org/drawingml/2006/main">
              <a:ext uri="{FF2B5EF4-FFF2-40B4-BE49-F238E27FC236}">
                <a16:creationId xmlns:a16="http://schemas.microsoft.com/office/drawing/2014/main" id="{6EBBD9C9-8059-4A86-A13A-53FA556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3053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Place SKILL.md and its helper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in /workspace/skills/sales-report.</a:t>
            </a:r>
          </a:p>
        </p:txBody>
      </p:sp>
      <p:sp>
        <p:nvSpPr>
          <p:cNvPr id="187" name="2  Register the parent folder">
            <a:extLst xmlns:a="http://schemas.openxmlformats.org/drawingml/2006/main">
              <a:ext uri="{FF2B5EF4-FFF2-40B4-BE49-F238E27FC236}">
                <a16:creationId xmlns:a16="http://schemas.microsoft.com/office/drawing/2014/main" id="{90A99080-AEF9-47C9-BA1D-D05CCCFF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32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025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2  Register the parent folder</a:t>
            </a:r>
          </a:p>
        </p:txBody>
      </p:sp>
      <p:sp>
        <p:nvSpPr>
          <p:cNvPr id="188" name="The harness discovers skills">
            <a:extLst xmlns:a="http://schemas.openxmlformats.org/drawingml/2006/main">
              <a:ext uri="{FF2B5EF4-FFF2-40B4-BE49-F238E27FC236}">
                <a16:creationId xmlns:a16="http://schemas.microsoft.com/office/drawing/2014/main" id="{A1A4F5A2-9003-46FA-AA18-DE08E87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The harness discovers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42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under /workspace/skills.</a:t>
            </a:r>
          </a:p>
        </p:txBody>
      </p:sp>
      <p:sp>
        <p:nvSpPr>
          <p:cNvPr id="189" name="Agents API session configuration">
            <a:extLst xmlns:a="http://schemas.openxmlformats.org/drawingml/2006/main">
              <a:ext uri="{FF2B5EF4-FFF2-40B4-BE49-F238E27FC236}">
                <a16:creationId xmlns:a16="http://schemas.microsoft.com/office/drawing/2014/main" id="{3A019B0B-38DA-4CB3-9602-B142D5F9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Agents API session configuration</a:t>
            </a:r>
          </a:p>
        </p:txBody>
      </p:sp>
      <p:sp>
        <p:nvSpPr>
          <p:cNvPr id="190" name="environment={">
            <a:extLst xmlns:a="http://schemas.openxmlformats.org/drawingml/2006/main">
              <a:ext uri="{FF2B5EF4-FFF2-40B4-BE49-F238E27FC236}">
                <a16:creationId xmlns:a16="http://schemas.microsoft.com/office/drawing/2014/main" id="{A16AF6AD-5F91-45F0-AE63-724C882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860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environment={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"type": "openai_hosted",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"files": skill_files,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"capability_directories": [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  "/workspace/skills"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  ]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>
                <a:solidFill>
                  <a:srgbClr val="424242"/>
                </a:solidFill>
                <a:latin typeface="Source Code Pro"/>
                <a:ea typeface="Source Code Pro"/>
                <a:cs typeface="Source Code Pro"/>
              </a:rPr>
              <a:t>}</a:t>
            </a:r>
          </a:p>
        </p:txBody>
      </p:sp>
      <p:sp>
        <p:nvSpPr>
          <p:cNvPr id="191" name="Run: “Use sales-report to analyse this CSV.” Then verify the output.">
            <a:extLst xmlns:a="http://schemas.openxmlformats.org/drawingml/2006/main">
              <a:ext uri="{FF2B5EF4-FFF2-40B4-BE49-F238E27FC236}">
                <a16:creationId xmlns:a16="http://schemas.microsoft.com/office/drawing/2014/main" id="{21F9186A-935E-47C8-AAB8-DD499290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2475"/>
            <a:ext cx="834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00838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275" b="0" u="sng">
                <a:solidFill>
                  <a:srgbClr val="00838F"/>
                </a:solidFill>
                <a:latin typeface="Source Code Pro"/>
                <a:ea typeface="Source Code Pro"/>
                <a:cs typeface="Source Code Pro"/>
                <a:hlinkClick xmlns:r="http://schemas.openxmlformats.org/officeDocument/2006/relationships" r:id="R9fc3f0320a834fda"/>
              </a:rPr>
              <a:t>Run: “Use sales-report to analyse this CSV.” Then verify the output.</a:t>
            </a:r>
          </a:p>
        </p:txBody>
      </p:sp>
    </p:spTree>
    <p:extLst>
      <p:ext uri="{BB962C8B-B14F-4D97-AF65-F5344CB8AC3E}">
        <p14:creationId xmlns:p14="http://schemas.microsoft.com/office/powerpoint/2010/main" val="2026100151"/>
      </p:ext>
    </p:extLst>
  </p:cSld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ern Wri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2026-10-01T11:35:06.2610000Z</dcterms:created>
  <dcterms:modified xsi:type="dcterms:W3CDTF">2026-10-01T11:35:06.2610000Z</dcterms:modified>
</coreProperties>
</file>