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0" r:id="rId5"/>
    <p:sldMasterId id="2147483671" r:id="rId6"/>
  </p:sldMasterIdLst>
  <p:notesMasterIdLst>
    <p:notesMasterId r:id="rId7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13"/>
    <p:sldId id="267" r:id="rId12"/>
  </p:sldIdLst>
  <p:sldSz cy="5143500" cx="9144000"/>
  <p:notesSz cx="6858000" cy="9144000"/>
  <p:embeddedFontLst>
    <p:embeddedFont>
      <p:font typeface="Source Code Pro"/>
      <p:regular r:id="rId24"/>
      <p:bold r:id="rId25"/>
      <p:italic r:id="rId26"/>
      <p:boldItalic r:id="rId27"/>
    </p:embeddedFont>
    <p:embeddedFont>
      <p:font typeface="Oswa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73574E-313A-4E41-A38C-36F247BE0EA5}">
  <a:tblStyle styleId="{3673574E-313A-4E41-A38C-36F247BE0EA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09F496F-DB3D-4476-992D-8F9A65F7952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12" Type="http://schemas.openxmlformats.org/officeDocument/2006/relationships/slide" Target="slides/slide12.xml"/><Relationship Id="rId13" Type="http://schemas.openxmlformats.org/officeDocument/2006/relationships/slide" Target="slides/slide1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font" Target="fonts/SourceCodePro-regular.fntdata"/><Relationship Id="rId25" Type="http://schemas.openxmlformats.org/officeDocument/2006/relationships/font" Target="fonts/SourceCodePro-bold.fntdata"/><Relationship Id="rId26" Type="http://schemas.openxmlformats.org/officeDocument/2006/relationships/font" Target="fonts/SourceCodePro-italic.fntdata"/><Relationship Id="rId27" Type="http://schemas.openxmlformats.org/officeDocument/2006/relationships/font" Target="fonts/SourceCodePro-boldItalic.fntdata"/><Relationship Id="rId28" Type="http://schemas.openxmlformats.org/officeDocument/2006/relationships/font" Target="fonts/Oswald-regular.fntdata"/><Relationship Id="rId29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" name="Google Shape;15;p2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11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" name="Google Shape;39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0" name="Google Shape;4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1" name="Google Shape;41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" name="Google Shape;47;p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0" name="Google Shape;50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1" name="Google Shape;51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2" name="Google Shape;5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4" name="Google Shape;5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" name="Google Shape;59;p1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1" name="Google Shape;61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sz="9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4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4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" name="Google Shape;77;p14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9" name="Google Shape;79;p14"/>
          <p:cNvSpPr txBox="1"/>
          <p:nvPr/>
        </p:nvSpPr>
        <p:spPr>
          <a:xfrm>
            <a:off x="411175" y="79900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11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oogle Shape;92;p17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5" name="Google Shape;95;p17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7" name="Google Shape;97;p17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18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Google Shape;103;p19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19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" name="Google Shape;114;p21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15" name="Google Shape;115;p21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6" name="Google Shape;116;p21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" name="Google Shape;117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406472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5" name="Google Shape;125;p23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126" name="Google Shape;126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4669825"/>
            <a:ext cx="8282400" cy="38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The Complete Prompt Engineering for AI Bootcamp</a:t>
            </a:r>
            <a:endParaRPr b="0" i="0" sz="900" u="none" cap="none" strike="noStrike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b="0" i="0" sz="3000" u="none" cap="none" strike="noStrike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b="0" i="0" sz="18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 b="0" i="0" sz="14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ChatGPT Artefacts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t>How a reply becomes a document you and the assistant edit in place, instead of prose you regenerate from the top.</a:t>
            </a:r>
          </a:p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Draft You Can Type Into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4648" y="1389888"/>
            <a:ext cx="3648456" cy="3172968"/>
          </a:xfrm>
        </p:spPr>
        <p:txBody>
          <a:bodyPr wrap="square" anchor="ctr"/>
          <a:lstStyle/>
          <a:p>
            <a:pPr marL="0" indent="0">
              <a:buNone/>
            </a:pPr>
            <a:r>
              <a:t>A plain answer is prose in the transcript. An artefact is a document the reply hands you instead: it holds its own text, it stays where it is, and you can type into it yourself. You get one by asking for a draft, or because the assistant judged this was something you would go on to revise.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315968" cy="3172968"/>
          </a:xfrm>
          <a:prstGeom prst="roundRect">
            <a:avLst>
              <a:gd name="adj" fmla="val 1714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315968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315968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302117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8144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20824"/>
            <a:ext cx="4023359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Draft the launch email for the new pricing page.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75488" y="2286000"/>
            <a:ext cx="4096511" cy="1719072"/>
          </a:xfrm>
          <a:prstGeom prst="roundRect">
            <a:avLst>
              <a:gd name="adj" fmla="val 2659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792" y="2404872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2606040"/>
            <a:ext cx="3803903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Here is the draft.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1792" y="2962656"/>
            <a:ext cx="3803903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792" y="305409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Draft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255264"/>
            <a:ext cx="3803903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Subject: Simpler pricing, from Tuesday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465576"/>
            <a:ext cx="3803903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Hi there,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3675888"/>
            <a:ext cx="3803903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We have cut four tiers down to two.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" y="4151376"/>
            <a:ext cx="4023359" cy="301752"/>
          </a:xfrm>
          <a:prstGeom prst="roundRect">
            <a:avLst>
              <a:gd name="adj" fmla="val 15151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30936" y="4224528"/>
            <a:ext cx="340156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0">
                <a:solidFill>
                  <a:srgbClr val="C6C7D0"/>
                </a:solidFill>
                <a:latin typeface="Arial"/>
              </a:rPr>
              <a:t>Send a message…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261104" y="4197096"/>
            <a:ext cx="210312" cy="210312"/>
          </a:xfrm>
          <a:prstGeom prst="roundRect">
            <a:avLst>
              <a:gd name="adj" fmla="val 21739"/>
            </a:avLst>
          </a:prstGeom>
          <a:solidFill>
            <a:srgbClr val="E4E5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4261104" y="4197096"/>
            <a:ext cx="210312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25" b="0">
                <a:solidFill>
                  <a:srgbClr val="25262C"/>
                </a:solidFill>
                <a:latin typeface="Arial"/>
              </a:rPr>
              <a:t>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Change One Paragraph, Not the Whole Draft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4648" y="1389888"/>
            <a:ext cx="3648456" cy="2907792"/>
          </a:xfrm>
        </p:spPr>
        <p:txBody>
          <a:bodyPr wrap="square" anchor="ctr"/>
          <a:lstStyle/>
          <a:p>
            <a:pPr marL="0" indent="0">
              <a:buNone/>
            </a:pPr>
            <a:r>
              <a:t>Nobody asked for a better email. The ask was a replacement for one region, so that is all that came back - and the lines you already liked survive because nothing regenerated them.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315968" cy="2907792"/>
          </a:xfrm>
          <a:prstGeom prst="roundRect">
            <a:avLst>
              <a:gd name="adj" fmla="val 1714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315968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315968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302117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ChatGPT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8144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Demonstration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Selected in the draft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6344" y="2011680"/>
            <a:ext cx="2691765" cy="201168"/>
          </a:xfrm>
          <a:prstGeom prst="roundRect">
            <a:avLst>
              <a:gd name="adj" fmla="val 18181"/>
            </a:avLst>
          </a:prstGeom>
          <a:solidFill>
            <a:srgbClr val="713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12064" y="2020824"/>
            <a:ext cx="4023359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We have cut four tiers down to two.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2064" y="2286000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User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2487168"/>
            <a:ext cx="4023359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Say what it saves a team of five.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75488" y="2752344"/>
            <a:ext cx="4096511" cy="1362456"/>
          </a:xfrm>
          <a:prstGeom prst="roundRect">
            <a:avLst>
              <a:gd name="adj" fmla="val 3355"/>
            </a:avLst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621792" y="287121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AI Assistant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3072384"/>
            <a:ext cx="3803903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Two tiers now, so a team of five stops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3282696"/>
            <a:ext cx="3803903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paying for seats it never filled.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3584448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Changed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3785616"/>
            <a:ext cx="3803903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Paragraph 2 only.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Same Object, Whatever It Holds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84648" y="1389888"/>
            <a:ext cx="3648456" cy="2596896"/>
          </a:xfrm>
        </p:spPr>
        <p:txBody>
          <a:bodyPr wrap="square" anchor="ctr"/>
          <a:lstStyle/>
          <a:p>
            <a:pPr marL="0" indent="0">
              <a:buNone/>
            </a:pPr>
            <a:r>
              <a:t>An artefact does not care what it holds. Code is only where the stakes show up fastest: regenerate a file from the top and the fix you made three turns ago goes with it, quietly.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65760" y="1389888"/>
            <a:ext cx="4315968" cy="2596896"/>
          </a:xfrm>
          <a:prstGeom prst="roundRect">
            <a:avLst>
              <a:gd name="adj" fmla="val 1714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365760" y="1389888"/>
            <a:ext cx="4315968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365760" y="1583009"/>
            <a:ext cx="4315968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12064" y="1472184"/>
            <a:ext cx="3021177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One artefact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38144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Contents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An email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" y="2020824"/>
            <a:ext cx="4023359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Subject: Simpler pricing, from Tuesday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12064" y="2322576"/>
            <a:ext cx="4023359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12064" y="241401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 file of code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2064" y="2615184"/>
            <a:ext cx="4023359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app.get('/health', (req, res) =&gt;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2064" y="2825496"/>
            <a:ext cx="4023359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  res.send(readStatus())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" y="3035808"/>
            <a:ext cx="4023359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})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2064" y="3337560"/>
            <a:ext cx="4023359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12064" y="3429000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A plan, a spec, a table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2064" y="3630168"/>
            <a:ext cx="4023359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Anything you would open twice.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 a Nicer-looking Answer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4078224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93776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Not this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A tidier way to print a chat reply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" y="2249424"/>
            <a:ext cx="3712463" cy="39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A download you go and edit elsewhere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" y="268224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A second app you switch into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0" y="1389888"/>
            <a:ext cx="4078224" cy="19202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4937760" y="1536192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91D63"/>
                </a:solidFill>
                <a:latin typeface="Source Code Pro"/>
              </a:rPr>
              <a:t>This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1938528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A document kept in the conversation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37760" y="2249424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Edited in place by either of you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560320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—  Read back at whatever it now says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" y="3566160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point is not that it looks different from a chat reply. It is that the text now has an identity - the same object next turn, and the turn after that.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 - Point at a Region, Replace That Region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75488" y="1389888"/>
            <a:ext cx="29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1389888"/>
            <a:ext cx="4443983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reply is kept as a document, apart from the messages.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2020824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75488" y="2020824"/>
            <a:ext cx="29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2020824"/>
            <a:ext cx="4443983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You point at a part of it, or at the whole draft.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651760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75488" y="2651760"/>
            <a:ext cx="29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2651760"/>
            <a:ext cx="4443983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model returns replacement text for that part.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10896" y="3282696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75488" y="3282696"/>
            <a:ext cx="29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3282696"/>
            <a:ext cx="4443983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Everything outside it is left exactly as it was.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10896" y="3913632"/>
            <a:ext cx="5120640" cy="512064"/>
          </a:xfrm>
          <a:prstGeom prst="roundRect">
            <a:avLst>
              <a:gd name="adj" fmla="val 10714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75488" y="3913632"/>
            <a:ext cx="292608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E91D63"/>
                </a:solidFill>
                <a:latin typeface="Source Code Pro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3913632"/>
            <a:ext cx="4443983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updated document is what the next turn reads.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2395728"/>
            <a:ext cx="3163824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There is no magic here. The whole difference between an artefact and a chat reply is that a change has an address - and an ask without one falls back to rewriting everything.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Next Turn Actually Reads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1389888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424242"/>
                </a:solidFill>
                <a:latin typeface="Source Code Pro"/>
              </a:rPr>
              <a:t>The document as it now stands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78124" y="1389888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your own typing included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10896" y="2057400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57200" y="2057400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part you pointed at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78124" y="2057400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or all of it, if you pointed at nothing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10896" y="2724912"/>
            <a:ext cx="5394960" cy="603504"/>
          </a:xfrm>
          <a:prstGeom prst="roundRect">
            <a:avLst>
              <a:gd name="adj" fmla="val 6060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57200" y="2724912"/>
            <a:ext cx="2805379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424242"/>
                </a:solidFill>
                <a:latin typeface="Source Code Pro"/>
              </a:rPr>
              <a:t>The change you asked for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78124" y="2724912"/>
            <a:ext cx="2173528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Source Code Pro"/>
              </a:rPr>
              <a:t>typed just now</a:t>
            </a:r>
          </a:p>
        </p:txBody>
      </p:sp>
      <p:sp>
        <p:nvSpPr>
          <p:cNvPr id="35" name="Down Arrow 34"/>
          <p:cNvSpPr/>
          <p:nvPr/>
        </p:nvSpPr>
        <p:spPr>
          <a:xfrm>
            <a:off x="2834640" y="3429000"/>
            <a:ext cx="310896" cy="201168"/>
          </a:xfrm>
          <a:prstGeom prst="down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310896" y="3721608"/>
            <a:ext cx="5394960" cy="566928"/>
          </a:xfrm>
          <a:prstGeom prst="roundRect">
            <a:avLst>
              <a:gd name="adj" fmla="val 8064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02336" y="3721608"/>
            <a:ext cx="521208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424242"/>
                </a:solidFill>
                <a:latin typeface="Source Code Pro"/>
              </a:rPr>
              <a:t>A rewrite with an address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0" y="2221992"/>
            <a:ext cx="2889504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model cannot see the version you liked two edits ago. It sees the document as it is now, which is why a line you fixed by hand changes the answer to your next question.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Loop Has Two Editors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310896" y="1389888"/>
            <a:ext cx="1897380" cy="1280160"/>
          </a:xfrm>
          <a:prstGeom prst="roundRect">
            <a:avLst>
              <a:gd name="adj" fmla="val 3571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02336" y="1728216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You edit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" y="207568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by hand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2272284" y="198424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519172" y="1389888"/>
            <a:ext cx="1897380" cy="1280160"/>
          </a:xfrm>
          <a:prstGeom prst="roundRect">
            <a:avLst>
              <a:gd name="adj" fmla="val 3571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610612" y="1680972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It saves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0612" y="2028444"/>
            <a:ext cx="1714500" cy="350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as the current draft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4480560" y="198424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727448" y="1389888"/>
            <a:ext cx="1897380" cy="1280160"/>
          </a:xfrm>
          <a:prstGeom prst="roundRect">
            <a:avLst>
              <a:gd name="adj" fmla="val 3571"/>
            </a:avLst>
          </a:prstGeom>
          <a:solidFill>
            <a:srgbClr val="F5F5F7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818888" y="1728216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You ask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207568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for one change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6688836" y="1984248"/>
            <a:ext cx="182880" cy="91440"/>
          </a:xfrm>
          <a:prstGeom prst="right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935724" y="1389888"/>
            <a:ext cx="1897380" cy="1280160"/>
          </a:xfrm>
          <a:prstGeom prst="roundRect">
            <a:avLst>
              <a:gd name="adj" fmla="val 3571"/>
            </a:avLst>
          </a:prstGeom>
          <a:solidFill>
            <a:srgbClr val="FBE4EC"/>
          </a:solidFill>
          <a:ln w="12700">
            <a:solidFill>
              <a:srgbClr val="E9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027164" y="1728216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>
                <a:solidFill>
                  <a:srgbClr val="424242"/>
                </a:solidFill>
                <a:latin typeface="Source Code Pro"/>
              </a:rPr>
              <a:t>It replaces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27164" y="2075688"/>
            <a:ext cx="17145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that part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59586" y="2944368"/>
            <a:ext cx="6624828" cy="10972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884414" y="2670048"/>
            <a:ext cx="10972" cy="274319"/>
          </a:xfrm>
          <a:prstGeom prst="rect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Up Arrow 42"/>
          <p:cNvSpPr/>
          <p:nvPr/>
        </p:nvSpPr>
        <p:spPr>
          <a:xfrm>
            <a:off x="1241298" y="2670048"/>
            <a:ext cx="91440" cy="274319"/>
          </a:xfrm>
          <a:prstGeom prst="upArrow">
            <a:avLst/>
          </a:prstGeom>
          <a:solidFill>
            <a:srgbClr val="ED17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0896" y="3017520"/>
            <a:ext cx="8522208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Source Code Pro"/>
              </a:rPr>
              <a:t>and the next change starts from what you both left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896" y="3703320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This is the part people miss. Your own typing is not a note in the margin - it becomes the document, so the assistant's next answer is built on a draft you changed without telling it.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It Stops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896" y="1389888"/>
            <a:ext cx="3849624" cy="2578608"/>
          </a:xfrm>
        </p:spPr>
        <p:txBody>
          <a:bodyPr wrap="square" anchor="ctr"/>
          <a:lstStyle/>
          <a:p>
            <a:pPr marL="0" indent="0">
              <a:buNone/>
            </a:pPr>
            <a:r>
              <a:t>An artefact is a current version, not an archive. Saving trails your typing by a moment, a temporary conversation may keep none of it, and a draft you overwrite is simply gone - so when one is good, take a copy before you ask for the next change.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663440" y="1389888"/>
            <a:ext cx="4169663" cy="2423160"/>
          </a:xfrm>
          <a:prstGeom prst="roundRect">
            <a:avLst>
              <a:gd name="adj" fmla="val 1935"/>
            </a:avLst>
          </a:prstGeom>
          <a:solidFill>
            <a:srgbClr val="3031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4663440" y="1389888"/>
            <a:ext cx="4169663" cy="301752"/>
          </a:xfrm>
          <a:prstGeom prst="roundRect">
            <a:avLst>
              <a:gd name="adj" fmla="val 18181"/>
            </a:avLst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663440" y="1583009"/>
            <a:ext cx="4169663" cy="108630"/>
          </a:xfrm>
          <a:prstGeom prst="rect">
            <a:avLst/>
          </a:prstGeom>
          <a:solidFill>
            <a:srgbClr val="2526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09744" y="1472184"/>
            <a:ext cx="29187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7F7FA"/>
                </a:solidFill>
                <a:latin typeface="Arial"/>
              </a:rPr>
              <a:t>One artefact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1490472"/>
            <a:ext cx="10972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85" b="0">
                <a:solidFill>
                  <a:srgbClr val="C6C7D0"/>
                </a:solidFill>
                <a:latin typeface="Arial"/>
              </a:rPr>
              <a:t>Boundaries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09744" y="1819656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It holds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9744" y="2020824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The text as it now stands.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09744" y="2231136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The edits you typed yourself.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9744" y="2441448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Whatever the last change left behind.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9744" y="2743200"/>
            <a:ext cx="3877055" cy="9144"/>
          </a:xfrm>
          <a:prstGeom prst="rect">
            <a:avLst/>
          </a:prstGeom>
          <a:solidFill>
            <a:srgbClr val="3C3D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809744" y="2834640"/>
            <a:ext cx="173736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85" b="1">
                <a:solidFill>
                  <a:srgbClr val="C6C7D0"/>
                </a:solidFill>
                <a:latin typeface="Arial"/>
              </a:rPr>
              <a:t>It does not hold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9744" y="3035808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 draft you replaced without copying.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9744" y="3246120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Anything from another conversation.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9744" y="3456432"/>
            <a:ext cx="3877055" cy="2103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7F7FA"/>
                </a:solidFill>
                <a:latin typeface="Arial"/>
              </a:rPr>
              <a:t>Your very last keystroke, until it saves.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 - You Stop Losing the Good Parts</a:t>
            </a:r>
          </a:p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310896" y="1389888"/>
          <a:ext cx="8522206" cy="210311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779362"/>
                <a:gridCol w="3371422"/>
                <a:gridCol w="3371422"/>
              </a:tblGrid>
              <a:tr h="420623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/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A plain reply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424242"/>
                          </a:solidFill>
                          <a:latin typeface="Source Code Pro"/>
                        </a:rPr>
                        <a:t>An artefact</a:t>
                      </a:r>
                    </a:p>
                  </a:txBody>
                  <a:tcPr marL="91440" marR="91440" marT="36576" marB="36576" anchor="ctr">
                    <a:lnT w="9525" cap="flat">
                      <a:solidFill>
                        <a:srgbClr val="D8D8DE"/>
                      </a:solidFill>
                    </a:lnT>
                    <a:lnB w="15875" cap="flat">
                      <a:solidFill>
                        <a:srgbClr val="42424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Unit of change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whole answer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The part you point at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Your good lines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Rewritten with the rest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Left exactly as they were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Where work lives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Scattered down the transcript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One document, current version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0623"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Failure mode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Scrolling back for the good draft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424242"/>
                          </a:solidFill>
                          <a:latin typeface="Source Code Pro"/>
                        </a:rPr>
                        <a:t>Editing a draft that moved</a:t>
                      </a:r>
                    </a:p>
                  </a:txBody>
                  <a:tcPr marL="91440" marR="91440" marT="36576" marB="36576" anchor="ctr">
                    <a:lnB w="9525" cap="flat">
                      <a:solidFill>
                        <a:srgbClr val="D8D8D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310896" y="3749039"/>
            <a:ext cx="852220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 cost is attention. Because the object keeps changing under you, the draft you are arguing with is not always the draft you last read.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You Ask Decides How Much Changes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700" y="1874519"/>
            <a:ext cx="3999900" cy="2679191"/>
          </a:xfrm>
        </p:spPr>
        <p:txBody>
          <a:bodyPr/>
          <a:lstStyle/>
          <a:p>
            <a:r>
              <a:t>Tighten the second paragraph.</a:t>
            </a:r>
          </a:p>
          <a:p>
            <a:r>
              <a:t>Swap the opening line for one that names the price.</a:t>
            </a:r>
          </a:p>
          <a:p>
            <a:r>
              <a:t>Rename this function, leave its callers alone.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/>
          </p:nvPr>
        </p:nvSpPr>
        <p:spPr>
          <a:xfrm>
            <a:off x="4832400" y="1874519"/>
            <a:ext cx="3999900" cy="2679191"/>
          </a:xfrm>
        </p:spPr>
        <p:txBody>
          <a:bodyPr/>
          <a:lstStyle/>
          <a:p>
            <a:r>
              <a:t>Make it better.</a:t>
            </a:r>
          </a:p>
          <a:p>
            <a:r>
              <a:t>Try again.</a:t>
            </a:r>
          </a:p>
          <a:p>
            <a:r>
              <a:t>Rewrite this properly.</a:t>
            </a:r>
          </a:p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10896" y="144475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Changes one region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28032" y="1444752"/>
            <a:ext cx="399592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424242"/>
                </a:solidFill>
                <a:latin typeface="Source Code Pro"/>
              </a:rPr>
              <a:t>Regenerates the lot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0" y="0"/>
            <a:ext cx="9144000" cy="1572768"/>
          </a:xfrm>
          <a:prstGeom prst="rect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02920" y="0"/>
            <a:ext cx="8138160" cy="1572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000" b="0">
                <a:solidFill>
                  <a:srgbClr val="FFFFFF"/>
                </a:solidFill>
                <a:latin typeface="Oswald"/>
              </a:rPr>
              <a:t>Let's See It in Action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02920" y="1883664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424242"/>
                </a:solidFill>
                <a:latin typeface="Source Code Pro"/>
              </a:rPr>
              <a:t>That is the principle. Now we make one and edit it live.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02920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Oval 71"/>
          <p:cNvSpPr/>
          <p:nvPr/>
        </p:nvSpPr>
        <p:spPr>
          <a:xfrm>
            <a:off x="722376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722376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04088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Open a draft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04088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edit it by hand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300983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Oval 76"/>
          <p:cNvSpPr/>
          <p:nvPr/>
        </p:nvSpPr>
        <p:spPr>
          <a:xfrm>
            <a:off x="3520439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3520439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502151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Point at one paragraph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502151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then ask for that paragraph only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6099047" y="2450592"/>
            <a:ext cx="2542032" cy="1691640"/>
          </a:xfrm>
          <a:prstGeom prst="roundRect">
            <a:avLst>
              <a:gd name="adj" fmla="val 2702"/>
            </a:avLst>
          </a:prstGeom>
          <a:solidFill>
            <a:srgbClr val="FFFFFF"/>
          </a:solidFill>
          <a:ln w="9525">
            <a:solidFill>
              <a:srgbClr val="D8D8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Oval 81"/>
          <p:cNvSpPr/>
          <p:nvPr/>
        </p:nvSpPr>
        <p:spPr>
          <a:xfrm>
            <a:off x="6318503" y="2670048"/>
            <a:ext cx="384048" cy="384048"/>
          </a:xfrm>
          <a:prstGeom prst="ellipse">
            <a:avLst/>
          </a:prstGeom>
          <a:solidFill>
            <a:srgbClr val="E9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TextBox 82"/>
          <p:cNvSpPr txBox="1"/>
          <p:nvPr/>
        </p:nvSpPr>
        <p:spPr>
          <a:xfrm>
            <a:off x="6318503" y="267004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Oswald"/>
              </a:rPr>
              <a:t>3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300215" y="3127248"/>
            <a:ext cx="21396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424242"/>
                </a:solidFill>
                <a:latin typeface="Source Code Pro"/>
              </a:rPr>
              <a:t>Ask vaguely on purpose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0215" y="3630168"/>
            <a:ext cx="2139696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6B6B6B"/>
                </a:solidFill>
                <a:latin typeface="Source Code Pro"/>
              </a:rPr>
              <a:t>and watch the whole thing come back new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