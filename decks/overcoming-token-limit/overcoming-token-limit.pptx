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Overcoming the Token Limit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to keep the right information in context when the whole task will not fit at once.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Context Window Is a Finite Working Surface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Fits"/>
          <p:cNvGrpSpPr/>
          <p:nvPr/>
        </p:nvGrpSpPr>
        <p:grpSpPr>
          <a:xfrm>
            <a:off x="310896" y="1389888"/>
            <a:ext cx="6949439" cy="1152144"/>
            <a:chOff x="310896" y="1389888"/>
            <a:chExt cx="6949439" cy="1152144"/>
          </a:xfrm>
        </p:grpSpPr>
        <p:sp>
          <p:nvSpPr>
            <p:cNvPr id="26" name="Oval 25"/>
            <p:cNvSpPr/>
            <p:nvPr/>
          </p:nvSpPr>
          <p:spPr>
            <a:xfrm>
              <a:off x="310896" y="1389888"/>
              <a:ext cx="274320" cy="2743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circle-check-42424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612" y="1403604"/>
              <a:ext cx="246888" cy="246888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658368" y="1408176"/>
              <a:ext cx="365760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Fits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10896" y="1755648"/>
              <a:ext cx="1181404" cy="512064"/>
            </a:xfrm>
            <a:prstGeom prst="rect">
              <a:avLst/>
            </a:prstGeom>
            <a:solidFill>
              <a:srgbClr val="E4E5EA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0" name="Picture 29" descr="icon-scroll-text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2726" y="1892807"/>
              <a:ext cx="237744" cy="237744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310896" y="2304288"/>
              <a:ext cx="1181404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Instructions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492300" y="1755648"/>
              <a:ext cx="1389888" cy="512064"/>
            </a:xfrm>
            <a:prstGeom prst="rect">
              <a:avLst/>
            </a:prstGeom>
            <a:solidFill>
              <a:srgbClr val="ECECF0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3" name="Picture 32" descr="icon-messages-square-42424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8372" y="1892807"/>
              <a:ext cx="237744" cy="237744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1492300" y="2304288"/>
              <a:ext cx="1389888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Conversation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82188" y="1755648"/>
              <a:ext cx="2293315" cy="512064"/>
            </a:xfrm>
            <a:prstGeom prst="rect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6" name="Picture 35" descr="icon-file-text-42424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9974" y="1892807"/>
              <a:ext cx="237744" cy="237744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2882188" y="2304288"/>
              <a:ext cx="2293315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Source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175504" y="1755648"/>
              <a:ext cx="2084831" cy="512064"/>
            </a:xfrm>
            <a:prstGeom prst="rect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9" name="Picture 38" descr="icon-pen-line-E91D63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9048" y="1892807"/>
              <a:ext cx="237744" cy="237744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5175504" y="2304288"/>
              <a:ext cx="2084831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E91D63"/>
                  </a:solidFill>
                  <a:latin typeface="Source Code Pro"/>
                </a:rPr>
                <a:t>Answer Space</a:t>
              </a:r>
            </a:p>
          </p:txBody>
        </p:sp>
      </p:grpSp>
      <p:grpSp>
        <p:nvGrpSpPr>
          <p:cNvPr id="5" name="Too much source"/>
          <p:cNvGrpSpPr/>
          <p:nvPr/>
        </p:nvGrpSpPr>
        <p:grpSpPr>
          <a:xfrm>
            <a:off x="310896" y="2761488"/>
            <a:ext cx="8339328" cy="1152143"/>
            <a:chOff x="310896" y="2761488"/>
            <a:chExt cx="8339328" cy="1152143"/>
          </a:xfrm>
        </p:grpSpPr>
        <p:sp>
          <p:nvSpPr>
            <p:cNvPr id="41" name="Oval 40"/>
            <p:cNvSpPr/>
            <p:nvPr/>
          </p:nvSpPr>
          <p:spPr>
            <a:xfrm>
              <a:off x="310896" y="2761488"/>
              <a:ext cx="274320" cy="2743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2" name="Picture 41" descr="icon-triangle-alert-E91D63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4612" y="2775204"/>
              <a:ext cx="246888" cy="246888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658368" y="2779776"/>
              <a:ext cx="365760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E91D63"/>
                  </a:solidFill>
                  <a:latin typeface="Source Code Pro"/>
                </a:rPr>
                <a:t>Too Much Source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10896" y="3127248"/>
              <a:ext cx="1181404" cy="512064"/>
            </a:xfrm>
            <a:prstGeom prst="rect">
              <a:avLst/>
            </a:prstGeom>
            <a:solidFill>
              <a:srgbClr val="E4E5EA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45" name="Picture 44" descr="icon-scroll-text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2726" y="3264408"/>
              <a:ext cx="237744" cy="237744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310896" y="3675887"/>
              <a:ext cx="1181404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Instructions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492300" y="3127248"/>
              <a:ext cx="1389888" cy="512064"/>
            </a:xfrm>
            <a:prstGeom prst="rect">
              <a:avLst/>
            </a:prstGeom>
            <a:solidFill>
              <a:srgbClr val="ECECF0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48" name="Picture 47" descr="icon-messages-square-42424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8372" y="3264408"/>
              <a:ext cx="237744" cy="237744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1492300" y="3675887"/>
              <a:ext cx="1389888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Conversation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882188" y="3127248"/>
              <a:ext cx="4378147" cy="512064"/>
            </a:xfrm>
            <a:prstGeom prst="rect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51" name="Picture 50" descr="icon-file-text-42424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52390" y="3264408"/>
              <a:ext cx="237744" cy="237744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2882188" y="3675887"/>
              <a:ext cx="4378147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Source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260336" y="3127248"/>
              <a:ext cx="1389888" cy="512064"/>
            </a:xfrm>
            <a:prstGeom prst="rect">
              <a:avLst/>
            </a:prstGeom>
            <a:noFill/>
            <a:ln w="12700">
              <a:solidFill>
                <a:srgbClr val="E91D6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54" name="Picture 53" descr="icon-pen-line-E91D63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36407" y="3264408"/>
              <a:ext cx="237744" cy="237744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7260336" y="3675887"/>
              <a:ext cx="1389888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Cut Off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7251192" y="1645920"/>
            <a:ext cx="22860" cy="257860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345936" y="13898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Window Limit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896" y="4297680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Everything shares one window. Too much source leaves no room to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A Long Task Becomes a Sequence of Bounded Passes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Step 1"/>
          <p:cNvGrpSpPr/>
          <p:nvPr/>
        </p:nvGrpSpPr>
        <p:grpSpPr>
          <a:xfrm>
            <a:off x="338328" y="1408176"/>
            <a:ext cx="1609344" cy="274320"/>
            <a:chOff x="338328" y="1408176"/>
            <a:chExt cx="1609344" cy="274320"/>
          </a:xfrm>
        </p:grpSpPr>
        <p:sp>
          <p:nvSpPr>
            <p:cNvPr id="26" name="Oval 25"/>
            <p:cNvSpPr/>
            <p:nvPr/>
          </p:nvSpPr>
          <p:spPr>
            <a:xfrm>
              <a:off x="338328" y="1408176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TextBox 26"/>
            <p:cNvSpPr txBox="1"/>
            <p:nvPr/>
          </p:nvSpPr>
          <p:spPr>
            <a:xfrm>
              <a:off x="338328" y="1408176"/>
              <a:ext cx="274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Oswald"/>
                </a:rPr>
                <a:t>1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7512" y="1426464"/>
              <a:ext cx="128016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Split</a:t>
              </a:r>
            </a:p>
          </p:txBody>
        </p:sp>
      </p:grpSp>
      <p:grpSp>
        <p:nvGrpSpPr>
          <p:cNvPr id="5" name="Step 2"/>
          <p:cNvGrpSpPr/>
          <p:nvPr/>
        </p:nvGrpSpPr>
        <p:grpSpPr>
          <a:xfrm>
            <a:off x="2121408" y="1408176"/>
            <a:ext cx="1609343" cy="274320"/>
            <a:chOff x="2121408" y="1408176"/>
            <a:chExt cx="1609343" cy="274320"/>
          </a:xfrm>
        </p:grpSpPr>
        <p:sp>
          <p:nvSpPr>
            <p:cNvPr id="29" name="Oval 28"/>
            <p:cNvSpPr/>
            <p:nvPr/>
          </p:nvSpPr>
          <p:spPr>
            <a:xfrm>
              <a:off x="2121408" y="1408176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2121408" y="1408176"/>
              <a:ext cx="274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Oswald"/>
                </a:rPr>
                <a:t>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450591" y="1426464"/>
              <a:ext cx="128016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Extract</a:t>
              </a:r>
            </a:p>
          </p:txBody>
        </p:sp>
      </p:grpSp>
      <p:grpSp>
        <p:nvGrpSpPr>
          <p:cNvPr id="6" name="Step 3"/>
          <p:cNvGrpSpPr/>
          <p:nvPr/>
        </p:nvGrpSpPr>
        <p:grpSpPr>
          <a:xfrm>
            <a:off x="4599432" y="1408176"/>
            <a:ext cx="1609344" cy="274320"/>
            <a:chOff x="4599432" y="1408176"/>
            <a:chExt cx="1609344" cy="274320"/>
          </a:xfrm>
        </p:grpSpPr>
        <p:sp>
          <p:nvSpPr>
            <p:cNvPr id="32" name="Oval 31"/>
            <p:cNvSpPr/>
            <p:nvPr/>
          </p:nvSpPr>
          <p:spPr>
            <a:xfrm>
              <a:off x="4599432" y="1408176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TextBox 32"/>
            <p:cNvSpPr txBox="1"/>
            <p:nvPr/>
          </p:nvSpPr>
          <p:spPr>
            <a:xfrm>
              <a:off x="4599432" y="1408176"/>
              <a:ext cx="274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Oswald"/>
                </a:rPr>
                <a:t>3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28616" y="1426464"/>
              <a:ext cx="128016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Store</a:t>
              </a:r>
            </a:p>
          </p:txBody>
        </p:sp>
      </p:grpSp>
      <p:grpSp>
        <p:nvGrpSpPr>
          <p:cNvPr id="7" name="Step 4"/>
          <p:cNvGrpSpPr/>
          <p:nvPr/>
        </p:nvGrpSpPr>
        <p:grpSpPr>
          <a:xfrm>
            <a:off x="7260336" y="1408176"/>
            <a:ext cx="1609344" cy="274320"/>
            <a:chOff x="7260336" y="1408176"/>
            <a:chExt cx="1609344" cy="274320"/>
          </a:xfrm>
        </p:grpSpPr>
        <p:sp>
          <p:nvSpPr>
            <p:cNvPr id="35" name="Oval 34"/>
            <p:cNvSpPr/>
            <p:nvPr/>
          </p:nvSpPr>
          <p:spPr>
            <a:xfrm>
              <a:off x="7260336" y="1408176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TextBox 35"/>
            <p:cNvSpPr txBox="1"/>
            <p:nvPr/>
          </p:nvSpPr>
          <p:spPr>
            <a:xfrm>
              <a:off x="7260336" y="1408176"/>
              <a:ext cx="274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Oswald"/>
                </a:rP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589520" y="1426464"/>
              <a:ext cx="128016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Synthesise</a:t>
              </a:r>
            </a:p>
          </p:txBody>
        </p:sp>
      </p:grpSp>
      <p:grpSp>
        <p:nvGrpSpPr>
          <p:cNvPr id="8" name="Long source"/>
          <p:cNvGrpSpPr/>
          <p:nvPr/>
        </p:nvGrpSpPr>
        <p:grpSpPr>
          <a:xfrm>
            <a:off x="310896" y="2450591"/>
            <a:ext cx="1188720" cy="1115568"/>
            <a:chOff x="310896" y="2450591"/>
            <a:chExt cx="1188720" cy="1115568"/>
          </a:xfrm>
        </p:grpSpPr>
        <p:pic>
          <p:nvPicPr>
            <p:cNvPr id="38" name="Picture 37" descr="icon-file-text-42424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776" y="2450591"/>
              <a:ext cx="822960" cy="82296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310896" y="3328415"/>
              <a:ext cx="118872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Long Source</a:t>
              </a:r>
            </a:p>
          </p:txBody>
        </p:sp>
      </p:grpSp>
      <p:sp>
        <p:nvSpPr>
          <p:cNvPr id="40" name="Right Arrow 39"/>
          <p:cNvSpPr/>
          <p:nvPr/>
        </p:nvSpPr>
        <p:spPr>
          <a:xfrm>
            <a:off x="1463040" y="2962656"/>
            <a:ext cx="329184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Section 1"/>
          <p:cNvGrpSpPr/>
          <p:nvPr/>
        </p:nvGrpSpPr>
        <p:grpSpPr>
          <a:xfrm>
            <a:off x="1865376" y="1901952"/>
            <a:ext cx="4535424" cy="475488"/>
            <a:chOff x="1865376" y="1901952"/>
            <a:chExt cx="4535424" cy="475488"/>
          </a:xfrm>
        </p:grpSpPr>
        <p:sp>
          <p:nvSpPr>
            <p:cNvPr id="41" name="Rounded Rectangle 40"/>
            <p:cNvSpPr/>
            <p:nvPr/>
          </p:nvSpPr>
          <p:spPr>
            <a:xfrm>
              <a:off x="1865376" y="1901952"/>
              <a:ext cx="1645920" cy="475488"/>
            </a:xfrm>
            <a:prstGeom prst="roundRect">
              <a:avLst>
                <a:gd name="adj" fmla="val 961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2" name="TextBox 41"/>
            <p:cNvSpPr txBox="1"/>
            <p:nvPr/>
          </p:nvSpPr>
          <p:spPr>
            <a:xfrm>
              <a:off x="1865376" y="1901952"/>
              <a:ext cx="16459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Section 1</a:t>
              </a:r>
            </a:p>
          </p:txBody>
        </p:sp>
        <p:sp>
          <p:nvSpPr>
            <p:cNvPr id="43" name="Right Arrow 42"/>
            <p:cNvSpPr/>
            <p:nvPr/>
          </p:nvSpPr>
          <p:spPr>
            <a:xfrm>
              <a:off x="3566160" y="2093976"/>
              <a:ext cx="310896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3931920" y="1901952"/>
              <a:ext cx="2468880" cy="475488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45" name="Picture 44" descr="icon-list-checks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23360" y="2020824"/>
              <a:ext cx="237744" cy="237744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4334256" y="1901952"/>
              <a:ext cx="12801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Same Fields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5724144" y="2011680"/>
              <a:ext cx="548640" cy="256032"/>
            </a:xfrm>
            <a:prstGeom prst="roundRect">
              <a:avLst>
                <a:gd name="adj" fmla="val 50000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8" name="TextBox 47"/>
            <p:cNvSpPr txBox="1"/>
            <p:nvPr/>
          </p:nvSpPr>
          <p:spPr>
            <a:xfrm>
              <a:off x="5724144" y="2011680"/>
              <a:ext cx="54864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§1</a:t>
              </a:r>
            </a:p>
          </p:txBody>
        </p:sp>
      </p:grpSp>
      <p:grpSp>
        <p:nvGrpSpPr>
          <p:cNvPr id="10" name="Section 2"/>
          <p:cNvGrpSpPr/>
          <p:nvPr/>
        </p:nvGrpSpPr>
        <p:grpSpPr>
          <a:xfrm>
            <a:off x="1865376" y="2487168"/>
            <a:ext cx="4535424" cy="475488"/>
            <a:chOff x="1865376" y="2487168"/>
            <a:chExt cx="4535424" cy="475488"/>
          </a:xfrm>
        </p:grpSpPr>
        <p:sp>
          <p:nvSpPr>
            <p:cNvPr id="49" name="Rounded Rectangle 48"/>
            <p:cNvSpPr/>
            <p:nvPr/>
          </p:nvSpPr>
          <p:spPr>
            <a:xfrm>
              <a:off x="1865376" y="2487168"/>
              <a:ext cx="1645920" cy="475488"/>
            </a:xfrm>
            <a:prstGeom prst="roundRect">
              <a:avLst>
                <a:gd name="adj" fmla="val 961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0" name="TextBox 49"/>
            <p:cNvSpPr txBox="1"/>
            <p:nvPr/>
          </p:nvSpPr>
          <p:spPr>
            <a:xfrm>
              <a:off x="1865376" y="2487168"/>
              <a:ext cx="16459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Section 2</a:t>
              </a:r>
            </a:p>
          </p:txBody>
        </p:sp>
        <p:sp>
          <p:nvSpPr>
            <p:cNvPr id="51" name="Right Arrow 50"/>
            <p:cNvSpPr/>
            <p:nvPr/>
          </p:nvSpPr>
          <p:spPr>
            <a:xfrm>
              <a:off x="3566160" y="2679192"/>
              <a:ext cx="310896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3931920" y="2487168"/>
              <a:ext cx="2468880" cy="475488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53" name="Picture 52" descr="icon-list-checks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23360" y="2606040"/>
              <a:ext cx="237744" cy="237744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4334256" y="2487168"/>
              <a:ext cx="12801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Same Fields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5724144" y="2596896"/>
              <a:ext cx="548640" cy="256032"/>
            </a:xfrm>
            <a:prstGeom prst="roundRect">
              <a:avLst>
                <a:gd name="adj" fmla="val 50000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6" name="TextBox 55"/>
            <p:cNvSpPr txBox="1"/>
            <p:nvPr/>
          </p:nvSpPr>
          <p:spPr>
            <a:xfrm>
              <a:off x="5724144" y="2596896"/>
              <a:ext cx="54864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§2</a:t>
              </a:r>
            </a:p>
          </p:txBody>
        </p:sp>
      </p:grpSp>
      <p:grpSp>
        <p:nvGrpSpPr>
          <p:cNvPr id="11" name="Section 3"/>
          <p:cNvGrpSpPr/>
          <p:nvPr/>
        </p:nvGrpSpPr>
        <p:grpSpPr>
          <a:xfrm>
            <a:off x="1865376" y="3072384"/>
            <a:ext cx="4535424" cy="475488"/>
            <a:chOff x="1865376" y="3072384"/>
            <a:chExt cx="4535424" cy="475488"/>
          </a:xfrm>
        </p:grpSpPr>
        <p:sp>
          <p:nvSpPr>
            <p:cNvPr id="57" name="Rounded Rectangle 56"/>
            <p:cNvSpPr/>
            <p:nvPr/>
          </p:nvSpPr>
          <p:spPr>
            <a:xfrm>
              <a:off x="1865376" y="3072384"/>
              <a:ext cx="1645920" cy="475488"/>
            </a:xfrm>
            <a:prstGeom prst="roundRect">
              <a:avLst>
                <a:gd name="adj" fmla="val 961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8" name="TextBox 57"/>
            <p:cNvSpPr txBox="1"/>
            <p:nvPr/>
          </p:nvSpPr>
          <p:spPr>
            <a:xfrm>
              <a:off x="1865376" y="3072384"/>
              <a:ext cx="16459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Section 3</a:t>
              </a:r>
            </a:p>
          </p:txBody>
        </p:sp>
        <p:sp>
          <p:nvSpPr>
            <p:cNvPr id="59" name="Right Arrow 58"/>
            <p:cNvSpPr/>
            <p:nvPr/>
          </p:nvSpPr>
          <p:spPr>
            <a:xfrm>
              <a:off x="3566160" y="3264408"/>
              <a:ext cx="310896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3931920" y="3072384"/>
              <a:ext cx="2468880" cy="475488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61" name="Picture 60" descr="icon-list-checks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23360" y="3191256"/>
              <a:ext cx="237744" cy="237744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4334256" y="3072384"/>
              <a:ext cx="12801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Same Fields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5724144" y="3182112"/>
              <a:ext cx="548640" cy="256032"/>
            </a:xfrm>
            <a:prstGeom prst="roundRect">
              <a:avLst>
                <a:gd name="adj" fmla="val 50000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4" name="TextBox 63"/>
            <p:cNvSpPr txBox="1"/>
            <p:nvPr/>
          </p:nvSpPr>
          <p:spPr>
            <a:xfrm>
              <a:off x="5724144" y="3182112"/>
              <a:ext cx="54864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§3</a:t>
              </a:r>
            </a:p>
          </p:txBody>
        </p:sp>
      </p:grpSp>
      <p:grpSp>
        <p:nvGrpSpPr>
          <p:cNvPr id="12" name="Section 4"/>
          <p:cNvGrpSpPr/>
          <p:nvPr/>
        </p:nvGrpSpPr>
        <p:grpSpPr>
          <a:xfrm>
            <a:off x="1865376" y="3657600"/>
            <a:ext cx="4535424" cy="475488"/>
            <a:chOff x="1865376" y="3657600"/>
            <a:chExt cx="4535424" cy="475488"/>
          </a:xfrm>
        </p:grpSpPr>
        <p:sp>
          <p:nvSpPr>
            <p:cNvPr id="65" name="Rounded Rectangle 64"/>
            <p:cNvSpPr/>
            <p:nvPr/>
          </p:nvSpPr>
          <p:spPr>
            <a:xfrm>
              <a:off x="1865376" y="3657600"/>
              <a:ext cx="1645920" cy="475488"/>
            </a:xfrm>
            <a:prstGeom prst="roundRect">
              <a:avLst>
                <a:gd name="adj" fmla="val 961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6" name="TextBox 65"/>
            <p:cNvSpPr txBox="1"/>
            <p:nvPr/>
          </p:nvSpPr>
          <p:spPr>
            <a:xfrm>
              <a:off x="1865376" y="3657600"/>
              <a:ext cx="16459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Section 4</a:t>
              </a:r>
            </a:p>
          </p:txBody>
        </p:sp>
        <p:sp>
          <p:nvSpPr>
            <p:cNvPr id="67" name="Right Arrow 66"/>
            <p:cNvSpPr/>
            <p:nvPr/>
          </p:nvSpPr>
          <p:spPr>
            <a:xfrm>
              <a:off x="3566160" y="3849624"/>
              <a:ext cx="310896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3931920" y="3657600"/>
              <a:ext cx="2468880" cy="475488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69" name="Picture 68" descr="icon-list-checks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23360" y="3776472"/>
              <a:ext cx="237744" cy="237744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334256" y="3657600"/>
              <a:ext cx="12801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Same Fields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5724144" y="3767328"/>
              <a:ext cx="548640" cy="256032"/>
            </a:xfrm>
            <a:prstGeom prst="roundRect">
              <a:avLst>
                <a:gd name="adj" fmla="val 50000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2" name="TextBox 71"/>
            <p:cNvSpPr txBox="1"/>
            <p:nvPr/>
          </p:nvSpPr>
          <p:spPr>
            <a:xfrm>
              <a:off x="5724144" y="3767328"/>
              <a:ext cx="54864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§4</a:t>
              </a:r>
            </a:p>
          </p:txBody>
        </p:sp>
      </p:grpSp>
      <p:sp>
        <p:nvSpPr>
          <p:cNvPr id="73" name="Rectangle 72"/>
          <p:cNvSpPr/>
          <p:nvPr/>
        </p:nvSpPr>
        <p:spPr>
          <a:xfrm>
            <a:off x="6492240" y="2139696"/>
            <a:ext cx="18288" cy="1755648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6400800" y="2130552"/>
            <a:ext cx="109728" cy="18288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6400800" y="2715768"/>
            <a:ext cx="109728" cy="18288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6400800" y="3300984"/>
            <a:ext cx="109728" cy="18288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6400800" y="3886200"/>
            <a:ext cx="109728" cy="18288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ight Arrow 77"/>
          <p:cNvSpPr/>
          <p:nvPr/>
        </p:nvSpPr>
        <p:spPr>
          <a:xfrm>
            <a:off x="6510528" y="2962656"/>
            <a:ext cx="274320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3" name="Final answer"/>
          <p:cNvGrpSpPr/>
          <p:nvPr/>
        </p:nvGrpSpPr>
        <p:grpSpPr>
          <a:xfrm>
            <a:off x="6821424" y="2450591"/>
            <a:ext cx="2011680" cy="1133856"/>
            <a:chOff x="6821424" y="2450591"/>
            <a:chExt cx="2011680" cy="1133856"/>
          </a:xfrm>
        </p:grpSpPr>
        <p:sp>
          <p:nvSpPr>
            <p:cNvPr id="79" name="Rounded Rectangle 78"/>
            <p:cNvSpPr/>
            <p:nvPr/>
          </p:nvSpPr>
          <p:spPr>
            <a:xfrm>
              <a:off x="6821424" y="2450591"/>
              <a:ext cx="2011680" cy="1133856"/>
            </a:xfrm>
            <a:prstGeom prst="roundRect">
              <a:avLst>
                <a:gd name="adj" fmla="val 4032"/>
              </a:avLst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0" name="TextBox 79"/>
            <p:cNvSpPr txBox="1"/>
            <p:nvPr/>
          </p:nvSpPr>
          <p:spPr>
            <a:xfrm>
              <a:off x="6912864" y="2668523"/>
              <a:ext cx="182880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300" b="1">
                  <a:solidFill>
                    <a:srgbClr val="424242"/>
                  </a:solidFill>
                  <a:latin typeface="Source Code Pro"/>
                </a:rPr>
                <a:t>Final Answer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912864" y="3015996"/>
              <a:ext cx="1828800" cy="3505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Checked Against Sources</a:t>
              </a: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310896" y="426110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One summary shape for every section. References let you reopen the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Staging Protects the Signal You Need Later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50992" y="1371600"/>
            <a:ext cx="3182112" cy="2834640"/>
          </a:xfrm>
          <a:prstGeom prst="roundRect">
            <a:avLst>
              <a:gd name="adj" fmla="val 1935"/>
            </a:avLst>
          </a:prstGeom>
          <a:solidFill>
            <a:srgbClr val="FB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4" name="One giant chat"/>
          <p:cNvGrpSpPr/>
          <p:nvPr/>
        </p:nvGrpSpPr>
        <p:grpSpPr>
          <a:xfrm>
            <a:off x="2743200" y="1481328"/>
            <a:ext cx="2926080" cy="274320"/>
            <a:chOff x="2743200" y="1481328"/>
            <a:chExt cx="2926080" cy="274320"/>
          </a:xfrm>
        </p:grpSpPr>
        <p:pic>
          <p:nvPicPr>
            <p:cNvPr id="27" name="Picture 26" descr="icon-message-square-42424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3200" y="1481328"/>
              <a:ext cx="274320" cy="27432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108960" y="1481328"/>
              <a:ext cx="2560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One Giant Chat</a:t>
              </a:r>
            </a:p>
          </p:txBody>
        </p:sp>
      </p:grpSp>
      <p:grpSp>
        <p:nvGrpSpPr>
          <p:cNvPr id="5" name="Staged workflow"/>
          <p:cNvGrpSpPr/>
          <p:nvPr/>
        </p:nvGrpSpPr>
        <p:grpSpPr>
          <a:xfrm>
            <a:off x="5760720" y="1481328"/>
            <a:ext cx="2926080" cy="274320"/>
            <a:chOff x="5760720" y="1481328"/>
            <a:chExt cx="2926080" cy="274320"/>
          </a:xfrm>
        </p:grpSpPr>
        <p:pic>
          <p:nvPicPr>
            <p:cNvPr id="29" name="Picture 28" descr="icon-layers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0720" y="1481328"/>
              <a:ext cx="274320" cy="27432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6126480" y="1481328"/>
              <a:ext cx="2560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E91D63"/>
                  </a:solidFill>
                  <a:latin typeface="Source Code Pro"/>
                </a:rPr>
                <a:t>Staged Workflow</a:t>
              </a:r>
            </a:p>
          </p:txBody>
        </p:sp>
      </p:grpSp>
      <p:grpSp>
        <p:nvGrpSpPr>
          <p:cNvPr id="6" name="Selection"/>
          <p:cNvGrpSpPr/>
          <p:nvPr/>
        </p:nvGrpSpPr>
        <p:grpSpPr>
          <a:xfrm>
            <a:off x="310896" y="1901952"/>
            <a:ext cx="8522208" cy="555955"/>
            <a:chOff x="310896" y="1901952"/>
            <a:chExt cx="8522208" cy="555955"/>
          </a:xfrm>
        </p:grpSpPr>
        <p:sp>
          <p:nvSpPr>
            <p:cNvPr id="31" name="Oval 30"/>
            <p:cNvSpPr/>
            <p:nvPr/>
          </p:nvSpPr>
          <p:spPr>
            <a:xfrm>
              <a:off x="310896" y="1956816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icture 31" descr="icon-filter-42424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9409" y="2045329"/>
              <a:ext cx="225308" cy="225308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822960" y="1901952"/>
              <a:ext cx="1828800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Selection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743200" y="1901952"/>
              <a:ext cx="2834640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Relevant and irrelevant mixed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60720" y="1901952"/>
              <a:ext cx="2962656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Each pass has one purpose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10896" y="2450592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7" name="Intermediate work"/>
          <p:cNvGrpSpPr/>
          <p:nvPr/>
        </p:nvGrpSpPr>
        <p:grpSpPr>
          <a:xfrm>
            <a:off x="310896" y="2468880"/>
            <a:ext cx="8522208" cy="555955"/>
            <a:chOff x="310896" y="2468880"/>
            <a:chExt cx="8522208" cy="555955"/>
          </a:xfrm>
        </p:grpSpPr>
        <p:sp>
          <p:nvSpPr>
            <p:cNvPr id="37" name="Oval 36"/>
            <p:cNvSpPr/>
            <p:nvPr/>
          </p:nvSpPr>
          <p:spPr>
            <a:xfrm>
              <a:off x="310896" y="2523744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icon-clipboard-list-42424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9409" y="2612257"/>
              <a:ext cx="225308" cy="225308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822960" y="2468880"/>
              <a:ext cx="1828800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Intermediate Work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43200" y="2468880"/>
              <a:ext cx="2834640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Buried in the conversation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760720" y="2468880"/>
              <a:ext cx="2962656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Captured in a fixed shape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10896" y="3017520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8" name="Verification"/>
          <p:cNvGrpSpPr/>
          <p:nvPr/>
        </p:nvGrpSpPr>
        <p:grpSpPr>
          <a:xfrm>
            <a:off x="310896" y="3035808"/>
            <a:ext cx="8522208" cy="555955"/>
            <a:chOff x="310896" y="3035808"/>
            <a:chExt cx="8522208" cy="555955"/>
          </a:xfrm>
        </p:grpSpPr>
        <p:sp>
          <p:nvSpPr>
            <p:cNvPr id="43" name="Oval 42"/>
            <p:cNvSpPr/>
            <p:nvPr/>
          </p:nvSpPr>
          <p:spPr>
            <a:xfrm>
              <a:off x="310896" y="3090672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43" descr="icon-search-check-42424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9409" y="3179185"/>
              <a:ext cx="225308" cy="225308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822960" y="3035808"/>
              <a:ext cx="1828800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Verification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743200" y="3035808"/>
              <a:ext cx="2834640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Claims are hard to trace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760720" y="3035808"/>
              <a:ext cx="2962656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Back to a named section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10896" y="3584448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9" name="Failure mode"/>
          <p:cNvGrpSpPr/>
          <p:nvPr/>
        </p:nvGrpSpPr>
        <p:grpSpPr>
          <a:xfrm>
            <a:off x="310896" y="3602736"/>
            <a:ext cx="8522208" cy="555955"/>
            <a:chOff x="310896" y="3602736"/>
            <a:chExt cx="8522208" cy="555955"/>
          </a:xfrm>
        </p:grpSpPr>
        <p:sp>
          <p:nvSpPr>
            <p:cNvPr id="49" name="Oval 48"/>
            <p:cNvSpPr/>
            <p:nvPr/>
          </p:nvSpPr>
          <p:spPr>
            <a:xfrm>
              <a:off x="310896" y="3657600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0" name="Picture 49" descr="icon-triangle-alert-424242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9409" y="3746113"/>
              <a:ext cx="225308" cy="225308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22960" y="3602736"/>
              <a:ext cx="1828800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Failure Mode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602736"/>
              <a:ext cx="2834640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Truncation or missed detail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760720" y="3602736"/>
              <a:ext cx="2962656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A summary drops a nuance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10896" y="4151376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Next, we turn one oversized task into a small, repeatable sequence.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Choose a Long Source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Find Its Sections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Define the Fields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Use One Summary Shape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Process in Passes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Keep Source References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Synthesise and Check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Verify Key Claims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