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Phrases to Add to Your Prompts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Short, reusable phrases that set how much, how long and when to stop.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Phrase That Sets the Finish Line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426464"/>
            <a:ext cx="4206240" cy="2048256"/>
          </a:xfrm>
          <a:prstGeom prst="roundRect">
            <a:avLst>
              <a:gd name="adj" fmla="val 176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426464"/>
            <a:ext cx="420624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619585"/>
            <a:ext cx="420624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508760"/>
            <a:ext cx="2944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8415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574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Turn these meeting notes into a follow-up email.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" y="2313432"/>
            <a:ext cx="224599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" y="2322576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Make it at least 3 sentences.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532888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List every action with an owner.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" y="2734056"/>
            <a:ext cx="306324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2064" y="2743200"/>
            <a:ext cx="391363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Don't stop until each action is covered.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" y="3063240"/>
            <a:ext cx="3913631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0936" y="3136392"/>
            <a:ext cx="329183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51376" y="3108960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151376" y="3108960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  <p:grpSp>
        <p:nvGrpSpPr>
          <p:cNvPr id="4" name="Floor"/>
          <p:cNvGrpSpPr/>
          <p:nvPr/>
        </p:nvGrpSpPr>
        <p:grpSpPr>
          <a:xfrm>
            <a:off x="4937760" y="1536192"/>
            <a:ext cx="3858768" cy="768095"/>
            <a:chOff x="4937760" y="1536192"/>
            <a:chExt cx="3858768" cy="768095"/>
          </a:xfrm>
        </p:grpSpPr>
        <p:sp>
          <p:nvSpPr>
            <p:cNvPr id="42" name="Oval 41"/>
            <p:cNvSpPr/>
            <p:nvPr/>
          </p:nvSpPr>
          <p:spPr>
            <a:xfrm>
              <a:off x="4937760" y="1554480"/>
              <a:ext cx="566928" cy="56692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3" name="Picture 42" descr="icon-ruler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5318" y="1682038"/>
              <a:ext cx="311810" cy="311810"/>
            </a:xfrm>
            <a:prstGeom prst="rect">
              <a:avLst/>
            </a:prstGeom>
          </p:spPr>
        </p:pic>
        <p:sp>
          <p:nvSpPr>
            <p:cNvPr id="44" name="TextBox 43"/>
            <p:cNvSpPr txBox="1"/>
            <p:nvPr/>
          </p:nvSpPr>
          <p:spPr>
            <a:xfrm>
              <a:off x="5687568" y="1536192"/>
              <a:ext cx="31089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500" b="1">
                  <a:solidFill>
                    <a:srgbClr val="424242"/>
                  </a:solidFill>
                  <a:latin typeface="Source Code Pro"/>
                </a:rPr>
                <a:t>Floor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87568" y="1828800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 Minimum It Must Reach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687568" y="2066543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"at least 3 sentences"</a:t>
              </a:r>
            </a:p>
          </p:txBody>
        </p:sp>
      </p:grpSp>
      <p:grpSp>
        <p:nvGrpSpPr>
          <p:cNvPr id="5" name="Objective"/>
          <p:cNvGrpSpPr/>
          <p:nvPr/>
        </p:nvGrpSpPr>
        <p:grpSpPr>
          <a:xfrm>
            <a:off x="4937760" y="2542032"/>
            <a:ext cx="3858768" cy="768096"/>
            <a:chOff x="4937760" y="2542032"/>
            <a:chExt cx="3858768" cy="768096"/>
          </a:xfrm>
        </p:grpSpPr>
        <p:sp>
          <p:nvSpPr>
            <p:cNvPr id="47" name="Oval 46"/>
            <p:cNvSpPr/>
            <p:nvPr/>
          </p:nvSpPr>
          <p:spPr>
            <a:xfrm>
              <a:off x="4937760" y="2560320"/>
              <a:ext cx="566928" cy="566928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47" descr="icon-flag-FFFF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5318" y="2687878"/>
              <a:ext cx="311810" cy="311810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5687568" y="2542032"/>
              <a:ext cx="31089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500" b="1">
                  <a:solidFill>
                    <a:srgbClr val="424242"/>
                  </a:solidFill>
                  <a:latin typeface="Source Code Pro"/>
                </a:rPr>
                <a:t>Objective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687568" y="2834639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A Finish Line It Must Cross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87568" y="3072384"/>
              <a:ext cx="31089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E91D63"/>
                  </a:solidFill>
                  <a:latin typeface="Source Code Pro"/>
                </a:rPr>
                <a:t>"until each action is covered"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4937760" y="36576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24242"/>
                </a:solidFill>
                <a:latin typeface="Source Code Pro"/>
              </a:rPr>
              <a:t>Without one, the model guesses when it is done.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Phrase Families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Floors"/>
          <p:cNvGrpSpPr/>
          <p:nvPr/>
        </p:nvGrpSpPr>
        <p:grpSpPr>
          <a:xfrm>
            <a:off x="310896" y="1463040"/>
            <a:ext cx="1993392" cy="2121408"/>
            <a:chOff x="310896" y="1463040"/>
            <a:chExt cx="1993392" cy="2121408"/>
          </a:xfrm>
        </p:grpSpPr>
        <p:sp>
          <p:nvSpPr>
            <p:cNvPr id="26" name="Oval 25"/>
            <p:cNvSpPr/>
            <p:nvPr/>
          </p:nvSpPr>
          <p:spPr>
            <a:xfrm>
              <a:off x="941832" y="1463040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ruler-E91D63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06424" y="1627632"/>
              <a:ext cx="402336" cy="402336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310896" y="2322576"/>
              <a:ext cx="1993392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500" b="1">
                  <a:solidFill>
                    <a:srgbClr val="424242"/>
                  </a:solidFill>
                  <a:latin typeface="Source Code Pro"/>
                </a:rPr>
                <a:t>Floors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0896" y="2633472"/>
              <a:ext cx="199339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How Much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02336" y="3072384"/>
              <a:ext cx="27432" cy="45720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TextBox 30"/>
            <p:cNvSpPr txBox="1"/>
            <p:nvPr/>
          </p:nvSpPr>
          <p:spPr>
            <a:xfrm>
              <a:off x="512064" y="3072384"/>
              <a:ext cx="17190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"at least 200 rows"</a:t>
              </a:r>
            </a:p>
          </p:txBody>
        </p:sp>
      </p:grpSp>
      <p:grpSp>
        <p:nvGrpSpPr>
          <p:cNvPr id="5" name="Objectives"/>
          <p:cNvGrpSpPr/>
          <p:nvPr/>
        </p:nvGrpSpPr>
        <p:grpSpPr>
          <a:xfrm>
            <a:off x="2487168" y="1463040"/>
            <a:ext cx="1993392" cy="2121408"/>
            <a:chOff x="2487168" y="1463040"/>
            <a:chExt cx="1993392" cy="2121408"/>
          </a:xfrm>
        </p:grpSpPr>
        <p:sp>
          <p:nvSpPr>
            <p:cNvPr id="32" name="Oval 31"/>
            <p:cNvSpPr/>
            <p:nvPr/>
          </p:nvSpPr>
          <p:spPr>
            <a:xfrm>
              <a:off x="3118104" y="1463040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icon-flag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696" y="1627632"/>
              <a:ext cx="402336" cy="402336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2487168" y="2322576"/>
              <a:ext cx="1993392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500" b="1">
                  <a:solidFill>
                    <a:srgbClr val="424242"/>
                  </a:solidFill>
                  <a:latin typeface="Source Code Pro"/>
                </a:rPr>
                <a:t>Objectives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87168" y="2633472"/>
              <a:ext cx="199339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When to Stop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578608" y="3072384"/>
              <a:ext cx="27432" cy="45720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TextBox 36"/>
            <p:cNvSpPr txBox="1"/>
            <p:nvPr/>
          </p:nvSpPr>
          <p:spPr>
            <a:xfrm>
              <a:off x="2688336" y="3072384"/>
              <a:ext cx="17190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"Don't stop until it is complete"</a:t>
              </a:r>
            </a:p>
          </p:txBody>
        </p:sp>
      </p:grpSp>
      <p:grpSp>
        <p:nvGrpSpPr>
          <p:cNvPr id="6" name="Time"/>
          <p:cNvGrpSpPr/>
          <p:nvPr/>
        </p:nvGrpSpPr>
        <p:grpSpPr>
          <a:xfrm>
            <a:off x="4663440" y="1463040"/>
            <a:ext cx="1993392" cy="2121408"/>
            <a:chOff x="4663440" y="1463040"/>
            <a:chExt cx="1993392" cy="2121408"/>
          </a:xfrm>
        </p:grpSpPr>
        <p:sp>
          <p:nvSpPr>
            <p:cNvPr id="38" name="Oval 37"/>
            <p:cNvSpPr/>
            <p:nvPr/>
          </p:nvSpPr>
          <p:spPr>
            <a:xfrm>
              <a:off x="5294376" y="1463040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timer-E91D6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8968" y="1627632"/>
              <a:ext cx="402336" cy="402336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4663440" y="2322576"/>
              <a:ext cx="1993392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500" b="1">
                  <a:solidFill>
                    <a:srgbClr val="424242"/>
                  </a:solidFill>
                  <a:latin typeface="Source Code Pro"/>
                </a:rPr>
                <a:t>Time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663440" y="2633472"/>
              <a:ext cx="199339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How Long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754880" y="3072384"/>
              <a:ext cx="27432" cy="45720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TextBox 42"/>
            <p:cNvSpPr txBox="1"/>
            <p:nvPr/>
          </p:nvSpPr>
          <p:spPr>
            <a:xfrm>
              <a:off x="4864608" y="3072384"/>
              <a:ext cx="17190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"Work for as long as 2 hours"</a:t>
              </a:r>
            </a:p>
          </p:txBody>
        </p:sp>
      </p:grpSp>
      <p:grpSp>
        <p:nvGrpSpPr>
          <p:cNvPr id="7" name="Review"/>
          <p:cNvGrpSpPr/>
          <p:nvPr/>
        </p:nvGrpSpPr>
        <p:grpSpPr>
          <a:xfrm>
            <a:off x="6839712" y="1463040"/>
            <a:ext cx="1993392" cy="2121408"/>
            <a:chOff x="6839712" y="1463040"/>
            <a:chExt cx="1993392" cy="2121408"/>
          </a:xfrm>
        </p:grpSpPr>
        <p:sp>
          <p:nvSpPr>
            <p:cNvPr id="44" name="Oval 43"/>
            <p:cNvSpPr/>
            <p:nvPr/>
          </p:nvSpPr>
          <p:spPr>
            <a:xfrm>
              <a:off x="7470648" y="1463040"/>
              <a:ext cx="731520" cy="731520"/>
            </a:xfrm>
            <a:prstGeom prst="ellipse">
              <a:avLst/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5" name="Picture 44" descr="icon-scan-search-E91D63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635240" y="1627632"/>
              <a:ext cx="402336" cy="402336"/>
            </a:xfrm>
            <a:prstGeom prst="rect">
              <a:avLst/>
            </a:prstGeom>
          </p:spPr>
        </p:pic>
        <p:sp>
          <p:nvSpPr>
            <p:cNvPr id="46" name="TextBox 45"/>
            <p:cNvSpPr txBox="1"/>
            <p:nvPr/>
          </p:nvSpPr>
          <p:spPr>
            <a:xfrm>
              <a:off x="6839712" y="2322576"/>
              <a:ext cx="1993392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500" b="1">
                  <a:solidFill>
                    <a:srgbClr val="424242"/>
                  </a:solidFill>
                  <a:latin typeface="Source Code Pro"/>
                </a:rPr>
                <a:t>Review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839712" y="2633472"/>
              <a:ext cx="1993392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Who Checks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31152" y="3072384"/>
              <a:ext cx="27432" cy="457200"/>
            </a:xfrm>
            <a:prstGeom prst="rect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TextBox 48"/>
            <p:cNvSpPr txBox="1"/>
            <p:nvPr/>
          </p:nvSpPr>
          <p:spPr>
            <a:xfrm>
              <a:off x="7040880" y="3072384"/>
              <a:ext cx="1719072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"Review it as a strict editor"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310896" y="384048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Each one answers a question the model would otherwise guess.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Checkable Beats Vague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4813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Source Code Pro"/>
              </a:rPr>
              <a:t>Hard to 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4813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Easy to Check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" y="1828800"/>
            <a:ext cx="8522208" cy="10972"/>
          </a:xfrm>
          <a:prstGeom prst="rect">
            <a:avLst/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pSp>
        <p:nvGrpSpPr>
          <p:cNvPr id="4" name="Rewrite 1"/>
          <p:cNvGrpSpPr/>
          <p:nvPr/>
        </p:nvGrpSpPr>
        <p:grpSpPr>
          <a:xfrm>
            <a:off x="310896" y="1993392"/>
            <a:ext cx="8522208" cy="482803"/>
            <a:chOff x="310896" y="1993392"/>
            <a:chExt cx="8522208" cy="482803"/>
          </a:xfrm>
        </p:grpSpPr>
        <p:pic>
          <p:nvPicPr>
            <p:cNvPr id="29" name="Picture 28" descr="icon-circle-x-6B6B6B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96" y="2029968"/>
              <a:ext cx="274320" cy="27432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731520" y="1993392"/>
              <a:ext cx="32918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6B6B6B"/>
                  </a:solidFill>
                  <a:latin typeface="Source Code Pro"/>
                </a:rPr>
                <a:t>"Make it good"</a:t>
              </a:r>
            </a:p>
          </p:txBody>
        </p:sp>
        <p:sp>
          <p:nvSpPr>
            <p:cNvPr id="31" name="Right Arrow 30"/>
            <p:cNvSpPr/>
            <p:nvPr/>
          </p:nvSpPr>
          <p:spPr>
            <a:xfrm>
              <a:off x="4023360" y="2121408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2" name="Picture 31" descr="icon-circle-check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880" y="2029968"/>
              <a:ext cx="274320" cy="274320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5175504" y="1993392"/>
              <a:ext cx="365760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"At least 3 sentences"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0896" y="2468880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Rewrite 2"/>
          <p:cNvGrpSpPr/>
          <p:nvPr/>
        </p:nvGrpSpPr>
        <p:grpSpPr>
          <a:xfrm>
            <a:off x="310896" y="2560320"/>
            <a:ext cx="8522208" cy="482803"/>
            <a:chOff x="310896" y="2560320"/>
            <a:chExt cx="8522208" cy="482803"/>
          </a:xfrm>
        </p:grpSpPr>
        <p:pic>
          <p:nvPicPr>
            <p:cNvPr id="35" name="Picture 34" descr="icon-circle-x-6B6B6B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96" y="2596896"/>
              <a:ext cx="274320" cy="27432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731520" y="2560320"/>
              <a:ext cx="32918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6B6B6B"/>
                  </a:solidFill>
                  <a:latin typeface="Source Code Pro"/>
                </a:rPr>
                <a:t>"Be thorough"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4023360" y="2688336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icon-circle-check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880" y="2596896"/>
              <a:ext cx="274320" cy="27432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5175504" y="2560320"/>
              <a:ext cx="365760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"Cover every action item"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0896" y="3035808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Rewrite 3"/>
          <p:cNvGrpSpPr/>
          <p:nvPr/>
        </p:nvGrpSpPr>
        <p:grpSpPr>
          <a:xfrm>
            <a:off x="310896" y="3127248"/>
            <a:ext cx="8522208" cy="482803"/>
            <a:chOff x="310896" y="3127248"/>
            <a:chExt cx="8522208" cy="482803"/>
          </a:xfrm>
        </p:grpSpPr>
        <p:pic>
          <p:nvPicPr>
            <p:cNvPr id="41" name="Picture 40" descr="icon-circle-x-6B6B6B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0896" y="3163824"/>
              <a:ext cx="274320" cy="274320"/>
            </a:xfrm>
            <a:prstGeom prst="rect">
              <a:avLst/>
            </a:prstGeom>
          </p:spPr>
        </p:pic>
        <p:sp>
          <p:nvSpPr>
            <p:cNvPr id="42" name="TextBox 41"/>
            <p:cNvSpPr txBox="1"/>
            <p:nvPr/>
          </p:nvSpPr>
          <p:spPr>
            <a:xfrm>
              <a:off x="731520" y="3127248"/>
              <a:ext cx="329184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6B6B6B"/>
                  </a:solidFill>
                  <a:latin typeface="Source Code Pro"/>
                </a:rPr>
                <a:t>"Write a detailed sheet"</a:t>
              </a:r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4023360" y="3255264"/>
              <a:ext cx="457200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con-circle-check-E91D6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4880" y="3163824"/>
              <a:ext cx="274320" cy="274320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5175504" y="3127248"/>
              <a:ext cx="3657600" cy="347472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"At least 200 rows"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10896" y="3602736"/>
              <a:ext cx="8522208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sp>
        <p:nvSpPr>
          <p:cNvPr id="47" name="TextBox 46"/>
          <p:cNvSpPr txBox="1"/>
          <p:nvPr/>
        </p:nvSpPr>
        <p:spPr>
          <a:xfrm>
            <a:off x="310896" y="3785615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model honours what it can measure. A floor can invite padding, and time phrases only matter in agents like Codex that keep 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Cheat Sheet: Copy These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Phrase 1"/>
          <p:cNvGrpSpPr/>
          <p:nvPr/>
        </p:nvGrpSpPr>
        <p:grpSpPr>
          <a:xfrm>
            <a:off x="310896" y="1481328"/>
            <a:ext cx="8522208" cy="574243"/>
            <a:chOff x="310896" y="1481328"/>
            <a:chExt cx="8522208" cy="574243"/>
          </a:xfrm>
        </p:grpSpPr>
        <p:sp>
          <p:nvSpPr>
            <p:cNvPr id="26" name="Oval 25"/>
            <p:cNvSpPr/>
            <p:nvPr/>
          </p:nvSpPr>
          <p:spPr>
            <a:xfrm>
              <a:off x="310896" y="1481328"/>
              <a:ext cx="457200" cy="45720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icon-ruler-FFFFFF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3766" y="1584198"/>
              <a:ext cx="251460" cy="25146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1005840" y="1481328"/>
              <a:ext cx="782726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424242"/>
                  </a:solidFill>
                  <a:latin typeface="Source Code Pro"/>
                </a:rPr>
                <a:t>Make it at least &lt;N&gt; &lt;sentences / rows / examples&gt;.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05840" y="2048256"/>
              <a:ext cx="782726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5" name="Phrase 2"/>
          <p:cNvGrpSpPr/>
          <p:nvPr/>
        </p:nvGrpSpPr>
        <p:grpSpPr>
          <a:xfrm>
            <a:off x="310896" y="2157984"/>
            <a:ext cx="8522208" cy="574243"/>
            <a:chOff x="310896" y="2157984"/>
            <a:chExt cx="8522208" cy="574243"/>
          </a:xfrm>
        </p:grpSpPr>
        <p:sp>
          <p:nvSpPr>
            <p:cNvPr id="30" name="Oval 29"/>
            <p:cNvSpPr/>
            <p:nvPr/>
          </p:nvSpPr>
          <p:spPr>
            <a:xfrm>
              <a:off x="310896" y="2157984"/>
              <a:ext cx="457200" cy="45720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1" name="Picture 30" descr="icon-flag-FFFFFF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3766" y="2260854"/>
              <a:ext cx="251460" cy="25146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1005840" y="2157984"/>
              <a:ext cx="782726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424242"/>
                  </a:solidFill>
                  <a:latin typeface="Source Code Pro"/>
                </a:rPr>
                <a:t>Don't stop until you have completed: &lt;objective&gt;.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05840" y="2724912"/>
              <a:ext cx="782726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6" name="Phrase 3"/>
          <p:cNvGrpSpPr/>
          <p:nvPr/>
        </p:nvGrpSpPr>
        <p:grpSpPr>
          <a:xfrm>
            <a:off x="310896" y="2834640"/>
            <a:ext cx="8522208" cy="574243"/>
            <a:chOff x="310896" y="2834640"/>
            <a:chExt cx="8522208" cy="574243"/>
          </a:xfrm>
        </p:grpSpPr>
        <p:sp>
          <p:nvSpPr>
            <p:cNvPr id="34" name="Oval 33"/>
            <p:cNvSpPr/>
            <p:nvPr/>
          </p:nvSpPr>
          <p:spPr>
            <a:xfrm>
              <a:off x="310896" y="2834640"/>
              <a:ext cx="457200" cy="45720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con-timer-FFFFFF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766" y="2937510"/>
              <a:ext cx="251460" cy="251460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1005840" y="2834640"/>
              <a:ext cx="782726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424242"/>
                  </a:solidFill>
                  <a:latin typeface="Source Code Pro"/>
                </a:rPr>
                <a:t>Work for as long as &lt;N&gt; hours, checking progress as you go.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05840" y="3401568"/>
              <a:ext cx="7827264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</p:grpSp>
      <p:grpSp>
        <p:nvGrpSpPr>
          <p:cNvPr id="7" name="Phrase 4"/>
          <p:cNvGrpSpPr/>
          <p:nvPr/>
        </p:nvGrpSpPr>
        <p:grpSpPr>
          <a:xfrm>
            <a:off x="310896" y="3511296"/>
            <a:ext cx="8522208" cy="457200"/>
            <a:chOff x="310896" y="3511296"/>
            <a:chExt cx="8522208" cy="457200"/>
          </a:xfrm>
        </p:grpSpPr>
        <p:sp>
          <p:nvSpPr>
            <p:cNvPr id="38" name="Oval 37"/>
            <p:cNvSpPr/>
            <p:nvPr/>
          </p:nvSpPr>
          <p:spPr>
            <a:xfrm>
              <a:off x="310896" y="3511296"/>
              <a:ext cx="457200" cy="457200"/>
            </a:xfrm>
            <a:prstGeom prst="ellipse">
              <a:avLst/>
            </a:prstGeom>
            <a:solidFill>
              <a:srgbClr val="E91D63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scan-search-FFFFFF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66" y="3614165"/>
              <a:ext cx="251460" cy="251460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1005840" y="3511296"/>
              <a:ext cx="7827264" cy="45720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400" b="0">
                  <a:solidFill>
                    <a:srgbClr val="424242"/>
                  </a:solidFill>
                  <a:latin typeface="Source Code Pro"/>
                </a:rPr>
                <a:t>Then review your work against &lt;criteria&gt; and fix what fails.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Swap the &lt;placeholders&gt;. Keep the rest word for word.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Next, we add these phrases to real prompts and compare the results.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Add a Floor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To a Short Email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Set an Objective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It Finish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for a Review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511296"/>
            <a:ext cx="2139696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 Preview of a Later Lecture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