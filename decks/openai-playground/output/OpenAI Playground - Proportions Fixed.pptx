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240a1adf304a4e" /><Relationship Type="http://schemas.openxmlformats.org/officeDocument/2006/relationships/extended-properties" Target="/docProps/app.xml" Id="R386ad8d997f2425e" /><Relationship Type="http://schemas.openxmlformats.org/officeDocument/2006/relationships/officeDocument" Target="/ppt/presentation.xml" Id="Rd257295e9a0147e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1d898ab1d084ad9"/>
  </p:sldMasterIdLst>
  <p:notesMasterIdLst>
    <p:notesMasterId xmlns:r="http://schemas.openxmlformats.org/officeDocument/2006/relationships" r:id="Radc9918b134e48c7"/>
  </p:notesMasterIdLst>
  <p:sldIdLst>
    <p:sldId xmlns:r="http://schemas.openxmlformats.org/officeDocument/2006/relationships" id="256" r:id="Ra978cbae9b794e86"/>
    <p:sldId xmlns:r="http://schemas.openxmlformats.org/officeDocument/2006/relationships" id="257" r:id="Re0a9f34895774683"/>
    <p:sldId xmlns:r="http://schemas.openxmlformats.org/officeDocument/2006/relationships" id="258" r:id="R5e7c68192ef04b1c"/>
    <p:sldId xmlns:r="http://schemas.openxmlformats.org/officeDocument/2006/relationships" id="259" r:id="R841033f2b7bd4658"/>
  </p:sldIdLst>
  <p:sldSz cx="9144000" cy="5143500"/>
  <p:notesSz cx="6858000" cy="9144000"/>
  <p:embeddedFontLst>
    <p:embeddedFont>
      <p:font typeface="Source Code Pro"/>
      <p:regular xmlns:r="http://schemas.openxmlformats.org/officeDocument/2006/relationships" r:id="R5705727a2bf84d86"/>
      <p:bold xmlns:r="http://schemas.openxmlformats.org/officeDocument/2006/relationships" r:id="R56fa2bf49eed42ed"/>
      <p:italic xmlns:r="http://schemas.openxmlformats.org/officeDocument/2006/relationships" r:id="R1243085d15774093"/>
      <p:boldItalic xmlns:r="http://schemas.openxmlformats.org/officeDocument/2006/relationships" r:id="Rb4dc4c106ce9435e"/>
    </p:embeddedFont>
    <p:embeddedFont>
      <p:font typeface="Oswald"/>
      <p:regular xmlns:r="http://schemas.openxmlformats.org/officeDocument/2006/relationships" r:id="Re007d53d116b401e"/>
      <p:bold xmlns:r="http://schemas.openxmlformats.org/officeDocument/2006/relationships" r:id="R53639ca6590847d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b55949135fb4364" /><Relationship Type="http://schemas.openxmlformats.org/officeDocument/2006/relationships/slideMaster" Target="/ppt/slideMasters/slideMaster1.xml" Id="R91d898ab1d084ad9" /><Relationship Type="http://schemas.openxmlformats.org/officeDocument/2006/relationships/notesMaster" Target="/ppt/notesMasters/notesMaster1.xml" Id="Radc9918b134e48c7" /><Relationship Type="http://schemas.openxmlformats.org/officeDocument/2006/relationships/presProps" Target="/ppt/presProps.xml" Id="R29453213781540e7" /><Relationship Type="http://schemas.openxmlformats.org/officeDocument/2006/relationships/viewProps" Target="/ppt/viewProps.xml" Id="Rc990789f8e9b437b" /><Relationship Type="http://schemas.openxmlformats.org/officeDocument/2006/relationships/tableStyles" Target="/ppt/tableStyles.xml" Id="R8bbb98641b804ace" /><Relationship Type="http://schemas.openxmlformats.org/officeDocument/2006/relationships/font" Target="/ppt/fonts/font.dat" Id="R5705727a2bf84d86" /><Relationship Type="http://schemas.openxmlformats.org/officeDocument/2006/relationships/font" Target="/ppt/fonts/font2.dat" Id="R56fa2bf49eed42ed" /><Relationship Type="http://schemas.openxmlformats.org/officeDocument/2006/relationships/font" Target="/ppt/fonts/font3.dat" Id="R1243085d15774093" /><Relationship Type="http://schemas.openxmlformats.org/officeDocument/2006/relationships/font" Target="/ppt/fonts/font4.dat" Id="Rb4dc4c106ce9435e" /><Relationship Type="http://schemas.openxmlformats.org/officeDocument/2006/relationships/font" Target="/ppt/fonts/font5.dat" Id="Re007d53d116b401e" /><Relationship Type="http://schemas.openxmlformats.org/officeDocument/2006/relationships/font" Target="/ppt/fonts/font6.dat" Id="R53639ca6590847dd" /><Relationship Type="http://schemas.openxmlformats.org/officeDocument/2006/relationships/slide" Target="/ppt/slides/slide1.xml" Id="Ra978cbae9b794e86" /><Relationship Type="http://schemas.openxmlformats.org/officeDocument/2006/relationships/slide" Target="/ppt/slides/slide2.xml" Id="Re0a9f34895774683" /><Relationship Type="http://schemas.openxmlformats.org/officeDocument/2006/relationships/slide" Target="/ppt/slides/slide3.xml" Id="R5e7c68192ef04b1c" /><Relationship Type="http://schemas.openxmlformats.org/officeDocument/2006/relationships/slide" Target="/ppt/slides/slide4.xml" Id="R841033f2b7bd46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f9e790a2d948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c2b283264e448d" /><Relationship Type="http://schemas.openxmlformats.org/officeDocument/2006/relationships/notesMaster" Target="/ppt/notesMasters/notesMaster1.xml" Id="Raf20fcfa78c144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6148f2a2474311" /><Relationship Type="http://schemas.openxmlformats.org/officeDocument/2006/relationships/notesMaster" Target="/ppt/notesMasters/notesMaster1.xml" Id="R4ed0c7ef65b444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58296df9364443" /><Relationship Type="http://schemas.openxmlformats.org/officeDocument/2006/relationships/notesMaster" Target="/ppt/notesMasters/notesMaster1.xml" Id="R589cac0fab7c4a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6e413e23904a81" /><Relationship Type="http://schemas.openxmlformats.org/officeDocument/2006/relationships/notesMaster" Target="/ppt/notesMasters/notesMaster1.xml" Id="Re8c4fae6b82d41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playground lets a developer test an API request through a browser before building the surrounding application. Show the model selector in this screenshot and run the same small task on two models available to the account. Inspect the answers against the same criteria. The reasoning effort and output controls are useful examples of settings to explore; supported settings vary by model. Keep the input fixed while changing one setting so the comparison is easy to explain. The selected model in the screenshot is a dated example, not a recommendation or a guarantee that every account can use it. Playground calls use API billing, separately from a ChatGPT subscription. Screenshot supplied by James, captured 1 October 2026.</a:t>
            </a:r>
          </a:p>
          <a:p xmlns:a="http://schemas.openxmlformats.org/drawingml/2006/main">
            <a:r>
              <a:t/>
            </a:r>
          </a:p>
          <a:p xmlns:a="http://schemas.openxmlformats.org/drawingml/2006/main">
            <a:r>
              <a:t>Sources:</a:t>
            </a:r>
          </a:p>
          <a:p xmlns:a="http://schemas.openxmlformats.org/drawingml/2006/main">
            <a:r>
              <a:t>https://platform.openai.com/chat/edit</a:t>
            </a:r>
          </a:p>
          <a:p xmlns:a="http://schemas.openxmlformats.org/drawingml/2006/main">
            <a:r>
              <a:t>https://developers.openai.com/api/docs/guides/prompt-engineering</a:t>
            </a:r>
          </a:p>
          <a:p xmlns:a="http://schemas.openxmlformats.org/drawingml/2006/main">
            <a:r>
              <a:t>https://help.openai.com/en/articles/9039756-managing-billing-for-chatgpt-and-the-api-platform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Paste the review into the conversation and use the two-sentence instruction as the prompt guidance. Run it and inspect whether the reply acknowledges the broken handle without promising a refund. Edit the instructions and rerun the same review. Then try a different review, such as a late delivery or a compliment. This is rapid prototyping: we can learn whether a proposed feature produces useful output before writing its interface and integration. The slide contains a teaching prompt, not a recorded model output. Use several examples before treating the prompt as ready for the application. Students can follow this experiment entirely in the browser.</a:t>
            </a:r>
          </a:p>
          <a:p xmlns:a="http://schemas.openxmlformats.org/drawingml/2006/main">
            <a:r>
              <a:t/>
            </a:r>
          </a:p>
          <a:p xmlns:a="http://schemas.openxmlformats.org/drawingml/2006/main">
            <a:r>
              <a:t>Sources:</a:t>
            </a:r>
          </a:p>
          <a:p xmlns:a="http://schemas.openxmlformats.org/drawingml/2006/main">
            <a:r>
              <a:t>https://platform.openai.com/chat/edit</a:t>
            </a:r>
          </a:p>
          <a:p xmlns:a="http://schemas.openxmlformats.org/drawingml/2006/main">
            <a:r>
              <a:t>https://developers.openai.com/api/docs/guides/prompt-engineering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Code button in the top right of the Playground to inspect code for the current prompt and configuration. The supplied View code screenshot shows a Python SDK request to the Responses API, including the model, output settings, reasoning configuration and streaming option. It provides integration code for the configuration; it does not build the rest of the application. This screenshot was taken from an empty draft, so input=[] contains no task and tools=[] enables no tools. Add prompt guidance and a user message before exporting a useful request, or fill those fields deliberately in the Python code. Install the SDK and supply the API key through an environment variable or secret manager. The full screenshot continues into a streaming event loop; our crop focuses on the request settings. Do not assume the pictured model and every setting are supported by all accounts or models. Screenshot supplied by James, captured 1 October 2026.</a:t>
            </a:r>
          </a:p>
          <a:p xmlns:a="http://schemas.openxmlformats.org/drawingml/2006/main">
            <a:r>
              <a:t/>
            </a:r>
          </a:p>
          <a:p xmlns:a="http://schemas.openxmlformats.org/drawingml/2006/main">
            <a:r>
              <a:t>Sources:</a:t>
            </a:r>
          </a:p>
          <a:p xmlns:a="http://schemas.openxmlformats.org/drawingml/2006/main">
            <a:r>
              <a:t>https://developers.openai.com/api/docs/quickstart</a:t>
            </a:r>
          </a:p>
          <a:p xmlns:a="http://schemas.openxmlformats.org/drawingml/2006/main">
            <a:r>
              <a:t>https://platform.openai.com/chat/edit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menus distinguish hosted tools from tools that need execution in your application. OpenAI handles its built-in hosted tools, such as web search, file search and image generation. Code Interpreter executes Python in a sandbox, and hosted shell uses an OpenAI-managed container. Programmatic Tool Calling, shown above the list in the full supplied screenshot, uses a hosted JavaScript runtime to orchestrate tool calls; it is different from Code Interpreter and still needs the appropriate execution mechanism for each called tool. Local functions, custom tools, apply-patch requests and local shell actions are requests for your integration to handle. The model asks for work, your application performs it, and your application returns the results. Local can mean a backend server or another environment you control, rather than the student’s laptop. MCP appears in the hosted menu, but remote MCP tool execution occurs on the connected MCP server. Choosing a local tool does not give the Playground permission to execute arbitrary code on your machine. The screenshot shows both tool menus in full. Screenshot supplied by James, captured 1 October 2026.</a:t>
            </a:r>
          </a:p>
          <a:p xmlns:a="http://schemas.openxmlformats.org/drawingml/2006/main">
            <a:r>
              <a:t/>
            </a:r>
          </a:p>
          <a:p xmlns:a="http://schemas.openxmlformats.org/drawingml/2006/main">
            <a:r>
              <a:t>Sources:</a:t>
            </a:r>
          </a:p>
          <a:p xmlns:a="http://schemas.openxmlformats.org/drawingml/2006/main">
            <a:r>
              <a:t>https://developers.openai.com/api/docs/guides/tools</a:t>
            </a:r>
          </a:p>
          <a:p xmlns:a="http://schemas.openxmlformats.org/drawingml/2006/main">
            <a:r>
              <a:t>https://developers.openai.com/api/docs/guides/function-calling</a:t>
            </a:r>
          </a:p>
          <a:p xmlns:a="http://schemas.openxmlformats.org/drawingml/2006/main">
            <a:r>
              <a:t>https://developers.openai.com/api/docs/guides/tools-shell</a:t>
            </a:r>
          </a:p>
          <a:p xmlns:a="http://schemas.openxmlformats.org/drawingml/2006/main">
            <a:r>
              <a:t>https://developers.openai.com/api/docs/guides/tools-code-interpreter</a:t>
            </a:r>
          </a:p>
          <a:p xmlns:a="http://schemas.openxmlformats.org/drawingml/2006/main">
            <a:r>
              <a:t>https://developers.openai.com/api/docs/guides/tools-programmatic-tool-calling</a:t>
            </a:r>
          </a:p>
          <a:p xmlns:a="http://schemas.openxmlformats.org/drawingml/2006/main">
            <a:r>
              <a:t>https://developers.openai.com/api/docs/guides/tools-connectors-mcp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4d1f04869d4c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1b7c0067104e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be2af37b224b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804a05b96c4c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403beca51147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7f07aa39904b6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79362e7727a479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66cf40dfae848f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d2e7876cf894ce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b32ba8d4f774db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7c6931e80f64ed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24157C9D-CC74-4782-A398-A76CC4B2FA0D}"/>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5F40FFE4-4CD8-4D8A-B29F-53815E4E315F}"/>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EE721652-0EE2-4786-A639-B0F2FAB7EEF1}"/>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291F2EA-2FB5-421A-A0BA-42BC5A48B349}"/>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EB7E5C52-60D7-4A72-9C19-0E2CDA7443D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4AFE4940-1F6B-445D-92C7-4D4FFF006702}"/>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5"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CA32B3A2-83F2-4759-9E14-8AE160D07737}"/>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9C3F73EE-41CD-432F-A3F3-9CC477D96D8D}"/>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0674DC3C-9835-437B-8A42-513A69FE89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AAA9F8D-39A8-4721-84C6-79EF0742577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450436FB-F414-4E1E-B8F3-5E9D6034BD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627CC317-AA90-4195-B317-17CD67FFA2FE}"/>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29D05FE9-16DD-49EA-9E54-CA9CBA2E43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09B85B54-99F7-4CD1-84DA-14D82429AC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7"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B62D533D-CB4F-4932-8CCE-7B9752EABFD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FC2D6AE-03F3-4D80-8FD9-178DEEBF7559}"/>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F3B3E6D5-57EB-450F-80A4-439D823CFB3F}"/>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30D1649-445C-46EB-AC95-BB67BF5D1BB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01F0D6F2-CDFF-4907-BB11-91B6BC32E36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FF053B0B-0F06-4365-8AA3-CB136FEB0A3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F864F1CB-68B9-4FBB-AE61-C31DABAD561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A42C25FC-1A84-45AE-AAB7-021162EA6132}"/>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7"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E8CE15C9-6A0A-41C4-8348-668F78DAD0A2}"/>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3769537B-17D7-46CE-8AB9-1FAEB39AC9A5}"/>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6E1CD1CA-9D40-4F0D-9289-8534C08A10D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8FC503F9-B9A6-4C28-9825-466AB45075B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14217C4E-E932-4AE9-A23A-BA4F5AC143B3}"/>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0723FFED-FF18-44FB-A2DA-B3A425675E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144D9744-9E60-4724-937F-E98292DC779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E00D6951-625C-491F-B81F-08D5865D8E8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63"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BA373FA4-D518-40B9-B625-D3BEF3C35DDC}"/>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7AFFDF82-CD0B-4B9F-B2B0-841F6EF85459}"/>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4521E96E-60D4-4E57-9C39-731FAF10D629}"/>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02690A87-9F9E-41E4-A605-A68070FE36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95DC1989-5DEC-4BC9-94CD-15D6E6D00E3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194371D6-4DF4-4B0A-B536-824687484D2B}"/>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82A3B39D-CA3F-4050-BE6C-54112484D6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C3B28407-893C-4535-91CA-CFA68A8A2FC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9"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9467DE9D-E512-45BA-B771-0090211292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C4469540-D88A-4647-984A-6233C256049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A8C940C6-73CA-4B23-9018-D7D47A0E20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24953636-D2C7-45B7-8C46-434C244C8A8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27BF57BB-8DD4-40FB-97F2-D4A6E11549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797A6165-26C4-458E-9280-0F48DAD2C946}"/>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2a023b8c2d4e2a" /><Relationship Type="http://schemas.openxmlformats.org/officeDocument/2006/relationships/slideLayout" Target="/ppt/slideLayouts/slideLayout1.xml" Id="R85e6fe5a96954cce" /><Relationship Type="http://schemas.openxmlformats.org/officeDocument/2006/relationships/slideLayout" Target="/ppt/slideLayouts/slideLayout2.xml" Id="R48112f9e9b2d4ec1" /><Relationship Type="http://schemas.openxmlformats.org/officeDocument/2006/relationships/slideLayout" Target="/ppt/slideLayouts/slideLayout3.xml" Id="R12dc273b0fdb4332" /><Relationship Type="http://schemas.openxmlformats.org/officeDocument/2006/relationships/slideLayout" Target="/ppt/slideLayouts/slideLayout4.xml" Id="R9cdaf7f932694368" /><Relationship Type="http://schemas.openxmlformats.org/officeDocument/2006/relationships/slideLayout" Target="/ppt/slideLayouts/slideLayout5.xml" Id="R7c58b7ca47cd4776" /><Relationship Type="http://schemas.openxmlformats.org/officeDocument/2006/relationships/slideLayout" Target="/ppt/slideLayouts/slideLayout6.xml" Id="R9521071720da4770" /><Relationship Type="http://schemas.openxmlformats.org/officeDocument/2006/relationships/slideLayout" Target="/ppt/slideLayouts/slideLayout7.xml" Id="R8f148476c5f44c5d" /><Relationship Type="http://schemas.openxmlformats.org/officeDocument/2006/relationships/slideLayout" Target="/ppt/slideLayouts/slideLayout8.xml" Id="Ra2d6777375994a43" /><Relationship Type="http://schemas.openxmlformats.org/officeDocument/2006/relationships/slideLayout" Target="/ppt/slideLayouts/slideLayout9.xml" Id="Re8af0f0e5083449b" /><Relationship Type="http://schemas.openxmlformats.org/officeDocument/2006/relationships/slideLayout" Target="/ppt/slideLayouts/slideLayout10.xml" Id="R74480b489f2447bc" /><Relationship Type="http://schemas.openxmlformats.org/officeDocument/2006/relationships/slideLayout" Target="/ppt/slideLayouts/slideLayout11.xml" Id="R4ae38c5a33a34b18"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6045D72-D32C-4A87-890B-68EDB1513BB5}"/>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5F26F73-C3CA-46B4-ADE7-3D2800DE829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AA1AE3A-A737-485F-9904-BC46651B39C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5e6fe5a96954cce"/>
    <p:sldLayoutId xmlns:r="http://schemas.openxmlformats.org/officeDocument/2006/relationships" id="2147483650" r:id="R48112f9e9b2d4ec1"/>
    <p:sldLayoutId xmlns:r="http://schemas.openxmlformats.org/officeDocument/2006/relationships" id="2147483651" r:id="R12dc273b0fdb4332"/>
    <p:sldLayoutId xmlns:r="http://schemas.openxmlformats.org/officeDocument/2006/relationships" id="2147483652" r:id="R9cdaf7f932694368"/>
    <p:sldLayoutId xmlns:r="http://schemas.openxmlformats.org/officeDocument/2006/relationships" id="2147483653" r:id="R7c58b7ca47cd4776"/>
    <p:sldLayoutId xmlns:r="http://schemas.openxmlformats.org/officeDocument/2006/relationships" id="2147483654" r:id="R9521071720da4770"/>
    <p:sldLayoutId xmlns:r="http://schemas.openxmlformats.org/officeDocument/2006/relationships" id="2147483655" r:id="R8f148476c5f44c5d"/>
    <p:sldLayoutId xmlns:r="http://schemas.openxmlformats.org/officeDocument/2006/relationships" id="2147483656" r:id="Ra2d6777375994a43"/>
    <p:sldLayoutId xmlns:r="http://schemas.openxmlformats.org/officeDocument/2006/relationships" id="2147483657" r:id="Re8af0f0e5083449b"/>
    <p:sldLayoutId xmlns:r="http://schemas.openxmlformats.org/officeDocument/2006/relationships" id="2147483658" r:id="R74480b489f2447bc"/>
    <p:sldLayoutId xmlns:r="http://schemas.openxmlformats.org/officeDocument/2006/relationships" id="2147483659" r:id="R4ae38c5a33a34b18"/>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afa7d1add8e4513" /><Relationship Type="http://schemas.openxmlformats.org/officeDocument/2006/relationships/image" Target="/ppt/media/image.png" Id="R85f5f3351d5043a4" /><Relationship Type="http://schemas.openxmlformats.org/officeDocument/2006/relationships/image" Target="/ppt/media/image2.png" Id="Rf48b9a5d2ed641b9" /><Relationship Type="http://schemas.openxmlformats.org/officeDocument/2006/relationships/hyperlink" Target="https://platform.openai.com/chat/edit" TargetMode="External" Id="Rf29d5be46d1e42b6" /><Relationship Type="http://schemas.openxmlformats.org/officeDocument/2006/relationships/notesSlide" Target="/ppt/notesSlides/notesSlide1.xml" Id="R7aa9b4c7d9134b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794f175094e48d3" /><Relationship Type="http://schemas.openxmlformats.org/officeDocument/2006/relationships/hyperlink" Target="https://developers.openai.com/api/docs/guides/prompt-engineering" TargetMode="External" Id="Re453677455134d82" /><Relationship Type="http://schemas.openxmlformats.org/officeDocument/2006/relationships/notesSlide" Target="/ppt/notesSlides/notesSlide2.xml" Id="R76e2f08b1752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fd618fb0bcf4eab" /><Relationship Type="http://schemas.openxmlformats.org/officeDocument/2006/relationships/image" Target="/ppt/media/image3.png" Id="Rc92ba8774a454c33" /><Relationship Type="http://schemas.openxmlformats.org/officeDocument/2006/relationships/image" Target="/ppt/media/image4.png" Id="R211fde6821cd4020" /><Relationship Type="http://schemas.openxmlformats.org/officeDocument/2006/relationships/hyperlink" Target="https://developers.openai.com/api/docs/quickstart" TargetMode="External" Id="Rf03f8b8f2dee4d67" /><Relationship Type="http://schemas.openxmlformats.org/officeDocument/2006/relationships/notesSlide" Target="/ppt/notesSlides/notesSlide3.xml" Id="R4433ffd3f19947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662b3c3159e4d79" /><Relationship Type="http://schemas.openxmlformats.org/officeDocument/2006/relationships/image" Target="/ppt/media/image5.png" Id="R7683ff926e934b98" /><Relationship Type="http://schemas.openxmlformats.org/officeDocument/2006/relationships/hyperlink" Target="https://developers.openai.com/api/docs/guides/tools" TargetMode="External" Id="Rf15b9e1e0ea943a3" /><Relationship Type="http://schemas.openxmlformats.org/officeDocument/2006/relationships/notesSlide" Target="/ppt/notesSlides/notesSlide4.xml" Id="R0e9287cd9a7b41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65722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OpenAI Playground</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85f5f3351d5043a4"/>
          <a:stretch xmlns:a="http://schemas.openxmlformats.org/drawingml/2006/main"/>
        </p:blipFill>
        <p:spPr>
          <a:xfrm xmlns:a="http://schemas.openxmlformats.org/drawingml/2006/main">
            <a:off x="7334250" y="514353"/>
            <a:ext cx="1409700" cy="631025"/>
          </a:xfrm>
          <a:prstGeom xmlns:a="http://schemas.openxmlformats.org/drawingml/2006/main" prst="rect">
            <a:avLst/>
          </a:prstGeom>
        </p:spPr>
      </p:pic>
      <p:sp>
        <p:nvSpPr>
          <p:cNvPr id="185" name="Test API prompts">
            <a:extLst xmlns:a="http://schemas.openxmlformats.org/drawingml/2006/main">
              <a:ext uri="{FF2B5EF4-FFF2-40B4-BE49-F238E27FC236}">
                <a16:creationId xmlns:a16="http://schemas.microsoft.com/office/drawing/2014/main" id="{4AD9D369-3189-4CFF-816C-B1ECE018DF1F}"/>
              </a:ext>
            </a:extLst>
          </p:cNvPr>
          <p:cNvSpPr>
            <a:spLocks xmlns:a="http://schemas.openxmlformats.org/drawingml/2006/main" noGrp="1"/>
          </p:cNvSpPr>
          <p:nvPr/>
        </p:nvSpPr>
        <p:spPr>
          <a:xfrm xmlns:a="http://schemas.openxmlformats.org/drawingml/2006/main">
            <a:off x="400050" y="1552575"/>
            <a:ext cx="4457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0">
                <a:solidFill>
                  <a:srgbClr val="424242"/>
                </a:solidFill>
                <a:latin typeface="Source Code Pro"/>
                <a:ea typeface="Source Code Pro"/>
                <a:cs typeface="Source Code Pro"/>
              </a:defRPr>
            </a:pPr>
            <a:r>
              <a:rPr sz="2025" b="0">
                <a:solidFill>
                  <a:srgbClr val="424242"/>
                </a:solidFill>
                <a:latin typeface="Source Code Pro"/>
                <a:ea typeface="Source Code Pro"/>
                <a:cs typeface="Source Code Pro"/>
              </a:rPr>
              <a:t>Test API prompts</a:t>
            </a:r>
          </a:p>
          <a:p xmlns:a="http://schemas.openxmlformats.org/drawingml/2006/main">
            <a:pPr algn="l">
              <a:lnSpc>
                <a:spcPct val="118000"/>
              </a:lnSpc>
              <a:buNone/>
              <a:defRPr sz="2025" b="0">
                <a:solidFill>
                  <a:srgbClr val="424242"/>
                </a:solidFill>
                <a:latin typeface="Source Code Pro"/>
                <a:ea typeface="Source Code Pro"/>
                <a:cs typeface="Source Code Pro"/>
              </a:defRPr>
            </a:pPr>
            <a:r>
              <a:rPr sz="2025" b="0">
                <a:solidFill>
                  <a:srgbClr val="424242"/>
                </a:solidFill>
                <a:latin typeface="Source Code Pro"/>
                <a:ea typeface="Source Code Pro"/>
                <a:cs typeface="Source Code Pro"/>
              </a:rPr>
              <a:t>in your browser.</a:t>
            </a:r>
          </a:p>
        </p:txBody>
      </p:sp>
      <p:sp>
        <p:nvSpPr>
          <p:cNvPr id="186" name="Use the same prompt to compare">
            <a:extLst xmlns:a="http://schemas.openxmlformats.org/drawingml/2006/main">
              <a:ext uri="{FF2B5EF4-FFF2-40B4-BE49-F238E27FC236}">
                <a16:creationId xmlns:a16="http://schemas.microsoft.com/office/drawing/2014/main" id="{30BCA368-B926-4CC4-B472-0DE20F40693F}"/>
              </a:ext>
            </a:extLst>
          </p:cNvPr>
          <p:cNvSpPr>
            <a:spLocks xmlns:a="http://schemas.openxmlformats.org/drawingml/2006/main" noGrp="1"/>
          </p:cNvSpPr>
          <p:nvPr/>
        </p:nvSpPr>
        <p:spPr>
          <a:xfrm xmlns:a="http://schemas.openxmlformats.org/drawingml/2006/main">
            <a:off x="400050" y="2600325"/>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Use the same prompt to compare</a:t>
            </a:r>
          </a:p>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models. Adjust reasoning effort</a:t>
            </a:r>
          </a:p>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and the output format.</a:t>
            </a:r>
          </a:p>
        </p:txBody>
      </p:sp>
      <p:sp>
        <p:nvSpPr>
          <p:cNvPr id="187" name="Test the reply in your browser.">
            <a:extLst xmlns:a="http://schemas.openxmlformats.org/drawingml/2006/main">
              <a:ext uri="{FF2B5EF4-FFF2-40B4-BE49-F238E27FC236}">
                <a16:creationId xmlns:a16="http://schemas.microsoft.com/office/drawing/2014/main" id="{837F22AD-3A81-4079-A726-50CC157A4E21}"/>
              </a:ext>
            </a:extLst>
          </p:cNvPr>
          <p:cNvSpPr>
            <a:spLocks xmlns:a="http://schemas.openxmlformats.org/drawingml/2006/main" noGrp="1"/>
          </p:cNvSpPr>
          <p:nvPr/>
        </p:nvSpPr>
        <p:spPr>
          <a:xfrm xmlns:a="http://schemas.openxmlformats.org/drawingml/2006/main">
            <a:off x="400050" y="3771900"/>
            <a:ext cx="447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Test the reply in your browser.</a:t>
            </a:r>
          </a:p>
          <a:p xmlns:a="http://schemas.openxmlformats.org/drawingml/2006/main">
            <a:pPr algn="l">
              <a:lnSpc>
                <a:spcPct val="118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Move to code when it works.</a:t>
            </a:r>
          </a:p>
        </p:txBody>
      </p:sp>
      <p:pic>
        <p:nvPicPr>
          <p:cNvPr id="198" name="OpenAI Playground model, reasoning and output settings from the supplied screenshot, 1 October 2026"/>
          <p:cNvPicPr>
            <a:picLocks xmlns:a="http://schemas.openxmlformats.org/drawingml/2006/main" noChangeAspect="1"/>
          </p:cNvPicPr>
          <p:nvPr/>
        </p:nvPicPr>
        <p:blipFill>
          <a:blip xmlns:r="http://schemas.openxmlformats.org/officeDocument/2006/relationships" xmlns:a="http://schemas.openxmlformats.org/drawingml/2006/main" r:embed="Rf48b9a5d2ed641b9"/>
          <a:srcRect xmlns:a="http://schemas.openxmlformats.org/drawingml/2006/main" l="13912" t="45809" r="64266" b="19396"/>
          <a:stretch xmlns:a="http://schemas.openxmlformats.org/drawingml/2006/main">
            <a:fillRect l="0" t="0" r="0" b="0"/>
          </a:stretch>
        </p:blipFill>
        <p:spPr>
          <a:xfrm xmlns:a="http://schemas.openxmlformats.org/drawingml/2006/main">
            <a:off x="5695950" y="1619250"/>
            <a:ext cx="3041597" cy="2714625"/>
          </a:xfrm>
          <a:prstGeom xmlns:a="http://schemas.openxmlformats.org/drawingml/2006/main" prst="rect">
            <a:avLst/>
          </a:prstGeom>
        </p:spPr>
      </p:pic>
      <p:sp>
        <p:nvSpPr>
          <p:cNvPr id="190" name="Open OpenAI Playground">
            <a:extLst xmlns:a="http://schemas.openxmlformats.org/drawingml/2006/main">
              <a:ext uri="{FF2B5EF4-FFF2-40B4-BE49-F238E27FC236}">
                <a16:creationId xmlns:a16="http://schemas.microsoft.com/office/drawing/2014/main" id="{CC5F4C3C-5FA1-49A5-A0D0-F4FC8C664BA2}"/>
              </a:ext>
            </a:extLst>
          </p:cNvPr>
          <p:cNvSpPr>
            <a:spLocks xmlns:a="http://schemas.openxmlformats.org/drawingml/2006/main" noGrp="1"/>
          </p:cNvSpPr>
          <p:nvPr/>
        </p:nvSpPr>
        <p:spPr>
          <a:xfrm xmlns:a="http://schemas.openxmlformats.org/drawingml/2006/main">
            <a:off x="400050" y="4543425"/>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f29d5be46d1e42b6"/>
              </a:rPr>
              <a:t>Open OpenAI Playground</a:t>
            </a:r>
          </a:p>
        </p:txBody>
      </p:sp>
    </p:spTree>
    <p:extLst>
      <p:ext uri="{BB962C8B-B14F-4D97-AF65-F5344CB8AC3E}">
        <p14:creationId xmlns:p14="http://schemas.microsoft.com/office/powerpoint/2010/main" val="2026100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Prototype a Customer Support Reply</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Try this review">
            <a:extLst xmlns:a="http://schemas.openxmlformats.org/drawingml/2006/main">
              <a:ext uri="{FF2B5EF4-FFF2-40B4-BE49-F238E27FC236}">
                <a16:creationId xmlns:a16="http://schemas.microsoft.com/office/drawing/2014/main" id="{109BAF31-741B-403C-A0DD-34006DD3AAB3}"/>
              </a:ext>
            </a:extLst>
          </p:cNvPr>
          <p:cNvSpPr>
            <a:spLocks xmlns:a="http://schemas.openxmlformats.org/drawingml/2006/main" noGrp="1"/>
          </p:cNvSpPr>
          <p:nvPr/>
        </p:nvSpPr>
        <p:spPr>
          <a:xfrm xmlns:a="http://schemas.openxmlformats.org/drawingml/2006/main">
            <a:off x="400050" y="1514475"/>
            <a:ext cx="834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Try this review</a:t>
            </a:r>
          </a:p>
        </p:txBody>
      </p:sp>
      <p:sp>
        <p:nvSpPr>
          <p:cNvPr id="185" name="“The mug looks lovely, but its handle">
            <a:extLst xmlns:a="http://schemas.openxmlformats.org/drawingml/2006/main">
              <a:ext uri="{FF2B5EF4-FFF2-40B4-BE49-F238E27FC236}">
                <a16:creationId xmlns:a16="http://schemas.microsoft.com/office/drawing/2014/main" id="{07FC0547-18D1-4B13-8079-617382E68527}"/>
              </a:ext>
            </a:extLst>
          </p:cNvPr>
          <p:cNvSpPr>
            <a:spLocks xmlns:a="http://schemas.openxmlformats.org/drawingml/2006/main" noGrp="1"/>
          </p:cNvSpPr>
          <p:nvPr/>
        </p:nvSpPr>
        <p:spPr>
          <a:xfrm xmlns:a="http://schemas.openxmlformats.org/drawingml/2006/main">
            <a:off x="400050" y="2009775"/>
            <a:ext cx="8343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424242"/>
                </a:solidFill>
                <a:latin typeface="Source Code Pro"/>
                <a:ea typeface="Source Code Pro"/>
                <a:cs typeface="Source Code Pro"/>
              </a:defRPr>
            </a:pPr>
            <a:r>
              <a:rPr sz="1875" b="0">
                <a:solidFill>
                  <a:srgbClr val="424242"/>
                </a:solidFill>
                <a:latin typeface="Source Code Pro"/>
                <a:ea typeface="Source Code Pro"/>
                <a:cs typeface="Source Code Pro"/>
              </a:rPr>
              <a:t>“The mug looks lovely, but its handle</a:t>
            </a:r>
          </a:p>
          <a:p xmlns:a="http://schemas.openxmlformats.org/drawingml/2006/main">
            <a:pPr algn="l">
              <a:lnSpc>
                <a:spcPct val="118000"/>
              </a:lnSpc>
              <a:buNone/>
              <a:defRPr sz="1875" b="0">
                <a:solidFill>
                  <a:srgbClr val="424242"/>
                </a:solidFill>
                <a:latin typeface="Source Code Pro"/>
                <a:ea typeface="Source Code Pro"/>
                <a:cs typeface="Source Code Pro"/>
              </a:defRPr>
            </a:pPr>
            <a:r>
              <a:rPr sz="1875" b="0">
                <a:solidFill>
                  <a:srgbClr val="424242"/>
                </a:solidFill>
                <a:latin typeface="Source Code Pro"/>
                <a:ea typeface="Source Code Pro"/>
                <a:cs typeface="Source Code Pro"/>
              </a:rPr>
              <a:t>broke on the first day.”</a:t>
            </a:r>
          </a:p>
        </p:txBody>
      </p:sp>
      <p:sp>
        <p:nvSpPr>
          <p:cNvPr id="186" name="Give the model a clear job">
            <a:extLst xmlns:a="http://schemas.openxmlformats.org/drawingml/2006/main">
              <a:ext uri="{FF2B5EF4-FFF2-40B4-BE49-F238E27FC236}">
                <a16:creationId xmlns:a16="http://schemas.microsoft.com/office/drawing/2014/main" id="{8A429578-BC4B-4BFB-A1C6-5A41DE631559}"/>
              </a:ext>
            </a:extLst>
          </p:cNvPr>
          <p:cNvSpPr>
            <a:spLocks xmlns:a="http://schemas.openxmlformats.org/drawingml/2006/main" noGrp="1"/>
          </p:cNvSpPr>
          <p:nvPr/>
        </p:nvSpPr>
        <p:spPr>
          <a:xfrm xmlns:a="http://schemas.openxmlformats.org/drawingml/2006/main">
            <a:off x="400050" y="3009900"/>
            <a:ext cx="834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Give the model a clear job</a:t>
            </a:r>
          </a:p>
        </p:txBody>
      </p:sp>
      <p:sp>
        <p:nvSpPr>
          <p:cNvPr id="187" name="Write a two-sentence reply.">
            <a:extLst xmlns:a="http://schemas.openxmlformats.org/drawingml/2006/main">
              <a:ext uri="{FF2B5EF4-FFF2-40B4-BE49-F238E27FC236}">
                <a16:creationId xmlns:a16="http://schemas.microsoft.com/office/drawing/2014/main" id="{77E7695E-10DE-4A7C-AAE0-CDE6FAC20D8F}"/>
              </a:ext>
            </a:extLst>
          </p:cNvPr>
          <p:cNvSpPr>
            <a:spLocks xmlns:a="http://schemas.openxmlformats.org/drawingml/2006/main" noGrp="1"/>
          </p:cNvSpPr>
          <p:nvPr/>
        </p:nvSpPr>
        <p:spPr>
          <a:xfrm xmlns:a="http://schemas.openxmlformats.org/drawingml/2006/main">
            <a:off x="400050" y="3514725"/>
            <a:ext cx="834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Write a two-sentence reply.</a:t>
            </a:r>
          </a:p>
          <a:p xmlns:a="http://schemas.openxmlformats.org/drawingml/2006/main">
            <a:pPr algn="l">
              <a:lnSpc>
                <a:spcPct val="118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Acknowledge the fault. Do not promise a refund.</a:t>
            </a:r>
          </a:p>
        </p:txBody>
      </p:sp>
      <p:sp>
        <p:nvSpPr>
          <p:cNvPr id="188" name="Try another review. Check the fault is acknowledged.">
            <a:extLst xmlns:a="http://schemas.openxmlformats.org/drawingml/2006/main">
              <a:ext uri="{FF2B5EF4-FFF2-40B4-BE49-F238E27FC236}">
                <a16:creationId xmlns:a16="http://schemas.microsoft.com/office/drawing/2014/main" id="{7B1DD520-4327-4E6B-887D-AFD6159E4363}"/>
              </a:ext>
            </a:extLst>
          </p:cNvPr>
          <p:cNvSpPr>
            <a:spLocks xmlns:a="http://schemas.openxmlformats.org/drawingml/2006/main" noGrp="1"/>
          </p:cNvSpPr>
          <p:nvPr/>
        </p:nvSpPr>
        <p:spPr>
          <a:xfrm xmlns:a="http://schemas.openxmlformats.org/drawingml/2006/main">
            <a:off x="400050" y="4267200"/>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Try another review. Check the fault is acknowledged.</a:t>
            </a:r>
          </a:p>
        </p:txBody>
      </p:sp>
      <p:sp>
        <p:nvSpPr>
          <p:cNvPr id="189" name="Prompting guidance">
            <a:extLst xmlns:a="http://schemas.openxmlformats.org/drawingml/2006/main">
              <a:ext uri="{FF2B5EF4-FFF2-40B4-BE49-F238E27FC236}">
                <a16:creationId xmlns:a16="http://schemas.microsoft.com/office/drawing/2014/main" id="{DDFC0A04-9CF6-4234-A3CA-464541F52BA4}"/>
              </a:ext>
            </a:extLst>
          </p:cNvPr>
          <p:cNvSpPr>
            <a:spLocks xmlns:a="http://schemas.openxmlformats.org/drawingml/2006/main" noGrp="1"/>
          </p:cNvSpPr>
          <p:nvPr/>
        </p:nvSpPr>
        <p:spPr>
          <a:xfrm xmlns:a="http://schemas.openxmlformats.org/drawingml/2006/main">
            <a:off x="400050" y="4543425"/>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e453677455134d82"/>
              </a:rPr>
              <a:t>Prompting guidance</a:t>
            </a:r>
          </a:p>
        </p:txBody>
      </p:sp>
    </p:spTree>
    <p:extLst>
      <p:ext uri="{BB962C8B-B14F-4D97-AF65-F5344CB8AC3E}">
        <p14:creationId xmlns:p14="http://schemas.microsoft.com/office/powerpoint/2010/main" val="20261002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66675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Export the Request as Python</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c92ba8774a454c33"/>
          <a:stretch xmlns:a="http://schemas.openxmlformats.org/drawingml/2006/main"/>
        </p:blipFill>
        <p:spPr>
          <a:xfrm xmlns:a="http://schemas.openxmlformats.org/drawingml/2006/main">
            <a:off x="7486730" y="638175"/>
            <a:ext cx="1257140" cy="424625"/>
          </a:xfrm>
          <a:prstGeom xmlns:a="http://schemas.openxmlformats.org/drawingml/2006/main" prst="rect">
            <a:avLst/>
          </a:prstGeom>
        </p:spPr>
      </p:pic>
      <p:pic>
        <p:nvPicPr>
          <p:cNvPr id="196" name="Playground View code dialog showing a Python Responses API request exported from the supplied draft, 1 October 2026"/>
          <p:cNvPicPr>
            <a:picLocks xmlns:a="http://schemas.openxmlformats.org/drawingml/2006/main" noChangeAspect="1"/>
          </p:cNvPicPr>
          <p:nvPr/>
        </p:nvPicPr>
        <p:blipFill>
          <a:blip xmlns:r="http://schemas.openxmlformats.org/officeDocument/2006/relationships" xmlns:a="http://schemas.openxmlformats.org/drawingml/2006/main" r:embed="R211fde6821cd4020"/>
          <a:srcRect xmlns:a="http://schemas.openxmlformats.org/drawingml/2006/main" l="4762" t="14602" r="5442" b="27996"/>
          <a:stretch xmlns:a="http://schemas.openxmlformats.org/drawingml/2006/main">
            <a:fillRect l="0" t="0" r="0" b="0"/>
          </a:stretch>
        </p:blipFill>
        <p:spPr>
          <a:xfrm xmlns:a="http://schemas.openxmlformats.org/drawingml/2006/main">
            <a:off x="400050" y="1457325"/>
            <a:ext cx="3529263" cy="3048000"/>
          </a:xfrm>
          <a:prstGeom xmlns:a="http://schemas.openxmlformats.org/drawingml/2006/main" prst="rect">
            <a:avLst/>
          </a:prstGeom>
        </p:spPr>
      </p:pic>
      <p:sp>
        <p:nvSpPr>
          <p:cNvPr id="187" name="Click Code">
            <a:extLst xmlns:a="http://schemas.openxmlformats.org/drawingml/2006/main">
              <a:ext uri="{FF2B5EF4-FFF2-40B4-BE49-F238E27FC236}">
                <a16:creationId xmlns:a16="http://schemas.microsoft.com/office/drawing/2014/main" id="{D13FB59D-7601-4E7D-89C1-B2CB63CAF8A5}"/>
              </a:ext>
            </a:extLst>
          </p:cNvPr>
          <p:cNvSpPr>
            <a:spLocks xmlns:a="http://schemas.openxmlformats.org/drawingml/2006/main" noGrp="1"/>
          </p:cNvSpPr>
          <p:nvPr/>
        </p:nvSpPr>
        <p:spPr>
          <a:xfrm xmlns:a="http://schemas.openxmlformats.org/drawingml/2006/main">
            <a:off x="4619625" y="1524000"/>
            <a:ext cx="4124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Click Code</a:t>
            </a:r>
          </a:p>
        </p:txBody>
      </p:sp>
      <p:sp>
        <p:nvSpPr>
          <p:cNvPr id="188" name="Export the model,">
            <a:extLst xmlns:a="http://schemas.openxmlformats.org/drawingml/2006/main">
              <a:ext uri="{FF2B5EF4-FFF2-40B4-BE49-F238E27FC236}">
                <a16:creationId xmlns:a16="http://schemas.microsoft.com/office/drawing/2014/main" id="{FD517DD6-EAE6-4886-B1C0-2B1ED876833C}"/>
              </a:ext>
            </a:extLst>
          </p:cNvPr>
          <p:cNvSpPr>
            <a:spLocks xmlns:a="http://schemas.openxmlformats.org/drawingml/2006/main" noGrp="1"/>
          </p:cNvSpPr>
          <p:nvPr/>
        </p:nvSpPr>
        <p:spPr>
          <a:xfrm xmlns:a="http://schemas.openxmlformats.org/drawingml/2006/main">
            <a:off x="4619625" y="2038350"/>
            <a:ext cx="41243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Export the model, settings</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and tools as a Python snippet.</a:t>
            </a:r>
          </a:p>
        </p:txBody>
      </p:sp>
      <p:sp>
        <p:nvSpPr>
          <p:cNvPr id="189" name="Add your input and">
            <a:extLst xmlns:a="http://schemas.openxmlformats.org/drawingml/2006/main">
              <a:ext uri="{FF2B5EF4-FFF2-40B4-BE49-F238E27FC236}">
                <a16:creationId xmlns:a16="http://schemas.microsoft.com/office/drawing/2014/main" id="{48E9B097-ACF9-46D0-86D9-64D62ACDA8F7}"/>
              </a:ext>
            </a:extLst>
          </p:cNvPr>
          <p:cNvSpPr>
            <a:spLocks xmlns:a="http://schemas.openxmlformats.org/drawingml/2006/main" noGrp="1"/>
          </p:cNvSpPr>
          <p:nvPr/>
        </p:nvSpPr>
        <p:spPr>
          <a:xfrm xmlns:a="http://schemas.openxmlformats.org/drawingml/2006/main">
            <a:off x="4619625" y="3133725"/>
            <a:ext cx="41243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Add your input and API key.</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Run it in your application.</a:t>
            </a:r>
          </a:p>
        </p:txBody>
      </p:sp>
      <p:sp>
        <p:nvSpPr>
          <p:cNvPr id="190" name="This draft has">
            <a:extLst xmlns:a="http://schemas.openxmlformats.org/drawingml/2006/main">
              <a:ext uri="{FF2B5EF4-FFF2-40B4-BE49-F238E27FC236}">
                <a16:creationId xmlns:a16="http://schemas.microsoft.com/office/drawing/2014/main" id="{0FE2B563-3F3C-4B9D-A820-6D59DA5E809E}"/>
              </a:ext>
            </a:extLst>
          </p:cNvPr>
          <p:cNvSpPr>
            <a:spLocks xmlns:a="http://schemas.openxmlformats.org/drawingml/2006/main" noGrp="1"/>
          </p:cNvSpPr>
          <p:nvPr/>
        </p:nvSpPr>
        <p:spPr>
          <a:xfrm xmlns:a="http://schemas.openxmlformats.org/drawingml/2006/main">
            <a:off x="4619625" y="416242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75" b="0">
                <a:solidFill>
                  <a:srgbClr val="424242"/>
                </a:solidFill>
                <a:latin typeface="Source Code Pro"/>
                <a:ea typeface="Source Code Pro"/>
                <a:cs typeface="Source Code Pro"/>
              </a:defRPr>
            </a:pPr>
            <a:r>
              <a:rPr sz="1275" b="0">
                <a:solidFill>
                  <a:srgbClr val="424242"/>
                </a:solidFill>
                <a:latin typeface="Source Code Pro"/>
                <a:ea typeface="Source Code Pro"/>
                <a:cs typeface="Source Code Pro"/>
              </a:rPr>
              <a:t>This draft has input=[] (empty).</a:t>
            </a:r>
          </a:p>
        </p:txBody>
      </p:sp>
      <p:sp>
        <p:nvSpPr>
          <p:cNvPr id="191" name="Python API quickstart">
            <a:extLst xmlns:a="http://schemas.openxmlformats.org/drawingml/2006/main">
              <a:ext uri="{FF2B5EF4-FFF2-40B4-BE49-F238E27FC236}">
                <a16:creationId xmlns:a16="http://schemas.microsoft.com/office/drawing/2014/main" id="{B99879B2-122A-42BC-944D-6EAE03427171}"/>
              </a:ext>
            </a:extLst>
          </p:cNvPr>
          <p:cNvSpPr>
            <a:spLocks xmlns:a="http://schemas.openxmlformats.org/drawingml/2006/main" noGrp="1"/>
          </p:cNvSpPr>
          <p:nvPr/>
        </p:nvSpPr>
        <p:spPr>
          <a:xfrm xmlns:a="http://schemas.openxmlformats.org/drawingml/2006/main">
            <a:off x="400050" y="4543425"/>
            <a:ext cx="834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f03f8b8f2dee4d67"/>
              </a:rPr>
              <a:t>Python API quickstart</a:t>
            </a:r>
          </a:p>
        </p:txBody>
      </p:sp>
    </p:spTree>
    <p:extLst>
      <p:ext uri="{BB962C8B-B14F-4D97-AF65-F5344CB8AC3E}">
        <p14:creationId xmlns:p14="http://schemas.microsoft.com/office/powerpoint/2010/main" val="20261002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07C46D3A-8BE2-44E9-9B62-11A8314786EC}"/>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Hosted Tools and Local Tools</a:t>
            </a:r>
            <a:endParaRPr/>
          </a:p>
        </p:txBody>
      </p:sp>
      <p:sp>
        <p:nvSpPr>
          <p:cNvPr id="183" name="Google Shape;183;p26">
            <a:extLst xmlns:a="http://schemas.openxmlformats.org/drawingml/2006/main">
              <a:ext uri="{FF2B5EF4-FFF2-40B4-BE49-F238E27FC236}">
                <a16:creationId xmlns:a16="http://schemas.microsoft.com/office/drawing/2014/main" id="{E811D2C1-2649-4A14-97B8-D48198A977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pic>
        <p:nvPicPr>
          <p:cNvPr id="195" name="OpenAI Playground hosted and local tools, supplied screenshot shown in full, 1 October 2026"/>
          <p:cNvPicPr>
            <a:picLocks xmlns:a="http://schemas.openxmlformats.org/drawingml/2006/main" noChangeAspect="1"/>
          </p:cNvPicPr>
          <p:nvPr/>
        </p:nvPicPr>
        <p:blipFill>
          <a:blip xmlns:r="http://schemas.openxmlformats.org/officeDocument/2006/relationships" xmlns:a="http://schemas.openxmlformats.org/drawingml/2006/main" r:embed="R7683ff926e934b98"/>
          <a:stretch xmlns:a="http://schemas.openxmlformats.org/drawingml/2006/main">
            <a:fillRect l="0" t="0" r="0" b="0"/>
          </a:stretch>
        </p:blipFill>
        <p:spPr>
          <a:xfrm xmlns:a="http://schemas.openxmlformats.org/drawingml/2006/main">
            <a:off x="400050" y="1447800"/>
            <a:ext cx="2226749" cy="3048000"/>
          </a:xfrm>
          <a:prstGeom xmlns:a="http://schemas.openxmlformats.org/drawingml/2006/main" prst="rect">
            <a:avLst/>
          </a:prstGeom>
        </p:spPr>
      </p:pic>
      <p:sp>
        <p:nvSpPr>
          <p:cNvPr id="187" name="Hosted tools">
            <a:extLst xmlns:a="http://schemas.openxmlformats.org/drawingml/2006/main">
              <a:ext uri="{FF2B5EF4-FFF2-40B4-BE49-F238E27FC236}">
                <a16:creationId xmlns:a16="http://schemas.microsoft.com/office/drawing/2014/main" id="{196845BB-E7A2-4464-867F-E31506ABADBE}"/>
              </a:ext>
            </a:extLst>
          </p:cNvPr>
          <p:cNvSpPr>
            <a:spLocks xmlns:a="http://schemas.openxmlformats.org/drawingml/2006/main" noGrp="1"/>
          </p:cNvSpPr>
          <p:nvPr/>
        </p:nvSpPr>
        <p:spPr>
          <a:xfrm xmlns:a="http://schemas.openxmlformats.org/drawingml/2006/main">
            <a:off x="3667125" y="149542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Hosted tools</a:t>
            </a:r>
          </a:p>
        </p:txBody>
      </p:sp>
      <p:sp>
        <p:nvSpPr>
          <p:cNvPr id="188" name="Search, image generation and Python">
            <a:extLst xmlns:a="http://schemas.openxmlformats.org/drawingml/2006/main">
              <a:ext uri="{FF2B5EF4-FFF2-40B4-BE49-F238E27FC236}">
                <a16:creationId xmlns:a16="http://schemas.microsoft.com/office/drawing/2014/main" id="{8519B41A-0F2C-4ADD-A095-131D3BA2660A}"/>
              </a:ext>
            </a:extLst>
          </p:cNvPr>
          <p:cNvSpPr>
            <a:spLocks xmlns:a="http://schemas.openxmlformats.org/drawingml/2006/main" noGrp="1"/>
          </p:cNvSpPr>
          <p:nvPr/>
        </p:nvSpPr>
        <p:spPr>
          <a:xfrm xmlns:a="http://schemas.openxmlformats.org/drawingml/2006/main">
            <a:off x="3667125" y="1962150"/>
            <a:ext cx="50768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Search, image generation and Python</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run through OpenAI-hosted tools.</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Hosted Shell runs in a container.</a:t>
            </a:r>
          </a:p>
        </p:txBody>
      </p:sp>
      <p:sp>
        <p:nvSpPr>
          <p:cNvPr id="189" name="Local tools">
            <a:extLst xmlns:a="http://schemas.openxmlformats.org/drawingml/2006/main">
              <a:ext uri="{FF2B5EF4-FFF2-40B4-BE49-F238E27FC236}">
                <a16:creationId xmlns:a16="http://schemas.microsoft.com/office/drawing/2014/main" id="{0BD9D365-5771-4D8F-AC50-0936526F7547}"/>
              </a:ext>
            </a:extLst>
          </p:cNvPr>
          <p:cNvSpPr>
            <a:spLocks xmlns:a="http://schemas.openxmlformats.org/drawingml/2006/main" noGrp="1"/>
          </p:cNvSpPr>
          <p:nvPr/>
        </p:nvSpPr>
        <p:spPr>
          <a:xfrm xmlns:a="http://schemas.openxmlformats.org/drawingml/2006/main">
            <a:off x="3667125" y="298132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E91D63"/>
                </a:solidFill>
                <a:latin typeface="Oswald"/>
                <a:ea typeface="Oswald"/>
                <a:cs typeface="Oswald"/>
              </a:defRPr>
            </a:pPr>
            <a:r>
              <a:rPr sz="2100" b="0">
                <a:solidFill>
                  <a:srgbClr val="E91D63"/>
                </a:solidFill>
                <a:latin typeface="Oswald"/>
                <a:ea typeface="Oswald"/>
                <a:cs typeface="Oswald"/>
              </a:rPr>
              <a:t>Local tools</a:t>
            </a:r>
          </a:p>
        </p:txBody>
      </p:sp>
      <p:sp>
        <p:nvSpPr>
          <p:cNvPr id="190" name="Your app runs functions, custom">
            <a:extLst xmlns:a="http://schemas.openxmlformats.org/drawingml/2006/main">
              <a:ext uri="{FF2B5EF4-FFF2-40B4-BE49-F238E27FC236}">
                <a16:creationId xmlns:a16="http://schemas.microsoft.com/office/drawing/2014/main" id="{9D88061E-F209-4C22-8243-91DA03EEC968}"/>
              </a:ext>
            </a:extLst>
          </p:cNvPr>
          <p:cNvSpPr>
            <a:spLocks xmlns:a="http://schemas.openxmlformats.org/drawingml/2006/main" noGrp="1"/>
          </p:cNvSpPr>
          <p:nvPr/>
        </p:nvSpPr>
        <p:spPr>
          <a:xfrm xmlns:a="http://schemas.openxmlformats.org/drawingml/2006/main">
            <a:off x="3667125" y="3448050"/>
            <a:ext cx="50768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Your app runs functions, custom</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tools, patches and shell commands.</a:t>
            </a:r>
          </a:p>
          <a:p xmlns:a="http://schemas.openxmlformats.org/drawingml/2006/main">
            <a:pPr algn="l">
              <a:lnSpc>
                <a:spcPct val="118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It sends results back to the model.</a:t>
            </a:r>
          </a:p>
        </p:txBody>
      </p:sp>
      <p:sp>
        <p:nvSpPr>
          <p:cNvPr id="191" name="Local can mean your backend server.">
            <a:extLst xmlns:a="http://schemas.openxmlformats.org/drawingml/2006/main">
              <a:ext uri="{FF2B5EF4-FFF2-40B4-BE49-F238E27FC236}">
                <a16:creationId xmlns:a16="http://schemas.microsoft.com/office/drawing/2014/main" id="{7D34EBB2-CE87-4FA0-A25A-7DCBD4D2CFD0}"/>
              </a:ext>
            </a:extLst>
          </p:cNvPr>
          <p:cNvSpPr>
            <a:spLocks xmlns:a="http://schemas.openxmlformats.org/drawingml/2006/main" noGrp="1"/>
          </p:cNvSpPr>
          <p:nvPr/>
        </p:nvSpPr>
        <p:spPr>
          <a:xfrm xmlns:a="http://schemas.openxmlformats.org/drawingml/2006/main">
            <a:off x="3667125" y="431482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63" b="0">
                <a:solidFill>
                  <a:srgbClr val="424242"/>
                </a:solidFill>
                <a:latin typeface="Source Code Pro"/>
                <a:ea typeface="Source Code Pro"/>
                <a:cs typeface="Source Code Pro"/>
              </a:defRPr>
            </a:pPr>
            <a:r>
              <a:rPr sz="1163" b="0">
                <a:solidFill>
                  <a:srgbClr val="424242"/>
                </a:solidFill>
                <a:latin typeface="Source Code Pro"/>
                <a:ea typeface="Source Code Pro"/>
                <a:cs typeface="Source Code Pro"/>
              </a:rPr>
              <a:t>Local can mean your backend server.</a:t>
            </a:r>
          </a:p>
          <a:p xmlns:a="http://schemas.openxmlformats.org/drawingml/2006/main">
            <a:pPr algn="l">
              <a:lnSpc>
                <a:spcPct val="118000"/>
              </a:lnSpc>
              <a:buNone/>
              <a:defRPr sz="1163" b="0">
                <a:solidFill>
                  <a:srgbClr val="424242"/>
                </a:solidFill>
                <a:latin typeface="Source Code Pro"/>
                <a:ea typeface="Source Code Pro"/>
                <a:cs typeface="Source Code Pro"/>
              </a:defRPr>
            </a:pPr>
            <a:r>
              <a:rPr sz="1163" b="0">
                <a:solidFill>
                  <a:srgbClr val="424242"/>
                </a:solidFill>
                <a:latin typeface="Source Code Pro"/>
                <a:ea typeface="Source Code Pro"/>
                <a:cs typeface="Source Code Pro"/>
              </a:rPr>
              <a:t>MCP tools run on the connected server.</a:t>
            </a:r>
          </a:p>
        </p:txBody>
      </p:sp>
      <p:sp>
        <p:nvSpPr>
          <p:cNvPr id="192" name="Tool execution guide">
            <a:extLst xmlns:a="http://schemas.openxmlformats.org/drawingml/2006/main">
              <a:ext uri="{FF2B5EF4-FFF2-40B4-BE49-F238E27FC236}">
                <a16:creationId xmlns:a16="http://schemas.microsoft.com/office/drawing/2014/main" id="{450B18E4-6884-4899-B8DD-9F9E90A6D545}"/>
              </a:ext>
            </a:extLst>
          </p:cNvPr>
          <p:cNvSpPr>
            <a:spLocks xmlns:a="http://schemas.openxmlformats.org/drawingml/2006/main" noGrp="1"/>
          </p:cNvSpPr>
          <p:nvPr/>
        </p:nvSpPr>
        <p:spPr>
          <a:xfrm xmlns:a="http://schemas.openxmlformats.org/drawingml/2006/main">
            <a:off x="400050" y="4552950"/>
            <a:ext cx="2733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f15b9e1e0ea943a3"/>
              </a:rPr>
              <a:t>Tool execution guide</a:t>
            </a:r>
          </a:p>
        </p:txBody>
      </p:sp>
    </p:spTree>
    <p:extLst>
      <p:ext uri="{BB962C8B-B14F-4D97-AF65-F5344CB8AC3E}">
        <p14:creationId xmlns:p14="http://schemas.microsoft.com/office/powerpoint/2010/main" val="2026100203"/>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2026-10-01T16:32:46.8180000Z</dcterms:created>
  <dcterms:modified xsi:type="dcterms:W3CDTF">2026-10-01T16:32:46.8180000Z</dcterms:modified>
</coreProperties>
</file>