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Adversarial Review of Outputs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Have a second AI check the work against clear criteria, so you only review what has already passed.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Fluent Is Not the Same as Correct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206240" cy="2203704"/>
          </a:xfrm>
          <a:prstGeom prst="roundRect">
            <a:avLst>
              <a:gd name="adj" fmla="val 176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Summarise Q3 churn from the attached sheet.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2322576"/>
            <a:ext cx="3986783" cy="1124712"/>
          </a:xfrm>
          <a:prstGeom prst="roundRect">
            <a:avLst>
              <a:gd name="adj" fmla="val 4065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244144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" y="2633472"/>
            <a:ext cx="172593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2642616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Q3 churn fell to 3.1%.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" y="2898648"/>
            <a:ext cx="172593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792" y="2907792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Every region improved.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118104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annual plan drove the drop.</a:t>
            </a:r>
          </a:p>
        </p:txBody>
      </p:sp>
      <p:pic>
        <p:nvPicPr>
          <p:cNvPr id="40" name="Picture 39" descr="icon-sheet-424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321808" y="1444752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Checked Against the Sheet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1847088"/>
            <a:ext cx="3895344" cy="10972"/>
          </a:xfrm>
          <a:prstGeom prst="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4" name="Check 1"/>
          <p:cNvGrpSpPr/>
          <p:nvPr/>
        </p:nvGrpSpPr>
        <p:grpSpPr>
          <a:xfrm>
            <a:off x="4937760" y="1956816"/>
            <a:ext cx="3895344" cy="519379"/>
            <a:chOff x="4937760" y="1956816"/>
            <a:chExt cx="3895344" cy="519379"/>
          </a:xfrm>
        </p:grpSpPr>
        <p:pic>
          <p:nvPicPr>
            <p:cNvPr id="43" name="Picture 42" descr="icon-circle-x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7760" y="2011680"/>
              <a:ext cx="274320" cy="27432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5321808" y="1956816"/>
              <a:ext cx="351129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"Fell to 3.1%"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21808" y="2194560"/>
              <a:ext cx="351129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Sheet says 4.3%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937760" y="2468880"/>
              <a:ext cx="389534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5" name="Check 2"/>
          <p:cNvGrpSpPr/>
          <p:nvPr/>
        </p:nvGrpSpPr>
        <p:grpSpPr>
          <a:xfrm>
            <a:off x="4937760" y="2523744"/>
            <a:ext cx="3895344" cy="519379"/>
            <a:chOff x="4937760" y="2523744"/>
            <a:chExt cx="3895344" cy="519379"/>
          </a:xfrm>
        </p:grpSpPr>
        <p:pic>
          <p:nvPicPr>
            <p:cNvPr id="47" name="Picture 46" descr="icon-circle-x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7760" y="2578608"/>
              <a:ext cx="274320" cy="27432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321808" y="2523744"/>
              <a:ext cx="351129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"Every region improved"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321808" y="2761488"/>
              <a:ext cx="351129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EMEA got worse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937760" y="3035808"/>
              <a:ext cx="389534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6" name="Check 3"/>
          <p:cNvGrpSpPr/>
          <p:nvPr/>
        </p:nvGrpSpPr>
        <p:grpSpPr>
          <a:xfrm>
            <a:off x="4937760" y="3090672"/>
            <a:ext cx="3895344" cy="519379"/>
            <a:chOff x="4937760" y="3090672"/>
            <a:chExt cx="3895344" cy="519379"/>
          </a:xfrm>
        </p:grpSpPr>
        <p:pic>
          <p:nvPicPr>
            <p:cNvPr id="51" name="Picture 50" descr="icon-circle-help-6B6B6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7760" y="3145536"/>
              <a:ext cx="274320" cy="274320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5321808" y="3090672"/>
              <a:ext cx="351129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"Annual plan drove it"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21808" y="3328415"/>
              <a:ext cx="3511296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Not in the sheet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937760" y="3602736"/>
              <a:ext cx="389534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55" name="TextBox 54"/>
          <p:cNvSpPr txBox="1"/>
          <p:nvPr/>
        </p:nvSpPr>
        <p:spPr>
          <a:xfrm>
            <a:off x="4937760" y="3767328"/>
            <a:ext cx="3895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4242"/>
                </a:solidFill>
                <a:latin typeface="Source Code Pro"/>
              </a:rPr>
              <a:t>Equally sure either way. Treat it as a draft.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A Maker, a Reviewer and a Bar to Clear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Maker Drafts"/>
          <p:cNvGrpSpPr/>
          <p:nvPr/>
        </p:nvGrpSpPr>
        <p:grpSpPr>
          <a:xfrm>
            <a:off x="310896" y="1481328"/>
            <a:ext cx="2130552" cy="1353312"/>
            <a:chOff x="310896" y="1481328"/>
            <a:chExt cx="2130552" cy="1353312"/>
          </a:xfrm>
        </p:grpSpPr>
        <p:sp>
          <p:nvSpPr>
            <p:cNvPr id="26" name="Oval 25"/>
            <p:cNvSpPr/>
            <p:nvPr/>
          </p:nvSpPr>
          <p:spPr>
            <a:xfrm>
              <a:off x="992124" y="1481328"/>
              <a:ext cx="768096" cy="76809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pen-line-E91D63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4945" y="1654149"/>
              <a:ext cx="422452" cy="422452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0896" y="2340864"/>
              <a:ext cx="2130552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Maker Drafts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0896" y="2596896"/>
              <a:ext cx="213055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Does the Task</a:t>
              </a:r>
            </a:p>
          </p:txBody>
        </p:sp>
      </p:grpSp>
      <p:sp>
        <p:nvSpPr>
          <p:cNvPr id="30" name="Right Arrow 29"/>
          <p:cNvSpPr/>
          <p:nvPr/>
        </p:nvSpPr>
        <p:spPr>
          <a:xfrm>
            <a:off x="1869948" y="1810512"/>
            <a:ext cx="1143000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Reviewer Checks"/>
          <p:cNvGrpSpPr/>
          <p:nvPr/>
        </p:nvGrpSpPr>
        <p:grpSpPr>
          <a:xfrm>
            <a:off x="2441448" y="1481328"/>
            <a:ext cx="2130552" cy="1353312"/>
            <a:chOff x="2441448" y="1481328"/>
            <a:chExt cx="2130552" cy="1353312"/>
          </a:xfrm>
        </p:grpSpPr>
        <p:sp>
          <p:nvSpPr>
            <p:cNvPr id="31" name="Oval 30"/>
            <p:cNvSpPr/>
            <p:nvPr/>
          </p:nvSpPr>
          <p:spPr>
            <a:xfrm>
              <a:off x="3122676" y="1481328"/>
              <a:ext cx="768096" cy="76809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icon-search-check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5497" y="1654149"/>
              <a:ext cx="422452" cy="422452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2441448" y="2340864"/>
              <a:ext cx="2130552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Reviewer Checks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441448" y="2596896"/>
              <a:ext cx="213055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Against the Criteria</a:t>
              </a:r>
            </a:p>
          </p:txBody>
        </p:sp>
      </p:grpSp>
      <p:sp>
        <p:nvSpPr>
          <p:cNvPr id="35" name="Right Arrow 34"/>
          <p:cNvSpPr/>
          <p:nvPr/>
        </p:nvSpPr>
        <p:spPr>
          <a:xfrm>
            <a:off x="4000500" y="1810512"/>
            <a:ext cx="1143000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Maker Fixes"/>
          <p:cNvGrpSpPr/>
          <p:nvPr/>
        </p:nvGrpSpPr>
        <p:grpSpPr>
          <a:xfrm>
            <a:off x="4572000" y="1481328"/>
            <a:ext cx="2130552" cy="1353312"/>
            <a:chOff x="4572000" y="1481328"/>
            <a:chExt cx="2130552" cy="1353312"/>
          </a:xfrm>
        </p:grpSpPr>
        <p:sp>
          <p:nvSpPr>
            <p:cNvPr id="36" name="Oval 35"/>
            <p:cNvSpPr/>
            <p:nvPr/>
          </p:nvSpPr>
          <p:spPr>
            <a:xfrm>
              <a:off x="5253228" y="1481328"/>
              <a:ext cx="768096" cy="76809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7" name="Picture 36" descr="icon-wrench-E91D6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26049" y="1654149"/>
              <a:ext cx="422452" cy="422452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4572000" y="2340864"/>
              <a:ext cx="2130552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Maker Fixes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72000" y="2596896"/>
              <a:ext cx="213055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Every Failed Point</a:t>
              </a:r>
            </a:p>
          </p:txBody>
        </p:sp>
      </p:grpSp>
      <p:sp>
        <p:nvSpPr>
          <p:cNvPr id="40" name="Right Arrow 39"/>
          <p:cNvSpPr/>
          <p:nvPr/>
        </p:nvSpPr>
        <p:spPr>
          <a:xfrm>
            <a:off x="6131052" y="1810512"/>
            <a:ext cx="1143000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You Review"/>
          <p:cNvGrpSpPr/>
          <p:nvPr/>
        </p:nvGrpSpPr>
        <p:grpSpPr>
          <a:xfrm>
            <a:off x="6702552" y="1481328"/>
            <a:ext cx="2130552" cy="1353312"/>
            <a:chOff x="6702552" y="1481328"/>
            <a:chExt cx="2130552" cy="1353312"/>
          </a:xfrm>
        </p:grpSpPr>
        <p:sp>
          <p:nvSpPr>
            <p:cNvPr id="41" name="Oval 40"/>
            <p:cNvSpPr/>
            <p:nvPr/>
          </p:nvSpPr>
          <p:spPr>
            <a:xfrm>
              <a:off x="7383780" y="1481328"/>
              <a:ext cx="768096" cy="768096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2" name="Picture 41" descr="icon-user-check-FFFF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56601" y="1654149"/>
              <a:ext cx="422452" cy="422452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6702552" y="2340864"/>
              <a:ext cx="2130552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E91D63"/>
                  </a:solidFill>
                  <a:latin typeface="Source Code Pro"/>
                </a:rPr>
                <a:t>You Review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02552" y="2596896"/>
              <a:ext cx="213055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Final Version</a:t>
              </a:r>
            </a:p>
          </p:txBody>
        </p:sp>
      </p:grpSp>
      <p:grpSp>
        <p:nvGrpSpPr>
          <p:cNvPr id="8" name="Review loop"/>
          <p:cNvGrpSpPr/>
          <p:nvPr/>
        </p:nvGrpSpPr>
        <p:grpSpPr>
          <a:xfrm>
            <a:off x="2926080" y="2871216"/>
            <a:ext cx="3291840" cy="402336"/>
            <a:chOff x="2926080" y="2871216"/>
            <a:chExt cx="3291840" cy="402336"/>
          </a:xfrm>
        </p:grpSpPr>
        <p:sp>
          <p:nvSpPr>
            <p:cNvPr id="45" name="Rectangle 44"/>
            <p:cNvSpPr/>
            <p:nvPr/>
          </p:nvSpPr>
          <p:spPr>
            <a:xfrm>
              <a:off x="5637276" y="2871216"/>
              <a:ext cx="10972" cy="109727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Rectangle 45"/>
            <p:cNvSpPr/>
            <p:nvPr/>
          </p:nvSpPr>
          <p:spPr>
            <a:xfrm>
              <a:off x="3506724" y="2980944"/>
              <a:ext cx="2130552" cy="10972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Up Arrow 46"/>
            <p:cNvSpPr/>
            <p:nvPr/>
          </p:nvSpPr>
          <p:spPr>
            <a:xfrm>
              <a:off x="3461004" y="2871216"/>
              <a:ext cx="91440" cy="109727"/>
            </a:xfrm>
            <a:prstGeom prst="up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926080" y="3035808"/>
              <a:ext cx="32918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E91D63"/>
                  </a:solidFill>
                  <a:latin typeface="Source Code Pro"/>
                </a:rPr>
                <a:t>Until Every Criterion Passes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10896" y="3401568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reviewer gets fresh context and is told to find problems, not to agree.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Criteria Make the Review Real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572000" cy="3044952"/>
          </a:xfrm>
          <a:prstGeom prst="roundRect">
            <a:avLst>
              <a:gd name="adj" fmla="val 174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57200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57200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Review the draft. Do not rewrite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67712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Mark each criterion PASS or FAIL with evidence: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2532888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1. Every figure matches the sheet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2743200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2. Each region has its own sentence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2953512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3. Under 150 words, no jargon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" y="3163824"/>
            <a:ext cx="4352544" cy="1124712"/>
          </a:xfrm>
          <a:prstGeom prst="roundRect">
            <a:avLst>
              <a:gd name="adj" fmla="val 4065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792" y="328269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483864"/>
            <a:ext cx="405993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FAIL 1: churn is 4.3%, not 3.1%.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" y="3739896"/>
            <a:ext cx="187452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1792" y="3749040"/>
            <a:ext cx="405993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FAIL 2: EMEA is missing.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3959352"/>
            <a:ext cx="405993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PASS 3.</a:t>
            </a:r>
          </a:p>
        </p:txBody>
      </p:sp>
      <p:grpSp>
        <p:nvGrpSpPr>
          <p:cNvPr id="4" name="Vague"/>
          <p:cNvGrpSpPr/>
          <p:nvPr/>
        </p:nvGrpSpPr>
        <p:grpSpPr>
          <a:xfrm>
            <a:off x="5340096" y="1536192"/>
            <a:ext cx="3474720" cy="749808"/>
            <a:chOff x="5340096" y="1536192"/>
            <a:chExt cx="3474720" cy="749808"/>
          </a:xfrm>
        </p:grpSpPr>
        <p:pic>
          <p:nvPicPr>
            <p:cNvPr id="43" name="Picture 42" descr="icon-circle-x-6B6B6B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0096" y="1554480"/>
              <a:ext cx="329184" cy="329184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5797296" y="1536192"/>
              <a:ext cx="301752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6B6B6B"/>
                  </a:solidFill>
                  <a:latin typeface="Source Code Pro"/>
                </a:rPr>
                <a:t>Vague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97296" y="1828800"/>
              <a:ext cx="30175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"Make it better"</a:t>
              </a:r>
            </a:p>
          </p:txBody>
        </p:sp>
      </p:grpSp>
      <p:grpSp>
        <p:nvGrpSpPr>
          <p:cNvPr id="5" name="Checkable"/>
          <p:cNvGrpSpPr/>
          <p:nvPr/>
        </p:nvGrpSpPr>
        <p:grpSpPr>
          <a:xfrm>
            <a:off x="5340096" y="2468879"/>
            <a:ext cx="3474720" cy="749808"/>
            <a:chOff x="5340096" y="2468879"/>
            <a:chExt cx="3474720" cy="749808"/>
          </a:xfrm>
        </p:grpSpPr>
        <p:pic>
          <p:nvPicPr>
            <p:cNvPr id="46" name="Picture 45" descr="icon-circle-check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0096" y="2487168"/>
              <a:ext cx="329184" cy="329184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5797296" y="2468879"/>
              <a:ext cx="301752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E91D63"/>
                  </a:solidFill>
                  <a:latin typeface="Source Code Pro"/>
                </a:rPr>
                <a:t>Checkable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797296" y="2761487"/>
              <a:ext cx="3017520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"Every figure matches the sheet"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5340096" y="3511296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4242"/>
                </a:solidFill>
                <a:latin typeface="Source Code Pro"/>
              </a:rPr>
              <a:t>Checkable criteria turn an opinion into a fix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Set the Bar, Then Step Away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You start"/>
          <p:cNvGrpSpPr/>
          <p:nvPr/>
        </p:nvGrpSpPr>
        <p:grpSpPr>
          <a:xfrm>
            <a:off x="310896" y="1719072"/>
            <a:ext cx="1920240" cy="1170432"/>
            <a:chOff x="310896" y="1719072"/>
            <a:chExt cx="1920240" cy="1170432"/>
          </a:xfrm>
        </p:grpSpPr>
        <p:sp>
          <p:nvSpPr>
            <p:cNvPr id="26" name="Oval 25"/>
            <p:cNvSpPr/>
            <p:nvPr/>
          </p:nvSpPr>
          <p:spPr>
            <a:xfrm>
              <a:off x="950976" y="1719072"/>
              <a:ext cx="640080" cy="64008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user-FFFFF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4994" y="1863090"/>
              <a:ext cx="352044" cy="352044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0896" y="2414016"/>
              <a:ext cx="19202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You Start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0896" y="2651760"/>
              <a:ext cx="19202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Goal + Criteria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2505456" y="1700784"/>
            <a:ext cx="4133088" cy="118872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con-codex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4" y="2057400"/>
            <a:ext cx="475488" cy="4754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328415" y="190195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The Loop Runs Without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8415" y="2231136"/>
            <a:ext cx="3127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Draft, Review, Fix, Review Again</a:t>
            </a:r>
          </a:p>
        </p:txBody>
      </p:sp>
      <p:grpSp>
        <p:nvGrpSpPr>
          <p:cNvPr id="5" name="You return"/>
          <p:cNvGrpSpPr/>
          <p:nvPr/>
        </p:nvGrpSpPr>
        <p:grpSpPr>
          <a:xfrm>
            <a:off x="6912864" y="1719072"/>
            <a:ext cx="1920240" cy="1170432"/>
            <a:chOff x="6912864" y="1719072"/>
            <a:chExt cx="1920240" cy="1170432"/>
          </a:xfrm>
        </p:grpSpPr>
        <p:sp>
          <p:nvSpPr>
            <p:cNvPr id="34" name="Oval 33"/>
            <p:cNvSpPr/>
            <p:nvPr/>
          </p:nvSpPr>
          <p:spPr>
            <a:xfrm>
              <a:off x="7552944" y="1719072"/>
              <a:ext cx="640080" cy="64008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icon-user-check-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96962" y="1863090"/>
              <a:ext cx="352044" cy="352044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912864" y="2414016"/>
              <a:ext cx="19202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You Return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912864" y="2651760"/>
              <a:ext cx="192024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A Checked Result</a:t>
              </a:r>
            </a:p>
          </p:txBody>
        </p:sp>
      </p:grpSp>
      <p:sp>
        <p:nvSpPr>
          <p:cNvPr id="38" name="Right Arrow 37"/>
          <p:cNvSpPr/>
          <p:nvPr/>
        </p:nvSpPr>
        <p:spPr>
          <a:xfrm>
            <a:off x="2276856" y="224942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6684264" y="224942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0896" y="3218688"/>
            <a:ext cx="8522208" cy="10972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10896" y="3310128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Source Code Pro"/>
              </a:rPr>
              <a:t>0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75504" y="3310128"/>
            <a:ext cx="3657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~30 min, or as long as it takes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" y="3785615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Your time goes into the two ends. The middle is what /goal is for.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It Raises the Floor, Not the Ceiling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hared Blind Spots"/>
          <p:cNvGrpSpPr/>
          <p:nvPr/>
        </p:nvGrpSpPr>
        <p:grpSpPr>
          <a:xfrm>
            <a:off x="310896" y="1408176"/>
            <a:ext cx="8522208" cy="592531"/>
            <a:chOff x="310896" y="1408176"/>
            <a:chExt cx="8522208" cy="592531"/>
          </a:xfrm>
        </p:grpSpPr>
        <p:sp>
          <p:nvSpPr>
            <p:cNvPr id="26" name="Oval 25"/>
            <p:cNvSpPr/>
            <p:nvPr/>
          </p:nvSpPr>
          <p:spPr>
            <a:xfrm>
              <a:off x="310896" y="1444752"/>
              <a:ext cx="457200" cy="45720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eye-off-E91D63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766" y="1547622"/>
              <a:ext cx="251460" cy="25146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914400" y="1408176"/>
              <a:ext cx="374903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Shared Blind Spots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14400" y="1664208"/>
              <a:ext cx="3749039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Reviewer Repeats the Maker's Mistake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4663440" y="1627632"/>
              <a:ext cx="45720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03520" y="1444752"/>
              <a:ext cx="352958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Fresh context or another model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10896" y="1993392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5" name="Vague Criteria"/>
          <p:cNvGrpSpPr/>
          <p:nvPr/>
        </p:nvGrpSpPr>
        <p:grpSpPr>
          <a:xfrm>
            <a:off x="310896" y="2011680"/>
            <a:ext cx="8522208" cy="592531"/>
            <a:chOff x="310896" y="2011680"/>
            <a:chExt cx="8522208" cy="592531"/>
          </a:xfrm>
        </p:grpSpPr>
        <p:sp>
          <p:nvSpPr>
            <p:cNvPr id="33" name="Oval 32"/>
            <p:cNvSpPr/>
            <p:nvPr/>
          </p:nvSpPr>
          <p:spPr>
            <a:xfrm>
              <a:off x="310896" y="2048256"/>
              <a:ext cx="457200" cy="45720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icon-circle-help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766" y="2151126"/>
              <a:ext cx="251460" cy="25146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914400" y="2011680"/>
              <a:ext cx="374903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Vague Criteria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14400" y="2267712"/>
              <a:ext cx="3749039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"looks good to me"</a:t>
              </a: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4663440" y="2231136"/>
              <a:ext cx="45720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303520" y="2048256"/>
              <a:ext cx="352958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Criteria a stranger could check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0896" y="2596896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6" name="Rubber-Stamping"/>
          <p:cNvGrpSpPr/>
          <p:nvPr/>
        </p:nvGrpSpPr>
        <p:grpSpPr>
          <a:xfrm>
            <a:off x="310896" y="2615184"/>
            <a:ext cx="8522208" cy="592531"/>
            <a:chOff x="310896" y="2615184"/>
            <a:chExt cx="8522208" cy="592531"/>
          </a:xfrm>
        </p:grpSpPr>
        <p:sp>
          <p:nvSpPr>
            <p:cNvPr id="40" name="Oval 39"/>
            <p:cNvSpPr/>
            <p:nvPr/>
          </p:nvSpPr>
          <p:spPr>
            <a:xfrm>
              <a:off x="310896" y="2651760"/>
              <a:ext cx="457200" cy="45720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icture 40" descr="icon-stamp-E91D6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766" y="2754630"/>
              <a:ext cx="251460" cy="25146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914400" y="2615184"/>
              <a:ext cx="374903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Rubber-Stamping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14400" y="2871216"/>
              <a:ext cx="3749039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Everything Passes First Time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4663440" y="2834640"/>
              <a:ext cx="45720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03520" y="2651760"/>
              <a:ext cx="352958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Demand evidence per criterion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10896" y="3200400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7" name="Endless Loop"/>
          <p:cNvGrpSpPr/>
          <p:nvPr/>
        </p:nvGrpSpPr>
        <p:grpSpPr>
          <a:xfrm>
            <a:off x="310896" y="3218688"/>
            <a:ext cx="8522208" cy="493776"/>
            <a:chOff x="310896" y="3218688"/>
            <a:chExt cx="8522208" cy="493776"/>
          </a:xfrm>
        </p:grpSpPr>
        <p:sp>
          <p:nvSpPr>
            <p:cNvPr id="47" name="Oval 46"/>
            <p:cNvSpPr/>
            <p:nvPr/>
          </p:nvSpPr>
          <p:spPr>
            <a:xfrm>
              <a:off x="310896" y="3255264"/>
              <a:ext cx="457200" cy="45720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8" name="Picture 47" descr="icon-infinity-E91D6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766" y="3358134"/>
              <a:ext cx="251460" cy="251460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914400" y="3218688"/>
              <a:ext cx="3749039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Endless Loop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14400" y="3474720"/>
              <a:ext cx="3749039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Each Fix Breaks Something Else</a:t>
              </a:r>
            </a:p>
          </p:txBody>
        </p:sp>
        <p:sp>
          <p:nvSpPr>
            <p:cNvPr id="51" name="Right Arrow 50"/>
            <p:cNvSpPr/>
            <p:nvPr/>
          </p:nvSpPr>
          <p:spPr>
            <a:xfrm>
              <a:off x="4663440" y="3438144"/>
              <a:ext cx="45720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303520" y="3255264"/>
              <a:ext cx="352958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Cap the rounds, then step in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310896" y="398678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Review catches the obvious problems. You still do the final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we build this loop in Codex, on top of /goal.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Write the Criteria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51504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Before Any Work Starts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Run the Loop in Codex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651504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Maker and Reviewer, with /goal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Come Back and Check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651504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Review First, Then the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