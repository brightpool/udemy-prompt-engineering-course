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0" r:id="rId5"/>
    <p:sldMasterId id="2147483671" r:id="rId6"/>
  </p:sldMasterIdLst>
  <p:notesMasterIdLst>
    <p:notesMasterId r:id="rId7"/>
  </p:notesMasterIdLst>
  <p:sldIdLst>
    <p:sldId id="256" r:id="rId14"/>
    <p:sldId id="257" r:id="rId15"/>
    <p:sldId id="258" r:id="rId16"/>
    <p:sldId id="259" r:id="rId17"/>
    <p:sldId id="260" r:id="rId18"/>
    <p:sldId id="261" r:id="rId19"/>
    <p:sldId id="262" r:id="rId20"/>
    <p:sldId id="263" r:id="rId21"/>
    <p:sldId id="264" r:id="rId22"/>
  </p:sldIdLst>
  <p:sldSz cy="5143500" cx="9144000"/>
  <p:notesSz cx="6858000" cy="9144000"/>
  <p:embeddedFontLst>
    <p:embeddedFont>
      <p:font typeface="Source Code Pro"/>
      <p:regular r:id="rId24"/>
      <p:bold r:id="rId25"/>
      <p:italic r:id="rId26"/>
      <p:boldItalic r:id="rId27"/>
    </p:embeddedFont>
    <p:embeddedFont>
      <p:font typeface="Oswald"/>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673574E-313A-4E41-A38C-36F247BE0EA5}">
  <a:tblStyle styleId="{3673574E-313A-4E41-A38C-36F247BE0EA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09F496F-DB3D-4476-992D-8F9A65F79524}"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4" Type="http://schemas.openxmlformats.org/officeDocument/2006/relationships/font" Target="fonts/SourceCodePro-regular.fntdata"/><Relationship Id="rId25" Type="http://schemas.openxmlformats.org/officeDocument/2006/relationships/font" Target="fonts/SourceCodePro-bold.fntdata"/><Relationship Id="rId26" Type="http://schemas.openxmlformats.org/officeDocument/2006/relationships/font" Target="fonts/SourceCodePro-italic.fntdata"/><Relationship Id="rId27" Type="http://schemas.openxmlformats.org/officeDocument/2006/relationships/font" Target="fonts/SourceCodePro-boldItalic.fntdata"/><Relationship Id="rId28" Type="http://schemas.openxmlformats.org/officeDocument/2006/relationships/font" Target="fonts/Oswald-regular.fntdata"/><Relationship Id="rId29" Type="http://schemas.openxmlformats.org/officeDocument/2006/relationships/font" Target="fonts/Oswa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 name="Google Shape;15;p2"/>
          <p:cNvSpPr txBox="1"/>
          <p:nvPr/>
        </p:nvSpPr>
        <p:spPr>
          <a:xfrm>
            <a:off x="411175" y="79900"/>
            <a:ext cx="8282400" cy="38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Source Code Pro"/>
                <a:ea typeface="Source Code Pro"/>
                <a:cs typeface="Source Code Pro"/>
                <a:sym typeface="Source Code Pro"/>
              </a:rPr>
              <a:t>The Complete Prompt Engineering for AI Bootcamp</a:t>
            </a:r>
            <a:endParaRPr sz="1100">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 name="Google Shape;20;p3"/>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3" name="Google Shape;23;p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4"/>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cxnSp>
        <p:nvCxnSpPr>
          <p:cNvPr id="28" name="Google Shape;28;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9" name="Google Shape;29;p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0" name="Google Shape;30;p5"/>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5"/>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6"/>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cxnSp>
        <p:nvCxnSpPr>
          <p:cNvPr id="39" name="Google Shape;39;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40" name="Google Shape;4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1" name="Google Shape;41;p7"/>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7"/>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sp>
        <p:nvSpPr>
          <p:cNvPr id="45" name="Google Shape;45;p8"/>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46" name="Google Shape;4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8"/>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lt1"/>
                </a:solidFill>
                <a:latin typeface="Source Code Pro"/>
                <a:ea typeface="Source Code Pro"/>
                <a:cs typeface="Source Code Pro"/>
                <a:sym typeface="Source Code Pro"/>
              </a:rPr>
              <a:t>The Complete Prompt Engineering for AI Bootcamp</a:t>
            </a:r>
            <a:endParaRPr sz="900">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8" name="Shape 48"/>
        <p:cNvGrpSpPr/>
        <p:nvPr/>
      </p:nvGrpSpPr>
      <p:grpSpPr>
        <a:xfrm>
          <a:off x="0" y="0"/>
          <a:ext cx="0" cy="0"/>
          <a:chOff x="0" y="0"/>
          <a:chExt cx="0" cy="0"/>
        </a:xfrm>
      </p:grpSpPr>
      <p:sp>
        <p:nvSpPr>
          <p:cNvPr id="49" name="Google Shape;49;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51" name="Google Shape;51;p9"/>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52" name="Google Shape;52;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4" name="Google Shape;5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9"/>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6" name="Shape 56"/>
        <p:cNvGrpSpPr/>
        <p:nvPr/>
      </p:nvGrpSpPr>
      <p:grpSpPr>
        <a:xfrm>
          <a:off x="0" y="0"/>
          <a:ext cx="0" cy="0"/>
          <a:chOff x="0" y="0"/>
          <a:chExt cx="0" cy="0"/>
        </a:xfrm>
      </p:grpSpPr>
      <p:sp>
        <p:nvSpPr>
          <p:cNvPr id="57" name="Google Shape;57;p10"/>
          <p:cNvSpPr txBox="1"/>
          <p:nvPr>
            <p:ph idx="1" type="body"/>
          </p:nvPr>
        </p:nvSpPr>
        <p:spPr>
          <a:xfrm>
            <a:off x="311700" y="406472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8" name="Google Shape;5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10"/>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62" name="Google Shape;62;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63" name="Google Shape;63;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1"/>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2"/>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3" name="Shape 73"/>
        <p:cNvGrpSpPr/>
        <p:nvPr/>
      </p:nvGrpSpPr>
      <p:grpSpPr>
        <a:xfrm>
          <a:off x="0" y="0"/>
          <a:ext cx="0" cy="0"/>
          <a:chOff x="0" y="0"/>
          <a:chExt cx="0" cy="0"/>
        </a:xfrm>
      </p:grpSpPr>
      <p:sp>
        <p:nvSpPr>
          <p:cNvPr id="74" name="Google Shape;74;p14"/>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4"/>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4"/>
          <p:cNvSpPr txBox="1"/>
          <p:nvPr>
            <p:ph type="ctrTitle"/>
          </p:nvPr>
        </p:nvSpPr>
        <p:spPr>
          <a:xfrm>
            <a:off x="411175" y="644300"/>
            <a:ext cx="8282400" cy="21090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6000"/>
              <a:buNone/>
              <a:defRPr sz="6000">
                <a:solidFill>
                  <a:schemeClr val="lt1"/>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77" name="Google Shape;77;p14"/>
          <p:cNvSpPr txBox="1"/>
          <p:nvPr>
            <p:ph idx="1" type="subTitle"/>
          </p:nvPr>
        </p:nvSpPr>
        <p:spPr>
          <a:xfrm>
            <a:off x="411175" y="3398250"/>
            <a:ext cx="8282400" cy="12606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78" name="Google Shape;78;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14"/>
          <p:cNvSpPr txBox="1"/>
          <p:nvPr/>
        </p:nvSpPr>
        <p:spPr>
          <a:xfrm>
            <a:off x="411175" y="79900"/>
            <a:ext cx="8282400" cy="380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Source Code Pro"/>
                <a:ea typeface="Source Code Pro"/>
                <a:cs typeface="Source Code Pro"/>
                <a:sym typeface="Source Code Pro"/>
              </a:rPr>
              <a:t>The Complete Prompt Engineering for AI Bootcamp</a:t>
            </a:r>
            <a:endParaRPr b="0" i="0" sz="1100" u="none" cap="none" strike="noStrike">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cxnSp>
        <p:nvCxnSpPr>
          <p:cNvPr id="81" name="Google Shape;81;p1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82" name="Google Shape;82;p15"/>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3" name="Google Shape;83;p15"/>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4" name="Google Shape;8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85" name="Google Shape;85;p15"/>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6" name="Shape 86"/>
        <p:cNvGrpSpPr/>
        <p:nvPr/>
      </p:nvGrpSpPr>
      <p:grpSpPr>
        <a:xfrm>
          <a:off x="0" y="0"/>
          <a:ext cx="0" cy="0"/>
          <a:chOff x="0" y="0"/>
          <a:chExt cx="0" cy="0"/>
        </a:xfrm>
      </p:grpSpPr>
      <p:sp>
        <p:nvSpPr>
          <p:cNvPr id="87" name="Google Shape;87;p16"/>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6"/>
          <p:cNvSpPr txBox="1"/>
          <p:nvPr>
            <p:ph type="title"/>
          </p:nvPr>
        </p:nvSpPr>
        <p:spPr>
          <a:xfrm>
            <a:off x="430800" y="1889700"/>
            <a:ext cx="8282400" cy="15165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sp>
        <p:nvSpPr>
          <p:cNvPr id="89" name="Google Shape;8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16"/>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cxnSp>
        <p:nvCxnSpPr>
          <p:cNvPr id="92" name="Google Shape;92;p17"/>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93" name="Google Shape;93;p17"/>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4" name="Google Shape;94;p17"/>
          <p:cNvSpPr txBox="1"/>
          <p:nvPr>
            <p:ph idx="1" type="body"/>
          </p:nvPr>
        </p:nvSpPr>
        <p:spPr>
          <a:xfrm>
            <a:off x="311700" y="1468825"/>
            <a:ext cx="3999900" cy="3099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5" name="Google Shape;95;p17"/>
          <p:cNvSpPr txBox="1"/>
          <p:nvPr>
            <p:ph idx="2" type="body"/>
          </p:nvPr>
        </p:nvSpPr>
        <p:spPr>
          <a:xfrm>
            <a:off x="4832400" y="1468825"/>
            <a:ext cx="3999900" cy="3099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6" name="Google Shape;9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17"/>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8" name="Shape 98"/>
        <p:cNvGrpSpPr/>
        <p:nvPr/>
      </p:nvGrpSpPr>
      <p:grpSpPr>
        <a:xfrm>
          <a:off x="0" y="0"/>
          <a:ext cx="0" cy="0"/>
          <a:chOff x="0" y="0"/>
          <a:chExt cx="0" cy="0"/>
        </a:xfrm>
      </p:grpSpPr>
      <p:sp>
        <p:nvSpPr>
          <p:cNvPr id="99" name="Google Shape;99;p18"/>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0" name="Google Shape;100;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8"/>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2" name="Shape 102"/>
        <p:cNvGrpSpPr/>
        <p:nvPr/>
      </p:nvGrpSpPr>
      <p:grpSpPr>
        <a:xfrm>
          <a:off x="0" y="0"/>
          <a:ext cx="0" cy="0"/>
          <a:chOff x="0" y="0"/>
          <a:chExt cx="0" cy="0"/>
        </a:xfrm>
      </p:grpSpPr>
      <p:cxnSp>
        <p:nvCxnSpPr>
          <p:cNvPr id="103" name="Google Shape;103;p19"/>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104" name="Google Shape;104;p19"/>
          <p:cNvSpPr txBox="1"/>
          <p:nvPr>
            <p:ph type="title"/>
          </p:nvPr>
        </p:nvSpPr>
        <p:spPr>
          <a:xfrm>
            <a:off x="311700" y="6318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5" name="Google Shape;105;p19"/>
          <p:cNvSpPr txBox="1"/>
          <p:nvPr>
            <p:ph idx="1" type="body"/>
          </p:nvPr>
        </p:nvSpPr>
        <p:spPr>
          <a:xfrm>
            <a:off x="311700" y="1618204"/>
            <a:ext cx="2808000" cy="29508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6" name="Google Shape;10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19"/>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108" name="Shape 108"/>
        <p:cNvGrpSpPr/>
        <p:nvPr/>
      </p:nvGrpSpPr>
      <p:grpSpPr>
        <a:xfrm>
          <a:off x="0" y="0"/>
          <a:ext cx="0" cy="0"/>
          <a:chOff x="0" y="0"/>
          <a:chExt cx="0" cy="0"/>
        </a:xfrm>
      </p:grpSpPr>
      <p:sp>
        <p:nvSpPr>
          <p:cNvPr id="109" name="Google Shape;109;p20"/>
          <p:cNvSpPr txBox="1"/>
          <p:nvPr>
            <p:ph type="title"/>
          </p:nvPr>
        </p:nvSpPr>
        <p:spPr>
          <a:xfrm>
            <a:off x="490250" y="528900"/>
            <a:ext cx="5678100" cy="4085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5400"/>
              <a:buNone/>
              <a:defRPr sz="5400">
                <a:solidFill>
                  <a:schemeClr val="lt1"/>
                </a:solidFill>
              </a:defRPr>
            </a:lvl1pPr>
            <a:lvl2pPr lvl="1" algn="l">
              <a:lnSpc>
                <a:spcPct val="100000"/>
              </a:lnSpc>
              <a:spcBef>
                <a:spcPts val="0"/>
              </a:spcBef>
              <a:spcAft>
                <a:spcPts val="0"/>
              </a:spcAft>
              <a:buClr>
                <a:schemeClr val="lt1"/>
              </a:buClr>
              <a:buSzPts val="5400"/>
              <a:buNone/>
              <a:defRPr sz="5400">
                <a:solidFill>
                  <a:schemeClr val="lt1"/>
                </a:solidFill>
              </a:defRPr>
            </a:lvl2pPr>
            <a:lvl3pPr lvl="2" algn="l">
              <a:lnSpc>
                <a:spcPct val="100000"/>
              </a:lnSpc>
              <a:spcBef>
                <a:spcPts val="0"/>
              </a:spcBef>
              <a:spcAft>
                <a:spcPts val="0"/>
              </a:spcAft>
              <a:buClr>
                <a:schemeClr val="lt1"/>
              </a:buClr>
              <a:buSzPts val="5400"/>
              <a:buNone/>
              <a:defRPr sz="5400">
                <a:solidFill>
                  <a:schemeClr val="lt1"/>
                </a:solidFill>
              </a:defRPr>
            </a:lvl3pPr>
            <a:lvl4pPr lvl="3" algn="l">
              <a:lnSpc>
                <a:spcPct val="100000"/>
              </a:lnSpc>
              <a:spcBef>
                <a:spcPts val="0"/>
              </a:spcBef>
              <a:spcAft>
                <a:spcPts val="0"/>
              </a:spcAft>
              <a:buClr>
                <a:schemeClr val="lt1"/>
              </a:buClr>
              <a:buSzPts val="5400"/>
              <a:buNone/>
              <a:defRPr sz="5400">
                <a:solidFill>
                  <a:schemeClr val="lt1"/>
                </a:solidFill>
              </a:defRPr>
            </a:lvl4pPr>
            <a:lvl5pPr lvl="4" algn="l">
              <a:lnSpc>
                <a:spcPct val="100000"/>
              </a:lnSpc>
              <a:spcBef>
                <a:spcPts val="0"/>
              </a:spcBef>
              <a:spcAft>
                <a:spcPts val="0"/>
              </a:spcAft>
              <a:buClr>
                <a:schemeClr val="lt1"/>
              </a:buClr>
              <a:buSzPts val="5400"/>
              <a:buNone/>
              <a:defRPr sz="5400">
                <a:solidFill>
                  <a:schemeClr val="lt1"/>
                </a:solidFill>
              </a:defRPr>
            </a:lvl5pPr>
            <a:lvl6pPr lvl="5" algn="l">
              <a:lnSpc>
                <a:spcPct val="100000"/>
              </a:lnSpc>
              <a:spcBef>
                <a:spcPts val="0"/>
              </a:spcBef>
              <a:spcAft>
                <a:spcPts val="0"/>
              </a:spcAft>
              <a:buClr>
                <a:schemeClr val="lt1"/>
              </a:buClr>
              <a:buSzPts val="5400"/>
              <a:buNone/>
              <a:defRPr sz="5400">
                <a:solidFill>
                  <a:schemeClr val="lt1"/>
                </a:solidFill>
              </a:defRPr>
            </a:lvl6pPr>
            <a:lvl7pPr lvl="6" algn="l">
              <a:lnSpc>
                <a:spcPct val="100000"/>
              </a:lnSpc>
              <a:spcBef>
                <a:spcPts val="0"/>
              </a:spcBef>
              <a:spcAft>
                <a:spcPts val="0"/>
              </a:spcAft>
              <a:buClr>
                <a:schemeClr val="lt1"/>
              </a:buClr>
              <a:buSzPts val="5400"/>
              <a:buNone/>
              <a:defRPr sz="5400">
                <a:solidFill>
                  <a:schemeClr val="lt1"/>
                </a:solidFill>
              </a:defRPr>
            </a:lvl7pPr>
            <a:lvl8pPr lvl="7" algn="l">
              <a:lnSpc>
                <a:spcPct val="100000"/>
              </a:lnSpc>
              <a:spcBef>
                <a:spcPts val="0"/>
              </a:spcBef>
              <a:spcAft>
                <a:spcPts val="0"/>
              </a:spcAft>
              <a:buClr>
                <a:schemeClr val="lt1"/>
              </a:buClr>
              <a:buSzPts val="5400"/>
              <a:buNone/>
              <a:defRPr sz="5400">
                <a:solidFill>
                  <a:schemeClr val="lt1"/>
                </a:solidFill>
              </a:defRPr>
            </a:lvl8pPr>
            <a:lvl9pPr lvl="8" algn="l">
              <a:lnSpc>
                <a:spcPct val="100000"/>
              </a:lnSpc>
              <a:spcBef>
                <a:spcPts val="0"/>
              </a:spcBef>
              <a:spcAft>
                <a:spcPts val="0"/>
              </a:spcAft>
              <a:buClr>
                <a:schemeClr val="lt1"/>
              </a:buClr>
              <a:buSzPts val="5400"/>
              <a:buNone/>
              <a:defRPr sz="5400">
                <a:solidFill>
                  <a:schemeClr val="lt1"/>
                </a:solidFill>
              </a:defRPr>
            </a:lvl9pPr>
          </a:lstStyle>
          <a:p/>
        </p:txBody>
      </p:sp>
      <p:sp>
        <p:nvSpPr>
          <p:cNvPr id="110" name="Google Shape;11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20"/>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lt1"/>
                </a:solidFill>
                <a:latin typeface="Source Code Pro"/>
                <a:ea typeface="Source Code Pro"/>
                <a:cs typeface="Source Code Pro"/>
                <a:sym typeface="Source Code Pro"/>
              </a:rPr>
              <a:t>The Complete Prompt Engineering for AI Bootcamp</a:t>
            </a:r>
            <a:endParaRPr b="0" i="0" sz="900" u="none" cap="none" strike="noStrike">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112" name="Shape 112"/>
        <p:cNvGrpSpPr/>
        <p:nvPr/>
      </p:nvGrpSpPr>
      <p:grpSpPr>
        <a:xfrm>
          <a:off x="0" y="0"/>
          <a:ext cx="0" cy="0"/>
          <a:chOff x="0" y="0"/>
          <a:chExt cx="0" cy="0"/>
        </a:xfrm>
      </p:grpSpPr>
      <p:sp>
        <p:nvSpPr>
          <p:cNvPr id="113" name="Google Shape;113;p21"/>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4" name="Google Shape;114;p21"/>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115" name="Google Shape;115;p21"/>
          <p:cNvSpPr txBox="1"/>
          <p:nvPr>
            <p:ph type="title"/>
          </p:nvPr>
        </p:nvSpPr>
        <p:spPr>
          <a:xfrm>
            <a:off x="265500" y="1078750"/>
            <a:ext cx="4045200" cy="1789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4600"/>
              <a:buNone/>
              <a:defRPr sz="4600">
                <a:solidFill>
                  <a:schemeClr val="lt1"/>
                </a:solidFill>
              </a:defRPr>
            </a:lvl1pPr>
            <a:lvl2pPr lvl="1" algn="ctr">
              <a:lnSpc>
                <a:spcPct val="100000"/>
              </a:lnSpc>
              <a:spcBef>
                <a:spcPts val="0"/>
              </a:spcBef>
              <a:spcAft>
                <a:spcPts val="0"/>
              </a:spcAft>
              <a:buClr>
                <a:schemeClr val="lt1"/>
              </a:buClr>
              <a:buSzPts val="4600"/>
              <a:buNone/>
              <a:defRPr sz="4600">
                <a:solidFill>
                  <a:schemeClr val="lt1"/>
                </a:solidFill>
              </a:defRPr>
            </a:lvl2pPr>
            <a:lvl3pPr lvl="2" algn="ctr">
              <a:lnSpc>
                <a:spcPct val="100000"/>
              </a:lnSpc>
              <a:spcBef>
                <a:spcPts val="0"/>
              </a:spcBef>
              <a:spcAft>
                <a:spcPts val="0"/>
              </a:spcAft>
              <a:buClr>
                <a:schemeClr val="lt1"/>
              </a:buClr>
              <a:buSzPts val="4600"/>
              <a:buNone/>
              <a:defRPr sz="4600">
                <a:solidFill>
                  <a:schemeClr val="lt1"/>
                </a:solidFill>
              </a:defRPr>
            </a:lvl3pPr>
            <a:lvl4pPr lvl="3" algn="ctr">
              <a:lnSpc>
                <a:spcPct val="100000"/>
              </a:lnSpc>
              <a:spcBef>
                <a:spcPts val="0"/>
              </a:spcBef>
              <a:spcAft>
                <a:spcPts val="0"/>
              </a:spcAft>
              <a:buClr>
                <a:schemeClr val="lt1"/>
              </a:buClr>
              <a:buSzPts val="4600"/>
              <a:buNone/>
              <a:defRPr sz="4600">
                <a:solidFill>
                  <a:schemeClr val="lt1"/>
                </a:solidFill>
              </a:defRPr>
            </a:lvl4pPr>
            <a:lvl5pPr lvl="4" algn="ctr">
              <a:lnSpc>
                <a:spcPct val="100000"/>
              </a:lnSpc>
              <a:spcBef>
                <a:spcPts val="0"/>
              </a:spcBef>
              <a:spcAft>
                <a:spcPts val="0"/>
              </a:spcAft>
              <a:buClr>
                <a:schemeClr val="lt1"/>
              </a:buClr>
              <a:buSzPts val="4600"/>
              <a:buNone/>
              <a:defRPr sz="4600">
                <a:solidFill>
                  <a:schemeClr val="lt1"/>
                </a:solidFill>
              </a:defRPr>
            </a:lvl5pPr>
            <a:lvl6pPr lvl="5" algn="ctr">
              <a:lnSpc>
                <a:spcPct val="100000"/>
              </a:lnSpc>
              <a:spcBef>
                <a:spcPts val="0"/>
              </a:spcBef>
              <a:spcAft>
                <a:spcPts val="0"/>
              </a:spcAft>
              <a:buClr>
                <a:schemeClr val="lt1"/>
              </a:buClr>
              <a:buSzPts val="4600"/>
              <a:buNone/>
              <a:defRPr sz="4600">
                <a:solidFill>
                  <a:schemeClr val="lt1"/>
                </a:solidFill>
              </a:defRPr>
            </a:lvl6pPr>
            <a:lvl7pPr lvl="6" algn="ctr">
              <a:lnSpc>
                <a:spcPct val="100000"/>
              </a:lnSpc>
              <a:spcBef>
                <a:spcPts val="0"/>
              </a:spcBef>
              <a:spcAft>
                <a:spcPts val="0"/>
              </a:spcAft>
              <a:buClr>
                <a:schemeClr val="lt1"/>
              </a:buClr>
              <a:buSzPts val="4600"/>
              <a:buNone/>
              <a:defRPr sz="4600">
                <a:solidFill>
                  <a:schemeClr val="lt1"/>
                </a:solidFill>
              </a:defRPr>
            </a:lvl7pPr>
            <a:lvl8pPr lvl="7" algn="ctr">
              <a:lnSpc>
                <a:spcPct val="100000"/>
              </a:lnSpc>
              <a:spcBef>
                <a:spcPts val="0"/>
              </a:spcBef>
              <a:spcAft>
                <a:spcPts val="0"/>
              </a:spcAft>
              <a:buClr>
                <a:schemeClr val="lt1"/>
              </a:buClr>
              <a:buSzPts val="4600"/>
              <a:buNone/>
              <a:defRPr sz="4600">
                <a:solidFill>
                  <a:schemeClr val="lt1"/>
                </a:solidFill>
              </a:defRPr>
            </a:lvl8pPr>
            <a:lvl9pPr lvl="8" algn="ctr">
              <a:lnSpc>
                <a:spcPct val="100000"/>
              </a:lnSpc>
              <a:spcBef>
                <a:spcPts val="0"/>
              </a:spcBef>
              <a:spcAft>
                <a:spcPts val="0"/>
              </a:spcAft>
              <a:buClr>
                <a:schemeClr val="lt1"/>
              </a:buClr>
              <a:buSzPts val="4600"/>
              <a:buNone/>
              <a:defRPr sz="4600">
                <a:solidFill>
                  <a:schemeClr val="lt1"/>
                </a:solidFill>
              </a:defRPr>
            </a:lvl9pPr>
          </a:lstStyle>
          <a:p/>
        </p:txBody>
      </p:sp>
      <p:sp>
        <p:nvSpPr>
          <p:cNvPr id="116" name="Google Shape;116;p21"/>
          <p:cNvSpPr txBox="1"/>
          <p:nvPr>
            <p:ph idx="1" type="subTitle"/>
          </p:nvPr>
        </p:nvSpPr>
        <p:spPr>
          <a:xfrm>
            <a:off x="265500" y="29214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117" name="Google Shape;117;p2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8" name="Google Shape;11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1"/>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0" name="Shape 120"/>
        <p:cNvGrpSpPr/>
        <p:nvPr/>
      </p:nvGrpSpPr>
      <p:grpSpPr>
        <a:xfrm>
          <a:off x="0" y="0"/>
          <a:ext cx="0" cy="0"/>
          <a:chOff x="0" y="0"/>
          <a:chExt cx="0" cy="0"/>
        </a:xfrm>
      </p:grpSpPr>
      <p:sp>
        <p:nvSpPr>
          <p:cNvPr id="121" name="Google Shape;121;p22"/>
          <p:cNvSpPr txBox="1"/>
          <p:nvPr>
            <p:ph idx="1" type="body"/>
          </p:nvPr>
        </p:nvSpPr>
        <p:spPr>
          <a:xfrm>
            <a:off x="311700" y="406472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122" name="Google Shape;122;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23" name="Google Shape;123;p22"/>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4" name="Shape 124"/>
        <p:cNvGrpSpPr/>
        <p:nvPr/>
      </p:nvGrpSpPr>
      <p:grpSpPr>
        <a:xfrm>
          <a:off x="0" y="0"/>
          <a:ext cx="0" cy="0"/>
          <a:chOff x="0" y="0"/>
          <a:chExt cx="0" cy="0"/>
        </a:xfrm>
      </p:grpSpPr>
      <p:cxnSp>
        <p:nvCxnSpPr>
          <p:cNvPr id="125" name="Google Shape;125;p23"/>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126" name="Google Shape;126;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12000"/>
              <a:buNone/>
              <a:defRPr sz="12000"/>
            </a:lvl1pPr>
            <a:lvl2pPr lvl="1" algn="l">
              <a:lnSpc>
                <a:spcPct val="100000"/>
              </a:lnSpc>
              <a:spcBef>
                <a:spcPts val="0"/>
              </a:spcBef>
              <a:spcAft>
                <a:spcPts val="0"/>
              </a:spcAft>
              <a:buSzPts val="12000"/>
              <a:buNone/>
              <a:defRPr sz="12000"/>
            </a:lvl2pPr>
            <a:lvl3pPr lvl="2" algn="l">
              <a:lnSpc>
                <a:spcPct val="100000"/>
              </a:lnSpc>
              <a:spcBef>
                <a:spcPts val="0"/>
              </a:spcBef>
              <a:spcAft>
                <a:spcPts val="0"/>
              </a:spcAft>
              <a:buSzPts val="12000"/>
              <a:buNone/>
              <a:defRPr sz="12000"/>
            </a:lvl3pPr>
            <a:lvl4pPr lvl="3" algn="l">
              <a:lnSpc>
                <a:spcPct val="100000"/>
              </a:lnSpc>
              <a:spcBef>
                <a:spcPts val="0"/>
              </a:spcBef>
              <a:spcAft>
                <a:spcPts val="0"/>
              </a:spcAft>
              <a:buSzPts val="12000"/>
              <a:buNone/>
              <a:defRPr sz="12000"/>
            </a:lvl4pPr>
            <a:lvl5pPr lvl="4" algn="l">
              <a:lnSpc>
                <a:spcPct val="100000"/>
              </a:lnSpc>
              <a:spcBef>
                <a:spcPts val="0"/>
              </a:spcBef>
              <a:spcAft>
                <a:spcPts val="0"/>
              </a:spcAft>
              <a:buSzPts val="12000"/>
              <a:buNone/>
              <a:defRPr sz="12000"/>
            </a:lvl5pPr>
            <a:lvl6pPr lvl="5" algn="l">
              <a:lnSpc>
                <a:spcPct val="100000"/>
              </a:lnSpc>
              <a:spcBef>
                <a:spcPts val="0"/>
              </a:spcBef>
              <a:spcAft>
                <a:spcPts val="0"/>
              </a:spcAft>
              <a:buSzPts val="12000"/>
              <a:buNone/>
              <a:defRPr sz="12000"/>
            </a:lvl6pPr>
            <a:lvl7pPr lvl="6" algn="l">
              <a:lnSpc>
                <a:spcPct val="100000"/>
              </a:lnSpc>
              <a:spcBef>
                <a:spcPts val="0"/>
              </a:spcBef>
              <a:spcAft>
                <a:spcPts val="0"/>
              </a:spcAft>
              <a:buSzPts val="12000"/>
              <a:buNone/>
              <a:defRPr sz="12000"/>
            </a:lvl7pPr>
            <a:lvl8pPr lvl="7" algn="l">
              <a:lnSpc>
                <a:spcPct val="100000"/>
              </a:lnSpc>
              <a:spcBef>
                <a:spcPts val="0"/>
              </a:spcBef>
              <a:spcAft>
                <a:spcPts val="0"/>
              </a:spcAft>
              <a:buSzPts val="12000"/>
              <a:buNone/>
              <a:defRPr sz="12000"/>
            </a:lvl8pPr>
            <a:lvl9pPr lvl="8" algn="l">
              <a:lnSpc>
                <a:spcPct val="100000"/>
              </a:lnSpc>
              <a:spcBef>
                <a:spcPts val="0"/>
              </a:spcBef>
              <a:spcAft>
                <a:spcPts val="0"/>
              </a:spcAft>
              <a:buSzPts val="12000"/>
              <a:buNone/>
              <a:defRPr sz="12000"/>
            </a:lvl9pPr>
          </a:lstStyle>
          <a:p>
            <a:r>
              <a:t>xx%</a:t>
            </a:r>
          </a:p>
        </p:txBody>
      </p:sp>
      <p:sp>
        <p:nvSpPr>
          <p:cNvPr id="127" name="Google Shape;127;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8" name="Google Shape;128;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23"/>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0" name="Shape 130"/>
        <p:cNvGrpSpPr/>
        <p:nvPr/>
      </p:nvGrpSpPr>
      <p:grpSpPr>
        <a:xfrm>
          <a:off x="0" y="0"/>
          <a:ext cx="0" cy="0"/>
          <a:chOff x="0" y="0"/>
          <a:chExt cx="0" cy="0"/>
        </a:xfrm>
      </p:grpSpPr>
      <p:sp>
        <p:nvSpPr>
          <p:cNvPr id="131" name="Google Shape;131;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32" name="Google Shape;132;p24"/>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69" name="Shape 69"/>
        <p:cNvGrpSpPr/>
        <p:nvPr/>
      </p:nvGrpSpPr>
      <p:grpSpPr>
        <a:xfrm>
          <a:off x="0" y="0"/>
          <a:ext cx="0" cy="0"/>
          <a:chOff x="0" y="0"/>
          <a:chExt cx="0" cy="0"/>
        </a:xfrm>
      </p:grpSpPr>
      <p:sp>
        <p:nvSpPr>
          <p:cNvPr id="70" name="Google Shape;70;p13"/>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1pPr>
            <a:lvl2pPr lvl="1"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2pPr>
            <a:lvl3pPr lvl="2"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3pPr>
            <a:lvl4pPr lvl="3"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4pPr>
            <a:lvl5pPr lvl="4"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5pPr>
            <a:lvl6pPr lvl="5"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6pPr>
            <a:lvl7pPr lvl="6"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7pPr>
            <a:lvl8pPr lvl="7"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8pPr>
            <a:lvl9pPr lvl="8"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9pPr>
          </a:lstStyle>
          <a:p/>
        </p:txBody>
      </p:sp>
      <p:sp>
        <p:nvSpPr>
          <p:cNvPr id="71" name="Google Shape;71;p13"/>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Source Code Pro"/>
              <a:buChar char="●"/>
              <a:defRPr b="0" i="0" sz="1800" u="none" cap="none" strike="noStrike">
                <a:solidFill>
                  <a:schemeClr val="dk2"/>
                </a:solidFill>
                <a:latin typeface="Source Code Pro"/>
                <a:ea typeface="Source Code Pro"/>
                <a:cs typeface="Source Code Pro"/>
                <a:sym typeface="Source Code Pro"/>
              </a:defRPr>
            </a:lvl1pPr>
            <a:lvl2pPr indent="-317500" lvl="1" marL="9144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2pPr>
            <a:lvl3pPr indent="-317500" lvl="2" marL="13716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3pPr>
            <a:lvl4pPr indent="-317500" lvl="3" marL="18288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4pPr>
            <a:lvl5pPr indent="-317500" lvl="4" marL="22860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5pPr>
            <a:lvl6pPr indent="-317500" lvl="5" marL="27432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6pPr>
            <a:lvl7pPr indent="-317500" lvl="6" marL="32004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7pPr>
            <a:lvl8pPr indent="-317500" lvl="7" marL="36576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8pPr>
            <a:lvl9pPr indent="-317500" lvl="8" marL="41148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9pPr>
          </a:lstStyle>
          <a:p/>
        </p:txBody>
      </p:sp>
      <p:sp>
        <p:nvSpPr>
          <p:cNvPr id="72" name="Google Shape;7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Web Search</a:t>
            </a:r>
          </a:p>
        </p:txBody>
      </p:sp>
      <p:sp>
        <p:nvSpPr>
          <p:cNvPr id="3" name="Subtitle 2"/>
          <p:cNvSpPr>
            <a:spLocks noGrp="1"/>
          </p:cNvSpPr>
          <p:nvPr>
            <p:ph type="subTitle" idx="1"/>
          </p:nvPr>
        </p:nvSpPr>
        <p:spPr/>
        <p:txBody>
          <a:bodyPr/>
          <a:lstStyle/>
          <a:p>
            <a:pPr marL="0" indent="0">
              <a:buNone/>
            </a:pPr>
            <a:r>
              <a:t>How an assistant answers from pages it fetched a moment ago.</a:t>
            </a:r>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Retrieval Step Before the Answer</a:t>
            </a:r>
          </a:p>
        </p:txBody>
      </p:sp>
      <p:sp>
        <p:nvSpPr>
          <p:cNvPr id="3" name="Text Placeholder 2"/>
          <p:cNvSpPr>
            <a:spLocks noGrp="1"/>
          </p:cNvSpPr>
          <p:nvPr>
            <p:ph type="body" idx="1"/>
          </p:nvPr>
        </p:nvSpPr>
        <p:spPr>
          <a:xfrm>
            <a:off x="5074920" y="1389888"/>
            <a:ext cx="3758184" cy="2578608"/>
          </a:xfrm>
        </p:spPr>
        <p:txBody>
          <a:bodyPr wrap="square" anchor="ctr"/>
          <a:lstStyle/>
          <a:p>
            <a:pPr marL="0" indent="0">
              <a:buNone/>
            </a:pPr>
            <a:r>
              <a:t>Web search is a step the assistant runs before it answers. It turns your question into search queries, reads what comes back, and writes the answer from that text rather than from memory.</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65760" y="1389888"/>
            <a:ext cx="4206240" cy="2578608"/>
          </a:xfrm>
          <a:prstGeom prst="roundRect">
            <a:avLst>
              <a:gd name="adj" fmla="val 1675"/>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365760" y="1389888"/>
            <a:ext cx="4206240"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65760" y="1583009"/>
            <a:ext cx="4206240"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12064" y="1472184"/>
            <a:ext cx="2944368" cy="182880"/>
          </a:xfrm>
          <a:prstGeom prst="rect">
            <a:avLst/>
          </a:prstGeom>
          <a:noFill/>
        </p:spPr>
        <p:txBody>
          <a:bodyPr wrap="square" lIns="0" rIns="0" tIns="0" bIns="0" anchor="t">
            <a:spAutoFit/>
          </a:bodyPr>
          <a:lstStyle/>
          <a:p>
            <a:pPr algn="l"/>
            <a:r>
              <a:rPr sz="1200" b="1">
                <a:solidFill>
                  <a:srgbClr val="F7F7FA"/>
                </a:solidFill>
                <a:latin typeface="Arial"/>
              </a:rPr>
              <a:t>ChatGPT</a:t>
            </a:r>
          </a:p>
        </p:txBody>
      </p:sp>
      <p:sp>
        <p:nvSpPr>
          <p:cNvPr id="30" name="TextBox 29"/>
          <p:cNvSpPr txBox="1"/>
          <p:nvPr/>
        </p:nvSpPr>
        <p:spPr>
          <a:xfrm>
            <a:off x="3328415" y="1490472"/>
            <a:ext cx="1097280" cy="173736"/>
          </a:xfrm>
          <a:prstGeom prst="rect">
            <a:avLst/>
          </a:prstGeom>
          <a:noFill/>
        </p:spPr>
        <p:txBody>
          <a:bodyPr wrap="square" lIns="0" rIns="0" tIns="0" bIns="0" anchor="t">
            <a:spAutoFit/>
          </a:bodyPr>
          <a:lstStyle/>
          <a:p>
            <a:pPr algn="r"/>
            <a:r>
              <a:rPr sz="885" b="0">
                <a:solidFill>
                  <a:srgbClr val="C6C7D0"/>
                </a:solidFill>
                <a:latin typeface="Arial"/>
              </a:rPr>
              <a:t>Demonstration</a:t>
            </a:r>
          </a:p>
        </p:txBody>
      </p:sp>
      <p:sp>
        <p:nvSpPr>
          <p:cNvPr id="31" name="TextBox 30"/>
          <p:cNvSpPr txBox="1"/>
          <p:nvPr/>
        </p:nvSpPr>
        <p:spPr>
          <a:xfrm>
            <a:off x="512064" y="1819656"/>
            <a:ext cx="1737360" cy="173736"/>
          </a:xfrm>
          <a:prstGeom prst="rect">
            <a:avLst/>
          </a:prstGeom>
          <a:noFill/>
        </p:spPr>
        <p:txBody>
          <a:bodyPr wrap="square" lIns="0" rIns="0" tIns="0" bIns="0" anchor="t">
            <a:spAutoFit/>
          </a:bodyPr>
          <a:lstStyle/>
          <a:p>
            <a:pPr algn="l"/>
            <a:r>
              <a:rPr sz="885" b="1">
                <a:solidFill>
                  <a:srgbClr val="C6C7D0"/>
                </a:solidFill>
                <a:latin typeface="Arial"/>
              </a:rPr>
              <a:t>User</a:t>
            </a:r>
          </a:p>
        </p:txBody>
      </p:sp>
      <p:sp>
        <p:nvSpPr>
          <p:cNvPr id="32" name="TextBox 31"/>
          <p:cNvSpPr txBox="1"/>
          <p:nvPr/>
        </p:nvSpPr>
        <p:spPr>
          <a:xfrm>
            <a:off x="512064" y="2020824"/>
            <a:ext cx="3913631" cy="210312"/>
          </a:xfrm>
          <a:prstGeom prst="rect">
            <a:avLst/>
          </a:prstGeom>
          <a:noFill/>
        </p:spPr>
        <p:txBody>
          <a:bodyPr wrap="none" lIns="0" rIns="0" tIns="0" bIns="0" anchor="t">
            <a:spAutoFit/>
          </a:bodyPr>
          <a:lstStyle/>
          <a:p>
            <a:pPr algn="l"/>
            <a:r>
              <a:rPr sz="1125" b="0">
                <a:solidFill>
                  <a:srgbClr val="F7F7FA"/>
                </a:solidFill>
                <a:latin typeface="Arial"/>
              </a:rPr>
              <a:t>What did the Bank of England do to rates</a:t>
            </a:r>
          </a:p>
        </p:txBody>
      </p:sp>
      <p:sp>
        <p:nvSpPr>
          <p:cNvPr id="33" name="TextBox 32"/>
          <p:cNvSpPr txBox="1"/>
          <p:nvPr/>
        </p:nvSpPr>
        <p:spPr>
          <a:xfrm>
            <a:off x="512064" y="2231136"/>
            <a:ext cx="3913631" cy="210312"/>
          </a:xfrm>
          <a:prstGeom prst="rect">
            <a:avLst/>
          </a:prstGeom>
          <a:noFill/>
        </p:spPr>
        <p:txBody>
          <a:bodyPr wrap="none" lIns="0" rIns="0" tIns="0" bIns="0" anchor="t">
            <a:spAutoFit/>
          </a:bodyPr>
          <a:lstStyle/>
          <a:p>
            <a:pPr algn="l"/>
            <a:r>
              <a:rPr sz="1125" b="0">
                <a:solidFill>
                  <a:srgbClr val="F7F7FA"/>
                </a:solidFill>
                <a:latin typeface="Arial"/>
              </a:rPr>
              <a:t>this week?</a:t>
            </a:r>
          </a:p>
        </p:txBody>
      </p:sp>
      <p:sp>
        <p:nvSpPr>
          <p:cNvPr id="38" name="Rounded Rectangle 37"/>
          <p:cNvSpPr/>
          <p:nvPr/>
        </p:nvSpPr>
        <p:spPr>
          <a:xfrm>
            <a:off x="475488" y="2496312"/>
            <a:ext cx="3986783" cy="914400"/>
          </a:xfrm>
          <a:prstGeom prst="roundRect">
            <a:avLst>
              <a:gd name="adj" fmla="val 5000"/>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21792" y="2615184"/>
            <a:ext cx="1737360" cy="173736"/>
          </a:xfrm>
          <a:prstGeom prst="rect">
            <a:avLst/>
          </a:prstGeom>
          <a:noFill/>
        </p:spPr>
        <p:txBody>
          <a:bodyPr wrap="square" lIns="0" rIns="0" tIns="0" bIns="0" anchor="t">
            <a:spAutoFit/>
          </a:bodyPr>
          <a:lstStyle/>
          <a:p>
            <a:pPr algn="l"/>
            <a:r>
              <a:rPr sz="885" b="1">
                <a:solidFill>
                  <a:srgbClr val="C6C7D0"/>
                </a:solidFill>
                <a:latin typeface="Arial"/>
              </a:rPr>
              <a:t>AI Assistant</a:t>
            </a:r>
          </a:p>
        </p:txBody>
      </p:sp>
      <p:sp>
        <p:nvSpPr>
          <p:cNvPr id="35" name="TextBox 34"/>
          <p:cNvSpPr txBox="1"/>
          <p:nvPr/>
        </p:nvSpPr>
        <p:spPr>
          <a:xfrm>
            <a:off x="621792" y="2816352"/>
            <a:ext cx="3694175" cy="210312"/>
          </a:xfrm>
          <a:prstGeom prst="rect">
            <a:avLst/>
          </a:prstGeom>
          <a:noFill/>
        </p:spPr>
        <p:txBody>
          <a:bodyPr wrap="none" lIns="0" rIns="0" tIns="0" bIns="0" anchor="t">
            <a:spAutoFit/>
          </a:bodyPr>
          <a:lstStyle/>
          <a:p>
            <a:pPr algn="l"/>
            <a:r>
              <a:rPr sz="1125" b="0">
                <a:solidFill>
                  <a:srgbClr val="F7F7FA"/>
                </a:solidFill>
                <a:latin typeface="Arial"/>
              </a:rPr>
              <a:t>It held Bank Rate, citing services inflation.</a:t>
            </a:r>
          </a:p>
        </p:txBody>
      </p:sp>
      <p:sp>
        <p:nvSpPr>
          <p:cNvPr id="36" name="Rounded Rectangle 35"/>
          <p:cNvSpPr/>
          <p:nvPr/>
        </p:nvSpPr>
        <p:spPr>
          <a:xfrm>
            <a:off x="576072" y="3072384"/>
            <a:ext cx="834390" cy="201168"/>
          </a:xfrm>
          <a:prstGeom prst="roundRect">
            <a:avLst>
              <a:gd name="adj" fmla="val 18181"/>
            </a:avLst>
          </a:prstGeom>
          <a:solidFill>
            <a:srgbClr val="71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21792" y="3081528"/>
            <a:ext cx="3694175" cy="210312"/>
          </a:xfrm>
          <a:prstGeom prst="rect">
            <a:avLst/>
          </a:prstGeom>
          <a:noFill/>
        </p:spPr>
        <p:txBody>
          <a:bodyPr wrap="none" lIns="0" rIns="0" tIns="0" bIns="0" anchor="t">
            <a:spAutoFit/>
          </a:bodyPr>
          <a:lstStyle/>
          <a:p>
            <a:pPr algn="l"/>
            <a:r>
              <a:rPr sz="1125" b="0">
                <a:solidFill>
                  <a:srgbClr val="F7F7FA"/>
                </a:solidFill>
                <a:latin typeface="Arial"/>
              </a:rPr>
              <a:t>Sources: 3</a:t>
            </a:r>
          </a:p>
        </p:txBody>
      </p:sp>
      <p:sp>
        <p:nvSpPr>
          <p:cNvPr id="39" name="Rounded Rectangle 38"/>
          <p:cNvSpPr/>
          <p:nvPr/>
        </p:nvSpPr>
        <p:spPr>
          <a:xfrm>
            <a:off x="512064" y="3557015"/>
            <a:ext cx="3913631" cy="301752"/>
          </a:xfrm>
          <a:prstGeom prst="roundRect">
            <a:avLst>
              <a:gd name="adj" fmla="val 15151"/>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30936" y="3630168"/>
            <a:ext cx="3291839" cy="173736"/>
          </a:xfrm>
          <a:prstGeom prst="rect">
            <a:avLst/>
          </a:prstGeom>
          <a:noFill/>
        </p:spPr>
        <p:txBody>
          <a:bodyPr wrap="square" lIns="0" rIns="0" tIns="0" bIns="0" anchor="t">
            <a:spAutoFit/>
          </a:bodyPr>
          <a:lstStyle/>
          <a:p>
            <a:pPr algn="l"/>
            <a:r>
              <a:rPr sz="885" b="0">
                <a:solidFill>
                  <a:srgbClr val="C6C7D0"/>
                </a:solidFill>
                <a:latin typeface="Arial"/>
              </a:rPr>
              <a:t>Send a message…</a:t>
            </a:r>
          </a:p>
        </p:txBody>
      </p:sp>
      <p:sp>
        <p:nvSpPr>
          <p:cNvPr id="41" name="Rounded Rectangle 40"/>
          <p:cNvSpPr/>
          <p:nvPr/>
        </p:nvSpPr>
        <p:spPr>
          <a:xfrm>
            <a:off x="4151376" y="3602735"/>
            <a:ext cx="210312" cy="210312"/>
          </a:xfrm>
          <a:prstGeom prst="roundRect">
            <a:avLst>
              <a:gd name="adj" fmla="val 21739"/>
            </a:avLst>
          </a:prstGeom>
          <a:solidFill>
            <a:srgbClr val="E4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4151376" y="3602735"/>
            <a:ext cx="210312" cy="210312"/>
          </a:xfrm>
          <a:prstGeom prst="rect">
            <a:avLst/>
          </a:prstGeom>
          <a:noFill/>
        </p:spPr>
        <p:txBody>
          <a:bodyPr wrap="square" lIns="0" rIns="0" tIns="0" bIns="0" anchor="ctr">
            <a:spAutoFit/>
          </a:bodyPr>
          <a:lstStyle/>
          <a:p>
            <a:pPr algn="ctr"/>
            <a:r>
              <a:rPr sz="1125" b="0">
                <a:solidFill>
                  <a:srgbClr val="25262C"/>
                </a:solidFill>
                <a:latin typeface="Arial"/>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Which Questions Trigger a Search</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389888"/>
            <a:ext cx="4078224" cy="2011680"/>
          </a:xfrm>
          <a:prstGeom prst="roundRect">
            <a:avLst>
              <a:gd name="adj" fmla="val 2727"/>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3776" y="1536192"/>
            <a:ext cx="3712463" cy="274320"/>
          </a:xfrm>
          <a:prstGeom prst="rect">
            <a:avLst/>
          </a:prstGeom>
          <a:noFill/>
        </p:spPr>
        <p:txBody>
          <a:bodyPr wrap="square" lIns="0" rIns="0" tIns="0" bIns="0" anchor="t">
            <a:spAutoFit/>
          </a:bodyPr>
          <a:lstStyle/>
          <a:p>
            <a:pPr algn="l"/>
            <a:r>
              <a:rPr sz="1400" b="1">
                <a:solidFill>
                  <a:srgbClr val="424242"/>
                </a:solidFill>
                <a:latin typeface="Source Code Pro"/>
              </a:rPr>
              <a:t>Answered from memory</a:t>
            </a:r>
          </a:p>
        </p:txBody>
      </p:sp>
      <p:sp>
        <p:nvSpPr>
          <p:cNvPr id="28" name="TextBox 27"/>
          <p:cNvSpPr txBox="1"/>
          <p:nvPr/>
        </p:nvSpPr>
        <p:spPr>
          <a:xfrm>
            <a:off x="493776" y="1938528"/>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What is a p-value?</a:t>
            </a:r>
          </a:p>
        </p:txBody>
      </p:sp>
      <p:sp>
        <p:nvSpPr>
          <p:cNvPr id="29" name="TextBox 28"/>
          <p:cNvSpPr txBox="1"/>
          <p:nvPr/>
        </p:nvSpPr>
        <p:spPr>
          <a:xfrm>
            <a:off x="493776" y="2249424"/>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Rewrite this paragraph.</a:t>
            </a:r>
          </a:p>
        </p:txBody>
      </p:sp>
      <p:sp>
        <p:nvSpPr>
          <p:cNvPr id="30" name="TextBox 29"/>
          <p:cNvSpPr txBox="1"/>
          <p:nvPr/>
        </p:nvSpPr>
        <p:spPr>
          <a:xfrm>
            <a:off x="493776" y="2560320"/>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Who wrote Middlemarch?</a:t>
            </a:r>
          </a:p>
        </p:txBody>
      </p:sp>
      <p:sp>
        <p:nvSpPr>
          <p:cNvPr id="31" name="Rounded Rectangle 30"/>
          <p:cNvSpPr/>
          <p:nvPr/>
        </p:nvSpPr>
        <p:spPr>
          <a:xfrm>
            <a:off x="4754880" y="1389888"/>
            <a:ext cx="4078224" cy="2011680"/>
          </a:xfrm>
          <a:prstGeom prst="roundRect">
            <a:avLst>
              <a:gd name="adj" fmla="val 2727"/>
            </a:avLst>
          </a:prstGeom>
          <a:solidFill>
            <a:srgbClr val="FFFFFF"/>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937760" y="1536192"/>
            <a:ext cx="3712463" cy="274320"/>
          </a:xfrm>
          <a:prstGeom prst="rect">
            <a:avLst/>
          </a:prstGeom>
          <a:noFill/>
        </p:spPr>
        <p:txBody>
          <a:bodyPr wrap="square" lIns="0" rIns="0" tIns="0" bIns="0" anchor="t">
            <a:spAutoFit/>
          </a:bodyPr>
          <a:lstStyle/>
          <a:p>
            <a:pPr algn="l"/>
            <a:r>
              <a:rPr sz="1400" b="1">
                <a:solidFill>
                  <a:srgbClr val="E91D63"/>
                </a:solidFill>
                <a:latin typeface="Source Code Pro"/>
              </a:rPr>
              <a:t>Answered from the web</a:t>
            </a:r>
          </a:p>
        </p:txBody>
      </p:sp>
      <p:sp>
        <p:nvSpPr>
          <p:cNvPr id="33" name="TextBox 32"/>
          <p:cNvSpPr txBox="1"/>
          <p:nvPr/>
        </p:nvSpPr>
        <p:spPr>
          <a:xfrm>
            <a:off x="4937760" y="1938528"/>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What did rates do this week?</a:t>
            </a:r>
          </a:p>
        </p:txBody>
      </p:sp>
      <p:sp>
        <p:nvSpPr>
          <p:cNvPr id="34" name="TextBox 33"/>
          <p:cNvSpPr txBox="1"/>
          <p:nvPr/>
        </p:nvSpPr>
        <p:spPr>
          <a:xfrm>
            <a:off x="4937760" y="2249424"/>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Who leads that department now?</a:t>
            </a:r>
          </a:p>
        </p:txBody>
      </p:sp>
      <p:sp>
        <p:nvSpPr>
          <p:cNvPr id="35" name="TextBox 34"/>
          <p:cNvSpPr txBox="1"/>
          <p:nvPr/>
        </p:nvSpPr>
        <p:spPr>
          <a:xfrm>
            <a:off x="4937760" y="2560320"/>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Has that policy changed yet?</a:t>
            </a:r>
          </a:p>
        </p:txBody>
      </p:sp>
      <p:sp>
        <p:nvSpPr>
          <p:cNvPr id="36" name="TextBox 35"/>
          <p:cNvSpPr txBox="1"/>
          <p:nvPr/>
        </p:nvSpPr>
        <p:spPr>
          <a:xfrm>
            <a:off x="310896" y="3584448"/>
            <a:ext cx="8522208" cy="4114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The assistant makes this call itself. It reads your wording, judges whether the answer is time-bound, and picks a lane - so the same question can go either way on different days.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It Works - Decide, Query, Read, Answer</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389888"/>
            <a:ext cx="1897380" cy="1005840"/>
          </a:xfrm>
          <a:prstGeom prst="roundRect">
            <a:avLst>
              <a:gd name="adj" fmla="val 4545"/>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02336" y="1543812"/>
            <a:ext cx="171450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It decides</a:t>
            </a:r>
          </a:p>
        </p:txBody>
      </p:sp>
      <p:sp>
        <p:nvSpPr>
          <p:cNvPr id="28" name="TextBox 27"/>
          <p:cNvSpPr txBox="1"/>
          <p:nvPr/>
        </p:nvSpPr>
        <p:spPr>
          <a:xfrm>
            <a:off x="402336" y="1891284"/>
            <a:ext cx="1714500" cy="350520"/>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does this need the web?</a:t>
            </a:r>
          </a:p>
        </p:txBody>
      </p:sp>
      <p:sp>
        <p:nvSpPr>
          <p:cNvPr id="29" name="Right Arrow 28"/>
          <p:cNvSpPr/>
          <p:nvPr/>
        </p:nvSpPr>
        <p:spPr>
          <a:xfrm>
            <a:off x="2272284" y="1847088"/>
            <a:ext cx="182880" cy="91440"/>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519172" y="1389888"/>
            <a:ext cx="1897380" cy="1005840"/>
          </a:xfrm>
          <a:prstGeom prst="roundRect">
            <a:avLst>
              <a:gd name="adj" fmla="val 4545"/>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610612" y="1543812"/>
            <a:ext cx="171450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It queries</a:t>
            </a:r>
          </a:p>
        </p:txBody>
      </p:sp>
      <p:sp>
        <p:nvSpPr>
          <p:cNvPr id="32" name="TextBox 31"/>
          <p:cNvSpPr txBox="1"/>
          <p:nvPr/>
        </p:nvSpPr>
        <p:spPr>
          <a:xfrm>
            <a:off x="2610612" y="1891284"/>
            <a:ext cx="1714500" cy="350520"/>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several searches at once</a:t>
            </a:r>
          </a:p>
        </p:txBody>
      </p:sp>
      <p:sp>
        <p:nvSpPr>
          <p:cNvPr id="33" name="Right Arrow 32"/>
          <p:cNvSpPr/>
          <p:nvPr/>
        </p:nvSpPr>
        <p:spPr>
          <a:xfrm>
            <a:off x="4480560" y="1847088"/>
            <a:ext cx="182880" cy="91440"/>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727448" y="1389888"/>
            <a:ext cx="1897380" cy="1005840"/>
          </a:xfrm>
          <a:prstGeom prst="roundRect">
            <a:avLst>
              <a:gd name="adj" fmla="val 4545"/>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818888" y="1543812"/>
            <a:ext cx="171450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It reads</a:t>
            </a:r>
          </a:p>
        </p:txBody>
      </p:sp>
      <p:sp>
        <p:nvSpPr>
          <p:cNvPr id="36" name="TextBox 35"/>
          <p:cNvSpPr txBox="1"/>
          <p:nvPr/>
        </p:nvSpPr>
        <p:spPr>
          <a:xfrm>
            <a:off x="4818888" y="1891284"/>
            <a:ext cx="1714500" cy="350520"/>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the pages that come back</a:t>
            </a:r>
          </a:p>
        </p:txBody>
      </p:sp>
      <p:sp>
        <p:nvSpPr>
          <p:cNvPr id="37" name="Right Arrow 36"/>
          <p:cNvSpPr/>
          <p:nvPr/>
        </p:nvSpPr>
        <p:spPr>
          <a:xfrm>
            <a:off x="6688836" y="1847088"/>
            <a:ext cx="182880" cy="91440"/>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935724" y="1389888"/>
            <a:ext cx="1897380" cy="1005840"/>
          </a:xfrm>
          <a:prstGeom prst="roundRect">
            <a:avLst>
              <a:gd name="adj" fmla="val 4545"/>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027164" y="1591056"/>
            <a:ext cx="171450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It answers</a:t>
            </a:r>
          </a:p>
        </p:txBody>
      </p:sp>
      <p:sp>
        <p:nvSpPr>
          <p:cNvPr id="40" name="TextBox 39"/>
          <p:cNvSpPr txBox="1"/>
          <p:nvPr/>
        </p:nvSpPr>
        <p:spPr>
          <a:xfrm>
            <a:off x="7027164" y="1938528"/>
            <a:ext cx="1714500"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citing what it read</a:t>
            </a:r>
          </a:p>
        </p:txBody>
      </p:sp>
      <p:sp>
        <p:nvSpPr>
          <p:cNvPr id="41" name="TextBox 40"/>
          <p:cNvSpPr txBox="1"/>
          <p:nvPr/>
        </p:nvSpPr>
        <p:spPr>
          <a:xfrm>
            <a:off x="310896" y="2615184"/>
            <a:ext cx="8522208" cy="4114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Step two is not one search. That question about the Bank of England is rewritten into several queries, fired at once, and the answer is stitched from whatever they turn up:</a:t>
            </a:r>
          </a:p>
        </p:txBody>
      </p:sp>
      <p:sp>
        <p:nvSpPr>
          <p:cNvPr id="42" name="Rounded Rectangle 41"/>
          <p:cNvSpPr/>
          <p:nvPr/>
        </p:nvSpPr>
        <p:spPr>
          <a:xfrm>
            <a:off x="310896" y="3346704"/>
            <a:ext cx="2596896" cy="713232"/>
          </a:xfrm>
          <a:prstGeom prst="roundRect">
            <a:avLst>
              <a:gd name="adj" fmla="val 641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402336" y="3346704"/>
            <a:ext cx="2414015" cy="713232"/>
          </a:xfrm>
          <a:prstGeom prst="rect">
            <a:avLst/>
          </a:prstGeom>
          <a:noFill/>
        </p:spPr>
        <p:txBody>
          <a:bodyPr wrap="square" lIns="0" rIns="0" tIns="0" bIns="0" anchor="ctr">
            <a:spAutoFit/>
          </a:bodyPr>
          <a:lstStyle/>
          <a:p>
            <a:pPr algn="ctr"/>
            <a:r>
              <a:rPr sz="1300" b="0">
                <a:solidFill>
                  <a:srgbClr val="424242"/>
                </a:solidFill>
                <a:latin typeface="Source Code Pro"/>
              </a:rPr>
              <a:t>bank of england rate decision</a:t>
            </a:r>
          </a:p>
        </p:txBody>
      </p:sp>
      <p:sp>
        <p:nvSpPr>
          <p:cNvPr id="44" name="Rounded Rectangle 43"/>
          <p:cNvSpPr/>
          <p:nvPr/>
        </p:nvSpPr>
        <p:spPr>
          <a:xfrm>
            <a:off x="3273552" y="3346704"/>
            <a:ext cx="2596896" cy="713232"/>
          </a:xfrm>
          <a:prstGeom prst="roundRect">
            <a:avLst>
              <a:gd name="adj" fmla="val 641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3364992" y="3346704"/>
            <a:ext cx="2414015" cy="713232"/>
          </a:xfrm>
          <a:prstGeom prst="rect">
            <a:avLst/>
          </a:prstGeom>
          <a:noFill/>
        </p:spPr>
        <p:txBody>
          <a:bodyPr wrap="square" lIns="0" rIns="0" tIns="0" bIns="0" anchor="ctr">
            <a:spAutoFit/>
          </a:bodyPr>
          <a:lstStyle/>
          <a:p>
            <a:pPr algn="ctr"/>
            <a:r>
              <a:rPr sz="1300" b="0">
                <a:solidFill>
                  <a:srgbClr val="424242"/>
                </a:solidFill>
                <a:latin typeface="Source Code Pro"/>
              </a:rPr>
              <a:t>bank rate held or cut this week</a:t>
            </a:r>
          </a:p>
        </p:txBody>
      </p:sp>
      <p:sp>
        <p:nvSpPr>
          <p:cNvPr id="46" name="Rounded Rectangle 45"/>
          <p:cNvSpPr/>
          <p:nvPr/>
        </p:nvSpPr>
        <p:spPr>
          <a:xfrm>
            <a:off x="6236208" y="3346704"/>
            <a:ext cx="2596896" cy="713232"/>
          </a:xfrm>
          <a:prstGeom prst="roundRect">
            <a:avLst>
              <a:gd name="adj" fmla="val 641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6327648" y="3346704"/>
            <a:ext cx="2414015" cy="713232"/>
          </a:xfrm>
          <a:prstGeom prst="rect">
            <a:avLst/>
          </a:prstGeom>
          <a:noFill/>
        </p:spPr>
        <p:txBody>
          <a:bodyPr wrap="square" lIns="0" rIns="0" tIns="0" bIns="0" anchor="ctr">
            <a:spAutoFit/>
          </a:bodyPr>
          <a:lstStyle/>
          <a:p>
            <a:pPr algn="ctr"/>
            <a:r>
              <a:rPr sz="1300" b="0">
                <a:solidFill>
                  <a:srgbClr val="424242"/>
                </a:solidFill>
                <a:latin typeface="Source Code Pro"/>
              </a:rPr>
              <a:t>interest rate announcement latest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Your Question, Plus What It Fetched</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389888"/>
            <a:ext cx="5394960" cy="603504"/>
          </a:xfrm>
          <a:prstGeom prst="roundRect">
            <a:avLst>
              <a:gd name="adj" fmla="val 6060"/>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57200" y="1389888"/>
            <a:ext cx="2805379" cy="603504"/>
          </a:xfrm>
          <a:prstGeom prst="rect">
            <a:avLst/>
          </a:prstGeom>
          <a:noFill/>
        </p:spPr>
        <p:txBody>
          <a:bodyPr wrap="square" lIns="0" rIns="0" tIns="0" bIns="0" anchor="ctr">
            <a:spAutoFit/>
          </a:bodyPr>
          <a:lstStyle/>
          <a:p>
            <a:pPr algn="l"/>
            <a:r>
              <a:rPr sz="1300" b="1">
                <a:solidFill>
                  <a:srgbClr val="424242"/>
                </a:solidFill>
                <a:latin typeface="Source Code Pro"/>
              </a:rPr>
              <a:t>Fetched page text</a:t>
            </a:r>
          </a:p>
        </p:txBody>
      </p:sp>
      <p:sp>
        <p:nvSpPr>
          <p:cNvPr id="28" name="TextBox 27"/>
          <p:cNvSpPr txBox="1"/>
          <p:nvPr/>
        </p:nvSpPr>
        <p:spPr>
          <a:xfrm>
            <a:off x="3278124" y="1389888"/>
            <a:ext cx="2173528" cy="603504"/>
          </a:xfrm>
          <a:prstGeom prst="rect">
            <a:avLst/>
          </a:prstGeom>
          <a:noFill/>
        </p:spPr>
        <p:txBody>
          <a:bodyPr wrap="square" lIns="0" rIns="0" tIns="0" bIns="0" anchor="ctr">
            <a:spAutoFit/>
          </a:bodyPr>
          <a:lstStyle/>
          <a:p>
            <a:pPr algn="r"/>
            <a:r>
              <a:rPr sz="1200" b="0">
                <a:solidFill>
                  <a:srgbClr val="6B6B6B"/>
                </a:solidFill>
                <a:latin typeface="Source Code Pro"/>
              </a:rPr>
              <a:t>read seconds ago</a:t>
            </a:r>
          </a:p>
        </p:txBody>
      </p:sp>
      <p:sp>
        <p:nvSpPr>
          <p:cNvPr id="29" name="Rounded Rectangle 28"/>
          <p:cNvSpPr/>
          <p:nvPr/>
        </p:nvSpPr>
        <p:spPr>
          <a:xfrm>
            <a:off x="310896" y="2057400"/>
            <a:ext cx="5394960" cy="603504"/>
          </a:xfrm>
          <a:prstGeom prst="roundRect">
            <a:avLst>
              <a:gd name="adj" fmla="val 606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7200" y="2057400"/>
            <a:ext cx="2805379" cy="603504"/>
          </a:xfrm>
          <a:prstGeom prst="rect">
            <a:avLst/>
          </a:prstGeom>
          <a:noFill/>
        </p:spPr>
        <p:txBody>
          <a:bodyPr wrap="square" lIns="0" rIns="0" tIns="0" bIns="0" anchor="ctr">
            <a:spAutoFit/>
          </a:bodyPr>
          <a:lstStyle/>
          <a:p>
            <a:pPr algn="l"/>
            <a:r>
              <a:rPr sz="1300" b="0">
                <a:solidFill>
                  <a:srgbClr val="424242"/>
                </a:solidFill>
                <a:latin typeface="Source Code Pro"/>
              </a:rPr>
              <a:t>Result snippets</a:t>
            </a:r>
          </a:p>
        </p:txBody>
      </p:sp>
      <p:sp>
        <p:nvSpPr>
          <p:cNvPr id="31" name="TextBox 30"/>
          <p:cNvSpPr txBox="1"/>
          <p:nvPr/>
        </p:nvSpPr>
        <p:spPr>
          <a:xfrm>
            <a:off x="3278124" y="2057400"/>
            <a:ext cx="2173528" cy="603504"/>
          </a:xfrm>
          <a:prstGeom prst="rect">
            <a:avLst/>
          </a:prstGeom>
          <a:noFill/>
        </p:spPr>
        <p:txBody>
          <a:bodyPr wrap="square" lIns="0" rIns="0" tIns="0" bIns="0" anchor="ctr">
            <a:spAutoFit/>
          </a:bodyPr>
          <a:lstStyle/>
          <a:p>
            <a:pPr algn="r"/>
            <a:r>
              <a:rPr sz="1200" b="0">
                <a:solidFill>
                  <a:srgbClr val="6B6B6B"/>
                </a:solidFill>
                <a:latin typeface="Source Code Pro"/>
              </a:rPr>
              <a:t>a line or two each</a:t>
            </a:r>
          </a:p>
        </p:txBody>
      </p:sp>
      <p:sp>
        <p:nvSpPr>
          <p:cNvPr id="32" name="Rounded Rectangle 31"/>
          <p:cNvSpPr/>
          <p:nvPr/>
        </p:nvSpPr>
        <p:spPr>
          <a:xfrm>
            <a:off x="310896" y="2724912"/>
            <a:ext cx="5394960" cy="603504"/>
          </a:xfrm>
          <a:prstGeom prst="roundRect">
            <a:avLst>
              <a:gd name="adj" fmla="val 606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57200" y="2724912"/>
            <a:ext cx="2805379" cy="603504"/>
          </a:xfrm>
          <a:prstGeom prst="rect">
            <a:avLst/>
          </a:prstGeom>
          <a:noFill/>
        </p:spPr>
        <p:txBody>
          <a:bodyPr wrap="square" lIns="0" rIns="0" tIns="0" bIns="0" anchor="ctr">
            <a:spAutoFit/>
          </a:bodyPr>
          <a:lstStyle/>
          <a:p>
            <a:pPr algn="l"/>
            <a:r>
              <a:rPr sz="1300" b="0">
                <a:solidFill>
                  <a:srgbClr val="424242"/>
                </a:solidFill>
                <a:latin typeface="Source Code Pro"/>
              </a:rPr>
              <a:t>Your question</a:t>
            </a:r>
          </a:p>
        </p:txBody>
      </p:sp>
      <p:sp>
        <p:nvSpPr>
          <p:cNvPr id="34" name="TextBox 33"/>
          <p:cNvSpPr txBox="1"/>
          <p:nvPr/>
        </p:nvSpPr>
        <p:spPr>
          <a:xfrm>
            <a:off x="3278124" y="2724912"/>
            <a:ext cx="2173528" cy="603504"/>
          </a:xfrm>
          <a:prstGeom prst="rect">
            <a:avLst/>
          </a:prstGeom>
          <a:noFill/>
        </p:spPr>
        <p:txBody>
          <a:bodyPr wrap="square" lIns="0" rIns="0" tIns="0" bIns="0" anchor="ctr">
            <a:spAutoFit/>
          </a:bodyPr>
          <a:lstStyle/>
          <a:p>
            <a:pPr algn="r"/>
            <a:r>
              <a:rPr sz="1200" b="0">
                <a:solidFill>
                  <a:srgbClr val="6B6B6B"/>
                </a:solidFill>
                <a:latin typeface="Source Code Pro"/>
              </a:rPr>
              <a:t>typed just now</a:t>
            </a:r>
          </a:p>
        </p:txBody>
      </p:sp>
      <p:sp>
        <p:nvSpPr>
          <p:cNvPr id="35" name="Down Arrow 34"/>
          <p:cNvSpPr/>
          <p:nvPr/>
        </p:nvSpPr>
        <p:spPr>
          <a:xfrm>
            <a:off x="2834640" y="3429000"/>
            <a:ext cx="310896" cy="201168"/>
          </a:xfrm>
          <a:prstGeom prst="down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310896" y="3721608"/>
            <a:ext cx="5394960" cy="566928"/>
          </a:xfrm>
          <a:prstGeom prst="roundRect">
            <a:avLst>
              <a:gd name="adj" fmla="val 8064"/>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402336" y="3721608"/>
            <a:ext cx="5212080" cy="566928"/>
          </a:xfrm>
          <a:prstGeom prst="rect">
            <a:avLst/>
          </a:prstGeom>
          <a:noFill/>
        </p:spPr>
        <p:txBody>
          <a:bodyPr wrap="square" lIns="0" rIns="0" tIns="0" bIns="0" anchor="ctr">
            <a:spAutoFit/>
          </a:bodyPr>
          <a:lstStyle/>
          <a:p>
            <a:pPr algn="ctr"/>
            <a:r>
              <a:rPr sz="1300" b="1">
                <a:solidFill>
                  <a:srgbClr val="424242"/>
                </a:solidFill>
                <a:latin typeface="Source Code Pro"/>
              </a:rPr>
              <a:t>Pages and question, together</a:t>
            </a:r>
          </a:p>
        </p:txBody>
      </p:sp>
      <p:sp>
        <p:nvSpPr>
          <p:cNvPr id="38" name="TextBox 37"/>
          <p:cNvSpPr txBox="1"/>
          <p:nvPr/>
        </p:nvSpPr>
        <p:spPr>
          <a:xfrm>
            <a:off x="5943600" y="2103120"/>
            <a:ext cx="2889504" cy="14401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The assistant never really visits a page. Text from those pages is pasted in beside your question, and the answer is written from the whole block - which is why a copy cached hours ago can be quoted as though it were live.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Asking for the Search You Want</a:t>
            </a:r>
          </a:p>
        </p:txBody>
      </p:sp>
      <p:sp>
        <p:nvSpPr>
          <p:cNvPr id="3" name="Text Placeholder 2"/>
          <p:cNvSpPr>
            <a:spLocks noGrp="1"/>
          </p:cNvSpPr>
          <p:nvPr>
            <p:ph type="body" idx="1"/>
          </p:nvPr>
        </p:nvSpPr>
        <p:spPr>
          <a:xfrm>
            <a:off x="5074920" y="1389888"/>
            <a:ext cx="3758184" cy="2578608"/>
          </a:xfrm>
        </p:spPr>
        <p:txBody>
          <a:bodyPr wrap="square" anchor="ctr"/>
          <a:lstStyle/>
          <a:p>
            <a:pPr marL="0" indent="0">
              <a:buNone/>
            </a:pPr>
            <a:r>
              <a:t>You are not flipping a switch, you are removing the ambiguity. Say that you want it to search, say how fresh the pages must be, and the decision stops being a guess.</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65760" y="1389888"/>
            <a:ext cx="4206240" cy="2578608"/>
          </a:xfrm>
          <a:prstGeom prst="roundRect">
            <a:avLst>
              <a:gd name="adj" fmla="val 1675"/>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365760" y="1389888"/>
            <a:ext cx="4206240"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65760" y="1583009"/>
            <a:ext cx="4206240"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12064" y="1472184"/>
            <a:ext cx="2944368" cy="182880"/>
          </a:xfrm>
          <a:prstGeom prst="rect">
            <a:avLst/>
          </a:prstGeom>
          <a:noFill/>
        </p:spPr>
        <p:txBody>
          <a:bodyPr wrap="square" lIns="0" rIns="0" tIns="0" bIns="0" anchor="t">
            <a:spAutoFit/>
          </a:bodyPr>
          <a:lstStyle/>
          <a:p>
            <a:pPr algn="l"/>
            <a:r>
              <a:rPr sz="1200" b="1">
                <a:solidFill>
                  <a:srgbClr val="F7F7FA"/>
                </a:solidFill>
                <a:latin typeface="Arial"/>
              </a:rPr>
              <a:t>ChatGPT</a:t>
            </a:r>
          </a:p>
        </p:txBody>
      </p:sp>
      <p:sp>
        <p:nvSpPr>
          <p:cNvPr id="30" name="TextBox 29"/>
          <p:cNvSpPr txBox="1"/>
          <p:nvPr/>
        </p:nvSpPr>
        <p:spPr>
          <a:xfrm>
            <a:off x="3328415" y="1490472"/>
            <a:ext cx="1097280" cy="173736"/>
          </a:xfrm>
          <a:prstGeom prst="rect">
            <a:avLst/>
          </a:prstGeom>
          <a:noFill/>
        </p:spPr>
        <p:txBody>
          <a:bodyPr wrap="square" lIns="0" rIns="0" tIns="0" bIns="0" anchor="t">
            <a:spAutoFit/>
          </a:bodyPr>
          <a:lstStyle/>
          <a:p>
            <a:pPr algn="r"/>
            <a:r>
              <a:rPr sz="885" b="0">
                <a:solidFill>
                  <a:srgbClr val="C6C7D0"/>
                </a:solidFill>
                <a:latin typeface="Arial"/>
              </a:rPr>
              <a:t>Explicit request</a:t>
            </a:r>
          </a:p>
        </p:txBody>
      </p:sp>
      <p:sp>
        <p:nvSpPr>
          <p:cNvPr id="31" name="TextBox 30"/>
          <p:cNvSpPr txBox="1"/>
          <p:nvPr/>
        </p:nvSpPr>
        <p:spPr>
          <a:xfrm>
            <a:off x="512064" y="1819656"/>
            <a:ext cx="1737360" cy="173736"/>
          </a:xfrm>
          <a:prstGeom prst="rect">
            <a:avLst/>
          </a:prstGeom>
          <a:noFill/>
        </p:spPr>
        <p:txBody>
          <a:bodyPr wrap="square" lIns="0" rIns="0" tIns="0" bIns="0" anchor="t">
            <a:spAutoFit/>
          </a:bodyPr>
          <a:lstStyle/>
          <a:p>
            <a:pPr algn="l"/>
            <a:r>
              <a:rPr sz="885" b="1">
                <a:solidFill>
                  <a:srgbClr val="C6C7D0"/>
                </a:solidFill>
                <a:latin typeface="Arial"/>
              </a:rPr>
              <a:t>User</a:t>
            </a:r>
          </a:p>
        </p:txBody>
      </p:sp>
      <p:sp>
        <p:nvSpPr>
          <p:cNvPr id="32" name="Rounded Rectangle 31"/>
          <p:cNvSpPr/>
          <p:nvPr/>
        </p:nvSpPr>
        <p:spPr>
          <a:xfrm>
            <a:off x="466344" y="2011680"/>
            <a:ext cx="2543175" cy="201168"/>
          </a:xfrm>
          <a:prstGeom prst="roundRect">
            <a:avLst>
              <a:gd name="adj" fmla="val 18181"/>
            </a:avLst>
          </a:prstGeom>
          <a:solidFill>
            <a:srgbClr val="71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12064" y="2020824"/>
            <a:ext cx="3913631" cy="210312"/>
          </a:xfrm>
          <a:prstGeom prst="rect">
            <a:avLst/>
          </a:prstGeom>
          <a:noFill/>
        </p:spPr>
        <p:txBody>
          <a:bodyPr wrap="none" lIns="0" rIns="0" tIns="0" bIns="0" anchor="t">
            <a:spAutoFit/>
          </a:bodyPr>
          <a:lstStyle/>
          <a:p>
            <a:pPr algn="l"/>
            <a:r>
              <a:rPr sz="1125" b="0">
                <a:solidFill>
                  <a:srgbClr val="F7F7FA"/>
                </a:solidFill>
                <a:latin typeface="Arial"/>
              </a:rPr>
              <a:t>Search the web before you answer.</a:t>
            </a:r>
          </a:p>
        </p:txBody>
      </p:sp>
      <p:sp>
        <p:nvSpPr>
          <p:cNvPr id="34" name="TextBox 33"/>
          <p:cNvSpPr txBox="1"/>
          <p:nvPr/>
        </p:nvSpPr>
        <p:spPr>
          <a:xfrm>
            <a:off x="512064" y="2286000"/>
            <a:ext cx="3913631" cy="210312"/>
          </a:xfrm>
          <a:prstGeom prst="rect">
            <a:avLst/>
          </a:prstGeom>
          <a:noFill/>
        </p:spPr>
        <p:txBody>
          <a:bodyPr wrap="none" lIns="0" rIns="0" tIns="0" bIns="0" anchor="t">
            <a:spAutoFit/>
          </a:bodyPr>
          <a:lstStyle/>
          <a:p>
            <a:pPr algn="l"/>
            <a:r>
              <a:rPr sz="1125" b="0">
                <a:solidFill>
                  <a:srgbClr val="F7F7FA"/>
                </a:solidFill>
                <a:latin typeface="Arial"/>
              </a:rPr>
              <a:t>Only use sources published this month.</a:t>
            </a:r>
          </a:p>
        </p:txBody>
      </p:sp>
      <p:sp>
        <p:nvSpPr>
          <p:cNvPr id="38" name="Rounded Rectangle 37"/>
          <p:cNvSpPr/>
          <p:nvPr/>
        </p:nvSpPr>
        <p:spPr>
          <a:xfrm>
            <a:off x="475488" y="2496312"/>
            <a:ext cx="3986783" cy="914400"/>
          </a:xfrm>
          <a:prstGeom prst="roundRect">
            <a:avLst>
              <a:gd name="adj" fmla="val 5000"/>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21792" y="2615184"/>
            <a:ext cx="1737360" cy="173736"/>
          </a:xfrm>
          <a:prstGeom prst="rect">
            <a:avLst/>
          </a:prstGeom>
          <a:noFill/>
        </p:spPr>
        <p:txBody>
          <a:bodyPr wrap="square" lIns="0" rIns="0" tIns="0" bIns="0" anchor="t">
            <a:spAutoFit/>
          </a:bodyPr>
          <a:lstStyle/>
          <a:p>
            <a:pPr algn="l"/>
            <a:r>
              <a:rPr sz="885" b="1">
                <a:solidFill>
                  <a:srgbClr val="C6C7D0"/>
                </a:solidFill>
                <a:latin typeface="Arial"/>
              </a:rPr>
              <a:t>AI Assistant</a:t>
            </a:r>
          </a:p>
        </p:txBody>
      </p:sp>
      <p:sp>
        <p:nvSpPr>
          <p:cNvPr id="36" name="TextBox 35"/>
          <p:cNvSpPr txBox="1"/>
          <p:nvPr/>
        </p:nvSpPr>
        <p:spPr>
          <a:xfrm>
            <a:off x="621792" y="2816352"/>
            <a:ext cx="3694175" cy="210312"/>
          </a:xfrm>
          <a:prstGeom prst="rect">
            <a:avLst/>
          </a:prstGeom>
          <a:noFill/>
        </p:spPr>
        <p:txBody>
          <a:bodyPr wrap="none" lIns="0" rIns="0" tIns="0" bIns="0" anchor="t">
            <a:spAutoFit/>
          </a:bodyPr>
          <a:lstStyle/>
          <a:p>
            <a:pPr algn="l"/>
            <a:r>
              <a:rPr sz="1125" b="0">
                <a:solidFill>
                  <a:srgbClr val="F7F7FA"/>
                </a:solidFill>
                <a:latin typeface="Arial"/>
              </a:rPr>
              <a:t>Searched. Three of the pages are from this</a:t>
            </a:r>
          </a:p>
        </p:txBody>
      </p:sp>
      <p:sp>
        <p:nvSpPr>
          <p:cNvPr id="37" name="TextBox 36"/>
          <p:cNvSpPr txBox="1"/>
          <p:nvPr/>
        </p:nvSpPr>
        <p:spPr>
          <a:xfrm>
            <a:off x="621792" y="3081528"/>
            <a:ext cx="3694175" cy="210312"/>
          </a:xfrm>
          <a:prstGeom prst="rect">
            <a:avLst/>
          </a:prstGeom>
          <a:noFill/>
        </p:spPr>
        <p:txBody>
          <a:bodyPr wrap="none" lIns="0" rIns="0" tIns="0" bIns="0" anchor="t">
            <a:spAutoFit/>
          </a:bodyPr>
          <a:lstStyle/>
          <a:p>
            <a:pPr algn="l"/>
            <a:r>
              <a:rPr sz="1125" b="0">
                <a:solidFill>
                  <a:srgbClr val="F7F7FA"/>
                </a:solidFill>
                <a:latin typeface="Arial"/>
              </a:rPr>
              <a:t>month - here is what they say, with dates.</a:t>
            </a:r>
          </a:p>
        </p:txBody>
      </p:sp>
      <p:sp>
        <p:nvSpPr>
          <p:cNvPr id="39" name="Rounded Rectangle 38"/>
          <p:cNvSpPr/>
          <p:nvPr/>
        </p:nvSpPr>
        <p:spPr>
          <a:xfrm>
            <a:off x="512064" y="3557015"/>
            <a:ext cx="3913631" cy="301752"/>
          </a:xfrm>
          <a:prstGeom prst="roundRect">
            <a:avLst>
              <a:gd name="adj" fmla="val 15151"/>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30936" y="3630168"/>
            <a:ext cx="3291839" cy="173736"/>
          </a:xfrm>
          <a:prstGeom prst="rect">
            <a:avLst/>
          </a:prstGeom>
          <a:noFill/>
        </p:spPr>
        <p:txBody>
          <a:bodyPr wrap="square" lIns="0" rIns="0" tIns="0" bIns="0" anchor="t">
            <a:spAutoFit/>
          </a:bodyPr>
          <a:lstStyle/>
          <a:p>
            <a:pPr algn="l"/>
            <a:r>
              <a:rPr sz="885" b="0">
                <a:solidFill>
                  <a:srgbClr val="C6C7D0"/>
                </a:solidFill>
                <a:latin typeface="Arial"/>
              </a:rPr>
              <a:t>Send a message…</a:t>
            </a:r>
          </a:p>
        </p:txBody>
      </p:sp>
      <p:sp>
        <p:nvSpPr>
          <p:cNvPr id="41" name="Rounded Rectangle 40"/>
          <p:cNvSpPr/>
          <p:nvPr/>
        </p:nvSpPr>
        <p:spPr>
          <a:xfrm>
            <a:off x="4151376" y="3602735"/>
            <a:ext cx="210312" cy="210312"/>
          </a:xfrm>
          <a:prstGeom prst="roundRect">
            <a:avLst>
              <a:gd name="adj" fmla="val 21739"/>
            </a:avLst>
          </a:prstGeom>
          <a:solidFill>
            <a:srgbClr val="E4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4151376" y="3602735"/>
            <a:ext cx="210312" cy="210312"/>
          </a:xfrm>
          <a:prstGeom prst="rect">
            <a:avLst/>
          </a:prstGeom>
          <a:noFill/>
        </p:spPr>
        <p:txBody>
          <a:bodyPr wrap="square" lIns="0" rIns="0" tIns="0" bIns="0" anchor="ctr">
            <a:spAutoFit/>
          </a:bodyPr>
          <a:lstStyle/>
          <a:p>
            <a:pPr algn="ctr"/>
            <a:r>
              <a:rPr sz="1125" b="0">
                <a:solidFill>
                  <a:srgbClr val="25262C"/>
                </a:solidFill>
                <a:latin typeface="Arial"/>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It Matters - Grounded Is Not the Same as True</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aphicFrame>
        <p:nvGraphicFramePr>
          <p:cNvPr id="26" name="Table 25"/>
          <p:cNvGraphicFramePr>
            <a:graphicFrameLocks noGrp="1"/>
          </p:cNvGraphicFramePr>
          <p:nvPr/>
        </p:nvGraphicFramePr>
        <p:xfrm>
          <a:off x="310896" y="1389888"/>
          <a:ext cx="8522206" cy="2103115"/>
        </p:xfrm>
        <a:graphic>
          <a:graphicData uri="http://schemas.openxmlformats.org/drawingml/2006/table">
            <a:tbl>
              <a:tblPr>
                <a:tableStyleId>{2D5ABB26-0587-4C30-8999-92F81FD0307C}</a:tableStyleId>
              </a:tblPr>
              <a:tblGrid>
                <a:gridCol w="1779362"/>
                <a:gridCol w="3371422"/>
                <a:gridCol w="3371422"/>
              </a:tblGrid>
              <a:tr h="420623">
                <a:tc>
                  <a:txBody>
                    <a:bodyPr wrap="square"/>
                    <a:lstStyle/>
                    <a:p>
                      <a:r>
                        <a:rPr sz="1200" b="1">
                          <a:solidFill>
                            <a:srgbClr val="424242"/>
                          </a:solidFill>
                          <a:latin typeface="Source Code Pro"/>
                        </a:rPr>
                        <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From memory</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From the web</a:t>
                      </a:r>
                    </a:p>
                  </a:txBody>
                  <a:tcPr marL="91440" marR="91440" marT="36576" marB="36576" anchor="ctr">
                    <a:lnT w="9525" cap="flat">
                      <a:solidFill>
                        <a:srgbClr val="D8D8DE"/>
                      </a:solidFill>
                    </a:lnT>
                    <a:lnB w="15875" cap="flat">
                      <a:solidFill>
                        <a:srgbClr val="424242"/>
                      </a:solidFill>
                    </a:lnB>
                    <a:solidFill>
                      <a:srgbClr val="FFFFFF"/>
                    </a:solidFill>
                  </a:tcPr>
                </a:tc>
              </a:tr>
              <a:tr h="420623">
                <a:tc>
                  <a:txBody>
                    <a:bodyPr wrap="square"/>
                    <a:lstStyle/>
                    <a:p>
                      <a:r>
                        <a:rPr sz="1200" b="0">
                          <a:solidFill>
                            <a:srgbClr val="424242"/>
                          </a:solidFill>
                          <a:latin typeface="Source Code Pro"/>
                        </a:rPr>
                        <a:t>Freshness</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Frozen at training</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As fresh as the page</a:t>
                      </a:r>
                    </a:p>
                  </a:txBody>
                  <a:tcPr marL="91440" marR="91440" marT="36576" marB="36576" anchor="ctr">
                    <a:lnB w="9525" cap="flat">
                      <a:solidFill>
                        <a:srgbClr val="D8D8DE"/>
                      </a:solidFill>
                    </a:lnB>
                    <a:solidFill>
                      <a:srgbClr val="FFFFFF"/>
                    </a:solidFill>
                  </a:tcPr>
                </a:tc>
              </a:tr>
              <a:tr h="420623">
                <a:tc>
                  <a:txBody>
                    <a:bodyPr wrap="square"/>
                    <a:lstStyle/>
                    <a:p>
                      <a:r>
                        <a:rPr sz="1200" b="0">
                          <a:solidFill>
                            <a:srgbClr val="424242"/>
                          </a:solidFill>
                          <a:latin typeface="Source Code Pro"/>
                        </a:rPr>
                        <a:t>Speed</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Immediate</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Waits on the fetch</a:t>
                      </a:r>
                    </a:p>
                  </a:txBody>
                  <a:tcPr marL="91440" marR="91440" marT="36576" marB="36576" anchor="ctr">
                    <a:lnB w="9525" cap="flat">
                      <a:solidFill>
                        <a:srgbClr val="D8D8DE"/>
                      </a:solidFill>
                    </a:lnB>
                    <a:solidFill>
                      <a:srgbClr val="FFFFFF"/>
                    </a:solidFill>
                  </a:tcPr>
                </a:tc>
              </a:tr>
              <a:tr h="420623">
                <a:tc>
                  <a:txBody>
                    <a:bodyPr wrap="square"/>
                    <a:lstStyle/>
                    <a:p>
                      <a:r>
                        <a:rPr sz="1200" b="0">
                          <a:solidFill>
                            <a:srgbClr val="424242"/>
                          </a:solidFill>
                          <a:latin typeface="Source Code Pro"/>
                        </a:rPr>
                        <a:t>Checkable</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Nothing to open</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Open the source</a:t>
                      </a:r>
                    </a:p>
                  </a:txBody>
                  <a:tcPr marL="91440" marR="91440" marT="36576" marB="36576" anchor="ctr">
                    <a:lnB w="9525" cap="flat">
                      <a:solidFill>
                        <a:srgbClr val="D8D8DE"/>
                      </a:solidFill>
                    </a:lnB>
                    <a:solidFill>
                      <a:srgbClr val="FFFFFF"/>
                    </a:solidFill>
                  </a:tcPr>
                </a:tc>
              </a:tr>
              <a:tr h="420623">
                <a:tc>
                  <a:txBody>
                    <a:bodyPr wrap="square"/>
                    <a:lstStyle/>
                    <a:p>
                      <a:r>
                        <a:rPr sz="1200" b="0">
                          <a:solidFill>
                            <a:srgbClr val="424242"/>
                          </a:solidFill>
                          <a:latin typeface="Source Code Pro"/>
                        </a:rPr>
                        <a:t>Failure mode</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Confidently out of date</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Confidently citing a bad page</a:t>
                      </a:r>
                    </a:p>
                  </a:txBody>
                  <a:tcPr marL="91440" marR="91440" marT="36576" marB="36576" anchor="ctr">
                    <a:lnB w="9525" cap="flat">
                      <a:solidFill>
                        <a:srgbClr val="D8D8DE"/>
                      </a:solidFill>
                    </a:lnB>
                    <a:solidFill>
                      <a:srgbClr val="FFFFFF"/>
                    </a:solidFill>
                  </a:tcPr>
                </a:tc>
              </a:tr>
            </a:tbl>
          </a:graphicData>
        </a:graphic>
      </p:graphicFrame>
      <p:sp>
        <p:nvSpPr>
          <p:cNvPr id="27" name="TextBox 26"/>
          <p:cNvSpPr txBox="1"/>
          <p:nvPr/>
        </p:nvSpPr>
        <p:spPr>
          <a:xfrm>
            <a:off x="310896" y="3675887"/>
            <a:ext cx="8522208" cy="61722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Retrieval changes where an answer comes from, not whether it is right. Pages are written by people - some are stale, some are wrong, and some were written to be found rather than to be correct. The citation is the thing you check, not the thing you trust.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When to Ask for It</a:t>
            </a:r>
          </a:p>
        </p:txBody>
      </p:sp>
      <p:sp>
        <p:nvSpPr>
          <p:cNvPr id="3" name="Text Placeholder 2"/>
          <p:cNvSpPr>
            <a:spLocks noGrp="1"/>
          </p:cNvSpPr>
          <p:nvPr>
            <p:ph type="body" idx="1"/>
          </p:nvPr>
        </p:nvSpPr>
        <p:spPr>
          <a:xfrm>
            <a:off x="311700" y="1874519"/>
            <a:ext cx="3999900" cy="2679191"/>
          </a:xfrm>
        </p:spPr>
        <p:txBody>
          <a:bodyPr/>
          <a:lstStyle/>
          <a:p>
            <a:r>
              <a:t>Anything that changed recently</a:t>
            </a:r>
          </a:p>
          <a:p>
            <a:r>
              <a:t>Prices, releases, rules, who holds a post</a:t>
            </a:r>
          </a:p>
          <a:p>
            <a:r>
              <a:t>Claims you will have to defend</a:t>
            </a:r>
          </a:p>
        </p:txBody>
      </p:sp>
      <p:sp>
        <p:nvSpPr>
          <p:cNvPr id="4" name="Text Placeholder 3"/>
          <p:cNvSpPr>
            <a:spLocks noGrp="1"/>
          </p:cNvSpPr>
          <p:nvPr>
            <p:ph type="body" idx="2"/>
          </p:nvPr>
        </p:nvSpPr>
        <p:spPr>
          <a:xfrm>
            <a:off x="4832400" y="1874519"/>
            <a:ext cx="3999900" cy="2679191"/>
          </a:xfrm>
        </p:spPr>
        <p:txBody>
          <a:bodyPr/>
          <a:lstStyle/>
          <a:p>
            <a:r>
              <a:t>Reasoning over what you already gave it</a:t>
            </a:r>
          </a:p>
          <a:p>
            <a:r>
              <a:t>Rewriting or summarising your own text</a:t>
            </a:r>
          </a:p>
          <a:p>
            <a:r>
              <a:t>Settled facts, definitions, maths</a:t>
            </a:r>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3" name="TextBox 32"/>
          <p:cNvSpPr txBox="1"/>
          <p:nvPr/>
        </p:nvSpPr>
        <p:spPr>
          <a:xfrm>
            <a:off x="310896" y="1444752"/>
            <a:ext cx="3995928" cy="274320"/>
          </a:xfrm>
          <a:prstGeom prst="rect">
            <a:avLst/>
          </a:prstGeom>
          <a:noFill/>
        </p:spPr>
        <p:txBody>
          <a:bodyPr wrap="square" lIns="0" rIns="0" tIns="0" bIns="0" anchor="t">
            <a:spAutoFit/>
          </a:bodyPr>
          <a:lstStyle/>
          <a:p>
            <a:pPr algn="l"/>
            <a:r>
              <a:rPr sz="1400" b="1">
                <a:solidFill>
                  <a:srgbClr val="424242"/>
                </a:solidFill>
                <a:latin typeface="Source Code Pro"/>
              </a:rPr>
              <a:t>Worth the fetch</a:t>
            </a:r>
          </a:p>
        </p:txBody>
      </p:sp>
      <p:sp>
        <p:nvSpPr>
          <p:cNvPr id="34" name="TextBox 33"/>
          <p:cNvSpPr txBox="1"/>
          <p:nvPr/>
        </p:nvSpPr>
        <p:spPr>
          <a:xfrm>
            <a:off x="4828032" y="1444752"/>
            <a:ext cx="3995928" cy="274320"/>
          </a:xfrm>
          <a:prstGeom prst="rect">
            <a:avLst/>
          </a:prstGeom>
          <a:noFill/>
        </p:spPr>
        <p:txBody>
          <a:bodyPr wrap="square" lIns="0" rIns="0" tIns="0" bIns="0" anchor="t">
            <a:spAutoFit/>
          </a:bodyPr>
          <a:lstStyle/>
          <a:p>
            <a:pPr algn="l"/>
            <a:r>
              <a:rPr sz="1400" b="1">
                <a:solidFill>
                  <a:srgbClr val="424242"/>
                </a:solidFill>
                <a:latin typeface="Source Code Pro"/>
              </a:rPr>
              <a:t>Skip the search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7" name="Google Shape;6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 name="Rectangle 67"/>
          <p:cNvSpPr/>
          <p:nvPr/>
        </p:nvSpPr>
        <p:spPr>
          <a:xfrm>
            <a:off x="0" y="0"/>
            <a:ext cx="9144000" cy="1572768"/>
          </a:xfrm>
          <a:prstGeom prst="rect">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502920" y="0"/>
            <a:ext cx="8138160" cy="1572768"/>
          </a:xfrm>
          <a:prstGeom prst="rect">
            <a:avLst/>
          </a:prstGeom>
          <a:noFill/>
        </p:spPr>
        <p:txBody>
          <a:bodyPr wrap="square" lIns="0" rIns="0" tIns="0" bIns="0" anchor="ctr">
            <a:spAutoFit/>
          </a:bodyPr>
          <a:lstStyle/>
          <a:p>
            <a:pPr algn="l"/>
            <a:r>
              <a:rPr sz="4000" b="0">
                <a:solidFill>
                  <a:srgbClr val="FFFFFF"/>
                </a:solidFill>
                <a:latin typeface="Oswald"/>
              </a:rPr>
              <a:t>Let's See It in Action</a:t>
            </a:r>
          </a:p>
        </p:txBody>
      </p:sp>
      <p:sp>
        <p:nvSpPr>
          <p:cNvPr id="70" name="TextBox 69"/>
          <p:cNvSpPr txBox="1"/>
          <p:nvPr/>
        </p:nvSpPr>
        <p:spPr>
          <a:xfrm>
            <a:off x="502920" y="1883664"/>
            <a:ext cx="8138160" cy="384048"/>
          </a:xfrm>
          <a:prstGeom prst="rect">
            <a:avLst/>
          </a:prstGeom>
          <a:noFill/>
        </p:spPr>
        <p:txBody>
          <a:bodyPr wrap="square" lIns="0" rIns="0" tIns="0" bIns="0" anchor="t">
            <a:spAutoFit/>
          </a:bodyPr>
          <a:lstStyle/>
          <a:p>
            <a:pPr algn="l">
              <a:lnSpc>
                <a:spcPct val="120000"/>
              </a:lnSpc>
            </a:pPr>
            <a:r>
              <a:rPr sz="1500" b="0">
                <a:solidFill>
                  <a:srgbClr val="424242"/>
                </a:solidFill>
                <a:latin typeface="Source Code Pro"/>
              </a:rPr>
              <a:t>That is the principle. Now we do it live in the tool.</a:t>
            </a:r>
          </a:p>
        </p:txBody>
      </p:sp>
      <p:sp>
        <p:nvSpPr>
          <p:cNvPr id="71" name="Rounded Rectangle 70"/>
          <p:cNvSpPr/>
          <p:nvPr/>
        </p:nvSpPr>
        <p:spPr>
          <a:xfrm>
            <a:off x="502920" y="2450592"/>
            <a:ext cx="1842516"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Oval 71"/>
          <p:cNvSpPr/>
          <p:nvPr/>
        </p:nvSpPr>
        <p:spPr>
          <a:xfrm>
            <a:off x="722376"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722376"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1</a:t>
            </a:r>
          </a:p>
        </p:txBody>
      </p:sp>
      <p:sp>
        <p:nvSpPr>
          <p:cNvPr id="74" name="TextBox 73"/>
          <p:cNvSpPr txBox="1"/>
          <p:nvPr/>
        </p:nvSpPr>
        <p:spPr>
          <a:xfrm>
            <a:off x="704088" y="3127248"/>
            <a:ext cx="1440180"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Ask a live question</a:t>
            </a:r>
          </a:p>
        </p:txBody>
      </p:sp>
      <p:sp>
        <p:nvSpPr>
          <p:cNvPr id="75" name="TextBox 74"/>
          <p:cNvSpPr txBox="1"/>
          <p:nvPr/>
        </p:nvSpPr>
        <p:spPr>
          <a:xfrm>
            <a:off x="704088" y="3630168"/>
            <a:ext cx="1440180"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watch it search</a:t>
            </a:r>
          </a:p>
        </p:txBody>
      </p:sp>
      <p:sp>
        <p:nvSpPr>
          <p:cNvPr id="76" name="Rounded Rectangle 75"/>
          <p:cNvSpPr/>
          <p:nvPr/>
        </p:nvSpPr>
        <p:spPr>
          <a:xfrm>
            <a:off x="2601468" y="2450592"/>
            <a:ext cx="1842516"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Oval 76"/>
          <p:cNvSpPr/>
          <p:nvPr/>
        </p:nvSpPr>
        <p:spPr>
          <a:xfrm>
            <a:off x="2820924"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2820924"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2</a:t>
            </a:r>
          </a:p>
        </p:txBody>
      </p:sp>
      <p:sp>
        <p:nvSpPr>
          <p:cNvPr id="79" name="TextBox 78"/>
          <p:cNvSpPr txBox="1"/>
          <p:nvPr/>
        </p:nvSpPr>
        <p:spPr>
          <a:xfrm>
            <a:off x="2802636" y="3127248"/>
            <a:ext cx="1440180"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Ask a settled one</a:t>
            </a:r>
          </a:p>
        </p:txBody>
      </p:sp>
      <p:sp>
        <p:nvSpPr>
          <p:cNvPr id="80" name="TextBox 79"/>
          <p:cNvSpPr txBox="1"/>
          <p:nvPr/>
        </p:nvSpPr>
        <p:spPr>
          <a:xfrm>
            <a:off x="2802636" y="3630168"/>
            <a:ext cx="1440180"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no search, no sources</a:t>
            </a:r>
          </a:p>
        </p:txBody>
      </p:sp>
      <p:sp>
        <p:nvSpPr>
          <p:cNvPr id="81" name="Rounded Rectangle 80"/>
          <p:cNvSpPr/>
          <p:nvPr/>
        </p:nvSpPr>
        <p:spPr>
          <a:xfrm>
            <a:off x="4700016" y="2450592"/>
            <a:ext cx="1842516"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Oval 81"/>
          <p:cNvSpPr/>
          <p:nvPr/>
        </p:nvSpPr>
        <p:spPr>
          <a:xfrm>
            <a:off x="4919472"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4919472"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3</a:t>
            </a:r>
          </a:p>
        </p:txBody>
      </p:sp>
      <p:sp>
        <p:nvSpPr>
          <p:cNvPr id="84" name="TextBox 83"/>
          <p:cNvSpPr txBox="1"/>
          <p:nvPr/>
        </p:nvSpPr>
        <p:spPr>
          <a:xfrm>
            <a:off x="4901183" y="3127248"/>
            <a:ext cx="1440180"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Ask the first again</a:t>
            </a:r>
          </a:p>
        </p:txBody>
      </p:sp>
      <p:sp>
        <p:nvSpPr>
          <p:cNvPr id="85" name="TextBox 84"/>
          <p:cNvSpPr txBox="1"/>
          <p:nvPr/>
        </p:nvSpPr>
        <p:spPr>
          <a:xfrm>
            <a:off x="4901183" y="3630168"/>
            <a:ext cx="1440180"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this time say: search the web</a:t>
            </a:r>
          </a:p>
        </p:txBody>
      </p:sp>
      <p:sp>
        <p:nvSpPr>
          <p:cNvPr id="86" name="Rounded Rectangle 85"/>
          <p:cNvSpPr/>
          <p:nvPr/>
        </p:nvSpPr>
        <p:spPr>
          <a:xfrm>
            <a:off x="6798564" y="2450592"/>
            <a:ext cx="1842516"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Oval 86"/>
          <p:cNvSpPr/>
          <p:nvPr/>
        </p:nvSpPr>
        <p:spPr>
          <a:xfrm>
            <a:off x="7018020"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7018020"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4</a:t>
            </a:r>
          </a:p>
        </p:txBody>
      </p:sp>
      <p:sp>
        <p:nvSpPr>
          <p:cNvPr id="89" name="TextBox 88"/>
          <p:cNvSpPr txBox="1"/>
          <p:nvPr/>
        </p:nvSpPr>
        <p:spPr>
          <a:xfrm>
            <a:off x="6999731" y="3127248"/>
            <a:ext cx="1440180"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Open a citation</a:t>
            </a:r>
          </a:p>
        </p:txBody>
      </p:sp>
      <p:sp>
        <p:nvSpPr>
          <p:cNvPr id="90" name="TextBox 89"/>
          <p:cNvSpPr txBox="1"/>
          <p:nvPr/>
        </p:nvSpPr>
        <p:spPr>
          <a:xfrm>
            <a:off x="6999731" y="3630168"/>
            <a:ext cx="1440180"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does it say what the answer says?</a:t>
            </a:r>
          </a:p>
        </p:txBody>
      </p:sp>
    </p:spTree>
  </p:cSld>
  <p:clrMapOvr>
    <a:masterClrMapping/>
  </p:clrMapOvr>
</p:sld>
</file>

<file path=ppt/theme/theme1.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