
<file path=[Content_Types].xml><?xml version="1.0" encoding="utf-8"?>
<Types xmlns="http://schemas.openxmlformats.org/package/2006/content-types">
  <Default Extension="fntdata" ContentType="application/x-fontdata"/>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70" r:id="rId5"/>
    <p:sldMasterId id="2147483671" r:id="rId6"/>
  </p:sldMasterIdLst>
  <p:notesMasterIdLst>
    <p:notesMasterId r:id="rId7"/>
  </p:notesMasterIdLst>
  <p:sldIdLst>
    <p:sldId id="256" r:id="rId14"/>
    <p:sldId id="257" r:id="rId15"/>
    <p:sldId id="258" r:id="rId16"/>
    <p:sldId id="259" r:id="rId17"/>
    <p:sldId id="260" r:id="rId18"/>
    <p:sldId id="261" r:id="rId19"/>
    <p:sldId id="262" r:id="rId20"/>
    <p:sldId id="263" r:id="rId21"/>
    <p:sldId id="264" r:id="rId22"/>
    <p:sldId id="265" r:id="rId23"/>
    <p:sldId id="266" r:id="rId13"/>
    <p:sldId id="267" r:id="rId12"/>
  </p:sldIdLst>
  <p:sldSz cy="5143500" cx="9144000"/>
  <p:notesSz cx="6858000" cy="9144000"/>
  <p:embeddedFontLst>
    <p:embeddedFont>
      <p:font typeface="Source Code Pro"/>
      <p:regular r:id="rId24"/>
      <p:bold r:id="rId25"/>
      <p:italic r:id="rId26"/>
      <p:boldItalic r:id="rId27"/>
    </p:embeddedFont>
    <p:embeddedFont>
      <p:font typeface="Oswald"/>
      <p:regular r:id="rId28"/>
      <p:bold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673574E-313A-4E41-A38C-36F247BE0EA5}">
  <a:tblStyle styleId="{3673574E-313A-4E41-A38C-36F247BE0EA5}"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709F496F-DB3D-4476-992D-8F9A65F79524}"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12" Type="http://schemas.openxmlformats.org/officeDocument/2006/relationships/slide" Target="slides/slide12.xml"/><Relationship Id="rId13" Type="http://schemas.openxmlformats.org/officeDocument/2006/relationships/slide" Target="slides/slide11.xml"/><Relationship Id="rId14" Type="http://schemas.openxmlformats.org/officeDocument/2006/relationships/slide" Target="slides/slide1.xml"/><Relationship Id="rId15" Type="http://schemas.openxmlformats.org/officeDocument/2006/relationships/slide" Target="slides/slide2.xml"/><Relationship Id="rId16" Type="http://schemas.openxmlformats.org/officeDocument/2006/relationships/slide" Target="slides/slide3.xml"/><Relationship Id="rId17" Type="http://schemas.openxmlformats.org/officeDocument/2006/relationships/slide" Target="slides/slide4.xml"/><Relationship Id="rId18" Type="http://schemas.openxmlformats.org/officeDocument/2006/relationships/slide" Target="slides/slide5.xml"/><Relationship Id="rId19" Type="http://schemas.openxmlformats.org/officeDocument/2006/relationships/slide" Target="slides/slide6.xml"/><Relationship Id="rId20" Type="http://schemas.openxmlformats.org/officeDocument/2006/relationships/slide" Target="slides/slide7.xml"/><Relationship Id="rId21" Type="http://schemas.openxmlformats.org/officeDocument/2006/relationships/slide" Target="slides/slide8.xml"/><Relationship Id="rId22" Type="http://schemas.openxmlformats.org/officeDocument/2006/relationships/slide" Target="slides/slide9.xml"/><Relationship Id="rId23" Type="http://schemas.openxmlformats.org/officeDocument/2006/relationships/slide" Target="slides/slide10.xml"/><Relationship Id="rId24" Type="http://schemas.openxmlformats.org/officeDocument/2006/relationships/font" Target="fonts/SourceCodePro-regular.fntdata"/><Relationship Id="rId25" Type="http://schemas.openxmlformats.org/officeDocument/2006/relationships/font" Target="fonts/SourceCodePro-bold.fntdata"/><Relationship Id="rId26" Type="http://schemas.openxmlformats.org/officeDocument/2006/relationships/font" Target="fonts/SourceCodePro-italic.fntdata"/><Relationship Id="rId27" Type="http://schemas.openxmlformats.org/officeDocument/2006/relationships/font" Target="fonts/SourceCodePro-boldItalic.fntdata"/><Relationship Id="rId28" Type="http://schemas.openxmlformats.org/officeDocument/2006/relationships/font" Target="fonts/Oswald-regular.fntdata"/><Relationship Id="rId29" Type="http://schemas.openxmlformats.org/officeDocument/2006/relationships/font" Target="fonts/Oswald-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10800000">
            <a:off x="4226100" y="2933550"/>
            <a:ext cx="691800" cy="388500"/>
          </a:xfrm>
          <a:prstGeom prst="triangle">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a:off x="-25" y="0"/>
            <a:ext cx="9144000" cy="3124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411175" y="644300"/>
            <a:ext cx="8282400" cy="21090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1"/>
              </a:buClr>
              <a:buSzPts val="6000"/>
              <a:buNone/>
              <a:defRPr sz="6000">
                <a:solidFill>
                  <a:schemeClr val="lt1"/>
                </a:solidFill>
              </a:defRPr>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p:txBody>
      </p:sp>
      <p:sp>
        <p:nvSpPr>
          <p:cNvPr id="13" name="Google Shape;13;p2"/>
          <p:cNvSpPr txBox="1"/>
          <p:nvPr>
            <p:ph idx="1" type="subTitle"/>
          </p:nvPr>
        </p:nvSpPr>
        <p:spPr>
          <a:xfrm>
            <a:off x="411175" y="3398250"/>
            <a:ext cx="8282400" cy="1260600"/>
          </a:xfrm>
          <a:prstGeom prst="rect">
            <a:avLst/>
          </a:prstGeom>
        </p:spPr>
        <p:txBody>
          <a:bodyPr anchorCtr="0" anchor="ctr" bIns="91425" lIns="91425" spcFirstLastPara="1" rIns="91425" wrap="square" tIns="91425">
            <a:normAutofit/>
          </a:bodyPr>
          <a:lstStyle>
            <a:lvl1pPr lvl="0" algn="ctr">
              <a:lnSpc>
                <a:spcPct val="100000"/>
              </a:lnSpc>
              <a:spcBef>
                <a:spcPts val="0"/>
              </a:spcBef>
              <a:spcAft>
                <a:spcPts val="0"/>
              </a:spcAft>
              <a:buSzPts val="3600"/>
              <a:buFont typeface="Oswald"/>
              <a:buNone/>
              <a:defRPr sz="3600">
                <a:latin typeface="Oswald"/>
                <a:ea typeface="Oswald"/>
                <a:cs typeface="Oswald"/>
                <a:sym typeface="Oswald"/>
              </a:defRPr>
            </a:lvl1pPr>
            <a:lvl2pPr lvl="1" algn="ctr">
              <a:lnSpc>
                <a:spcPct val="100000"/>
              </a:lnSpc>
              <a:spcBef>
                <a:spcPts val="0"/>
              </a:spcBef>
              <a:spcAft>
                <a:spcPts val="0"/>
              </a:spcAft>
              <a:buSzPts val="3600"/>
              <a:buFont typeface="Oswald"/>
              <a:buNone/>
              <a:defRPr sz="3600">
                <a:latin typeface="Oswald"/>
                <a:ea typeface="Oswald"/>
                <a:cs typeface="Oswald"/>
                <a:sym typeface="Oswald"/>
              </a:defRPr>
            </a:lvl2pPr>
            <a:lvl3pPr lvl="2" algn="ctr">
              <a:lnSpc>
                <a:spcPct val="100000"/>
              </a:lnSpc>
              <a:spcBef>
                <a:spcPts val="0"/>
              </a:spcBef>
              <a:spcAft>
                <a:spcPts val="0"/>
              </a:spcAft>
              <a:buSzPts val="3600"/>
              <a:buFont typeface="Oswald"/>
              <a:buNone/>
              <a:defRPr sz="3600">
                <a:latin typeface="Oswald"/>
                <a:ea typeface="Oswald"/>
                <a:cs typeface="Oswald"/>
                <a:sym typeface="Oswald"/>
              </a:defRPr>
            </a:lvl3pPr>
            <a:lvl4pPr lvl="3" algn="ctr">
              <a:lnSpc>
                <a:spcPct val="100000"/>
              </a:lnSpc>
              <a:spcBef>
                <a:spcPts val="0"/>
              </a:spcBef>
              <a:spcAft>
                <a:spcPts val="0"/>
              </a:spcAft>
              <a:buSzPts val="3600"/>
              <a:buFont typeface="Oswald"/>
              <a:buNone/>
              <a:defRPr sz="3600">
                <a:latin typeface="Oswald"/>
                <a:ea typeface="Oswald"/>
                <a:cs typeface="Oswald"/>
                <a:sym typeface="Oswald"/>
              </a:defRPr>
            </a:lvl4pPr>
            <a:lvl5pPr lvl="4" algn="ctr">
              <a:lnSpc>
                <a:spcPct val="100000"/>
              </a:lnSpc>
              <a:spcBef>
                <a:spcPts val="0"/>
              </a:spcBef>
              <a:spcAft>
                <a:spcPts val="0"/>
              </a:spcAft>
              <a:buSzPts val="3600"/>
              <a:buFont typeface="Oswald"/>
              <a:buNone/>
              <a:defRPr sz="3600">
                <a:latin typeface="Oswald"/>
                <a:ea typeface="Oswald"/>
                <a:cs typeface="Oswald"/>
                <a:sym typeface="Oswald"/>
              </a:defRPr>
            </a:lvl5pPr>
            <a:lvl6pPr lvl="5" algn="ctr">
              <a:lnSpc>
                <a:spcPct val="100000"/>
              </a:lnSpc>
              <a:spcBef>
                <a:spcPts val="0"/>
              </a:spcBef>
              <a:spcAft>
                <a:spcPts val="0"/>
              </a:spcAft>
              <a:buSzPts val="3600"/>
              <a:buFont typeface="Oswald"/>
              <a:buNone/>
              <a:defRPr sz="3600">
                <a:latin typeface="Oswald"/>
                <a:ea typeface="Oswald"/>
                <a:cs typeface="Oswald"/>
                <a:sym typeface="Oswald"/>
              </a:defRPr>
            </a:lvl6pPr>
            <a:lvl7pPr lvl="6" algn="ctr">
              <a:lnSpc>
                <a:spcPct val="100000"/>
              </a:lnSpc>
              <a:spcBef>
                <a:spcPts val="0"/>
              </a:spcBef>
              <a:spcAft>
                <a:spcPts val="0"/>
              </a:spcAft>
              <a:buSzPts val="3600"/>
              <a:buFont typeface="Oswald"/>
              <a:buNone/>
              <a:defRPr sz="3600">
                <a:latin typeface="Oswald"/>
                <a:ea typeface="Oswald"/>
                <a:cs typeface="Oswald"/>
                <a:sym typeface="Oswald"/>
              </a:defRPr>
            </a:lvl7pPr>
            <a:lvl8pPr lvl="7" algn="ctr">
              <a:lnSpc>
                <a:spcPct val="100000"/>
              </a:lnSpc>
              <a:spcBef>
                <a:spcPts val="0"/>
              </a:spcBef>
              <a:spcAft>
                <a:spcPts val="0"/>
              </a:spcAft>
              <a:buSzPts val="3600"/>
              <a:buFont typeface="Oswald"/>
              <a:buNone/>
              <a:defRPr sz="3600">
                <a:latin typeface="Oswald"/>
                <a:ea typeface="Oswald"/>
                <a:cs typeface="Oswald"/>
                <a:sym typeface="Oswald"/>
              </a:defRPr>
            </a:lvl8pPr>
            <a:lvl9pPr lvl="8" algn="ctr">
              <a:lnSpc>
                <a:spcPct val="100000"/>
              </a:lnSpc>
              <a:spcBef>
                <a:spcPts val="0"/>
              </a:spcBef>
              <a:spcAft>
                <a:spcPts val="0"/>
              </a:spcAft>
              <a:buSzPts val="3600"/>
              <a:buFont typeface="Oswald"/>
              <a:buNone/>
              <a:defRPr sz="3600">
                <a:latin typeface="Oswald"/>
                <a:ea typeface="Oswald"/>
                <a:cs typeface="Oswald"/>
                <a:sym typeface="Oswald"/>
              </a:defRPr>
            </a:lvl9pPr>
          </a:lstStyle>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5" name="Google Shape;15;p2"/>
          <p:cNvSpPr txBox="1"/>
          <p:nvPr/>
        </p:nvSpPr>
        <p:spPr>
          <a:xfrm>
            <a:off x="411175" y="79900"/>
            <a:ext cx="8282400" cy="380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lt1"/>
                </a:solidFill>
                <a:latin typeface="Source Code Pro"/>
                <a:ea typeface="Source Code Pro"/>
                <a:cs typeface="Source Code Pro"/>
                <a:sym typeface="Source Code Pro"/>
              </a:rPr>
              <a:t>The Complete Prompt Engineering for AI Bootcamp</a:t>
            </a:r>
            <a:endParaRPr sz="1100">
              <a:solidFill>
                <a:schemeClr val="lt1"/>
              </a:solidFill>
              <a:latin typeface="Source Code Pro"/>
              <a:ea typeface="Source Code Pro"/>
              <a:cs typeface="Source Code Pro"/>
              <a:sym typeface="Source Code Pro"/>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6" name="Shape 16"/>
        <p:cNvGrpSpPr/>
        <p:nvPr/>
      </p:nvGrpSpPr>
      <p:grpSpPr>
        <a:xfrm>
          <a:off x="0" y="0"/>
          <a:ext cx="0" cy="0"/>
          <a:chOff x="0" y="0"/>
          <a:chExt cx="0" cy="0"/>
        </a:xfrm>
      </p:grpSpPr>
      <p:sp>
        <p:nvSpPr>
          <p:cNvPr id="17" name="Google Shape;17;p3"/>
          <p:cNvSpPr/>
          <p:nvPr/>
        </p:nvSpPr>
        <p:spPr>
          <a:xfrm>
            <a:off x="0" y="1567350"/>
            <a:ext cx="9144000" cy="20088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3"/>
          <p:cNvSpPr txBox="1"/>
          <p:nvPr>
            <p:ph type="title"/>
          </p:nvPr>
        </p:nvSpPr>
        <p:spPr>
          <a:xfrm>
            <a:off x="430800" y="1889700"/>
            <a:ext cx="8282400" cy="15165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3600"/>
              <a:buNone/>
              <a:defRPr sz="3600">
                <a:solidFill>
                  <a:schemeClr val="lt1"/>
                </a:solidFill>
              </a:defRPr>
            </a:lvl1pPr>
            <a:lvl2pPr lvl="1" algn="ctr">
              <a:spcBef>
                <a:spcPts val="0"/>
              </a:spcBef>
              <a:spcAft>
                <a:spcPts val="0"/>
              </a:spcAft>
              <a:buClr>
                <a:schemeClr val="lt1"/>
              </a:buClr>
              <a:buSzPts val="3600"/>
              <a:buNone/>
              <a:defRPr sz="3600">
                <a:solidFill>
                  <a:schemeClr val="lt1"/>
                </a:solidFill>
              </a:defRPr>
            </a:lvl2pPr>
            <a:lvl3pPr lvl="2" algn="ctr">
              <a:spcBef>
                <a:spcPts val="0"/>
              </a:spcBef>
              <a:spcAft>
                <a:spcPts val="0"/>
              </a:spcAft>
              <a:buClr>
                <a:schemeClr val="lt1"/>
              </a:buClr>
              <a:buSzPts val="3600"/>
              <a:buNone/>
              <a:defRPr sz="3600">
                <a:solidFill>
                  <a:schemeClr val="lt1"/>
                </a:solidFill>
              </a:defRPr>
            </a:lvl3pPr>
            <a:lvl4pPr lvl="3" algn="ctr">
              <a:spcBef>
                <a:spcPts val="0"/>
              </a:spcBef>
              <a:spcAft>
                <a:spcPts val="0"/>
              </a:spcAft>
              <a:buClr>
                <a:schemeClr val="lt1"/>
              </a:buClr>
              <a:buSzPts val="3600"/>
              <a:buNone/>
              <a:defRPr sz="3600">
                <a:solidFill>
                  <a:schemeClr val="lt1"/>
                </a:solidFill>
              </a:defRPr>
            </a:lvl4pPr>
            <a:lvl5pPr lvl="4" algn="ctr">
              <a:spcBef>
                <a:spcPts val="0"/>
              </a:spcBef>
              <a:spcAft>
                <a:spcPts val="0"/>
              </a:spcAft>
              <a:buClr>
                <a:schemeClr val="lt1"/>
              </a:buClr>
              <a:buSzPts val="3600"/>
              <a:buNone/>
              <a:defRPr sz="3600">
                <a:solidFill>
                  <a:schemeClr val="lt1"/>
                </a:solidFill>
              </a:defRPr>
            </a:lvl5pPr>
            <a:lvl6pPr lvl="5" algn="ctr">
              <a:spcBef>
                <a:spcPts val="0"/>
              </a:spcBef>
              <a:spcAft>
                <a:spcPts val="0"/>
              </a:spcAft>
              <a:buClr>
                <a:schemeClr val="lt1"/>
              </a:buClr>
              <a:buSzPts val="3600"/>
              <a:buNone/>
              <a:defRPr sz="3600">
                <a:solidFill>
                  <a:schemeClr val="lt1"/>
                </a:solidFill>
              </a:defRPr>
            </a:lvl6pPr>
            <a:lvl7pPr lvl="6" algn="ctr">
              <a:spcBef>
                <a:spcPts val="0"/>
              </a:spcBef>
              <a:spcAft>
                <a:spcPts val="0"/>
              </a:spcAft>
              <a:buClr>
                <a:schemeClr val="lt1"/>
              </a:buClr>
              <a:buSzPts val="3600"/>
              <a:buNone/>
              <a:defRPr sz="3600">
                <a:solidFill>
                  <a:schemeClr val="lt1"/>
                </a:solidFill>
              </a:defRPr>
            </a:lvl7pPr>
            <a:lvl8pPr lvl="7" algn="ctr">
              <a:spcBef>
                <a:spcPts val="0"/>
              </a:spcBef>
              <a:spcAft>
                <a:spcPts val="0"/>
              </a:spcAft>
              <a:buClr>
                <a:schemeClr val="lt1"/>
              </a:buClr>
              <a:buSzPts val="3600"/>
              <a:buNone/>
              <a:defRPr sz="3600">
                <a:solidFill>
                  <a:schemeClr val="lt1"/>
                </a:solidFill>
              </a:defRPr>
            </a:lvl8pPr>
            <a:lvl9pPr lvl="8" algn="ctr">
              <a:spcBef>
                <a:spcPts val="0"/>
              </a:spcBef>
              <a:spcAft>
                <a:spcPts val="0"/>
              </a:spcAft>
              <a:buClr>
                <a:schemeClr val="lt1"/>
              </a:buClr>
              <a:buSzPts val="3600"/>
              <a:buNone/>
              <a:defRPr sz="3600">
                <a:solidFill>
                  <a:schemeClr val="lt1"/>
                </a:solidFill>
              </a:defRPr>
            </a:lvl9pPr>
          </a:lstStyle>
          <a:p/>
        </p:txBody>
      </p:sp>
      <p:sp>
        <p:nvSpPr>
          <p:cNvPr id="19" name="Google Shape;19;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0" name="Google Shape;20;p3"/>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900">
                <a:solidFill>
                  <a:schemeClr val="dk2"/>
                </a:solidFill>
                <a:latin typeface="Source Code Pro"/>
                <a:ea typeface="Source Code Pro"/>
                <a:cs typeface="Source Code Pro"/>
                <a:sym typeface="Source Code Pro"/>
              </a:rPr>
              <a:t>The Complete Prompt Engineering for AI Bootcamp</a:t>
            </a:r>
            <a:endParaRPr sz="900">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1" name="Shape 21"/>
        <p:cNvGrpSpPr/>
        <p:nvPr/>
      </p:nvGrpSpPr>
      <p:grpSpPr>
        <a:xfrm>
          <a:off x="0" y="0"/>
          <a:ext cx="0" cy="0"/>
          <a:chOff x="0" y="0"/>
          <a:chExt cx="0" cy="0"/>
        </a:xfrm>
      </p:grpSpPr>
      <p:cxnSp>
        <p:nvCxnSpPr>
          <p:cNvPr id="22" name="Google Shape;22;p4"/>
          <p:cNvCxnSpPr/>
          <p:nvPr/>
        </p:nvCxnSpPr>
        <p:spPr>
          <a:xfrm>
            <a:off x="429200" y="1275577"/>
            <a:ext cx="614100" cy="0"/>
          </a:xfrm>
          <a:prstGeom prst="straightConnector1">
            <a:avLst/>
          </a:prstGeom>
          <a:noFill/>
          <a:ln cap="flat" cmpd="sng" w="19050">
            <a:solidFill>
              <a:schemeClr val="dk2"/>
            </a:solidFill>
            <a:prstDash val="lgDash"/>
            <a:round/>
            <a:headEnd len="sm" w="sm" type="none"/>
            <a:tailEnd len="sm" w="sm" type="none"/>
          </a:ln>
        </p:spPr>
      </p:cxnSp>
      <p:sp>
        <p:nvSpPr>
          <p:cNvPr id="23" name="Google Shape;23;p4"/>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4" name="Google Shape;24;p4"/>
          <p:cNvSpPr txBox="1"/>
          <p:nvPr>
            <p:ph idx="1" type="body"/>
          </p:nvPr>
        </p:nvSpPr>
        <p:spPr>
          <a:xfrm>
            <a:off x="311700" y="1468825"/>
            <a:ext cx="8520600" cy="30999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6" name="Google Shape;26;p4"/>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900">
                <a:solidFill>
                  <a:schemeClr val="dk2"/>
                </a:solidFill>
                <a:latin typeface="Source Code Pro"/>
                <a:ea typeface="Source Code Pro"/>
                <a:cs typeface="Source Code Pro"/>
                <a:sym typeface="Source Code Pro"/>
              </a:rPr>
              <a:t>The Complete Prompt Engineering for AI Bootcamp</a:t>
            </a:r>
            <a:endParaRPr sz="900">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7" name="Shape 27"/>
        <p:cNvGrpSpPr/>
        <p:nvPr/>
      </p:nvGrpSpPr>
      <p:grpSpPr>
        <a:xfrm>
          <a:off x="0" y="0"/>
          <a:ext cx="0" cy="0"/>
          <a:chOff x="0" y="0"/>
          <a:chExt cx="0" cy="0"/>
        </a:xfrm>
      </p:grpSpPr>
      <p:cxnSp>
        <p:nvCxnSpPr>
          <p:cNvPr id="28" name="Google Shape;28;p5"/>
          <p:cNvCxnSpPr/>
          <p:nvPr/>
        </p:nvCxnSpPr>
        <p:spPr>
          <a:xfrm>
            <a:off x="429200" y="1275577"/>
            <a:ext cx="614100" cy="0"/>
          </a:xfrm>
          <a:prstGeom prst="straightConnector1">
            <a:avLst/>
          </a:prstGeom>
          <a:noFill/>
          <a:ln cap="flat" cmpd="sng" w="19050">
            <a:solidFill>
              <a:schemeClr val="dk2"/>
            </a:solidFill>
            <a:prstDash val="lgDash"/>
            <a:round/>
            <a:headEnd len="sm" w="sm" type="none"/>
            <a:tailEnd len="sm" w="sm" type="none"/>
          </a:ln>
        </p:spPr>
      </p:cxnSp>
      <p:sp>
        <p:nvSpPr>
          <p:cNvPr id="29" name="Google Shape;29;p5"/>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0" name="Google Shape;30;p5"/>
          <p:cNvSpPr txBox="1"/>
          <p:nvPr>
            <p:ph idx="1" type="body"/>
          </p:nvPr>
        </p:nvSpPr>
        <p:spPr>
          <a:xfrm>
            <a:off x="311700" y="1468825"/>
            <a:ext cx="3999900" cy="30999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5"/>
          <p:cNvSpPr txBox="1"/>
          <p:nvPr>
            <p:ph idx="2" type="body"/>
          </p:nvPr>
        </p:nvSpPr>
        <p:spPr>
          <a:xfrm>
            <a:off x="4832400" y="1468825"/>
            <a:ext cx="3999900" cy="30999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2" name="Google Shape;32;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3" name="Google Shape;33;p5"/>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900">
                <a:solidFill>
                  <a:schemeClr val="dk2"/>
                </a:solidFill>
                <a:latin typeface="Source Code Pro"/>
                <a:ea typeface="Source Code Pro"/>
                <a:cs typeface="Source Code Pro"/>
                <a:sym typeface="Source Code Pro"/>
              </a:rPr>
              <a:t>The Complete Prompt Engineering for AI Bootcamp</a:t>
            </a:r>
            <a:endParaRPr sz="900">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4" name="Shape 34"/>
        <p:cNvGrpSpPr/>
        <p:nvPr/>
      </p:nvGrpSpPr>
      <p:grpSpPr>
        <a:xfrm>
          <a:off x="0" y="0"/>
          <a:ext cx="0" cy="0"/>
          <a:chOff x="0" y="0"/>
          <a:chExt cx="0" cy="0"/>
        </a:xfrm>
      </p:grpSpPr>
      <p:sp>
        <p:nvSpPr>
          <p:cNvPr id="35" name="Google Shape;35;p6"/>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6" name="Google Shape;36;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7" name="Google Shape;37;p6"/>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900">
                <a:solidFill>
                  <a:schemeClr val="dk2"/>
                </a:solidFill>
                <a:latin typeface="Source Code Pro"/>
                <a:ea typeface="Source Code Pro"/>
                <a:cs typeface="Source Code Pro"/>
                <a:sym typeface="Source Code Pro"/>
              </a:rPr>
              <a:t>The Complete Prompt Engineering for AI Bootcamp</a:t>
            </a:r>
            <a:endParaRPr sz="900">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8" name="Shape 38"/>
        <p:cNvGrpSpPr/>
        <p:nvPr/>
      </p:nvGrpSpPr>
      <p:grpSpPr>
        <a:xfrm>
          <a:off x="0" y="0"/>
          <a:ext cx="0" cy="0"/>
          <a:chOff x="0" y="0"/>
          <a:chExt cx="0" cy="0"/>
        </a:xfrm>
      </p:grpSpPr>
      <p:cxnSp>
        <p:nvCxnSpPr>
          <p:cNvPr id="39" name="Google Shape;39;p7"/>
          <p:cNvCxnSpPr/>
          <p:nvPr/>
        </p:nvCxnSpPr>
        <p:spPr>
          <a:xfrm>
            <a:off x="418675" y="1457787"/>
            <a:ext cx="614100" cy="0"/>
          </a:xfrm>
          <a:prstGeom prst="straightConnector1">
            <a:avLst/>
          </a:prstGeom>
          <a:noFill/>
          <a:ln cap="flat" cmpd="sng" w="19050">
            <a:solidFill>
              <a:schemeClr val="dk2"/>
            </a:solidFill>
            <a:prstDash val="lgDash"/>
            <a:round/>
            <a:headEnd len="sm" w="sm" type="none"/>
            <a:tailEnd len="sm" w="sm" type="none"/>
          </a:ln>
        </p:spPr>
      </p:cxnSp>
      <p:sp>
        <p:nvSpPr>
          <p:cNvPr id="40" name="Google Shape;40;p7"/>
          <p:cNvSpPr txBox="1"/>
          <p:nvPr>
            <p:ph type="title"/>
          </p:nvPr>
        </p:nvSpPr>
        <p:spPr>
          <a:xfrm>
            <a:off x="311700" y="6318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1" name="Google Shape;41;p7"/>
          <p:cNvSpPr txBox="1"/>
          <p:nvPr>
            <p:ph idx="1" type="body"/>
          </p:nvPr>
        </p:nvSpPr>
        <p:spPr>
          <a:xfrm>
            <a:off x="311700" y="1618204"/>
            <a:ext cx="2808000" cy="29508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2" name="Google Shape;42;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43" name="Google Shape;43;p7"/>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900">
                <a:solidFill>
                  <a:schemeClr val="dk2"/>
                </a:solidFill>
                <a:latin typeface="Source Code Pro"/>
                <a:ea typeface="Source Code Pro"/>
                <a:cs typeface="Source Code Pro"/>
                <a:sym typeface="Source Code Pro"/>
              </a:rPr>
              <a:t>The Complete Prompt Engineering for AI Bootcamp</a:t>
            </a:r>
            <a:endParaRPr sz="900">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44" name="Shape 44"/>
        <p:cNvGrpSpPr/>
        <p:nvPr/>
      </p:nvGrpSpPr>
      <p:grpSpPr>
        <a:xfrm>
          <a:off x="0" y="0"/>
          <a:ext cx="0" cy="0"/>
          <a:chOff x="0" y="0"/>
          <a:chExt cx="0" cy="0"/>
        </a:xfrm>
      </p:grpSpPr>
      <p:sp>
        <p:nvSpPr>
          <p:cNvPr id="45" name="Google Shape;45;p8"/>
          <p:cNvSpPr txBox="1"/>
          <p:nvPr>
            <p:ph type="title"/>
          </p:nvPr>
        </p:nvSpPr>
        <p:spPr>
          <a:xfrm>
            <a:off x="490250" y="528900"/>
            <a:ext cx="5678100" cy="40857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5400"/>
              <a:buNone/>
              <a:defRPr sz="5400">
                <a:solidFill>
                  <a:schemeClr val="lt1"/>
                </a:solidFill>
              </a:defRPr>
            </a:lvl1pPr>
            <a:lvl2pPr lvl="1">
              <a:spcBef>
                <a:spcPts val="0"/>
              </a:spcBef>
              <a:spcAft>
                <a:spcPts val="0"/>
              </a:spcAft>
              <a:buClr>
                <a:schemeClr val="lt1"/>
              </a:buClr>
              <a:buSzPts val="5400"/>
              <a:buNone/>
              <a:defRPr sz="5400">
                <a:solidFill>
                  <a:schemeClr val="lt1"/>
                </a:solidFill>
              </a:defRPr>
            </a:lvl2pPr>
            <a:lvl3pPr lvl="2">
              <a:spcBef>
                <a:spcPts val="0"/>
              </a:spcBef>
              <a:spcAft>
                <a:spcPts val="0"/>
              </a:spcAft>
              <a:buClr>
                <a:schemeClr val="lt1"/>
              </a:buClr>
              <a:buSzPts val="5400"/>
              <a:buNone/>
              <a:defRPr sz="5400">
                <a:solidFill>
                  <a:schemeClr val="lt1"/>
                </a:solidFill>
              </a:defRPr>
            </a:lvl3pPr>
            <a:lvl4pPr lvl="3">
              <a:spcBef>
                <a:spcPts val="0"/>
              </a:spcBef>
              <a:spcAft>
                <a:spcPts val="0"/>
              </a:spcAft>
              <a:buClr>
                <a:schemeClr val="lt1"/>
              </a:buClr>
              <a:buSzPts val="5400"/>
              <a:buNone/>
              <a:defRPr sz="5400">
                <a:solidFill>
                  <a:schemeClr val="lt1"/>
                </a:solidFill>
              </a:defRPr>
            </a:lvl4pPr>
            <a:lvl5pPr lvl="4">
              <a:spcBef>
                <a:spcPts val="0"/>
              </a:spcBef>
              <a:spcAft>
                <a:spcPts val="0"/>
              </a:spcAft>
              <a:buClr>
                <a:schemeClr val="lt1"/>
              </a:buClr>
              <a:buSzPts val="5400"/>
              <a:buNone/>
              <a:defRPr sz="5400">
                <a:solidFill>
                  <a:schemeClr val="lt1"/>
                </a:solidFill>
              </a:defRPr>
            </a:lvl5pPr>
            <a:lvl6pPr lvl="5">
              <a:spcBef>
                <a:spcPts val="0"/>
              </a:spcBef>
              <a:spcAft>
                <a:spcPts val="0"/>
              </a:spcAft>
              <a:buClr>
                <a:schemeClr val="lt1"/>
              </a:buClr>
              <a:buSzPts val="5400"/>
              <a:buNone/>
              <a:defRPr sz="5400">
                <a:solidFill>
                  <a:schemeClr val="lt1"/>
                </a:solidFill>
              </a:defRPr>
            </a:lvl6pPr>
            <a:lvl7pPr lvl="6">
              <a:spcBef>
                <a:spcPts val="0"/>
              </a:spcBef>
              <a:spcAft>
                <a:spcPts val="0"/>
              </a:spcAft>
              <a:buClr>
                <a:schemeClr val="lt1"/>
              </a:buClr>
              <a:buSzPts val="5400"/>
              <a:buNone/>
              <a:defRPr sz="5400">
                <a:solidFill>
                  <a:schemeClr val="lt1"/>
                </a:solidFill>
              </a:defRPr>
            </a:lvl7pPr>
            <a:lvl8pPr lvl="7">
              <a:spcBef>
                <a:spcPts val="0"/>
              </a:spcBef>
              <a:spcAft>
                <a:spcPts val="0"/>
              </a:spcAft>
              <a:buClr>
                <a:schemeClr val="lt1"/>
              </a:buClr>
              <a:buSzPts val="5400"/>
              <a:buNone/>
              <a:defRPr sz="5400">
                <a:solidFill>
                  <a:schemeClr val="lt1"/>
                </a:solidFill>
              </a:defRPr>
            </a:lvl8pPr>
            <a:lvl9pPr lvl="8">
              <a:spcBef>
                <a:spcPts val="0"/>
              </a:spcBef>
              <a:spcAft>
                <a:spcPts val="0"/>
              </a:spcAft>
              <a:buClr>
                <a:schemeClr val="lt1"/>
              </a:buClr>
              <a:buSzPts val="5400"/>
              <a:buNone/>
              <a:defRPr sz="5400">
                <a:solidFill>
                  <a:schemeClr val="lt1"/>
                </a:solidFill>
              </a:defRPr>
            </a:lvl9pPr>
          </a:lstStyle>
          <a:p/>
        </p:txBody>
      </p:sp>
      <p:sp>
        <p:nvSpPr>
          <p:cNvPr id="46" name="Google Shape;46;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
        <p:nvSpPr>
          <p:cNvPr id="47" name="Google Shape;47;p8"/>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900">
                <a:solidFill>
                  <a:schemeClr val="lt1"/>
                </a:solidFill>
                <a:latin typeface="Source Code Pro"/>
                <a:ea typeface="Source Code Pro"/>
                <a:cs typeface="Source Code Pro"/>
                <a:sym typeface="Source Code Pro"/>
              </a:rPr>
              <a:t>The Complete Prompt Engineering for AI Bootcamp</a:t>
            </a:r>
            <a:endParaRPr sz="900">
              <a:solidFill>
                <a:schemeClr val="lt1"/>
              </a:solidFill>
              <a:latin typeface="Source Code Pro"/>
              <a:ea typeface="Source Code Pro"/>
              <a:cs typeface="Source Code Pro"/>
              <a:sym typeface="Source Code Pro"/>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1"/>
        </a:solidFill>
      </p:bgPr>
    </p:bg>
    <p:spTree>
      <p:nvGrpSpPr>
        <p:cNvPr id="48" name="Shape 48"/>
        <p:cNvGrpSpPr/>
        <p:nvPr/>
      </p:nvGrpSpPr>
      <p:grpSpPr>
        <a:xfrm>
          <a:off x="0" y="0"/>
          <a:ext cx="0" cy="0"/>
          <a:chOff x="0" y="0"/>
          <a:chExt cx="0" cy="0"/>
        </a:xfrm>
      </p:grpSpPr>
      <p:sp>
        <p:nvSpPr>
          <p:cNvPr id="49" name="Google Shape;49;p9"/>
          <p:cNvSpPr/>
          <p:nvPr/>
        </p:nvSpPr>
        <p:spPr>
          <a:xfrm>
            <a:off x="4572000" y="175"/>
            <a:ext cx="45720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0" name="Google Shape;50;p9"/>
          <p:cNvCxnSpPr/>
          <p:nvPr/>
        </p:nvCxnSpPr>
        <p:spPr>
          <a:xfrm>
            <a:off x="5029675" y="4495500"/>
            <a:ext cx="577200" cy="0"/>
          </a:xfrm>
          <a:prstGeom prst="straightConnector1">
            <a:avLst/>
          </a:prstGeom>
          <a:noFill/>
          <a:ln cap="flat" cmpd="sng" w="19050">
            <a:solidFill>
              <a:schemeClr val="dk1"/>
            </a:solidFill>
            <a:prstDash val="lgDash"/>
            <a:round/>
            <a:headEnd len="sm" w="sm" type="none"/>
            <a:tailEnd len="sm" w="sm" type="none"/>
          </a:ln>
        </p:spPr>
      </p:cxnSp>
      <p:sp>
        <p:nvSpPr>
          <p:cNvPr id="51" name="Google Shape;51;p9"/>
          <p:cNvSpPr txBox="1"/>
          <p:nvPr>
            <p:ph type="title"/>
          </p:nvPr>
        </p:nvSpPr>
        <p:spPr>
          <a:xfrm>
            <a:off x="265500" y="1078750"/>
            <a:ext cx="4045200" cy="17892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1"/>
              </a:buClr>
              <a:buSzPts val="4600"/>
              <a:buNone/>
              <a:defRPr sz="4600">
                <a:solidFill>
                  <a:schemeClr val="lt1"/>
                </a:solidFill>
              </a:defRPr>
            </a:lvl1pPr>
            <a:lvl2pPr lvl="1" algn="ctr">
              <a:spcBef>
                <a:spcPts val="0"/>
              </a:spcBef>
              <a:spcAft>
                <a:spcPts val="0"/>
              </a:spcAft>
              <a:buClr>
                <a:schemeClr val="lt1"/>
              </a:buClr>
              <a:buSzPts val="4600"/>
              <a:buNone/>
              <a:defRPr sz="4600">
                <a:solidFill>
                  <a:schemeClr val="lt1"/>
                </a:solidFill>
              </a:defRPr>
            </a:lvl2pPr>
            <a:lvl3pPr lvl="2" algn="ctr">
              <a:spcBef>
                <a:spcPts val="0"/>
              </a:spcBef>
              <a:spcAft>
                <a:spcPts val="0"/>
              </a:spcAft>
              <a:buClr>
                <a:schemeClr val="lt1"/>
              </a:buClr>
              <a:buSzPts val="4600"/>
              <a:buNone/>
              <a:defRPr sz="4600">
                <a:solidFill>
                  <a:schemeClr val="lt1"/>
                </a:solidFill>
              </a:defRPr>
            </a:lvl3pPr>
            <a:lvl4pPr lvl="3" algn="ctr">
              <a:spcBef>
                <a:spcPts val="0"/>
              </a:spcBef>
              <a:spcAft>
                <a:spcPts val="0"/>
              </a:spcAft>
              <a:buClr>
                <a:schemeClr val="lt1"/>
              </a:buClr>
              <a:buSzPts val="4600"/>
              <a:buNone/>
              <a:defRPr sz="4600">
                <a:solidFill>
                  <a:schemeClr val="lt1"/>
                </a:solidFill>
              </a:defRPr>
            </a:lvl4pPr>
            <a:lvl5pPr lvl="4" algn="ctr">
              <a:spcBef>
                <a:spcPts val="0"/>
              </a:spcBef>
              <a:spcAft>
                <a:spcPts val="0"/>
              </a:spcAft>
              <a:buClr>
                <a:schemeClr val="lt1"/>
              </a:buClr>
              <a:buSzPts val="4600"/>
              <a:buNone/>
              <a:defRPr sz="4600">
                <a:solidFill>
                  <a:schemeClr val="lt1"/>
                </a:solidFill>
              </a:defRPr>
            </a:lvl5pPr>
            <a:lvl6pPr lvl="5" algn="ctr">
              <a:spcBef>
                <a:spcPts val="0"/>
              </a:spcBef>
              <a:spcAft>
                <a:spcPts val="0"/>
              </a:spcAft>
              <a:buClr>
                <a:schemeClr val="lt1"/>
              </a:buClr>
              <a:buSzPts val="4600"/>
              <a:buNone/>
              <a:defRPr sz="4600">
                <a:solidFill>
                  <a:schemeClr val="lt1"/>
                </a:solidFill>
              </a:defRPr>
            </a:lvl6pPr>
            <a:lvl7pPr lvl="6" algn="ctr">
              <a:spcBef>
                <a:spcPts val="0"/>
              </a:spcBef>
              <a:spcAft>
                <a:spcPts val="0"/>
              </a:spcAft>
              <a:buClr>
                <a:schemeClr val="lt1"/>
              </a:buClr>
              <a:buSzPts val="4600"/>
              <a:buNone/>
              <a:defRPr sz="4600">
                <a:solidFill>
                  <a:schemeClr val="lt1"/>
                </a:solidFill>
              </a:defRPr>
            </a:lvl7pPr>
            <a:lvl8pPr lvl="7" algn="ctr">
              <a:spcBef>
                <a:spcPts val="0"/>
              </a:spcBef>
              <a:spcAft>
                <a:spcPts val="0"/>
              </a:spcAft>
              <a:buClr>
                <a:schemeClr val="lt1"/>
              </a:buClr>
              <a:buSzPts val="4600"/>
              <a:buNone/>
              <a:defRPr sz="4600">
                <a:solidFill>
                  <a:schemeClr val="lt1"/>
                </a:solidFill>
              </a:defRPr>
            </a:lvl8pPr>
            <a:lvl9pPr lvl="8" algn="ctr">
              <a:spcBef>
                <a:spcPts val="0"/>
              </a:spcBef>
              <a:spcAft>
                <a:spcPts val="0"/>
              </a:spcAft>
              <a:buClr>
                <a:schemeClr val="lt1"/>
              </a:buClr>
              <a:buSzPts val="4600"/>
              <a:buNone/>
              <a:defRPr sz="4600">
                <a:solidFill>
                  <a:schemeClr val="lt1"/>
                </a:solidFill>
              </a:defRPr>
            </a:lvl9pPr>
          </a:lstStyle>
          <a:p/>
        </p:txBody>
      </p:sp>
      <p:sp>
        <p:nvSpPr>
          <p:cNvPr id="52" name="Google Shape;52;p9"/>
          <p:cNvSpPr txBox="1"/>
          <p:nvPr>
            <p:ph idx="1" type="subTitle"/>
          </p:nvPr>
        </p:nvSpPr>
        <p:spPr>
          <a:xfrm>
            <a:off x="265500" y="29214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1900"/>
              <a:buNone/>
              <a:defRPr sz="1900">
                <a:solidFill>
                  <a:schemeClr val="lt1"/>
                </a:solidFill>
              </a:defRPr>
            </a:lvl1pPr>
            <a:lvl2pPr lvl="1" algn="ctr">
              <a:lnSpc>
                <a:spcPct val="100000"/>
              </a:lnSpc>
              <a:spcBef>
                <a:spcPts val="0"/>
              </a:spcBef>
              <a:spcAft>
                <a:spcPts val="0"/>
              </a:spcAft>
              <a:buClr>
                <a:schemeClr val="lt1"/>
              </a:buClr>
              <a:buSzPts val="1900"/>
              <a:buNone/>
              <a:defRPr sz="1900">
                <a:solidFill>
                  <a:schemeClr val="lt1"/>
                </a:solidFill>
              </a:defRPr>
            </a:lvl2pPr>
            <a:lvl3pPr lvl="2" algn="ctr">
              <a:lnSpc>
                <a:spcPct val="100000"/>
              </a:lnSpc>
              <a:spcBef>
                <a:spcPts val="0"/>
              </a:spcBef>
              <a:spcAft>
                <a:spcPts val="0"/>
              </a:spcAft>
              <a:buClr>
                <a:schemeClr val="lt1"/>
              </a:buClr>
              <a:buSzPts val="1900"/>
              <a:buNone/>
              <a:defRPr sz="1900">
                <a:solidFill>
                  <a:schemeClr val="lt1"/>
                </a:solidFill>
              </a:defRPr>
            </a:lvl3pPr>
            <a:lvl4pPr lvl="3" algn="ctr">
              <a:lnSpc>
                <a:spcPct val="100000"/>
              </a:lnSpc>
              <a:spcBef>
                <a:spcPts val="0"/>
              </a:spcBef>
              <a:spcAft>
                <a:spcPts val="0"/>
              </a:spcAft>
              <a:buClr>
                <a:schemeClr val="lt1"/>
              </a:buClr>
              <a:buSzPts val="1900"/>
              <a:buNone/>
              <a:defRPr sz="1900">
                <a:solidFill>
                  <a:schemeClr val="lt1"/>
                </a:solidFill>
              </a:defRPr>
            </a:lvl4pPr>
            <a:lvl5pPr lvl="4" algn="ctr">
              <a:lnSpc>
                <a:spcPct val="100000"/>
              </a:lnSpc>
              <a:spcBef>
                <a:spcPts val="0"/>
              </a:spcBef>
              <a:spcAft>
                <a:spcPts val="0"/>
              </a:spcAft>
              <a:buClr>
                <a:schemeClr val="lt1"/>
              </a:buClr>
              <a:buSzPts val="1900"/>
              <a:buNone/>
              <a:defRPr sz="1900">
                <a:solidFill>
                  <a:schemeClr val="lt1"/>
                </a:solidFill>
              </a:defRPr>
            </a:lvl5pPr>
            <a:lvl6pPr lvl="5" algn="ctr">
              <a:lnSpc>
                <a:spcPct val="100000"/>
              </a:lnSpc>
              <a:spcBef>
                <a:spcPts val="0"/>
              </a:spcBef>
              <a:spcAft>
                <a:spcPts val="0"/>
              </a:spcAft>
              <a:buClr>
                <a:schemeClr val="lt1"/>
              </a:buClr>
              <a:buSzPts val="1900"/>
              <a:buNone/>
              <a:defRPr sz="1900">
                <a:solidFill>
                  <a:schemeClr val="lt1"/>
                </a:solidFill>
              </a:defRPr>
            </a:lvl6pPr>
            <a:lvl7pPr lvl="6" algn="ctr">
              <a:lnSpc>
                <a:spcPct val="100000"/>
              </a:lnSpc>
              <a:spcBef>
                <a:spcPts val="0"/>
              </a:spcBef>
              <a:spcAft>
                <a:spcPts val="0"/>
              </a:spcAft>
              <a:buClr>
                <a:schemeClr val="lt1"/>
              </a:buClr>
              <a:buSzPts val="1900"/>
              <a:buNone/>
              <a:defRPr sz="1900">
                <a:solidFill>
                  <a:schemeClr val="lt1"/>
                </a:solidFill>
              </a:defRPr>
            </a:lvl7pPr>
            <a:lvl8pPr lvl="7" algn="ctr">
              <a:lnSpc>
                <a:spcPct val="100000"/>
              </a:lnSpc>
              <a:spcBef>
                <a:spcPts val="0"/>
              </a:spcBef>
              <a:spcAft>
                <a:spcPts val="0"/>
              </a:spcAft>
              <a:buClr>
                <a:schemeClr val="lt1"/>
              </a:buClr>
              <a:buSzPts val="1900"/>
              <a:buNone/>
              <a:defRPr sz="1900">
                <a:solidFill>
                  <a:schemeClr val="lt1"/>
                </a:solidFill>
              </a:defRPr>
            </a:lvl8pPr>
            <a:lvl9pPr lvl="8" algn="ctr">
              <a:lnSpc>
                <a:spcPct val="100000"/>
              </a:lnSpc>
              <a:spcBef>
                <a:spcPts val="0"/>
              </a:spcBef>
              <a:spcAft>
                <a:spcPts val="0"/>
              </a:spcAft>
              <a:buClr>
                <a:schemeClr val="lt1"/>
              </a:buClr>
              <a:buSzPts val="1900"/>
              <a:buNone/>
              <a:defRPr sz="1900">
                <a:solidFill>
                  <a:schemeClr val="lt1"/>
                </a:solidFill>
              </a:defRPr>
            </a:lvl9pPr>
          </a:lstStyle>
          <a:p/>
        </p:txBody>
      </p:sp>
      <p:sp>
        <p:nvSpPr>
          <p:cNvPr id="53" name="Google Shape;53;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54" name="Google Shape;54;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5" name="Google Shape;55;p9"/>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900">
                <a:solidFill>
                  <a:schemeClr val="dk2"/>
                </a:solidFill>
                <a:latin typeface="Source Code Pro"/>
                <a:ea typeface="Source Code Pro"/>
                <a:cs typeface="Source Code Pro"/>
                <a:sym typeface="Source Code Pro"/>
              </a:rPr>
              <a:t>The Complete Prompt Engineering for AI Bootcamp</a:t>
            </a:r>
            <a:endParaRPr sz="900">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6" name="Shape 56"/>
        <p:cNvGrpSpPr/>
        <p:nvPr/>
      </p:nvGrpSpPr>
      <p:grpSpPr>
        <a:xfrm>
          <a:off x="0" y="0"/>
          <a:ext cx="0" cy="0"/>
          <a:chOff x="0" y="0"/>
          <a:chExt cx="0" cy="0"/>
        </a:xfrm>
      </p:grpSpPr>
      <p:sp>
        <p:nvSpPr>
          <p:cNvPr id="57" name="Google Shape;57;p10"/>
          <p:cNvSpPr txBox="1"/>
          <p:nvPr>
            <p:ph idx="1" type="body"/>
          </p:nvPr>
        </p:nvSpPr>
        <p:spPr>
          <a:xfrm>
            <a:off x="311700" y="406472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100"/>
              <a:buFont typeface="Oswald"/>
              <a:buNone/>
              <a:defRPr sz="2100">
                <a:latin typeface="Oswald"/>
                <a:ea typeface="Oswald"/>
                <a:cs typeface="Oswald"/>
                <a:sym typeface="Oswald"/>
              </a:defRPr>
            </a:lvl1pPr>
          </a:lstStyle>
          <a:p/>
        </p:txBody>
      </p:sp>
      <p:sp>
        <p:nvSpPr>
          <p:cNvPr id="58" name="Google Shape;58;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9" name="Google Shape;59;p10"/>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900">
                <a:solidFill>
                  <a:schemeClr val="dk2"/>
                </a:solidFill>
                <a:latin typeface="Source Code Pro"/>
                <a:ea typeface="Source Code Pro"/>
                <a:cs typeface="Source Code Pro"/>
                <a:sym typeface="Source Code Pro"/>
              </a:rPr>
              <a:t>The Complete Prompt Engineering for AI Bootcamp</a:t>
            </a:r>
            <a:endParaRPr sz="900">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0" name="Shape 60"/>
        <p:cNvGrpSpPr/>
        <p:nvPr/>
      </p:nvGrpSpPr>
      <p:grpSpPr>
        <a:xfrm>
          <a:off x="0" y="0"/>
          <a:ext cx="0" cy="0"/>
          <a:chOff x="0" y="0"/>
          <a:chExt cx="0" cy="0"/>
        </a:xfrm>
      </p:grpSpPr>
      <p:cxnSp>
        <p:nvCxnSpPr>
          <p:cNvPr id="61" name="Google Shape;61;p11"/>
          <p:cNvCxnSpPr/>
          <p:nvPr/>
        </p:nvCxnSpPr>
        <p:spPr>
          <a:xfrm>
            <a:off x="413275" y="2988275"/>
            <a:ext cx="910500" cy="0"/>
          </a:xfrm>
          <a:prstGeom prst="straightConnector1">
            <a:avLst/>
          </a:prstGeom>
          <a:noFill/>
          <a:ln cap="flat" cmpd="sng" w="28575">
            <a:solidFill>
              <a:schemeClr val="dk1"/>
            </a:solidFill>
            <a:prstDash val="lgDash"/>
            <a:round/>
            <a:headEnd len="sm" w="sm" type="none"/>
            <a:tailEnd len="sm" w="sm" type="none"/>
          </a:ln>
        </p:spPr>
      </p:cxnSp>
      <p:sp>
        <p:nvSpPr>
          <p:cNvPr id="62" name="Google Shape;62;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spcBef>
                <a:spcPts val="0"/>
              </a:spcBef>
              <a:spcAft>
                <a:spcPts val="0"/>
              </a:spcAft>
              <a:buSzPts val="12000"/>
              <a:buNone/>
              <a:defRPr sz="12000"/>
            </a:lvl1pPr>
            <a:lvl2pPr lvl="1">
              <a:spcBef>
                <a:spcPts val="0"/>
              </a:spcBef>
              <a:spcAft>
                <a:spcPts val="0"/>
              </a:spcAft>
              <a:buSzPts val="12000"/>
              <a:buNone/>
              <a:defRPr sz="12000"/>
            </a:lvl2pPr>
            <a:lvl3pPr lvl="2">
              <a:spcBef>
                <a:spcPts val="0"/>
              </a:spcBef>
              <a:spcAft>
                <a:spcPts val="0"/>
              </a:spcAft>
              <a:buSzPts val="12000"/>
              <a:buNone/>
              <a:defRPr sz="12000"/>
            </a:lvl3pPr>
            <a:lvl4pPr lvl="3">
              <a:spcBef>
                <a:spcPts val="0"/>
              </a:spcBef>
              <a:spcAft>
                <a:spcPts val="0"/>
              </a:spcAft>
              <a:buSzPts val="12000"/>
              <a:buNone/>
              <a:defRPr sz="12000"/>
            </a:lvl4pPr>
            <a:lvl5pPr lvl="4">
              <a:spcBef>
                <a:spcPts val="0"/>
              </a:spcBef>
              <a:spcAft>
                <a:spcPts val="0"/>
              </a:spcAft>
              <a:buSzPts val="12000"/>
              <a:buNone/>
              <a:defRPr sz="12000"/>
            </a:lvl5pPr>
            <a:lvl6pPr lvl="5">
              <a:spcBef>
                <a:spcPts val="0"/>
              </a:spcBef>
              <a:spcAft>
                <a:spcPts val="0"/>
              </a:spcAft>
              <a:buSzPts val="12000"/>
              <a:buNone/>
              <a:defRPr sz="12000"/>
            </a:lvl6pPr>
            <a:lvl7pPr lvl="6">
              <a:spcBef>
                <a:spcPts val="0"/>
              </a:spcBef>
              <a:spcAft>
                <a:spcPts val="0"/>
              </a:spcAft>
              <a:buSzPts val="12000"/>
              <a:buNone/>
              <a:defRPr sz="12000"/>
            </a:lvl7pPr>
            <a:lvl8pPr lvl="7">
              <a:spcBef>
                <a:spcPts val="0"/>
              </a:spcBef>
              <a:spcAft>
                <a:spcPts val="0"/>
              </a:spcAft>
              <a:buSzPts val="12000"/>
              <a:buNone/>
              <a:defRPr sz="12000"/>
            </a:lvl8pPr>
            <a:lvl9pPr lvl="8">
              <a:spcBef>
                <a:spcPts val="0"/>
              </a:spcBef>
              <a:spcAft>
                <a:spcPts val="0"/>
              </a:spcAft>
              <a:buSzPts val="12000"/>
              <a:buNone/>
              <a:defRPr sz="12000"/>
            </a:lvl9pPr>
          </a:lstStyle>
          <a:p>
            <a:r>
              <a:t>xx%</a:t>
            </a:r>
          </a:p>
        </p:txBody>
      </p:sp>
      <p:sp>
        <p:nvSpPr>
          <p:cNvPr id="63" name="Google Shape;63;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64" name="Google Shape;64;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5" name="Google Shape;65;p11"/>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900">
                <a:solidFill>
                  <a:schemeClr val="dk2"/>
                </a:solidFill>
                <a:latin typeface="Source Code Pro"/>
                <a:ea typeface="Source Code Pro"/>
                <a:cs typeface="Source Code Pro"/>
                <a:sym typeface="Source Code Pro"/>
              </a:rPr>
              <a:t>The Complete Prompt Engineering for AI Bootcamp</a:t>
            </a:r>
            <a:endParaRPr sz="900">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6" name="Shape 66"/>
        <p:cNvGrpSpPr/>
        <p:nvPr/>
      </p:nvGrpSpPr>
      <p:grpSpPr>
        <a:xfrm>
          <a:off x="0" y="0"/>
          <a:ext cx="0" cy="0"/>
          <a:chOff x="0" y="0"/>
          <a:chExt cx="0" cy="0"/>
        </a:xfrm>
      </p:grpSpPr>
      <p:sp>
        <p:nvSpPr>
          <p:cNvPr id="67" name="Google Shape;67;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8" name="Google Shape;68;p12"/>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900">
                <a:solidFill>
                  <a:schemeClr val="dk2"/>
                </a:solidFill>
                <a:latin typeface="Source Code Pro"/>
                <a:ea typeface="Source Code Pro"/>
                <a:cs typeface="Source Code Pro"/>
                <a:sym typeface="Source Code Pro"/>
              </a:rPr>
              <a:t>The Complete Prompt Engineering for AI Bootcamp</a:t>
            </a:r>
            <a:endParaRPr sz="900">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73" name="Shape 73"/>
        <p:cNvGrpSpPr/>
        <p:nvPr/>
      </p:nvGrpSpPr>
      <p:grpSpPr>
        <a:xfrm>
          <a:off x="0" y="0"/>
          <a:ext cx="0" cy="0"/>
          <a:chOff x="0" y="0"/>
          <a:chExt cx="0" cy="0"/>
        </a:xfrm>
      </p:grpSpPr>
      <p:sp>
        <p:nvSpPr>
          <p:cNvPr id="74" name="Google Shape;74;p14"/>
          <p:cNvSpPr/>
          <p:nvPr/>
        </p:nvSpPr>
        <p:spPr>
          <a:xfrm rot="10800000">
            <a:off x="4226100" y="2933550"/>
            <a:ext cx="691800" cy="388500"/>
          </a:xfrm>
          <a:prstGeom prst="triangle">
            <a:avLst>
              <a:gd fmla="val 50000" name="adj"/>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 name="Google Shape;75;p14"/>
          <p:cNvSpPr/>
          <p:nvPr/>
        </p:nvSpPr>
        <p:spPr>
          <a:xfrm>
            <a:off x="-25" y="0"/>
            <a:ext cx="9144000" cy="31242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p14"/>
          <p:cNvSpPr txBox="1"/>
          <p:nvPr>
            <p:ph type="ctrTitle"/>
          </p:nvPr>
        </p:nvSpPr>
        <p:spPr>
          <a:xfrm>
            <a:off x="411175" y="644300"/>
            <a:ext cx="8282400" cy="21090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Clr>
                <a:schemeClr val="lt1"/>
              </a:buClr>
              <a:buSzPts val="6000"/>
              <a:buNone/>
              <a:defRPr sz="6000">
                <a:solidFill>
                  <a:schemeClr val="lt1"/>
                </a:solidFill>
              </a:defRPr>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p:txBody>
      </p:sp>
      <p:sp>
        <p:nvSpPr>
          <p:cNvPr id="77" name="Google Shape;77;p14"/>
          <p:cNvSpPr txBox="1"/>
          <p:nvPr>
            <p:ph idx="1" type="subTitle"/>
          </p:nvPr>
        </p:nvSpPr>
        <p:spPr>
          <a:xfrm>
            <a:off x="411175" y="3398250"/>
            <a:ext cx="8282400" cy="12606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Font typeface="Oswald"/>
              <a:buNone/>
              <a:defRPr sz="3600">
                <a:latin typeface="Oswald"/>
                <a:ea typeface="Oswald"/>
                <a:cs typeface="Oswald"/>
                <a:sym typeface="Oswald"/>
              </a:defRPr>
            </a:lvl1pPr>
            <a:lvl2pPr lvl="1" algn="ctr">
              <a:lnSpc>
                <a:spcPct val="100000"/>
              </a:lnSpc>
              <a:spcBef>
                <a:spcPts val="0"/>
              </a:spcBef>
              <a:spcAft>
                <a:spcPts val="0"/>
              </a:spcAft>
              <a:buSzPts val="3600"/>
              <a:buFont typeface="Oswald"/>
              <a:buNone/>
              <a:defRPr sz="3600">
                <a:latin typeface="Oswald"/>
                <a:ea typeface="Oswald"/>
                <a:cs typeface="Oswald"/>
                <a:sym typeface="Oswald"/>
              </a:defRPr>
            </a:lvl2pPr>
            <a:lvl3pPr lvl="2" algn="ctr">
              <a:lnSpc>
                <a:spcPct val="100000"/>
              </a:lnSpc>
              <a:spcBef>
                <a:spcPts val="0"/>
              </a:spcBef>
              <a:spcAft>
                <a:spcPts val="0"/>
              </a:spcAft>
              <a:buSzPts val="3600"/>
              <a:buFont typeface="Oswald"/>
              <a:buNone/>
              <a:defRPr sz="3600">
                <a:latin typeface="Oswald"/>
                <a:ea typeface="Oswald"/>
                <a:cs typeface="Oswald"/>
                <a:sym typeface="Oswald"/>
              </a:defRPr>
            </a:lvl3pPr>
            <a:lvl4pPr lvl="3" algn="ctr">
              <a:lnSpc>
                <a:spcPct val="100000"/>
              </a:lnSpc>
              <a:spcBef>
                <a:spcPts val="0"/>
              </a:spcBef>
              <a:spcAft>
                <a:spcPts val="0"/>
              </a:spcAft>
              <a:buSzPts val="3600"/>
              <a:buFont typeface="Oswald"/>
              <a:buNone/>
              <a:defRPr sz="3600">
                <a:latin typeface="Oswald"/>
                <a:ea typeface="Oswald"/>
                <a:cs typeface="Oswald"/>
                <a:sym typeface="Oswald"/>
              </a:defRPr>
            </a:lvl4pPr>
            <a:lvl5pPr lvl="4" algn="ctr">
              <a:lnSpc>
                <a:spcPct val="100000"/>
              </a:lnSpc>
              <a:spcBef>
                <a:spcPts val="0"/>
              </a:spcBef>
              <a:spcAft>
                <a:spcPts val="0"/>
              </a:spcAft>
              <a:buSzPts val="3600"/>
              <a:buFont typeface="Oswald"/>
              <a:buNone/>
              <a:defRPr sz="3600">
                <a:latin typeface="Oswald"/>
                <a:ea typeface="Oswald"/>
                <a:cs typeface="Oswald"/>
                <a:sym typeface="Oswald"/>
              </a:defRPr>
            </a:lvl5pPr>
            <a:lvl6pPr lvl="5" algn="ctr">
              <a:lnSpc>
                <a:spcPct val="100000"/>
              </a:lnSpc>
              <a:spcBef>
                <a:spcPts val="0"/>
              </a:spcBef>
              <a:spcAft>
                <a:spcPts val="0"/>
              </a:spcAft>
              <a:buSzPts val="3600"/>
              <a:buFont typeface="Oswald"/>
              <a:buNone/>
              <a:defRPr sz="3600">
                <a:latin typeface="Oswald"/>
                <a:ea typeface="Oswald"/>
                <a:cs typeface="Oswald"/>
                <a:sym typeface="Oswald"/>
              </a:defRPr>
            </a:lvl6pPr>
            <a:lvl7pPr lvl="6" algn="ctr">
              <a:lnSpc>
                <a:spcPct val="100000"/>
              </a:lnSpc>
              <a:spcBef>
                <a:spcPts val="0"/>
              </a:spcBef>
              <a:spcAft>
                <a:spcPts val="0"/>
              </a:spcAft>
              <a:buSzPts val="3600"/>
              <a:buFont typeface="Oswald"/>
              <a:buNone/>
              <a:defRPr sz="3600">
                <a:latin typeface="Oswald"/>
                <a:ea typeface="Oswald"/>
                <a:cs typeface="Oswald"/>
                <a:sym typeface="Oswald"/>
              </a:defRPr>
            </a:lvl7pPr>
            <a:lvl8pPr lvl="7" algn="ctr">
              <a:lnSpc>
                <a:spcPct val="100000"/>
              </a:lnSpc>
              <a:spcBef>
                <a:spcPts val="0"/>
              </a:spcBef>
              <a:spcAft>
                <a:spcPts val="0"/>
              </a:spcAft>
              <a:buSzPts val="3600"/>
              <a:buFont typeface="Oswald"/>
              <a:buNone/>
              <a:defRPr sz="3600">
                <a:latin typeface="Oswald"/>
                <a:ea typeface="Oswald"/>
                <a:cs typeface="Oswald"/>
                <a:sym typeface="Oswald"/>
              </a:defRPr>
            </a:lvl8pPr>
            <a:lvl9pPr lvl="8" algn="ctr">
              <a:lnSpc>
                <a:spcPct val="100000"/>
              </a:lnSpc>
              <a:spcBef>
                <a:spcPts val="0"/>
              </a:spcBef>
              <a:spcAft>
                <a:spcPts val="0"/>
              </a:spcAft>
              <a:buSzPts val="3600"/>
              <a:buFont typeface="Oswald"/>
              <a:buNone/>
              <a:defRPr sz="3600">
                <a:latin typeface="Oswald"/>
                <a:ea typeface="Oswald"/>
                <a:cs typeface="Oswald"/>
                <a:sym typeface="Oswald"/>
              </a:defRPr>
            </a:lvl9pPr>
          </a:lstStyle>
          <a:p/>
        </p:txBody>
      </p:sp>
      <p:sp>
        <p:nvSpPr>
          <p:cNvPr id="78" name="Google Shape;78;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
        <p:nvSpPr>
          <p:cNvPr id="79" name="Google Shape;79;p14"/>
          <p:cNvSpPr txBox="1"/>
          <p:nvPr/>
        </p:nvSpPr>
        <p:spPr>
          <a:xfrm>
            <a:off x="411175" y="79900"/>
            <a:ext cx="8282400" cy="380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chemeClr val="lt1"/>
                </a:solidFill>
                <a:latin typeface="Source Code Pro"/>
                <a:ea typeface="Source Code Pro"/>
                <a:cs typeface="Source Code Pro"/>
                <a:sym typeface="Source Code Pro"/>
              </a:rPr>
              <a:t>The Complete Prompt Engineering for AI Bootcamp</a:t>
            </a:r>
            <a:endParaRPr b="0" i="0" sz="1100" u="none" cap="none" strike="noStrike">
              <a:solidFill>
                <a:schemeClr val="lt1"/>
              </a:solidFill>
              <a:latin typeface="Source Code Pro"/>
              <a:ea typeface="Source Code Pro"/>
              <a:cs typeface="Source Code Pro"/>
              <a:sym typeface="Source Code Pro"/>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0" name="Shape 80"/>
        <p:cNvGrpSpPr/>
        <p:nvPr/>
      </p:nvGrpSpPr>
      <p:grpSpPr>
        <a:xfrm>
          <a:off x="0" y="0"/>
          <a:ext cx="0" cy="0"/>
          <a:chOff x="0" y="0"/>
          <a:chExt cx="0" cy="0"/>
        </a:xfrm>
      </p:grpSpPr>
      <p:cxnSp>
        <p:nvCxnSpPr>
          <p:cNvPr id="81" name="Google Shape;81;p15"/>
          <p:cNvCxnSpPr/>
          <p:nvPr/>
        </p:nvCxnSpPr>
        <p:spPr>
          <a:xfrm>
            <a:off x="429200" y="1275577"/>
            <a:ext cx="614100" cy="0"/>
          </a:xfrm>
          <a:prstGeom prst="straightConnector1">
            <a:avLst/>
          </a:prstGeom>
          <a:noFill/>
          <a:ln cap="flat" cmpd="sng" w="19050">
            <a:solidFill>
              <a:schemeClr val="dk2"/>
            </a:solidFill>
            <a:prstDash val="lgDash"/>
            <a:round/>
            <a:headEnd len="sm" w="sm" type="none"/>
            <a:tailEnd len="sm" w="sm" type="none"/>
          </a:ln>
        </p:spPr>
      </p:cxnSp>
      <p:sp>
        <p:nvSpPr>
          <p:cNvPr id="82" name="Google Shape;82;p15"/>
          <p:cNvSpPr txBox="1"/>
          <p:nvPr>
            <p:ph type="title"/>
          </p:nvPr>
        </p:nvSpPr>
        <p:spPr>
          <a:xfrm>
            <a:off x="311700" y="372500"/>
            <a:ext cx="8520600" cy="7335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83" name="Google Shape;83;p15"/>
          <p:cNvSpPr txBox="1"/>
          <p:nvPr>
            <p:ph idx="1" type="body"/>
          </p:nvPr>
        </p:nvSpPr>
        <p:spPr>
          <a:xfrm>
            <a:off x="311700" y="1468825"/>
            <a:ext cx="8520600" cy="30999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84" name="Google Shape;84;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
        <p:nvSpPr>
          <p:cNvPr id="85" name="Google Shape;85;p15"/>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900"/>
              <a:buFont typeface="Arial"/>
              <a:buNone/>
            </a:pPr>
            <a:r>
              <a:rPr b="0" i="0" lang="en" sz="900" u="none" cap="none" strike="noStrike">
                <a:solidFill>
                  <a:schemeClr val="dk2"/>
                </a:solidFill>
                <a:latin typeface="Source Code Pro"/>
                <a:ea typeface="Source Code Pro"/>
                <a:cs typeface="Source Code Pro"/>
                <a:sym typeface="Source Code Pro"/>
              </a:rPr>
              <a:t>The Complete Prompt Engineering for AI Bootcamp</a:t>
            </a:r>
            <a:endParaRPr b="0" i="0" sz="900" u="none" cap="none" strike="noStrike">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86" name="Shape 86"/>
        <p:cNvGrpSpPr/>
        <p:nvPr/>
      </p:nvGrpSpPr>
      <p:grpSpPr>
        <a:xfrm>
          <a:off x="0" y="0"/>
          <a:ext cx="0" cy="0"/>
          <a:chOff x="0" y="0"/>
          <a:chExt cx="0" cy="0"/>
        </a:xfrm>
      </p:grpSpPr>
      <p:sp>
        <p:nvSpPr>
          <p:cNvPr id="87" name="Google Shape;87;p16"/>
          <p:cNvSpPr/>
          <p:nvPr/>
        </p:nvSpPr>
        <p:spPr>
          <a:xfrm>
            <a:off x="0" y="1567350"/>
            <a:ext cx="9144000" cy="20088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 name="Google Shape;88;p16"/>
          <p:cNvSpPr txBox="1"/>
          <p:nvPr>
            <p:ph type="title"/>
          </p:nvPr>
        </p:nvSpPr>
        <p:spPr>
          <a:xfrm>
            <a:off x="430800" y="1889700"/>
            <a:ext cx="8282400" cy="15165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lt1"/>
              </a:buClr>
              <a:buSzPts val="3600"/>
              <a:buNone/>
              <a:defRPr sz="3600">
                <a:solidFill>
                  <a:schemeClr val="lt1"/>
                </a:solidFill>
              </a:defRPr>
            </a:lvl1pPr>
            <a:lvl2pPr lvl="1" algn="ctr">
              <a:lnSpc>
                <a:spcPct val="100000"/>
              </a:lnSpc>
              <a:spcBef>
                <a:spcPts val="0"/>
              </a:spcBef>
              <a:spcAft>
                <a:spcPts val="0"/>
              </a:spcAft>
              <a:buClr>
                <a:schemeClr val="lt1"/>
              </a:buClr>
              <a:buSzPts val="3600"/>
              <a:buNone/>
              <a:defRPr sz="3600">
                <a:solidFill>
                  <a:schemeClr val="lt1"/>
                </a:solidFill>
              </a:defRPr>
            </a:lvl2pPr>
            <a:lvl3pPr lvl="2" algn="ctr">
              <a:lnSpc>
                <a:spcPct val="100000"/>
              </a:lnSpc>
              <a:spcBef>
                <a:spcPts val="0"/>
              </a:spcBef>
              <a:spcAft>
                <a:spcPts val="0"/>
              </a:spcAft>
              <a:buClr>
                <a:schemeClr val="lt1"/>
              </a:buClr>
              <a:buSzPts val="3600"/>
              <a:buNone/>
              <a:defRPr sz="3600">
                <a:solidFill>
                  <a:schemeClr val="lt1"/>
                </a:solidFill>
              </a:defRPr>
            </a:lvl3pPr>
            <a:lvl4pPr lvl="3" algn="ctr">
              <a:lnSpc>
                <a:spcPct val="100000"/>
              </a:lnSpc>
              <a:spcBef>
                <a:spcPts val="0"/>
              </a:spcBef>
              <a:spcAft>
                <a:spcPts val="0"/>
              </a:spcAft>
              <a:buClr>
                <a:schemeClr val="lt1"/>
              </a:buClr>
              <a:buSzPts val="3600"/>
              <a:buNone/>
              <a:defRPr sz="3600">
                <a:solidFill>
                  <a:schemeClr val="lt1"/>
                </a:solidFill>
              </a:defRPr>
            </a:lvl4pPr>
            <a:lvl5pPr lvl="4" algn="ctr">
              <a:lnSpc>
                <a:spcPct val="100000"/>
              </a:lnSpc>
              <a:spcBef>
                <a:spcPts val="0"/>
              </a:spcBef>
              <a:spcAft>
                <a:spcPts val="0"/>
              </a:spcAft>
              <a:buClr>
                <a:schemeClr val="lt1"/>
              </a:buClr>
              <a:buSzPts val="3600"/>
              <a:buNone/>
              <a:defRPr sz="3600">
                <a:solidFill>
                  <a:schemeClr val="lt1"/>
                </a:solidFill>
              </a:defRPr>
            </a:lvl5pPr>
            <a:lvl6pPr lvl="5" algn="ctr">
              <a:lnSpc>
                <a:spcPct val="100000"/>
              </a:lnSpc>
              <a:spcBef>
                <a:spcPts val="0"/>
              </a:spcBef>
              <a:spcAft>
                <a:spcPts val="0"/>
              </a:spcAft>
              <a:buClr>
                <a:schemeClr val="lt1"/>
              </a:buClr>
              <a:buSzPts val="3600"/>
              <a:buNone/>
              <a:defRPr sz="3600">
                <a:solidFill>
                  <a:schemeClr val="lt1"/>
                </a:solidFill>
              </a:defRPr>
            </a:lvl6pPr>
            <a:lvl7pPr lvl="6" algn="ctr">
              <a:lnSpc>
                <a:spcPct val="100000"/>
              </a:lnSpc>
              <a:spcBef>
                <a:spcPts val="0"/>
              </a:spcBef>
              <a:spcAft>
                <a:spcPts val="0"/>
              </a:spcAft>
              <a:buClr>
                <a:schemeClr val="lt1"/>
              </a:buClr>
              <a:buSzPts val="3600"/>
              <a:buNone/>
              <a:defRPr sz="3600">
                <a:solidFill>
                  <a:schemeClr val="lt1"/>
                </a:solidFill>
              </a:defRPr>
            </a:lvl7pPr>
            <a:lvl8pPr lvl="7" algn="ctr">
              <a:lnSpc>
                <a:spcPct val="100000"/>
              </a:lnSpc>
              <a:spcBef>
                <a:spcPts val="0"/>
              </a:spcBef>
              <a:spcAft>
                <a:spcPts val="0"/>
              </a:spcAft>
              <a:buClr>
                <a:schemeClr val="lt1"/>
              </a:buClr>
              <a:buSzPts val="3600"/>
              <a:buNone/>
              <a:defRPr sz="3600">
                <a:solidFill>
                  <a:schemeClr val="lt1"/>
                </a:solidFill>
              </a:defRPr>
            </a:lvl8pPr>
            <a:lvl9pPr lvl="8" algn="ctr">
              <a:lnSpc>
                <a:spcPct val="100000"/>
              </a:lnSpc>
              <a:spcBef>
                <a:spcPts val="0"/>
              </a:spcBef>
              <a:spcAft>
                <a:spcPts val="0"/>
              </a:spcAft>
              <a:buClr>
                <a:schemeClr val="lt1"/>
              </a:buClr>
              <a:buSzPts val="3600"/>
              <a:buNone/>
              <a:defRPr sz="3600">
                <a:solidFill>
                  <a:schemeClr val="lt1"/>
                </a:solidFill>
              </a:defRPr>
            </a:lvl9pPr>
          </a:lstStyle>
          <a:p/>
        </p:txBody>
      </p:sp>
      <p:sp>
        <p:nvSpPr>
          <p:cNvPr id="89" name="Google Shape;89;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
        <p:nvSpPr>
          <p:cNvPr id="90" name="Google Shape;90;p16"/>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900"/>
              <a:buFont typeface="Arial"/>
              <a:buNone/>
            </a:pPr>
            <a:r>
              <a:rPr b="0" i="0" lang="en" sz="900" u="none" cap="none" strike="noStrike">
                <a:solidFill>
                  <a:schemeClr val="dk2"/>
                </a:solidFill>
                <a:latin typeface="Source Code Pro"/>
                <a:ea typeface="Source Code Pro"/>
                <a:cs typeface="Source Code Pro"/>
                <a:sym typeface="Source Code Pro"/>
              </a:rPr>
              <a:t>The Complete Prompt Engineering for AI Bootcamp</a:t>
            </a:r>
            <a:endParaRPr b="0" i="0" sz="900" u="none" cap="none" strike="noStrike">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1" name="Shape 91"/>
        <p:cNvGrpSpPr/>
        <p:nvPr/>
      </p:nvGrpSpPr>
      <p:grpSpPr>
        <a:xfrm>
          <a:off x="0" y="0"/>
          <a:ext cx="0" cy="0"/>
          <a:chOff x="0" y="0"/>
          <a:chExt cx="0" cy="0"/>
        </a:xfrm>
      </p:grpSpPr>
      <p:cxnSp>
        <p:nvCxnSpPr>
          <p:cNvPr id="92" name="Google Shape;92;p17"/>
          <p:cNvCxnSpPr/>
          <p:nvPr/>
        </p:nvCxnSpPr>
        <p:spPr>
          <a:xfrm>
            <a:off x="429200" y="1275577"/>
            <a:ext cx="614100" cy="0"/>
          </a:xfrm>
          <a:prstGeom prst="straightConnector1">
            <a:avLst/>
          </a:prstGeom>
          <a:noFill/>
          <a:ln cap="flat" cmpd="sng" w="19050">
            <a:solidFill>
              <a:schemeClr val="dk2"/>
            </a:solidFill>
            <a:prstDash val="lgDash"/>
            <a:round/>
            <a:headEnd len="sm" w="sm" type="none"/>
            <a:tailEnd len="sm" w="sm" type="none"/>
          </a:ln>
        </p:spPr>
      </p:cxnSp>
      <p:sp>
        <p:nvSpPr>
          <p:cNvPr id="93" name="Google Shape;93;p17"/>
          <p:cNvSpPr txBox="1"/>
          <p:nvPr>
            <p:ph type="title"/>
          </p:nvPr>
        </p:nvSpPr>
        <p:spPr>
          <a:xfrm>
            <a:off x="311700" y="372500"/>
            <a:ext cx="8520600" cy="7335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94" name="Google Shape;94;p17"/>
          <p:cNvSpPr txBox="1"/>
          <p:nvPr>
            <p:ph idx="1" type="body"/>
          </p:nvPr>
        </p:nvSpPr>
        <p:spPr>
          <a:xfrm>
            <a:off x="311700" y="1468825"/>
            <a:ext cx="3999900" cy="30999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95" name="Google Shape;95;p17"/>
          <p:cNvSpPr txBox="1"/>
          <p:nvPr>
            <p:ph idx="2" type="body"/>
          </p:nvPr>
        </p:nvSpPr>
        <p:spPr>
          <a:xfrm>
            <a:off x="4832400" y="1468825"/>
            <a:ext cx="3999900" cy="30999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96" name="Google Shape;96;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
        <p:nvSpPr>
          <p:cNvPr id="97" name="Google Shape;97;p17"/>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900"/>
              <a:buFont typeface="Arial"/>
              <a:buNone/>
            </a:pPr>
            <a:r>
              <a:rPr b="0" i="0" lang="en" sz="900" u="none" cap="none" strike="noStrike">
                <a:solidFill>
                  <a:schemeClr val="dk2"/>
                </a:solidFill>
                <a:latin typeface="Source Code Pro"/>
                <a:ea typeface="Source Code Pro"/>
                <a:cs typeface="Source Code Pro"/>
                <a:sym typeface="Source Code Pro"/>
              </a:rPr>
              <a:t>The Complete Prompt Engineering for AI Bootcamp</a:t>
            </a:r>
            <a:endParaRPr b="0" i="0" sz="900" u="none" cap="none" strike="noStrike">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8" name="Shape 98"/>
        <p:cNvGrpSpPr/>
        <p:nvPr/>
      </p:nvGrpSpPr>
      <p:grpSpPr>
        <a:xfrm>
          <a:off x="0" y="0"/>
          <a:ext cx="0" cy="0"/>
          <a:chOff x="0" y="0"/>
          <a:chExt cx="0" cy="0"/>
        </a:xfrm>
      </p:grpSpPr>
      <p:sp>
        <p:nvSpPr>
          <p:cNvPr id="99" name="Google Shape;99;p18"/>
          <p:cNvSpPr txBox="1"/>
          <p:nvPr>
            <p:ph type="title"/>
          </p:nvPr>
        </p:nvSpPr>
        <p:spPr>
          <a:xfrm>
            <a:off x="311700" y="372500"/>
            <a:ext cx="8520600" cy="7335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00" name="Google Shape;100;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
        <p:nvSpPr>
          <p:cNvPr id="101" name="Google Shape;101;p18"/>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900"/>
              <a:buFont typeface="Arial"/>
              <a:buNone/>
            </a:pPr>
            <a:r>
              <a:rPr b="0" i="0" lang="en" sz="900" u="none" cap="none" strike="noStrike">
                <a:solidFill>
                  <a:schemeClr val="dk2"/>
                </a:solidFill>
                <a:latin typeface="Source Code Pro"/>
                <a:ea typeface="Source Code Pro"/>
                <a:cs typeface="Source Code Pro"/>
                <a:sym typeface="Source Code Pro"/>
              </a:rPr>
              <a:t>The Complete Prompt Engineering for AI Bootcamp</a:t>
            </a:r>
            <a:endParaRPr b="0" i="0" sz="900" u="none" cap="none" strike="noStrike">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2" name="Shape 102"/>
        <p:cNvGrpSpPr/>
        <p:nvPr/>
      </p:nvGrpSpPr>
      <p:grpSpPr>
        <a:xfrm>
          <a:off x="0" y="0"/>
          <a:ext cx="0" cy="0"/>
          <a:chOff x="0" y="0"/>
          <a:chExt cx="0" cy="0"/>
        </a:xfrm>
      </p:grpSpPr>
      <p:cxnSp>
        <p:nvCxnSpPr>
          <p:cNvPr id="103" name="Google Shape;103;p19"/>
          <p:cNvCxnSpPr/>
          <p:nvPr/>
        </p:nvCxnSpPr>
        <p:spPr>
          <a:xfrm>
            <a:off x="418675" y="1457787"/>
            <a:ext cx="614100" cy="0"/>
          </a:xfrm>
          <a:prstGeom prst="straightConnector1">
            <a:avLst/>
          </a:prstGeom>
          <a:noFill/>
          <a:ln cap="flat" cmpd="sng" w="19050">
            <a:solidFill>
              <a:schemeClr val="dk2"/>
            </a:solidFill>
            <a:prstDash val="lgDash"/>
            <a:round/>
            <a:headEnd len="sm" w="sm" type="none"/>
            <a:tailEnd len="sm" w="sm" type="none"/>
          </a:ln>
        </p:spPr>
      </p:cxnSp>
      <p:sp>
        <p:nvSpPr>
          <p:cNvPr id="104" name="Google Shape;104;p19"/>
          <p:cNvSpPr txBox="1"/>
          <p:nvPr>
            <p:ph type="title"/>
          </p:nvPr>
        </p:nvSpPr>
        <p:spPr>
          <a:xfrm>
            <a:off x="311700" y="6318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105" name="Google Shape;105;p19"/>
          <p:cNvSpPr txBox="1"/>
          <p:nvPr>
            <p:ph idx="1" type="body"/>
          </p:nvPr>
        </p:nvSpPr>
        <p:spPr>
          <a:xfrm>
            <a:off x="311700" y="1618204"/>
            <a:ext cx="2808000" cy="29508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06" name="Google Shape;106;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
        <p:nvSpPr>
          <p:cNvPr id="107" name="Google Shape;107;p19"/>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900"/>
              <a:buFont typeface="Arial"/>
              <a:buNone/>
            </a:pPr>
            <a:r>
              <a:rPr b="0" i="0" lang="en" sz="900" u="none" cap="none" strike="noStrike">
                <a:solidFill>
                  <a:schemeClr val="dk2"/>
                </a:solidFill>
                <a:latin typeface="Source Code Pro"/>
                <a:ea typeface="Source Code Pro"/>
                <a:cs typeface="Source Code Pro"/>
                <a:sym typeface="Source Code Pro"/>
              </a:rPr>
              <a:t>The Complete Prompt Engineering for AI Bootcamp</a:t>
            </a:r>
            <a:endParaRPr b="0" i="0" sz="900" u="none" cap="none" strike="noStrike">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108" name="Shape 108"/>
        <p:cNvGrpSpPr/>
        <p:nvPr/>
      </p:nvGrpSpPr>
      <p:grpSpPr>
        <a:xfrm>
          <a:off x="0" y="0"/>
          <a:ext cx="0" cy="0"/>
          <a:chOff x="0" y="0"/>
          <a:chExt cx="0" cy="0"/>
        </a:xfrm>
      </p:grpSpPr>
      <p:sp>
        <p:nvSpPr>
          <p:cNvPr id="109" name="Google Shape;109;p20"/>
          <p:cNvSpPr txBox="1"/>
          <p:nvPr>
            <p:ph type="title"/>
          </p:nvPr>
        </p:nvSpPr>
        <p:spPr>
          <a:xfrm>
            <a:off x="490250" y="528900"/>
            <a:ext cx="5678100" cy="40857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chemeClr val="lt1"/>
              </a:buClr>
              <a:buSzPts val="5400"/>
              <a:buNone/>
              <a:defRPr sz="5400">
                <a:solidFill>
                  <a:schemeClr val="lt1"/>
                </a:solidFill>
              </a:defRPr>
            </a:lvl1pPr>
            <a:lvl2pPr lvl="1" algn="l">
              <a:lnSpc>
                <a:spcPct val="100000"/>
              </a:lnSpc>
              <a:spcBef>
                <a:spcPts val="0"/>
              </a:spcBef>
              <a:spcAft>
                <a:spcPts val="0"/>
              </a:spcAft>
              <a:buClr>
                <a:schemeClr val="lt1"/>
              </a:buClr>
              <a:buSzPts val="5400"/>
              <a:buNone/>
              <a:defRPr sz="5400">
                <a:solidFill>
                  <a:schemeClr val="lt1"/>
                </a:solidFill>
              </a:defRPr>
            </a:lvl2pPr>
            <a:lvl3pPr lvl="2" algn="l">
              <a:lnSpc>
                <a:spcPct val="100000"/>
              </a:lnSpc>
              <a:spcBef>
                <a:spcPts val="0"/>
              </a:spcBef>
              <a:spcAft>
                <a:spcPts val="0"/>
              </a:spcAft>
              <a:buClr>
                <a:schemeClr val="lt1"/>
              </a:buClr>
              <a:buSzPts val="5400"/>
              <a:buNone/>
              <a:defRPr sz="5400">
                <a:solidFill>
                  <a:schemeClr val="lt1"/>
                </a:solidFill>
              </a:defRPr>
            </a:lvl3pPr>
            <a:lvl4pPr lvl="3" algn="l">
              <a:lnSpc>
                <a:spcPct val="100000"/>
              </a:lnSpc>
              <a:spcBef>
                <a:spcPts val="0"/>
              </a:spcBef>
              <a:spcAft>
                <a:spcPts val="0"/>
              </a:spcAft>
              <a:buClr>
                <a:schemeClr val="lt1"/>
              </a:buClr>
              <a:buSzPts val="5400"/>
              <a:buNone/>
              <a:defRPr sz="5400">
                <a:solidFill>
                  <a:schemeClr val="lt1"/>
                </a:solidFill>
              </a:defRPr>
            </a:lvl4pPr>
            <a:lvl5pPr lvl="4" algn="l">
              <a:lnSpc>
                <a:spcPct val="100000"/>
              </a:lnSpc>
              <a:spcBef>
                <a:spcPts val="0"/>
              </a:spcBef>
              <a:spcAft>
                <a:spcPts val="0"/>
              </a:spcAft>
              <a:buClr>
                <a:schemeClr val="lt1"/>
              </a:buClr>
              <a:buSzPts val="5400"/>
              <a:buNone/>
              <a:defRPr sz="5400">
                <a:solidFill>
                  <a:schemeClr val="lt1"/>
                </a:solidFill>
              </a:defRPr>
            </a:lvl5pPr>
            <a:lvl6pPr lvl="5" algn="l">
              <a:lnSpc>
                <a:spcPct val="100000"/>
              </a:lnSpc>
              <a:spcBef>
                <a:spcPts val="0"/>
              </a:spcBef>
              <a:spcAft>
                <a:spcPts val="0"/>
              </a:spcAft>
              <a:buClr>
                <a:schemeClr val="lt1"/>
              </a:buClr>
              <a:buSzPts val="5400"/>
              <a:buNone/>
              <a:defRPr sz="5400">
                <a:solidFill>
                  <a:schemeClr val="lt1"/>
                </a:solidFill>
              </a:defRPr>
            </a:lvl6pPr>
            <a:lvl7pPr lvl="6" algn="l">
              <a:lnSpc>
                <a:spcPct val="100000"/>
              </a:lnSpc>
              <a:spcBef>
                <a:spcPts val="0"/>
              </a:spcBef>
              <a:spcAft>
                <a:spcPts val="0"/>
              </a:spcAft>
              <a:buClr>
                <a:schemeClr val="lt1"/>
              </a:buClr>
              <a:buSzPts val="5400"/>
              <a:buNone/>
              <a:defRPr sz="5400">
                <a:solidFill>
                  <a:schemeClr val="lt1"/>
                </a:solidFill>
              </a:defRPr>
            </a:lvl7pPr>
            <a:lvl8pPr lvl="7" algn="l">
              <a:lnSpc>
                <a:spcPct val="100000"/>
              </a:lnSpc>
              <a:spcBef>
                <a:spcPts val="0"/>
              </a:spcBef>
              <a:spcAft>
                <a:spcPts val="0"/>
              </a:spcAft>
              <a:buClr>
                <a:schemeClr val="lt1"/>
              </a:buClr>
              <a:buSzPts val="5400"/>
              <a:buNone/>
              <a:defRPr sz="5400">
                <a:solidFill>
                  <a:schemeClr val="lt1"/>
                </a:solidFill>
              </a:defRPr>
            </a:lvl8pPr>
            <a:lvl9pPr lvl="8" algn="l">
              <a:lnSpc>
                <a:spcPct val="100000"/>
              </a:lnSpc>
              <a:spcBef>
                <a:spcPts val="0"/>
              </a:spcBef>
              <a:spcAft>
                <a:spcPts val="0"/>
              </a:spcAft>
              <a:buClr>
                <a:schemeClr val="lt1"/>
              </a:buClr>
              <a:buSzPts val="5400"/>
              <a:buNone/>
              <a:defRPr sz="5400">
                <a:solidFill>
                  <a:schemeClr val="lt1"/>
                </a:solidFill>
              </a:defRPr>
            </a:lvl9pPr>
          </a:lstStyle>
          <a:p/>
        </p:txBody>
      </p:sp>
      <p:sp>
        <p:nvSpPr>
          <p:cNvPr id="110" name="Google Shape;110;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
        <p:nvSpPr>
          <p:cNvPr id="111" name="Google Shape;111;p20"/>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900"/>
              <a:buFont typeface="Arial"/>
              <a:buNone/>
            </a:pPr>
            <a:r>
              <a:rPr b="0" i="0" lang="en" sz="900" u="none" cap="none" strike="noStrike">
                <a:solidFill>
                  <a:schemeClr val="lt1"/>
                </a:solidFill>
                <a:latin typeface="Source Code Pro"/>
                <a:ea typeface="Source Code Pro"/>
                <a:cs typeface="Source Code Pro"/>
                <a:sym typeface="Source Code Pro"/>
              </a:rPr>
              <a:t>The Complete Prompt Engineering for AI Bootcamp</a:t>
            </a:r>
            <a:endParaRPr b="0" i="0" sz="900" u="none" cap="none" strike="noStrike">
              <a:solidFill>
                <a:schemeClr val="lt1"/>
              </a:solidFill>
              <a:latin typeface="Source Code Pro"/>
              <a:ea typeface="Source Code Pro"/>
              <a:cs typeface="Source Code Pro"/>
              <a:sym typeface="Source Code Pro"/>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1"/>
        </a:solidFill>
      </p:bgPr>
    </p:bg>
    <p:spTree>
      <p:nvGrpSpPr>
        <p:cNvPr id="112" name="Shape 112"/>
        <p:cNvGrpSpPr/>
        <p:nvPr/>
      </p:nvGrpSpPr>
      <p:grpSpPr>
        <a:xfrm>
          <a:off x="0" y="0"/>
          <a:ext cx="0" cy="0"/>
          <a:chOff x="0" y="0"/>
          <a:chExt cx="0" cy="0"/>
        </a:xfrm>
      </p:grpSpPr>
      <p:sp>
        <p:nvSpPr>
          <p:cNvPr id="113" name="Google Shape;113;p21"/>
          <p:cNvSpPr/>
          <p:nvPr/>
        </p:nvSpPr>
        <p:spPr>
          <a:xfrm>
            <a:off x="4572000" y="175"/>
            <a:ext cx="4572000" cy="51435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14" name="Google Shape;114;p21"/>
          <p:cNvCxnSpPr/>
          <p:nvPr/>
        </p:nvCxnSpPr>
        <p:spPr>
          <a:xfrm>
            <a:off x="5029675" y="4495500"/>
            <a:ext cx="577200" cy="0"/>
          </a:xfrm>
          <a:prstGeom prst="straightConnector1">
            <a:avLst/>
          </a:prstGeom>
          <a:noFill/>
          <a:ln cap="flat" cmpd="sng" w="19050">
            <a:solidFill>
              <a:schemeClr val="dk1"/>
            </a:solidFill>
            <a:prstDash val="lgDash"/>
            <a:round/>
            <a:headEnd len="sm" w="sm" type="none"/>
            <a:tailEnd len="sm" w="sm" type="none"/>
          </a:ln>
        </p:spPr>
      </p:cxnSp>
      <p:sp>
        <p:nvSpPr>
          <p:cNvPr id="115" name="Google Shape;115;p21"/>
          <p:cNvSpPr txBox="1"/>
          <p:nvPr>
            <p:ph type="title"/>
          </p:nvPr>
        </p:nvSpPr>
        <p:spPr>
          <a:xfrm>
            <a:off x="265500" y="1078750"/>
            <a:ext cx="4045200" cy="17892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Clr>
                <a:schemeClr val="lt1"/>
              </a:buClr>
              <a:buSzPts val="4600"/>
              <a:buNone/>
              <a:defRPr sz="4600">
                <a:solidFill>
                  <a:schemeClr val="lt1"/>
                </a:solidFill>
              </a:defRPr>
            </a:lvl1pPr>
            <a:lvl2pPr lvl="1" algn="ctr">
              <a:lnSpc>
                <a:spcPct val="100000"/>
              </a:lnSpc>
              <a:spcBef>
                <a:spcPts val="0"/>
              </a:spcBef>
              <a:spcAft>
                <a:spcPts val="0"/>
              </a:spcAft>
              <a:buClr>
                <a:schemeClr val="lt1"/>
              </a:buClr>
              <a:buSzPts val="4600"/>
              <a:buNone/>
              <a:defRPr sz="4600">
                <a:solidFill>
                  <a:schemeClr val="lt1"/>
                </a:solidFill>
              </a:defRPr>
            </a:lvl2pPr>
            <a:lvl3pPr lvl="2" algn="ctr">
              <a:lnSpc>
                <a:spcPct val="100000"/>
              </a:lnSpc>
              <a:spcBef>
                <a:spcPts val="0"/>
              </a:spcBef>
              <a:spcAft>
                <a:spcPts val="0"/>
              </a:spcAft>
              <a:buClr>
                <a:schemeClr val="lt1"/>
              </a:buClr>
              <a:buSzPts val="4600"/>
              <a:buNone/>
              <a:defRPr sz="4600">
                <a:solidFill>
                  <a:schemeClr val="lt1"/>
                </a:solidFill>
              </a:defRPr>
            </a:lvl3pPr>
            <a:lvl4pPr lvl="3" algn="ctr">
              <a:lnSpc>
                <a:spcPct val="100000"/>
              </a:lnSpc>
              <a:spcBef>
                <a:spcPts val="0"/>
              </a:spcBef>
              <a:spcAft>
                <a:spcPts val="0"/>
              </a:spcAft>
              <a:buClr>
                <a:schemeClr val="lt1"/>
              </a:buClr>
              <a:buSzPts val="4600"/>
              <a:buNone/>
              <a:defRPr sz="4600">
                <a:solidFill>
                  <a:schemeClr val="lt1"/>
                </a:solidFill>
              </a:defRPr>
            </a:lvl4pPr>
            <a:lvl5pPr lvl="4" algn="ctr">
              <a:lnSpc>
                <a:spcPct val="100000"/>
              </a:lnSpc>
              <a:spcBef>
                <a:spcPts val="0"/>
              </a:spcBef>
              <a:spcAft>
                <a:spcPts val="0"/>
              </a:spcAft>
              <a:buClr>
                <a:schemeClr val="lt1"/>
              </a:buClr>
              <a:buSzPts val="4600"/>
              <a:buNone/>
              <a:defRPr sz="4600">
                <a:solidFill>
                  <a:schemeClr val="lt1"/>
                </a:solidFill>
              </a:defRPr>
            </a:lvl5pPr>
            <a:lvl6pPr lvl="5" algn="ctr">
              <a:lnSpc>
                <a:spcPct val="100000"/>
              </a:lnSpc>
              <a:spcBef>
                <a:spcPts val="0"/>
              </a:spcBef>
              <a:spcAft>
                <a:spcPts val="0"/>
              </a:spcAft>
              <a:buClr>
                <a:schemeClr val="lt1"/>
              </a:buClr>
              <a:buSzPts val="4600"/>
              <a:buNone/>
              <a:defRPr sz="4600">
                <a:solidFill>
                  <a:schemeClr val="lt1"/>
                </a:solidFill>
              </a:defRPr>
            </a:lvl6pPr>
            <a:lvl7pPr lvl="6" algn="ctr">
              <a:lnSpc>
                <a:spcPct val="100000"/>
              </a:lnSpc>
              <a:spcBef>
                <a:spcPts val="0"/>
              </a:spcBef>
              <a:spcAft>
                <a:spcPts val="0"/>
              </a:spcAft>
              <a:buClr>
                <a:schemeClr val="lt1"/>
              </a:buClr>
              <a:buSzPts val="4600"/>
              <a:buNone/>
              <a:defRPr sz="4600">
                <a:solidFill>
                  <a:schemeClr val="lt1"/>
                </a:solidFill>
              </a:defRPr>
            </a:lvl7pPr>
            <a:lvl8pPr lvl="7" algn="ctr">
              <a:lnSpc>
                <a:spcPct val="100000"/>
              </a:lnSpc>
              <a:spcBef>
                <a:spcPts val="0"/>
              </a:spcBef>
              <a:spcAft>
                <a:spcPts val="0"/>
              </a:spcAft>
              <a:buClr>
                <a:schemeClr val="lt1"/>
              </a:buClr>
              <a:buSzPts val="4600"/>
              <a:buNone/>
              <a:defRPr sz="4600">
                <a:solidFill>
                  <a:schemeClr val="lt1"/>
                </a:solidFill>
              </a:defRPr>
            </a:lvl8pPr>
            <a:lvl9pPr lvl="8" algn="ctr">
              <a:lnSpc>
                <a:spcPct val="100000"/>
              </a:lnSpc>
              <a:spcBef>
                <a:spcPts val="0"/>
              </a:spcBef>
              <a:spcAft>
                <a:spcPts val="0"/>
              </a:spcAft>
              <a:buClr>
                <a:schemeClr val="lt1"/>
              </a:buClr>
              <a:buSzPts val="4600"/>
              <a:buNone/>
              <a:defRPr sz="4600">
                <a:solidFill>
                  <a:schemeClr val="lt1"/>
                </a:solidFill>
              </a:defRPr>
            </a:lvl9pPr>
          </a:lstStyle>
          <a:p/>
        </p:txBody>
      </p:sp>
      <p:sp>
        <p:nvSpPr>
          <p:cNvPr id="116" name="Google Shape;116;p21"/>
          <p:cNvSpPr txBox="1"/>
          <p:nvPr>
            <p:ph idx="1" type="subTitle"/>
          </p:nvPr>
        </p:nvSpPr>
        <p:spPr>
          <a:xfrm>
            <a:off x="265500" y="2921401"/>
            <a:ext cx="4045200" cy="13455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1900"/>
              <a:buNone/>
              <a:defRPr sz="1900">
                <a:solidFill>
                  <a:schemeClr val="lt1"/>
                </a:solidFill>
              </a:defRPr>
            </a:lvl1pPr>
            <a:lvl2pPr lvl="1" algn="ctr">
              <a:lnSpc>
                <a:spcPct val="100000"/>
              </a:lnSpc>
              <a:spcBef>
                <a:spcPts val="0"/>
              </a:spcBef>
              <a:spcAft>
                <a:spcPts val="0"/>
              </a:spcAft>
              <a:buClr>
                <a:schemeClr val="lt1"/>
              </a:buClr>
              <a:buSzPts val="1900"/>
              <a:buNone/>
              <a:defRPr sz="1900">
                <a:solidFill>
                  <a:schemeClr val="lt1"/>
                </a:solidFill>
              </a:defRPr>
            </a:lvl2pPr>
            <a:lvl3pPr lvl="2" algn="ctr">
              <a:lnSpc>
                <a:spcPct val="100000"/>
              </a:lnSpc>
              <a:spcBef>
                <a:spcPts val="0"/>
              </a:spcBef>
              <a:spcAft>
                <a:spcPts val="0"/>
              </a:spcAft>
              <a:buClr>
                <a:schemeClr val="lt1"/>
              </a:buClr>
              <a:buSzPts val="1900"/>
              <a:buNone/>
              <a:defRPr sz="1900">
                <a:solidFill>
                  <a:schemeClr val="lt1"/>
                </a:solidFill>
              </a:defRPr>
            </a:lvl3pPr>
            <a:lvl4pPr lvl="3" algn="ctr">
              <a:lnSpc>
                <a:spcPct val="100000"/>
              </a:lnSpc>
              <a:spcBef>
                <a:spcPts val="0"/>
              </a:spcBef>
              <a:spcAft>
                <a:spcPts val="0"/>
              </a:spcAft>
              <a:buClr>
                <a:schemeClr val="lt1"/>
              </a:buClr>
              <a:buSzPts val="1900"/>
              <a:buNone/>
              <a:defRPr sz="1900">
                <a:solidFill>
                  <a:schemeClr val="lt1"/>
                </a:solidFill>
              </a:defRPr>
            </a:lvl4pPr>
            <a:lvl5pPr lvl="4" algn="ctr">
              <a:lnSpc>
                <a:spcPct val="100000"/>
              </a:lnSpc>
              <a:spcBef>
                <a:spcPts val="0"/>
              </a:spcBef>
              <a:spcAft>
                <a:spcPts val="0"/>
              </a:spcAft>
              <a:buClr>
                <a:schemeClr val="lt1"/>
              </a:buClr>
              <a:buSzPts val="1900"/>
              <a:buNone/>
              <a:defRPr sz="1900">
                <a:solidFill>
                  <a:schemeClr val="lt1"/>
                </a:solidFill>
              </a:defRPr>
            </a:lvl5pPr>
            <a:lvl6pPr lvl="5" algn="ctr">
              <a:lnSpc>
                <a:spcPct val="100000"/>
              </a:lnSpc>
              <a:spcBef>
                <a:spcPts val="0"/>
              </a:spcBef>
              <a:spcAft>
                <a:spcPts val="0"/>
              </a:spcAft>
              <a:buClr>
                <a:schemeClr val="lt1"/>
              </a:buClr>
              <a:buSzPts val="1900"/>
              <a:buNone/>
              <a:defRPr sz="1900">
                <a:solidFill>
                  <a:schemeClr val="lt1"/>
                </a:solidFill>
              </a:defRPr>
            </a:lvl6pPr>
            <a:lvl7pPr lvl="6" algn="ctr">
              <a:lnSpc>
                <a:spcPct val="100000"/>
              </a:lnSpc>
              <a:spcBef>
                <a:spcPts val="0"/>
              </a:spcBef>
              <a:spcAft>
                <a:spcPts val="0"/>
              </a:spcAft>
              <a:buClr>
                <a:schemeClr val="lt1"/>
              </a:buClr>
              <a:buSzPts val="1900"/>
              <a:buNone/>
              <a:defRPr sz="1900">
                <a:solidFill>
                  <a:schemeClr val="lt1"/>
                </a:solidFill>
              </a:defRPr>
            </a:lvl7pPr>
            <a:lvl8pPr lvl="7" algn="ctr">
              <a:lnSpc>
                <a:spcPct val="100000"/>
              </a:lnSpc>
              <a:spcBef>
                <a:spcPts val="0"/>
              </a:spcBef>
              <a:spcAft>
                <a:spcPts val="0"/>
              </a:spcAft>
              <a:buClr>
                <a:schemeClr val="lt1"/>
              </a:buClr>
              <a:buSzPts val="1900"/>
              <a:buNone/>
              <a:defRPr sz="1900">
                <a:solidFill>
                  <a:schemeClr val="lt1"/>
                </a:solidFill>
              </a:defRPr>
            </a:lvl8pPr>
            <a:lvl9pPr lvl="8" algn="ctr">
              <a:lnSpc>
                <a:spcPct val="100000"/>
              </a:lnSpc>
              <a:spcBef>
                <a:spcPts val="0"/>
              </a:spcBef>
              <a:spcAft>
                <a:spcPts val="0"/>
              </a:spcAft>
              <a:buClr>
                <a:schemeClr val="lt1"/>
              </a:buClr>
              <a:buSzPts val="1900"/>
              <a:buNone/>
              <a:defRPr sz="1900">
                <a:solidFill>
                  <a:schemeClr val="lt1"/>
                </a:solidFill>
              </a:defRPr>
            </a:lvl9pPr>
          </a:lstStyle>
          <a:p/>
        </p:txBody>
      </p:sp>
      <p:sp>
        <p:nvSpPr>
          <p:cNvPr id="117" name="Google Shape;117;p21"/>
          <p:cNvSpPr txBox="1"/>
          <p:nvPr>
            <p:ph idx="2" type="body"/>
          </p:nvPr>
        </p:nvSpPr>
        <p:spPr>
          <a:xfrm>
            <a:off x="4939500" y="724200"/>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18" name="Google Shape;118;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
        <p:nvSpPr>
          <p:cNvPr id="119" name="Google Shape;119;p21"/>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900"/>
              <a:buFont typeface="Arial"/>
              <a:buNone/>
            </a:pPr>
            <a:r>
              <a:rPr b="0" i="0" lang="en" sz="900" u="none" cap="none" strike="noStrike">
                <a:solidFill>
                  <a:schemeClr val="dk2"/>
                </a:solidFill>
                <a:latin typeface="Source Code Pro"/>
                <a:ea typeface="Source Code Pro"/>
                <a:cs typeface="Source Code Pro"/>
                <a:sym typeface="Source Code Pro"/>
              </a:rPr>
              <a:t>The Complete Prompt Engineering for AI Bootcamp</a:t>
            </a:r>
            <a:endParaRPr b="0" i="0" sz="900" u="none" cap="none" strike="noStrike">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20" name="Shape 120"/>
        <p:cNvGrpSpPr/>
        <p:nvPr/>
      </p:nvGrpSpPr>
      <p:grpSpPr>
        <a:xfrm>
          <a:off x="0" y="0"/>
          <a:ext cx="0" cy="0"/>
          <a:chOff x="0" y="0"/>
          <a:chExt cx="0" cy="0"/>
        </a:xfrm>
      </p:grpSpPr>
      <p:sp>
        <p:nvSpPr>
          <p:cNvPr id="121" name="Google Shape;121;p22"/>
          <p:cNvSpPr txBox="1"/>
          <p:nvPr>
            <p:ph idx="1" type="body"/>
          </p:nvPr>
        </p:nvSpPr>
        <p:spPr>
          <a:xfrm>
            <a:off x="311700" y="406472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2100"/>
              <a:buFont typeface="Oswald"/>
              <a:buNone/>
              <a:defRPr sz="2100">
                <a:latin typeface="Oswald"/>
                <a:ea typeface="Oswald"/>
                <a:cs typeface="Oswald"/>
                <a:sym typeface="Oswald"/>
              </a:defRPr>
            </a:lvl1pPr>
          </a:lstStyle>
          <a:p/>
        </p:txBody>
      </p:sp>
      <p:sp>
        <p:nvSpPr>
          <p:cNvPr id="122" name="Google Shape;122;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
        <p:nvSpPr>
          <p:cNvPr id="123" name="Google Shape;123;p22"/>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900"/>
              <a:buFont typeface="Arial"/>
              <a:buNone/>
            </a:pPr>
            <a:r>
              <a:rPr b="0" i="0" lang="en" sz="900" u="none" cap="none" strike="noStrike">
                <a:solidFill>
                  <a:schemeClr val="dk2"/>
                </a:solidFill>
                <a:latin typeface="Source Code Pro"/>
                <a:ea typeface="Source Code Pro"/>
                <a:cs typeface="Source Code Pro"/>
                <a:sym typeface="Source Code Pro"/>
              </a:rPr>
              <a:t>The Complete Prompt Engineering for AI Bootcamp</a:t>
            </a:r>
            <a:endParaRPr b="0" i="0" sz="900" u="none" cap="none" strike="noStrike">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24" name="Shape 124"/>
        <p:cNvGrpSpPr/>
        <p:nvPr/>
      </p:nvGrpSpPr>
      <p:grpSpPr>
        <a:xfrm>
          <a:off x="0" y="0"/>
          <a:ext cx="0" cy="0"/>
          <a:chOff x="0" y="0"/>
          <a:chExt cx="0" cy="0"/>
        </a:xfrm>
      </p:grpSpPr>
      <p:cxnSp>
        <p:nvCxnSpPr>
          <p:cNvPr id="125" name="Google Shape;125;p23"/>
          <p:cNvCxnSpPr/>
          <p:nvPr/>
        </p:nvCxnSpPr>
        <p:spPr>
          <a:xfrm>
            <a:off x="413275" y="2988275"/>
            <a:ext cx="910500" cy="0"/>
          </a:xfrm>
          <a:prstGeom prst="straightConnector1">
            <a:avLst/>
          </a:prstGeom>
          <a:noFill/>
          <a:ln cap="flat" cmpd="sng" w="28575">
            <a:solidFill>
              <a:schemeClr val="dk1"/>
            </a:solidFill>
            <a:prstDash val="lgDash"/>
            <a:round/>
            <a:headEnd len="sm" w="sm" type="none"/>
            <a:tailEnd len="sm" w="sm" type="none"/>
          </a:ln>
        </p:spPr>
      </p:cxnSp>
      <p:sp>
        <p:nvSpPr>
          <p:cNvPr id="126" name="Google Shape;126;p23"/>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12000"/>
              <a:buNone/>
              <a:defRPr sz="12000"/>
            </a:lvl1pPr>
            <a:lvl2pPr lvl="1" algn="l">
              <a:lnSpc>
                <a:spcPct val="100000"/>
              </a:lnSpc>
              <a:spcBef>
                <a:spcPts val="0"/>
              </a:spcBef>
              <a:spcAft>
                <a:spcPts val="0"/>
              </a:spcAft>
              <a:buSzPts val="12000"/>
              <a:buNone/>
              <a:defRPr sz="12000"/>
            </a:lvl2pPr>
            <a:lvl3pPr lvl="2" algn="l">
              <a:lnSpc>
                <a:spcPct val="100000"/>
              </a:lnSpc>
              <a:spcBef>
                <a:spcPts val="0"/>
              </a:spcBef>
              <a:spcAft>
                <a:spcPts val="0"/>
              </a:spcAft>
              <a:buSzPts val="12000"/>
              <a:buNone/>
              <a:defRPr sz="12000"/>
            </a:lvl3pPr>
            <a:lvl4pPr lvl="3" algn="l">
              <a:lnSpc>
                <a:spcPct val="100000"/>
              </a:lnSpc>
              <a:spcBef>
                <a:spcPts val="0"/>
              </a:spcBef>
              <a:spcAft>
                <a:spcPts val="0"/>
              </a:spcAft>
              <a:buSzPts val="12000"/>
              <a:buNone/>
              <a:defRPr sz="12000"/>
            </a:lvl4pPr>
            <a:lvl5pPr lvl="4" algn="l">
              <a:lnSpc>
                <a:spcPct val="100000"/>
              </a:lnSpc>
              <a:spcBef>
                <a:spcPts val="0"/>
              </a:spcBef>
              <a:spcAft>
                <a:spcPts val="0"/>
              </a:spcAft>
              <a:buSzPts val="12000"/>
              <a:buNone/>
              <a:defRPr sz="12000"/>
            </a:lvl5pPr>
            <a:lvl6pPr lvl="5" algn="l">
              <a:lnSpc>
                <a:spcPct val="100000"/>
              </a:lnSpc>
              <a:spcBef>
                <a:spcPts val="0"/>
              </a:spcBef>
              <a:spcAft>
                <a:spcPts val="0"/>
              </a:spcAft>
              <a:buSzPts val="12000"/>
              <a:buNone/>
              <a:defRPr sz="12000"/>
            </a:lvl6pPr>
            <a:lvl7pPr lvl="6" algn="l">
              <a:lnSpc>
                <a:spcPct val="100000"/>
              </a:lnSpc>
              <a:spcBef>
                <a:spcPts val="0"/>
              </a:spcBef>
              <a:spcAft>
                <a:spcPts val="0"/>
              </a:spcAft>
              <a:buSzPts val="12000"/>
              <a:buNone/>
              <a:defRPr sz="12000"/>
            </a:lvl7pPr>
            <a:lvl8pPr lvl="7" algn="l">
              <a:lnSpc>
                <a:spcPct val="100000"/>
              </a:lnSpc>
              <a:spcBef>
                <a:spcPts val="0"/>
              </a:spcBef>
              <a:spcAft>
                <a:spcPts val="0"/>
              </a:spcAft>
              <a:buSzPts val="12000"/>
              <a:buNone/>
              <a:defRPr sz="12000"/>
            </a:lvl8pPr>
            <a:lvl9pPr lvl="8" algn="l">
              <a:lnSpc>
                <a:spcPct val="100000"/>
              </a:lnSpc>
              <a:spcBef>
                <a:spcPts val="0"/>
              </a:spcBef>
              <a:spcAft>
                <a:spcPts val="0"/>
              </a:spcAft>
              <a:buSzPts val="12000"/>
              <a:buNone/>
              <a:defRPr sz="12000"/>
            </a:lvl9pPr>
          </a:lstStyle>
          <a:p>
            <a:r>
              <a:t>xx%</a:t>
            </a:r>
          </a:p>
        </p:txBody>
      </p:sp>
      <p:sp>
        <p:nvSpPr>
          <p:cNvPr id="127" name="Google Shape;127;p23"/>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28" name="Google Shape;128;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
        <p:nvSpPr>
          <p:cNvPr id="129" name="Google Shape;129;p23"/>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900"/>
              <a:buFont typeface="Arial"/>
              <a:buNone/>
            </a:pPr>
            <a:r>
              <a:rPr b="0" i="0" lang="en" sz="900" u="none" cap="none" strike="noStrike">
                <a:solidFill>
                  <a:schemeClr val="dk2"/>
                </a:solidFill>
                <a:latin typeface="Source Code Pro"/>
                <a:ea typeface="Source Code Pro"/>
                <a:cs typeface="Source Code Pro"/>
                <a:sym typeface="Source Code Pro"/>
              </a:rPr>
              <a:t>The Complete Prompt Engineering for AI Bootcamp</a:t>
            </a:r>
            <a:endParaRPr b="0" i="0" sz="900" u="none" cap="none" strike="noStrike">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30" name="Shape 130"/>
        <p:cNvGrpSpPr/>
        <p:nvPr/>
      </p:nvGrpSpPr>
      <p:grpSpPr>
        <a:xfrm>
          <a:off x="0" y="0"/>
          <a:ext cx="0" cy="0"/>
          <a:chOff x="0" y="0"/>
          <a:chExt cx="0" cy="0"/>
        </a:xfrm>
      </p:grpSpPr>
      <p:sp>
        <p:nvSpPr>
          <p:cNvPr id="131" name="Google Shape;131;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
        <p:nvSpPr>
          <p:cNvPr id="132" name="Google Shape;132;p24"/>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900"/>
              <a:buFont typeface="Arial"/>
              <a:buNone/>
            </a:pPr>
            <a:r>
              <a:rPr b="0" i="0" lang="en" sz="900" u="none" cap="none" strike="noStrike">
                <a:solidFill>
                  <a:schemeClr val="dk2"/>
                </a:solidFill>
                <a:latin typeface="Source Code Pro"/>
                <a:ea typeface="Source Code Pro"/>
                <a:cs typeface="Source Code Pro"/>
                <a:sym typeface="Source Code Pro"/>
              </a:rPr>
              <a:t>The Complete Prompt Engineering for AI Bootcamp</a:t>
            </a:r>
            <a:endParaRPr b="0" i="0" sz="900" u="none" cap="none" strike="noStrike">
              <a:solidFill>
                <a:schemeClr val="dk2"/>
              </a:solidFill>
              <a:latin typeface="Source Code Pro"/>
              <a:ea typeface="Source Code Pro"/>
              <a:cs typeface="Source Code Pro"/>
              <a:sym typeface="Source Code Pro"/>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odern-writer">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372500"/>
            <a:ext cx="8520600" cy="733500"/>
          </a:xfrm>
          <a:prstGeom prst="rect">
            <a:avLst/>
          </a:prstGeom>
          <a:noFill/>
          <a:ln>
            <a:noFill/>
          </a:ln>
        </p:spPr>
        <p:txBody>
          <a:bodyPr anchorCtr="0" anchor="b" bIns="91425" lIns="91425" spcFirstLastPara="1" rIns="91425" wrap="square" tIns="91425">
            <a:normAutofit/>
          </a:bodyPr>
          <a:lstStyle>
            <a:lvl1pPr lvl="0">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1pPr>
            <a:lvl2pPr lvl="1">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2pPr>
            <a:lvl3pPr lvl="2">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3pPr>
            <a:lvl4pPr lvl="3">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4pPr>
            <a:lvl5pPr lvl="4">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5pPr>
            <a:lvl6pPr lvl="5">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6pPr>
            <a:lvl7pPr lvl="6">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7pPr>
            <a:lvl8pPr lvl="7">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8pPr>
            <a:lvl9pPr lvl="8">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9pPr>
          </a:lstStyle>
          <a:p/>
        </p:txBody>
      </p:sp>
      <p:sp>
        <p:nvSpPr>
          <p:cNvPr id="7" name="Google Shape;7;p1"/>
          <p:cNvSpPr txBox="1"/>
          <p:nvPr>
            <p:ph idx="1" type="body"/>
          </p:nvPr>
        </p:nvSpPr>
        <p:spPr>
          <a:xfrm>
            <a:off x="311700" y="1468825"/>
            <a:ext cx="8520600" cy="30999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Source Code Pro"/>
              <a:buChar char="●"/>
              <a:defRPr sz="1800">
                <a:solidFill>
                  <a:schemeClr val="dk2"/>
                </a:solidFill>
                <a:latin typeface="Source Code Pro"/>
                <a:ea typeface="Source Code Pro"/>
                <a:cs typeface="Source Code Pro"/>
                <a:sym typeface="Source Code Pro"/>
              </a:defRPr>
            </a:lvl1pPr>
            <a:lvl2pPr indent="-317500" lvl="1" marL="9144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2pPr>
            <a:lvl3pPr indent="-317500" lvl="2" marL="13716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3pPr>
            <a:lvl4pPr indent="-317500" lvl="3" marL="18288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4pPr>
            <a:lvl5pPr indent="-317500" lvl="4" marL="22860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5pPr>
            <a:lvl6pPr indent="-317500" lvl="5" marL="27432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6pPr>
            <a:lvl7pPr indent="-317500" lvl="6" marL="32004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7pPr>
            <a:lvl8pPr indent="-317500" lvl="7" marL="36576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8pPr>
            <a:lvl9pPr indent="-317500" lvl="8" marL="41148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Source Code Pro"/>
                <a:ea typeface="Source Code Pro"/>
                <a:cs typeface="Source Code Pro"/>
                <a:sym typeface="Source Code Pro"/>
              </a:defRPr>
            </a:lvl1pPr>
            <a:lvl2pPr lvl="1" algn="r">
              <a:buNone/>
              <a:defRPr sz="1000">
                <a:solidFill>
                  <a:schemeClr val="dk2"/>
                </a:solidFill>
                <a:latin typeface="Source Code Pro"/>
                <a:ea typeface="Source Code Pro"/>
                <a:cs typeface="Source Code Pro"/>
                <a:sym typeface="Source Code Pro"/>
              </a:defRPr>
            </a:lvl2pPr>
            <a:lvl3pPr lvl="2" algn="r">
              <a:buNone/>
              <a:defRPr sz="1000">
                <a:solidFill>
                  <a:schemeClr val="dk2"/>
                </a:solidFill>
                <a:latin typeface="Source Code Pro"/>
                <a:ea typeface="Source Code Pro"/>
                <a:cs typeface="Source Code Pro"/>
                <a:sym typeface="Source Code Pro"/>
              </a:defRPr>
            </a:lvl3pPr>
            <a:lvl4pPr lvl="3" algn="r">
              <a:buNone/>
              <a:defRPr sz="1000">
                <a:solidFill>
                  <a:schemeClr val="dk2"/>
                </a:solidFill>
                <a:latin typeface="Source Code Pro"/>
                <a:ea typeface="Source Code Pro"/>
                <a:cs typeface="Source Code Pro"/>
                <a:sym typeface="Source Code Pro"/>
              </a:defRPr>
            </a:lvl4pPr>
            <a:lvl5pPr lvl="4" algn="r">
              <a:buNone/>
              <a:defRPr sz="1000">
                <a:solidFill>
                  <a:schemeClr val="dk2"/>
                </a:solidFill>
                <a:latin typeface="Source Code Pro"/>
                <a:ea typeface="Source Code Pro"/>
                <a:cs typeface="Source Code Pro"/>
                <a:sym typeface="Source Code Pro"/>
              </a:defRPr>
            </a:lvl5pPr>
            <a:lvl6pPr lvl="5" algn="r">
              <a:buNone/>
              <a:defRPr sz="1000">
                <a:solidFill>
                  <a:schemeClr val="dk2"/>
                </a:solidFill>
                <a:latin typeface="Source Code Pro"/>
                <a:ea typeface="Source Code Pro"/>
                <a:cs typeface="Source Code Pro"/>
                <a:sym typeface="Source Code Pro"/>
              </a:defRPr>
            </a:lvl6pPr>
            <a:lvl7pPr lvl="6" algn="r">
              <a:buNone/>
              <a:defRPr sz="1000">
                <a:solidFill>
                  <a:schemeClr val="dk2"/>
                </a:solidFill>
                <a:latin typeface="Source Code Pro"/>
                <a:ea typeface="Source Code Pro"/>
                <a:cs typeface="Source Code Pro"/>
                <a:sym typeface="Source Code Pro"/>
              </a:defRPr>
            </a:lvl7pPr>
            <a:lvl8pPr lvl="7" algn="r">
              <a:buNone/>
              <a:defRPr sz="1000">
                <a:solidFill>
                  <a:schemeClr val="dk2"/>
                </a:solidFill>
                <a:latin typeface="Source Code Pro"/>
                <a:ea typeface="Source Code Pro"/>
                <a:cs typeface="Source Code Pro"/>
                <a:sym typeface="Source Code Pro"/>
              </a:defRPr>
            </a:lvl8pPr>
            <a:lvl9pPr lvl="8" algn="r">
              <a:buNone/>
              <a:defRPr sz="1000">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odern-writer">
    <p:bg>
      <p:bgPr>
        <a:solidFill>
          <a:schemeClr val="lt1"/>
        </a:solidFill>
      </p:bgPr>
    </p:bg>
    <p:spTree>
      <p:nvGrpSpPr>
        <p:cNvPr id="69" name="Shape 69"/>
        <p:cNvGrpSpPr/>
        <p:nvPr/>
      </p:nvGrpSpPr>
      <p:grpSpPr>
        <a:xfrm>
          <a:off x="0" y="0"/>
          <a:ext cx="0" cy="0"/>
          <a:chOff x="0" y="0"/>
          <a:chExt cx="0" cy="0"/>
        </a:xfrm>
      </p:grpSpPr>
      <p:sp>
        <p:nvSpPr>
          <p:cNvPr id="70" name="Google Shape;70;p13"/>
          <p:cNvSpPr txBox="1"/>
          <p:nvPr>
            <p:ph type="title"/>
          </p:nvPr>
        </p:nvSpPr>
        <p:spPr>
          <a:xfrm>
            <a:off x="311700" y="372500"/>
            <a:ext cx="8520600" cy="733500"/>
          </a:xfrm>
          <a:prstGeom prst="rect">
            <a:avLst/>
          </a:prstGeom>
          <a:noFill/>
          <a:ln>
            <a:noFill/>
          </a:ln>
        </p:spPr>
        <p:txBody>
          <a:bodyPr anchorCtr="0" anchor="b" bIns="91425" lIns="91425" spcFirstLastPara="1" rIns="91425" wrap="square" tIns="91425">
            <a:normAutofit/>
          </a:bodyPr>
          <a:lstStyle>
            <a:lvl1pPr lvl="0" marR="0" rtl="0" algn="l">
              <a:lnSpc>
                <a:spcPct val="100000"/>
              </a:lnSpc>
              <a:spcBef>
                <a:spcPts val="0"/>
              </a:spcBef>
              <a:spcAft>
                <a:spcPts val="0"/>
              </a:spcAft>
              <a:buClr>
                <a:schemeClr val="dk2"/>
              </a:buClr>
              <a:buSzPts val="3000"/>
              <a:buFont typeface="Oswald"/>
              <a:buNone/>
              <a:defRPr b="0" i="0" sz="3000" u="none" cap="none" strike="noStrike">
                <a:solidFill>
                  <a:schemeClr val="dk2"/>
                </a:solidFill>
                <a:latin typeface="Oswald"/>
                <a:ea typeface="Oswald"/>
                <a:cs typeface="Oswald"/>
                <a:sym typeface="Oswald"/>
              </a:defRPr>
            </a:lvl1pPr>
            <a:lvl2pPr lvl="1" marR="0" rtl="0" algn="l">
              <a:lnSpc>
                <a:spcPct val="100000"/>
              </a:lnSpc>
              <a:spcBef>
                <a:spcPts val="0"/>
              </a:spcBef>
              <a:spcAft>
                <a:spcPts val="0"/>
              </a:spcAft>
              <a:buClr>
                <a:schemeClr val="dk2"/>
              </a:buClr>
              <a:buSzPts val="3000"/>
              <a:buFont typeface="Oswald"/>
              <a:buNone/>
              <a:defRPr b="0" i="0" sz="3000" u="none" cap="none" strike="noStrike">
                <a:solidFill>
                  <a:schemeClr val="dk2"/>
                </a:solidFill>
                <a:latin typeface="Oswald"/>
                <a:ea typeface="Oswald"/>
                <a:cs typeface="Oswald"/>
                <a:sym typeface="Oswald"/>
              </a:defRPr>
            </a:lvl2pPr>
            <a:lvl3pPr lvl="2" marR="0" rtl="0" algn="l">
              <a:lnSpc>
                <a:spcPct val="100000"/>
              </a:lnSpc>
              <a:spcBef>
                <a:spcPts val="0"/>
              </a:spcBef>
              <a:spcAft>
                <a:spcPts val="0"/>
              </a:spcAft>
              <a:buClr>
                <a:schemeClr val="dk2"/>
              </a:buClr>
              <a:buSzPts val="3000"/>
              <a:buFont typeface="Oswald"/>
              <a:buNone/>
              <a:defRPr b="0" i="0" sz="3000" u="none" cap="none" strike="noStrike">
                <a:solidFill>
                  <a:schemeClr val="dk2"/>
                </a:solidFill>
                <a:latin typeface="Oswald"/>
                <a:ea typeface="Oswald"/>
                <a:cs typeface="Oswald"/>
                <a:sym typeface="Oswald"/>
              </a:defRPr>
            </a:lvl3pPr>
            <a:lvl4pPr lvl="3" marR="0" rtl="0" algn="l">
              <a:lnSpc>
                <a:spcPct val="100000"/>
              </a:lnSpc>
              <a:spcBef>
                <a:spcPts val="0"/>
              </a:spcBef>
              <a:spcAft>
                <a:spcPts val="0"/>
              </a:spcAft>
              <a:buClr>
                <a:schemeClr val="dk2"/>
              </a:buClr>
              <a:buSzPts val="3000"/>
              <a:buFont typeface="Oswald"/>
              <a:buNone/>
              <a:defRPr b="0" i="0" sz="3000" u="none" cap="none" strike="noStrike">
                <a:solidFill>
                  <a:schemeClr val="dk2"/>
                </a:solidFill>
                <a:latin typeface="Oswald"/>
                <a:ea typeface="Oswald"/>
                <a:cs typeface="Oswald"/>
                <a:sym typeface="Oswald"/>
              </a:defRPr>
            </a:lvl4pPr>
            <a:lvl5pPr lvl="4" marR="0" rtl="0" algn="l">
              <a:lnSpc>
                <a:spcPct val="100000"/>
              </a:lnSpc>
              <a:spcBef>
                <a:spcPts val="0"/>
              </a:spcBef>
              <a:spcAft>
                <a:spcPts val="0"/>
              </a:spcAft>
              <a:buClr>
                <a:schemeClr val="dk2"/>
              </a:buClr>
              <a:buSzPts val="3000"/>
              <a:buFont typeface="Oswald"/>
              <a:buNone/>
              <a:defRPr b="0" i="0" sz="3000" u="none" cap="none" strike="noStrike">
                <a:solidFill>
                  <a:schemeClr val="dk2"/>
                </a:solidFill>
                <a:latin typeface="Oswald"/>
                <a:ea typeface="Oswald"/>
                <a:cs typeface="Oswald"/>
                <a:sym typeface="Oswald"/>
              </a:defRPr>
            </a:lvl5pPr>
            <a:lvl6pPr lvl="5" marR="0" rtl="0" algn="l">
              <a:lnSpc>
                <a:spcPct val="100000"/>
              </a:lnSpc>
              <a:spcBef>
                <a:spcPts val="0"/>
              </a:spcBef>
              <a:spcAft>
                <a:spcPts val="0"/>
              </a:spcAft>
              <a:buClr>
                <a:schemeClr val="dk2"/>
              </a:buClr>
              <a:buSzPts val="3000"/>
              <a:buFont typeface="Oswald"/>
              <a:buNone/>
              <a:defRPr b="0" i="0" sz="3000" u="none" cap="none" strike="noStrike">
                <a:solidFill>
                  <a:schemeClr val="dk2"/>
                </a:solidFill>
                <a:latin typeface="Oswald"/>
                <a:ea typeface="Oswald"/>
                <a:cs typeface="Oswald"/>
                <a:sym typeface="Oswald"/>
              </a:defRPr>
            </a:lvl6pPr>
            <a:lvl7pPr lvl="6" marR="0" rtl="0" algn="l">
              <a:lnSpc>
                <a:spcPct val="100000"/>
              </a:lnSpc>
              <a:spcBef>
                <a:spcPts val="0"/>
              </a:spcBef>
              <a:spcAft>
                <a:spcPts val="0"/>
              </a:spcAft>
              <a:buClr>
                <a:schemeClr val="dk2"/>
              </a:buClr>
              <a:buSzPts val="3000"/>
              <a:buFont typeface="Oswald"/>
              <a:buNone/>
              <a:defRPr b="0" i="0" sz="3000" u="none" cap="none" strike="noStrike">
                <a:solidFill>
                  <a:schemeClr val="dk2"/>
                </a:solidFill>
                <a:latin typeface="Oswald"/>
                <a:ea typeface="Oswald"/>
                <a:cs typeface="Oswald"/>
                <a:sym typeface="Oswald"/>
              </a:defRPr>
            </a:lvl7pPr>
            <a:lvl8pPr lvl="7" marR="0" rtl="0" algn="l">
              <a:lnSpc>
                <a:spcPct val="100000"/>
              </a:lnSpc>
              <a:spcBef>
                <a:spcPts val="0"/>
              </a:spcBef>
              <a:spcAft>
                <a:spcPts val="0"/>
              </a:spcAft>
              <a:buClr>
                <a:schemeClr val="dk2"/>
              </a:buClr>
              <a:buSzPts val="3000"/>
              <a:buFont typeface="Oswald"/>
              <a:buNone/>
              <a:defRPr b="0" i="0" sz="3000" u="none" cap="none" strike="noStrike">
                <a:solidFill>
                  <a:schemeClr val="dk2"/>
                </a:solidFill>
                <a:latin typeface="Oswald"/>
                <a:ea typeface="Oswald"/>
                <a:cs typeface="Oswald"/>
                <a:sym typeface="Oswald"/>
              </a:defRPr>
            </a:lvl8pPr>
            <a:lvl9pPr lvl="8" marR="0" rtl="0" algn="l">
              <a:lnSpc>
                <a:spcPct val="100000"/>
              </a:lnSpc>
              <a:spcBef>
                <a:spcPts val="0"/>
              </a:spcBef>
              <a:spcAft>
                <a:spcPts val="0"/>
              </a:spcAft>
              <a:buClr>
                <a:schemeClr val="dk2"/>
              </a:buClr>
              <a:buSzPts val="3000"/>
              <a:buFont typeface="Oswald"/>
              <a:buNone/>
              <a:defRPr b="0" i="0" sz="3000" u="none" cap="none" strike="noStrike">
                <a:solidFill>
                  <a:schemeClr val="dk2"/>
                </a:solidFill>
                <a:latin typeface="Oswald"/>
                <a:ea typeface="Oswald"/>
                <a:cs typeface="Oswald"/>
                <a:sym typeface="Oswald"/>
              </a:defRPr>
            </a:lvl9pPr>
          </a:lstStyle>
          <a:p/>
        </p:txBody>
      </p:sp>
      <p:sp>
        <p:nvSpPr>
          <p:cNvPr id="71" name="Google Shape;71;p13"/>
          <p:cNvSpPr txBox="1"/>
          <p:nvPr>
            <p:ph idx="1" type="body"/>
          </p:nvPr>
        </p:nvSpPr>
        <p:spPr>
          <a:xfrm>
            <a:off x="311700" y="1468825"/>
            <a:ext cx="8520600" cy="30999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Source Code Pro"/>
              <a:buChar char="●"/>
              <a:defRPr b="0" i="0" sz="1800" u="none" cap="none" strike="noStrike">
                <a:solidFill>
                  <a:schemeClr val="dk2"/>
                </a:solidFill>
                <a:latin typeface="Source Code Pro"/>
                <a:ea typeface="Source Code Pro"/>
                <a:cs typeface="Source Code Pro"/>
                <a:sym typeface="Source Code Pro"/>
              </a:defRPr>
            </a:lvl1pPr>
            <a:lvl2pPr indent="-317500" lvl="1" marL="914400" marR="0" rtl="0" algn="l">
              <a:lnSpc>
                <a:spcPct val="115000"/>
              </a:lnSpc>
              <a:spcBef>
                <a:spcPts val="0"/>
              </a:spcBef>
              <a:spcAft>
                <a:spcPts val="0"/>
              </a:spcAft>
              <a:buClr>
                <a:schemeClr val="dk2"/>
              </a:buClr>
              <a:buSzPts val="1400"/>
              <a:buFont typeface="Source Code Pro"/>
              <a:buChar char="○"/>
              <a:defRPr b="0" i="0" sz="1400" u="none" cap="none" strike="noStrike">
                <a:solidFill>
                  <a:schemeClr val="dk2"/>
                </a:solidFill>
                <a:latin typeface="Source Code Pro"/>
                <a:ea typeface="Source Code Pro"/>
                <a:cs typeface="Source Code Pro"/>
                <a:sym typeface="Source Code Pro"/>
              </a:defRPr>
            </a:lvl2pPr>
            <a:lvl3pPr indent="-317500" lvl="2" marL="1371600" marR="0" rtl="0" algn="l">
              <a:lnSpc>
                <a:spcPct val="115000"/>
              </a:lnSpc>
              <a:spcBef>
                <a:spcPts val="0"/>
              </a:spcBef>
              <a:spcAft>
                <a:spcPts val="0"/>
              </a:spcAft>
              <a:buClr>
                <a:schemeClr val="dk2"/>
              </a:buClr>
              <a:buSzPts val="1400"/>
              <a:buFont typeface="Source Code Pro"/>
              <a:buChar char="■"/>
              <a:defRPr b="0" i="0" sz="1400" u="none" cap="none" strike="noStrike">
                <a:solidFill>
                  <a:schemeClr val="dk2"/>
                </a:solidFill>
                <a:latin typeface="Source Code Pro"/>
                <a:ea typeface="Source Code Pro"/>
                <a:cs typeface="Source Code Pro"/>
                <a:sym typeface="Source Code Pro"/>
              </a:defRPr>
            </a:lvl3pPr>
            <a:lvl4pPr indent="-317500" lvl="3" marL="1828800" marR="0" rtl="0" algn="l">
              <a:lnSpc>
                <a:spcPct val="115000"/>
              </a:lnSpc>
              <a:spcBef>
                <a:spcPts val="0"/>
              </a:spcBef>
              <a:spcAft>
                <a:spcPts val="0"/>
              </a:spcAft>
              <a:buClr>
                <a:schemeClr val="dk2"/>
              </a:buClr>
              <a:buSzPts val="1400"/>
              <a:buFont typeface="Source Code Pro"/>
              <a:buChar char="●"/>
              <a:defRPr b="0" i="0" sz="1400" u="none" cap="none" strike="noStrike">
                <a:solidFill>
                  <a:schemeClr val="dk2"/>
                </a:solidFill>
                <a:latin typeface="Source Code Pro"/>
                <a:ea typeface="Source Code Pro"/>
                <a:cs typeface="Source Code Pro"/>
                <a:sym typeface="Source Code Pro"/>
              </a:defRPr>
            </a:lvl4pPr>
            <a:lvl5pPr indent="-317500" lvl="4" marL="2286000" marR="0" rtl="0" algn="l">
              <a:lnSpc>
                <a:spcPct val="115000"/>
              </a:lnSpc>
              <a:spcBef>
                <a:spcPts val="0"/>
              </a:spcBef>
              <a:spcAft>
                <a:spcPts val="0"/>
              </a:spcAft>
              <a:buClr>
                <a:schemeClr val="dk2"/>
              </a:buClr>
              <a:buSzPts val="1400"/>
              <a:buFont typeface="Source Code Pro"/>
              <a:buChar char="○"/>
              <a:defRPr b="0" i="0" sz="1400" u="none" cap="none" strike="noStrike">
                <a:solidFill>
                  <a:schemeClr val="dk2"/>
                </a:solidFill>
                <a:latin typeface="Source Code Pro"/>
                <a:ea typeface="Source Code Pro"/>
                <a:cs typeface="Source Code Pro"/>
                <a:sym typeface="Source Code Pro"/>
              </a:defRPr>
            </a:lvl5pPr>
            <a:lvl6pPr indent="-317500" lvl="5" marL="2743200" marR="0" rtl="0" algn="l">
              <a:lnSpc>
                <a:spcPct val="115000"/>
              </a:lnSpc>
              <a:spcBef>
                <a:spcPts val="0"/>
              </a:spcBef>
              <a:spcAft>
                <a:spcPts val="0"/>
              </a:spcAft>
              <a:buClr>
                <a:schemeClr val="dk2"/>
              </a:buClr>
              <a:buSzPts val="1400"/>
              <a:buFont typeface="Source Code Pro"/>
              <a:buChar char="■"/>
              <a:defRPr b="0" i="0" sz="1400" u="none" cap="none" strike="noStrike">
                <a:solidFill>
                  <a:schemeClr val="dk2"/>
                </a:solidFill>
                <a:latin typeface="Source Code Pro"/>
                <a:ea typeface="Source Code Pro"/>
                <a:cs typeface="Source Code Pro"/>
                <a:sym typeface="Source Code Pro"/>
              </a:defRPr>
            </a:lvl6pPr>
            <a:lvl7pPr indent="-317500" lvl="6" marL="3200400" marR="0" rtl="0" algn="l">
              <a:lnSpc>
                <a:spcPct val="115000"/>
              </a:lnSpc>
              <a:spcBef>
                <a:spcPts val="0"/>
              </a:spcBef>
              <a:spcAft>
                <a:spcPts val="0"/>
              </a:spcAft>
              <a:buClr>
                <a:schemeClr val="dk2"/>
              </a:buClr>
              <a:buSzPts val="1400"/>
              <a:buFont typeface="Source Code Pro"/>
              <a:buChar char="●"/>
              <a:defRPr b="0" i="0" sz="1400" u="none" cap="none" strike="noStrike">
                <a:solidFill>
                  <a:schemeClr val="dk2"/>
                </a:solidFill>
                <a:latin typeface="Source Code Pro"/>
                <a:ea typeface="Source Code Pro"/>
                <a:cs typeface="Source Code Pro"/>
                <a:sym typeface="Source Code Pro"/>
              </a:defRPr>
            </a:lvl7pPr>
            <a:lvl8pPr indent="-317500" lvl="7" marL="3657600" marR="0" rtl="0" algn="l">
              <a:lnSpc>
                <a:spcPct val="115000"/>
              </a:lnSpc>
              <a:spcBef>
                <a:spcPts val="0"/>
              </a:spcBef>
              <a:spcAft>
                <a:spcPts val="0"/>
              </a:spcAft>
              <a:buClr>
                <a:schemeClr val="dk2"/>
              </a:buClr>
              <a:buSzPts val="1400"/>
              <a:buFont typeface="Source Code Pro"/>
              <a:buChar char="○"/>
              <a:defRPr b="0" i="0" sz="1400" u="none" cap="none" strike="noStrike">
                <a:solidFill>
                  <a:schemeClr val="dk2"/>
                </a:solidFill>
                <a:latin typeface="Source Code Pro"/>
                <a:ea typeface="Source Code Pro"/>
                <a:cs typeface="Source Code Pro"/>
                <a:sym typeface="Source Code Pro"/>
              </a:defRPr>
            </a:lvl8pPr>
            <a:lvl9pPr indent="-317500" lvl="8" marL="4114800" marR="0" rtl="0" algn="l">
              <a:lnSpc>
                <a:spcPct val="115000"/>
              </a:lnSpc>
              <a:spcBef>
                <a:spcPts val="0"/>
              </a:spcBef>
              <a:spcAft>
                <a:spcPts val="0"/>
              </a:spcAft>
              <a:buClr>
                <a:schemeClr val="dk2"/>
              </a:buClr>
              <a:buSzPts val="1400"/>
              <a:buFont typeface="Source Code Pro"/>
              <a:buChar char="■"/>
              <a:defRPr b="0" i="0" sz="1400" u="none" cap="none" strike="noStrike">
                <a:solidFill>
                  <a:schemeClr val="dk2"/>
                </a:solidFill>
                <a:latin typeface="Source Code Pro"/>
                <a:ea typeface="Source Code Pro"/>
                <a:cs typeface="Source Code Pro"/>
                <a:sym typeface="Source Code Pro"/>
              </a:defRPr>
            </a:lvl9pPr>
          </a:lstStyle>
          <a:p/>
        </p:txBody>
      </p:sp>
      <p:sp>
        <p:nvSpPr>
          <p:cNvPr id="72" name="Google Shape;72;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Creating a Skill in Claude Cowork</a:t>
            </a:r>
          </a:p>
        </p:txBody>
      </p:sp>
      <p:sp>
        <p:nvSpPr>
          <p:cNvPr id="3" name="Subtitle 2"/>
          <p:cNvSpPr>
            <a:spLocks noGrp="1"/>
          </p:cNvSpPr>
          <p:nvPr>
            <p:ph type="subTitle" idx="1"/>
          </p:nvPr>
        </p:nvSpPr>
        <p:spPr/>
        <p:txBody>
          <a:bodyPr/>
          <a:lstStyle/>
          <a:p>
            <a:pPr marL="0" indent="0">
              <a:buNone/>
            </a:pPr>
            <a:r>
              <a:t>How a folder of instructions and files turns Claude into a specialist for one job you keep repeating.</a:t>
            </a:r>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 Folder You Hand Claude, Not a Box You Type Into</a:t>
            </a:r>
          </a:p>
        </p:txBody>
      </p:sp>
      <p:sp>
        <p:nvSpPr>
          <p:cNvPr id="3" name="Text Placeholder 2"/>
          <p:cNvSpPr>
            <a:spLocks noGrp="1"/>
          </p:cNvSpPr>
          <p:nvPr>
            <p:ph type="body" idx="1"/>
          </p:nvPr>
        </p:nvSpPr>
        <p:spPr>
          <a:xfrm>
            <a:off x="5184648" y="1426463"/>
            <a:ext cx="3648456" cy="2441448"/>
          </a:xfrm>
        </p:spPr>
        <p:txBody>
          <a:bodyPr wrap="square" anchor="ctr"/>
          <a:lstStyle/>
          <a:p>
            <a:pPr marL="0" indent="0">
              <a:buNone/>
            </a:pPr>
            <a:r>
              <a:t>A prompt is text you send once. A skill is a folder Claude keeps to hand. One file in it is compulsory: it names the job and says when to do it. Everything else is there because that job needs it.</a:t>
            </a:r>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6" name="Rounded Rectangle 25"/>
          <p:cNvSpPr/>
          <p:nvPr/>
        </p:nvSpPr>
        <p:spPr>
          <a:xfrm>
            <a:off x="365760" y="1426464"/>
            <a:ext cx="4315968" cy="2441448"/>
          </a:xfrm>
          <a:prstGeom prst="roundRect">
            <a:avLst>
              <a:gd name="adj" fmla="val 1764"/>
            </a:avLst>
          </a:prstGeom>
          <a:solidFill>
            <a:srgbClr val="3031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ounded Rectangle 26"/>
          <p:cNvSpPr/>
          <p:nvPr/>
        </p:nvSpPr>
        <p:spPr>
          <a:xfrm>
            <a:off x="365760" y="1426464"/>
            <a:ext cx="4315968" cy="301752"/>
          </a:xfrm>
          <a:prstGeom prst="roundRect">
            <a:avLst>
              <a:gd name="adj" fmla="val 18181"/>
            </a:avLst>
          </a:prstGeom>
          <a:solidFill>
            <a:srgbClr val="252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365760" y="1619585"/>
            <a:ext cx="4315968" cy="108630"/>
          </a:xfrm>
          <a:prstGeom prst="rect">
            <a:avLst/>
          </a:prstGeom>
          <a:solidFill>
            <a:srgbClr val="252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512064" y="1508760"/>
            <a:ext cx="3021177" cy="182880"/>
          </a:xfrm>
          <a:prstGeom prst="rect">
            <a:avLst/>
          </a:prstGeom>
          <a:noFill/>
        </p:spPr>
        <p:txBody>
          <a:bodyPr wrap="square" lIns="0" rIns="0" tIns="0" bIns="0" anchor="t">
            <a:spAutoFit/>
          </a:bodyPr>
          <a:lstStyle/>
          <a:p>
            <a:pPr algn="l"/>
            <a:r>
              <a:rPr sz="1200" b="1">
                <a:solidFill>
                  <a:srgbClr val="F7F7FA"/>
                </a:solidFill>
                <a:latin typeface="Arial"/>
              </a:rPr>
              <a:t>Skill folder</a:t>
            </a:r>
          </a:p>
        </p:txBody>
      </p:sp>
      <p:sp>
        <p:nvSpPr>
          <p:cNvPr id="30" name="TextBox 29"/>
          <p:cNvSpPr txBox="1"/>
          <p:nvPr/>
        </p:nvSpPr>
        <p:spPr>
          <a:xfrm>
            <a:off x="3438144" y="1527048"/>
            <a:ext cx="1097280" cy="173736"/>
          </a:xfrm>
          <a:prstGeom prst="rect">
            <a:avLst/>
          </a:prstGeom>
          <a:noFill/>
        </p:spPr>
        <p:txBody>
          <a:bodyPr wrap="square" lIns="0" rIns="0" tIns="0" bIns="0" anchor="t">
            <a:spAutoFit/>
          </a:bodyPr>
          <a:lstStyle/>
          <a:p>
            <a:pPr algn="r"/>
            <a:r>
              <a:rPr sz="885" b="0">
                <a:solidFill>
                  <a:srgbClr val="C6C7D0"/>
                </a:solidFill>
                <a:latin typeface="Arial"/>
              </a:rPr>
              <a:t>Example</a:t>
            </a:r>
          </a:p>
        </p:txBody>
      </p:sp>
      <p:sp>
        <p:nvSpPr>
          <p:cNvPr id="31" name="TextBox 30"/>
          <p:cNvSpPr txBox="1"/>
          <p:nvPr/>
        </p:nvSpPr>
        <p:spPr>
          <a:xfrm>
            <a:off x="512064" y="1856232"/>
            <a:ext cx="1737360" cy="173736"/>
          </a:xfrm>
          <a:prstGeom prst="rect">
            <a:avLst/>
          </a:prstGeom>
          <a:noFill/>
        </p:spPr>
        <p:txBody>
          <a:bodyPr wrap="square" lIns="0" rIns="0" tIns="0" bIns="0" anchor="t">
            <a:spAutoFit/>
          </a:bodyPr>
          <a:lstStyle/>
          <a:p>
            <a:pPr algn="l"/>
            <a:r>
              <a:rPr sz="885" b="1">
                <a:solidFill>
                  <a:srgbClr val="C6C7D0"/>
                </a:solidFill>
                <a:latin typeface="Arial"/>
              </a:rPr>
              <a:t>The folder</a:t>
            </a:r>
          </a:p>
        </p:txBody>
      </p:sp>
      <p:sp>
        <p:nvSpPr>
          <p:cNvPr id="32" name="TextBox 31"/>
          <p:cNvSpPr txBox="1"/>
          <p:nvPr/>
        </p:nvSpPr>
        <p:spPr>
          <a:xfrm>
            <a:off x="512064" y="2057400"/>
            <a:ext cx="4023359" cy="210312"/>
          </a:xfrm>
          <a:prstGeom prst="rect">
            <a:avLst/>
          </a:prstGeom>
          <a:noFill/>
        </p:spPr>
        <p:txBody>
          <a:bodyPr wrap="none" lIns="0" rIns="0" tIns="0" bIns="0" anchor="t">
            <a:spAutoFit/>
          </a:bodyPr>
          <a:lstStyle/>
          <a:p>
            <a:pPr algn="l"/>
            <a:r>
              <a:rPr sz="1125" b="0">
                <a:solidFill>
                  <a:srgbClr val="F7F7FA"/>
                </a:solidFill>
                <a:latin typeface="Arial"/>
              </a:rPr>
              <a:t>principles-deck/</a:t>
            </a:r>
          </a:p>
        </p:txBody>
      </p:sp>
      <p:sp>
        <p:nvSpPr>
          <p:cNvPr id="33" name="TextBox 32"/>
          <p:cNvSpPr txBox="1"/>
          <p:nvPr/>
        </p:nvSpPr>
        <p:spPr>
          <a:xfrm>
            <a:off x="512064" y="2267712"/>
            <a:ext cx="4023359" cy="210312"/>
          </a:xfrm>
          <a:prstGeom prst="rect">
            <a:avLst/>
          </a:prstGeom>
          <a:noFill/>
        </p:spPr>
        <p:txBody>
          <a:bodyPr wrap="none" lIns="0" rIns="0" tIns="0" bIns="0" anchor="t">
            <a:spAutoFit/>
          </a:bodyPr>
          <a:lstStyle/>
          <a:p>
            <a:pPr algn="l"/>
            <a:r>
              <a:rPr sz="1125" b="0">
                <a:solidFill>
                  <a:srgbClr val="F7F7FA"/>
                </a:solidFill>
                <a:latin typeface="Arial"/>
              </a:rPr>
              <a:t>     SKILL.md</a:t>
            </a:r>
          </a:p>
        </p:txBody>
      </p:sp>
      <p:sp>
        <p:nvSpPr>
          <p:cNvPr id="34" name="TextBox 33"/>
          <p:cNvSpPr txBox="1"/>
          <p:nvPr/>
        </p:nvSpPr>
        <p:spPr>
          <a:xfrm>
            <a:off x="512064" y="2478024"/>
            <a:ext cx="4023359" cy="210312"/>
          </a:xfrm>
          <a:prstGeom prst="rect">
            <a:avLst/>
          </a:prstGeom>
          <a:noFill/>
        </p:spPr>
        <p:txBody>
          <a:bodyPr wrap="none" lIns="0" rIns="0" tIns="0" bIns="0" anchor="t">
            <a:spAutoFit/>
          </a:bodyPr>
          <a:lstStyle/>
          <a:p>
            <a:pPr algn="l"/>
            <a:r>
              <a:rPr sz="1125" b="0">
                <a:solidFill>
                  <a:srgbClr val="F7F7FA"/>
                </a:solidFill>
                <a:latin typeface="Arial"/>
              </a:rPr>
              <a:t>     references/</a:t>
            </a:r>
          </a:p>
        </p:txBody>
      </p:sp>
      <p:sp>
        <p:nvSpPr>
          <p:cNvPr id="35" name="TextBox 34"/>
          <p:cNvSpPr txBox="1"/>
          <p:nvPr/>
        </p:nvSpPr>
        <p:spPr>
          <a:xfrm>
            <a:off x="512064" y="2688336"/>
            <a:ext cx="4023359" cy="210312"/>
          </a:xfrm>
          <a:prstGeom prst="rect">
            <a:avLst/>
          </a:prstGeom>
          <a:noFill/>
        </p:spPr>
        <p:txBody>
          <a:bodyPr wrap="none" lIns="0" rIns="0" tIns="0" bIns="0" anchor="t">
            <a:spAutoFit/>
          </a:bodyPr>
          <a:lstStyle/>
          <a:p>
            <a:pPr algn="l"/>
            <a:r>
              <a:rPr sz="1125" b="0">
                <a:solidFill>
                  <a:srgbClr val="F7F7FA"/>
                </a:solidFill>
                <a:latin typeface="Arial"/>
              </a:rPr>
              <a:t>     scripts/</a:t>
            </a:r>
          </a:p>
        </p:txBody>
      </p:sp>
      <p:sp>
        <p:nvSpPr>
          <p:cNvPr id="36" name="TextBox 35"/>
          <p:cNvSpPr txBox="1"/>
          <p:nvPr/>
        </p:nvSpPr>
        <p:spPr>
          <a:xfrm>
            <a:off x="512064" y="2898648"/>
            <a:ext cx="4023359" cy="210312"/>
          </a:xfrm>
          <a:prstGeom prst="rect">
            <a:avLst/>
          </a:prstGeom>
          <a:noFill/>
        </p:spPr>
        <p:txBody>
          <a:bodyPr wrap="none" lIns="0" rIns="0" tIns="0" bIns="0" anchor="t">
            <a:spAutoFit/>
          </a:bodyPr>
          <a:lstStyle/>
          <a:p>
            <a:pPr algn="l"/>
            <a:r>
              <a:rPr sz="1125" b="0">
                <a:solidFill>
                  <a:srgbClr val="F7F7FA"/>
                </a:solidFill>
                <a:latin typeface="Arial"/>
              </a:rPr>
              <a:t>     assets/</a:t>
            </a:r>
          </a:p>
        </p:txBody>
      </p:sp>
      <p:sp>
        <p:nvSpPr>
          <p:cNvPr id="37" name="Rectangle 36"/>
          <p:cNvSpPr/>
          <p:nvPr/>
        </p:nvSpPr>
        <p:spPr>
          <a:xfrm>
            <a:off x="512064" y="3218688"/>
            <a:ext cx="4023359" cy="9144"/>
          </a:xfrm>
          <a:prstGeom prst="rect">
            <a:avLst/>
          </a:prstGeom>
          <a:solidFill>
            <a:srgbClr val="3C3D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512064" y="3310128"/>
            <a:ext cx="1737360" cy="173736"/>
          </a:xfrm>
          <a:prstGeom prst="rect">
            <a:avLst/>
          </a:prstGeom>
          <a:noFill/>
        </p:spPr>
        <p:txBody>
          <a:bodyPr wrap="square" lIns="0" rIns="0" tIns="0" bIns="0" anchor="t">
            <a:spAutoFit/>
          </a:bodyPr>
          <a:lstStyle/>
          <a:p>
            <a:pPr algn="l"/>
            <a:r>
              <a:rPr sz="885" b="1">
                <a:solidFill>
                  <a:srgbClr val="C6C7D0"/>
                </a:solidFill>
                <a:latin typeface="Arial"/>
              </a:rPr>
              <a:t>The only compulsory part</a:t>
            </a:r>
          </a:p>
        </p:txBody>
      </p:sp>
      <p:sp>
        <p:nvSpPr>
          <p:cNvPr id="39" name="Rounded Rectangle 38"/>
          <p:cNvSpPr/>
          <p:nvPr/>
        </p:nvSpPr>
        <p:spPr>
          <a:xfrm>
            <a:off x="466344" y="3502152"/>
            <a:ext cx="3211830" cy="201168"/>
          </a:xfrm>
          <a:prstGeom prst="roundRect">
            <a:avLst>
              <a:gd name="adj" fmla="val 18181"/>
            </a:avLst>
          </a:prstGeom>
          <a:solidFill>
            <a:srgbClr val="7133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512064" y="3511296"/>
            <a:ext cx="4023359" cy="210312"/>
          </a:xfrm>
          <a:prstGeom prst="rect">
            <a:avLst/>
          </a:prstGeom>
          <a:noFill/>
        </p:spPr>
        <p:txBody>
          <a:bodyPr wrap="none" lIns="0" rIns="0" tIns="0" bIns="0" anchor="t">
            <a:spAutoFit/>
          </a:bodyPr>
          <a:lstStyle/>
          <a:p>
            <a:pPr algn="l"/>
            <a:r>
              <a:rPr sz="1125" b="0">
                <a:solidFill>
                  <a:srgbClr val="F7F7FA"/>
                </a:solidFill>
                <a:latin typeface="Arial"/>
              </a:rPr>
              <a:t>SKILL.md, holding a name and a description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Skill That Built These Slides</a:t>
            </a:r>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graphicFrame>
        <p:nvGraphicFramePr>
          <p:cNvPr id="26" name="Table 25"/>
          <p:cNvGraphicFramePr>
            <a:graphicFrameLocks noGrp="1"/>
          </p:cNvGraphicFramePr>
          <p:nvPr/>
        </p:nvGraphicFramePr>
        <p:xfrm>
          <a:off x="310896" y="1426464"/>
          <a:ext cx="8522207" cy="2231135"/>
        </p:xfrm>
        <a:graphic>
          <a:graphicData uri="http://schemas.openxmlformats.org/drawingml/2006/table">
            <a:tbl>
              <a:tblPr>
                <a:tableStyleId>{2D5ABB26-0587-4C30-8999-92F81FD0307C}</a:tableStyleId>
              </a:tblPr>
              <a:tblGrid>
                <a:gridCol w="2474189"/>
                <a:gridCol w="3024009"/>
                <a:gridCol w="3024009"/>
              </a:tblGrid>
              <a:tr h="446227">
                <a:tc>
                  <a:txBody>
                    <a:bodyPr wrap="square"/>
                    <a:lstStyle/>
                    <a:p>
                      <a:r>
                        <a:rPr sz="1200" b="1">
                          <a:solidFill>
                            <a:srgbClr val="424242"/>
                          </a:solidFill>
                          <a:latin typeface="Source Code Pro"/>
                        </a:rPr>
                        <a:t>What is in it</a:t>
                      </a:r>
                    </a:p>
                  </a:txBody>
                  <a:tcPr marL="91440" marR="91440" marT="36576" marB="36576" anchor="ctr">
                    <a:lnT w="9525" cap="flat">
                      <a:solidFill>
                        <a:srgbClr val="D8D8DE"/>
                      </a:solidFill>
                    </a:lnT>
                    <a:lnB w="15875" cap="flat">
                      <a:solidFill>
                        <a:srgbClr val="424242"/>
                      </a:solidFill>
                    </a:lnB>
                    <a:solidFill>
                      <a:srgbClr val="FFFFFF"/>
                    </a:solidFill>
                  </a:tcPr>
                </a:tc>
                <a:tc>
                  <a:txBody>
                    <a:bodyPr wrap="square"/>
                    <a:lstStyle/>
                    <a:p>
                      <a:r>
                        <a:rPr sz="1200" b="1">
                          <a:solidFill>
                            <a:srgbClr val="424242"/>
                          </a:solidFill>
                          <a:latin typeface="Source Code Pro"/>
                        </a:rPr>
                        <a:t>Written as</a:t>
                      </a:r>
                    </a:p>
                  </a:txBody>
                  <a:tcPr marL="91440" marR="91440" marT="36576" marB="36576" anchor="ctr">
                    <a:lnT w="9525" cap="flat">
                      <a:solidFill>
                        <a:srgbClr val="D8D8DE"/>
                      </a:solidFill>
                    </a:lnT>
                    <a:lnB w="15875" cap="flat">
                      <a:solidFill>
                        <a:srgbClr val="424242"/>
                      </a:solidFill>
                    </a:lnB>
                    <a:solidFill>
                      <a:srgbClr val="FFFFFF"/>
                    </a:solidFill>
                  </a:tcPr>
                </a:tc>
                <a:tc>
                  <a:txBody>
                    <a:bodyPr wrap="square"/>
                    <a:lstStyle/>
                    <a:p>
                      <a:r>
                        <a:rPr sz="1200" b="1">
                          <a:solidFill>
                            <a:srgbClr val="424242"/>
                          </a:solidFill>
                          <a:latin typeface="Source Code Pro"/>
                        </a:rPr>
                        <a:t>When it loads</a:t>
                      </a:r>
                    </a:p>
                  </a:txBody>
                  <a:tcPr marL="91440" marR="91440" marT="36576" marB="36576" anchor="ctr">
                    <a:lnT w="9525" cap="flat">
                      <a:solidFill>
                        <a:srgbClr val="D8D8DE"/>
                      </a:solidFill>
                    </a:lnT>
                    <a:lnB w="15875" cap="flat">
                      <a:solidFill>
                        <a:srgbClr val="424242"/>
                      </a:solidFill>
                    </a:lnB>
                    <a:solidFill>
                      <a:srgbClr val="FFFFFF"/>
                    </a:solidFill>
                  </a:tcPr>
                </a:tc>
              </a:tr>
              <a:tr h="446227">
                <a:tc>
                  <a:txBody>
                    <a:bodyPr wrap="square"/>
                    <a:lstStyle/>
                    <a:p>
                      <a:r>
                        <a:rPr sz="1200" b="0">
                          <a:solidFill>
                            <a:srgbClr val="424242"/>
                          </a:solidFill>
                          <a:latin typeface="Source Code Pro"/>
                        </a:rPr>
                        <a:t>A name and a description</a:t>
                      </a:r>
                    </a:p>
                  </a:txBody>
                  <a:tcPr marL="91440" marR="91440" marT="36576" marB="36576" anchor="ctr">
                    <a:lnB w="9525" cap="flat">
                      <a:solidFill>
                        <a:srgbClr val="D8D8DE"/>
                      </a:solidFill>
                    </a:lnB>
                    <a:solidFill>
                      <a:srgbClr val="FFFFFF"/>
                    </a:solidFill>
                  </a:tcPr>
                </a:tc>
                <a:tc>
                  <a:txBody>
                    <a:bodyPr wrap="square"/>
                    <a:lstStyle/>
                    <a:p>
                      <a:r>
                        <a:rPr sz="1200" b="0">
                          <a:solidFill>
                            <a:srgbClr val="424242"/>
                          </a:solidFill>
                          <a:latin typeface="Source Code Pro"/>
                        </a:rPr>
                        <a:t>two lines of prose</a:t>
                      </a:r>
                    </a:p>
                  </a:txBody>
                  <a:tcPr marL="91440" marR="91440" marT="36576" marB="36576" anchor="ctr">
                    <a:lnB w="9525" cap="flat">
                      <a:solidFill>
                        <a:srgbClr val="D8D8DE"/>
                      </a:solidFill>
                    </a:lnB>
                    <a:solidFill>
                      <a:srgbClr val="FFFFFF"/>
                    </a:solidFill>
                  </a:tcPr>
                </a:tc>
                <a:tc>
                  <a:txBody>
                    <a:bodyPr wrap="square"/>
                    <a:lstStyle/>
                    <a:p>
                      <a:r>
                        <a:rPr sz="1200" b="0">
                          <a:solidFill>
                            <a:srgbClr val="424242"/>
                          </a:solidFill>
                          <a:latin typeface="Source Code Pro"/>
                        </a:rPr>
                        <a:t>always</a:t>
                      </a:r>
                    </a:p>
                  </a:txBody>
                  <a:tcPr marL="91440" marR="91440" marT="36576" marB="36576" anchor="ctr">
                    <a:lnB w="9525" cap="flat">
                      <a:solidFill>
                        <a:srgbClr val="D8D8DE"/>
                      </a:solidFill>
                    </a:lnB>
                    <a:solidFill>
                      <a:srgbClr val="FFFFFF"/>
                    </a:solidFill>
                  </a:tcPr>
                </a:tc>
              </a:tr>
              <a:tr h="446227">
                <a:tc>
                  <a:txBody>
                    <a:bodyPr wrap="square"/>
                    <a:lstStyle/>
                    <a:p>
                      <a:r>
                        <a:rPr sz="1200" b="0">
                          <a:solidFill>
                            <a:srgbClr val="424242"/>
                          </a:solidFill>
                          <a:latin typeface="Source Code Pro"/>
                        </a:rPr>
                        <a:t>The instructions</a:t>
                      </a:r>
                    </a:p>
                  </a:txBody>
                  <a:tcPr marL="91440" marR="91440" marT="36576" marB="36576" anchor="ctr">
                    <a:lnB w="9525" cap="flat">
                      <a:solidFill>
                        <a:srgbClr val="D8D8DE"/>
                      </a:solidFill>
                    </a:lnB>
                    <a:solidFill>
                      <a:srgbClr val="FFFFFF"/>
                    </a:solidFill>
                  </a:tcPr>
                </a:tc>
                <a:tc>
                  <a:txBody>
                    <a:bodyPr wrap="square"/>
                    <a:lstStyle/>
                    <a:p>
                      <a:r>
                        <a:rPr sz="1200" b="0">
                          <a:solidFill>
                            <a:srgbClr val="424242"/>
                          </a:solidFill>
                          <a:latin typeface="Source Code Pro"/>
                        </a:rPr>
                        <a:t>a page of plain English</a:t>
                      </a:r>
                    </a:p>
                  </a:txBody>
                  <a:tcPr marL="91440" marR="91440" marT="36576" marB="36576" anchor="ctr">
                    <a:lnB w="9525" cap="flat">
                      <a:solidFill>
                        <a:srgbClr val="D8D8DE"/>
                      </a:solidFill>
                    </a:lnB>
                    <a:solidFill>
                      <a:srgbClr val="FFFFFF"/>
                    </a:solidFill>
                  </a:tcPr>
                </a:tc>
                <a:tc>
                  <a:txBody>
                    <a:bodyPr wrap="square"/>
                    <a:lstStyle/>
                    <a:p>
                      <a:r>
                        <a:rPr sz="1200" b="0">
                          <a:solidFill>
                            <a:srgbClr val="424242"/>
                          </a:solidFill>
                          <a:latin typeface="Source Code Pro"/>
                        </a:rPr>
                        <a:t>when a request matches</a:t>
                      </a:r>
                    </a:p>
                  </a:txBody>
                  <a:tcPr marL="91440" marR="91440" marT="36576" marB="36576" anchor="ctr">
                    <a:lnB w="9525" cap="flat">
                      <a:solidFill>
                        <a:srgbClr val="D8D8DE"/>
                      </a:solidFill>
                    </a:lnB>
                    <a:solidFill>
                      <a:srgbClr val="FFFFFF"/>
                    </a:solidFill>
                  </a:tcPr>
                </a:tc>
              </a:tr>
              <a:tr h="446227">
                <a:tc>
                  <a:txBody>
                    <a:bodyPr wrap="square"/>
                    <a:lstStyle/>
                    <a:p>
                      <a:r>
                        <a:rPr sz="1200" b="0">
                          <a:solidFill>
                            <a:srgbClr val="424242"/>
                          </a:solidFill>
                          <a:latin typeface="Source Code Pro"/>
                        </a:rPr>
                        <a:t>The reference material</a:t>
                      </a:r>
                    </a:p>
                  </a:txBody>
                  <a:tcPr marL="91440" marR="91440" marT="36576" marB="36576" anchor="ctr">
                    <a:lnB w="9525" cap="flat">
                      <a:solidFill>
                        <a:srgbClr val="D8D8DE"/>
                      </a:solidFill>
                    </a:lnB>
                    <a:solidFill>
                      <a:srgbClr val="FFFFFF"/>
                    </a:solidFill>
                  </a:tcPr>
                </a:tc>
                <a:tc>
                  <a:txBody>
                    <a:bodyPr wrap="square"/>
                    <a:lstStyle/>
                    <a:p>
                      <a:r>
                        <a:rPr sz="1200" b="0">
                          <a:solidFill>
                            <a:srgbClr val="424242"/>
                          </a:solidFill>
                          <a:latin typeface="Source Code Pro"/>
                        </a:rPr>
                        <a:t>a shelf of documents</a:t>
                      </a:r>
                    </a:p>
                  </a:txBody>
                  <a:tcPr marL="91440" marR="91440" marT="36576" marB="36576" anchor="ctr">
                    <a:lnB w="9525" cap="flat">
                      <a:solidFill>
                        <a:srgbClr val="D8D8DE"/>
                      </a:solidFill>
                    </a:lnB>
                    <a:solidFill>
                      <a:srgbClr val="FFFFFF"/>
                    </a:solidFill>
                  </a:tcPr>
                </a:tc>
                <a:tc>
                  <a:txBody>
                    <a:bodyPr wrap="square"/>
                    <a:lstStyle/>
                    <a:p>
                      <a:r>
                        <a:rPr sz="1200" b="0">
                          <a:solidFill>
                            <a:srgbClr val="424242"/>
                          </a:solidFill>
                          <a:latin typeface="Source Code Pro"/>
                        </a:rPr>
                        <a:t>if a step calls for one</a:t>
                      </a:r>
                    </a:p>
                  </a:txBody>
                  <a:tcPr marL="91440" marR="91440" marT="36576" marB="36576" anchor="ctr">
                    <a:lnB w="9525" cap="flat">
                      <a:solidFill>
                        <a:srgbClr val="D8D8DE"/>
                      </a:solidFill>
                    </a:lnB>
                    <a:solidFill>
                      <a:srgbClr val="FFFFFF"/>
                    </a:solidFill>
                  </a:tcPr>
                </a:tc>
              </a:tr>
              <a:tr h="446227">
                <a:tc>
                  <a:txBody>
                    <a:bodyPr wrap="square"/>
                    <a:lstStyle/>
                    <a:p>
                      <a:r>
                        <a:rPr sz="1200" b="0">
                          <a:solidFill>
                            <a:srgbClr val="424242"/>
                          </a:solidFill>
                          <a:latin typeface="Source Code Pro"/>
                        </a:rPr>
                        <a:t>The tools</a:t>
                      </a:r>
                    </a:p>
                  </a:txBody>
                  <a:tcPr marL="91440" marR="91440" marT="36576" marB="36576" anchor="ctr">
                    <a:lnB w="9525" cap="flat">
                      <a:solidFill>
                        <a:srgbClr val="D8D8DE"/>
                      </a:solidFill>
                    </a:lnB>
                    <a:solidFill>
                      <a:srgbClr val="FFFFFF"/>
                    </a:solidFill>
                  </a:tcPr>
                </a:tc>
                <a:tc>
                  <a:txBody>
                    <a:bodyPr wrap="square"/>
                    <a:lstStyle/>
                    <a:p>
                      <a:r>
                        <a:rPr sz="1200" b="0">
                          <a:solidFill>
                            <a:srgbClr val="424242"/>
                          </a:solidFill>
                          <a:latin typeface="Source Code Pro"/>
                        </a:rPr>
                        <a:t>scripts and a template</a:t>
                      </a:r>
                    </a:p>
                  </a:txBody>
                  <a:tcPr marL="91440" marR="91440" marT="36576" marB="36576" anchor="ctr">
                    <a:lnB w="9525" cap="flat">
                      <a:solidFill>
                        <a:srgbClr val="D8D8DE"/>
                      </a:solidFill>
                    </a:lnB>
                    <a:solidFill>
                      <a:srgbClr val="FFFFFF"/>
                    </a:solidFill>
                  </a:tcPr>
                </a:tc>
                <a:tc>
                  <a:txBody>
                    <a:bodyPr wrap="square"/>
                    <a:lstStyle/>
                    <a:p>
                      <a:r>
                        <a:rPr sz="1200" b="0">
                          <a:solidFill>
                            <a:srgbClr val="424242"/>
                          </a:solidFill>
                          <a:latin typeface="Source Code Pro"/>
                        </a:rPr>
                        <a:t>run or opened, never read</a:t>
                      </a:r>
                    </a:p>
                  </a:txBody>
                  <a:tcPr marL="91440" marR="91440" marT="36576" marB="36576" anchor="ctr">
                    <a:lnB w="9525" cap="flat">
                      <a:solidFill>
                        <a:srgbClr val="D8D8DE"/>
                      </a:solidFill>
                    </a:lnB>
                    <a:solidFill>
                      <a:srgbClr val="FFFFFF"/>
                    </a:solidFill>
                  </a:tcPr>
                </a:tc>
              </a:tr>
            </a:tbl>
          </a:graphicData>
        </a:graphic>
      </p:graphicFrame>
      <p:sp>
        <p:nvSpPr>
          <p:cNvPr id="27" name="TextBox 26"/>
          <p:cNvSpPr txBox="1"/>
          <p:nvPr/>
        </p:nvSpPr>
        <p:spPr>
          <a:xfrm>
            <a:off x="310896" y="3858768"/>
            <a:ext cx="8522208" cy="617220"/>
          </a:xfrm>
          <a:prstGeom prst="rect">
            <a:avLst/>
          </a:prstGeom>
          <a:noFill/>
        </p:spPr>
        <p:txBody>
          <a:bodyPr wrap="square" lIns="0" rIns="0" tIns="0" bIns="0" anchor="t">
            <a:spAutoFit/>
          </a:bodyPr>
          <a:lstStyle/>
          <a:p>
            <a:pPr algn="l">
              <a:lnSpc>
                <a:spcPct val="125000"/>
              </a:lnSpc>
            </a:pPr>
            <a:r>
              <a:rPr sz="1200" b="0">
                <a:solidFill>
                  <a:srgbClr val="6B6B6B"/>
                </a:solidFill>
                <a:latin typeface="Source Code Pro"/>
              </a:rPr>
              <a:t>Every deck in this course re-film came out of that folder. The two parts that matter most, the description and the instructions, are ordinary prose: you do not have to write the scripts to build a skill.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a Skill Is Not</a:t>
            </a:r>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6" name="Rounded Rectangle 25"/>
          <p:cNvSpPr/>
          <p:nvPr/>
        </p:nvSpPr>
        <p:spPr>
          <a:xfrm>
            <a:off x="310896" y="1426464"/>
            <a:ext cx="4078224" cy="2377440"/>
          </a:xfrm>
          <a:prstGeom prst="roundRect">
            <a:avLst>
              <a:gd name="adj" fmla="val 2307"/>
            </a:avLst>
          </a:prstGeom>
          <a:solidFill>
            <a:srgbClr val="FFFFFF"/>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493776" y="1572768"/>
            <a:ext cx="3712463" cy="274320"/>
          </a:xfrm>
          <a:prstGeom prst="rect">
            <a:avLst/>
          </a:prstGeom>
          <a:noFill/>
        </p:spPr>
        <p:txBody>
          <a:bodyPr wrap="square" lIns="0" rIns="0" tIns="0" bIns="0" anchor="t">
            <a:spAutoFit/>
          </a:bodyPr>
          <a:lstStyle/>
          <a:p>
            <a:pPr algn="l"/>
            <a:r>
              <a:rPr sz="1400" b="1">
                <a:solidFill>
                  <a:srgbClr val="424242"/>
                </a:solidFill>
                <a:latin typeface="Source Code Pro"/>
              </a:rPr>
              <a:t>Not this</a:t>
            </a:r>
          </a:p>
        </p:txBody>
      </p:sp>
      <p:sp>
        <p:nvSpPr>
          <p:cNvPr id="28" name="TextBox 27"/>
          <p:cNvSpPr txBox="1"/>
          <p:nvPr/>
        </p:nvSpPr>
        <p:spPr>
          <a:xfrm>
            <a:off x="493776" y="1975104"/>
            <a:ext cx="3712463" cy="274320"/>
          </a:xfrm>
          <a:prstGeom prst="rect">
            <a:avLst/>
          </a:prstGeom>
          <a:noFill/>
        </p:spPr>
        <p:txBody>
          <a:bodyPr wrap="square" lIns="0" rIns="0" tIns="0" bIns="0" anchor="t">
            <a:spAutoFit/>
          </a:bodyPr>
          <a:lstStyle/>
          <a:p>
            <a:pPr algn="l">
              <a:lnSpc>
                <a:spcPct val="115000"/>
              </a:lnSpc>
            </a:pPr>
            <a:r>
              <a:rPr sz="1300" b="0">
                <a:solidFill>
                  <a:srgbClr val="424242"/>
                </a:solidFill>
                <a:latin typeface="Source Code Pro"/>
              </a:rPr>
              <a:t>—  Teaching the model something new</a:t>
            </a:r>
          </a:p>
        </p:txBody>
      </p:sp>
      <p:sp>
        <p:nvSpPr>
          <p:cNvPr id="29" name="TextBox 28"/>
          <p:cNvSpPr txBox="1"/>
          <p:nvPr/>
        </p:nvSpPr>
        <p:spPr>
          <a:xfrm>
            <a:off x="493776" y="2286000"/>
            <a:ext cx="3712463" cy="274320"/>
          </a:xfrm>
          <a:prstGeom prst="rect">
            <a:avLst/>
          </a:prstGeom>
          <a:noFill/>
        </p:spPr>
        <p:txBody>
          <a:bodyPr wrap="square" lIns="0" rIns="0" tIns="0" bIns="0" anchor="t">
            <a:spAutoFit/>
          </a:bodyPr>
          <a:lstStyle/>
          <a:p>
            <a:pPr algn="l">
              <a:lnSpc>
                <a:spcPct val="115000"/>
              </a:lnSpc>
            </a:pPr>
            <a:r>
              <a:rPr sz="1300" b="0">
                <a:solidFill>
                  <a:srgbClr val="424242"/>
                </a:solidFill>
                <a:latin typeface="Source Code Pro"/>
              </a:rPr>
              <a:t>—  Text you paste in again each time</a:t>
            </a:r>
          </a:p>
        </p:txBody>
      </p:sp>
      <p:sp>
        <p:nvSpPr>
          <p:cNvPr id="30" name="TextBox 29"/>
          <p:cNvSpPr txBox="1"/>
          <p:nvPr/>
        </p:nvSpPr>
        <p:spPr>
          <a:xfrm>
            <a:off x="493776" y="2596896"/>
            <a:ext cx="3712463" cy="274320"/>
          </a:xfrm>
          <a:prstGeom prst="rect">
            <a:avLst/>
          </a:prstGeom>
          <a:noFill/>
        </p:spPr>
        <p:txBody>
          <a:bodyPr wrap="square" lIns="0" rIns="0" tIns="0" bIns="0" anchor="t">
            <a:spAutoFit/>
          </a:bodyPr>
          <a:lstStyle/>
          <a:p>
            <a:pPr algn="l">
              <a:lnSpc>
                <a:spcPct val="115000"/>
              </a:lnSpc>
            </a:pPr>
            <a:r>
              <a:rPr sz="1300" b="0">
                <a:solidFill>
                  <a:srgbClr val="424242"/>
                </a:solidFill>
                <a:latin typeface="Source Code Pro"/>
              </a:rPr>
              <a:t>—  Something you carry into every chat</a:t>
            </a:r>
          </a:p>
        </p:txBody>
      </p:sp>
      <p:sp>
        <p:nvSpPr>
          <p:cNvPr id="31" name="Rounded Rectangle 30"/>
          <p:cNvSpPr/>
          <p:nvPr/>
        </p:nvSpPr>
        <p:spPr>
          <a:xfrm>
            <a:off x="4754880" y="1426464"/>
            <a:ext cx="4078224" cy="2377440"/>
          </a:xfrm>
          <a:prstGeom prst="roundRect">
            <a:avLst>
              <a:gd name="adj" fmla="val 2307"/>
            </a:avLst>
          </a:prstGeom>
          <a:solidFill>
            <a:srgbClr val="FFFFFF"/>
          </a:solidFill>
          <a:ln w="12700">
            <a:solidFill>
              <a:srgbClr val="E91D6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4937760" y="1572768"/>
            <a:ext cx="3712463" cy="274320"/>
          </a:xfrm>
          <a:prstGeom prst="rect">
            <a:avLst/>
          </a:prstGeom>
          <a:noFill/>
        </p:spPr>
        <p:txBody>
          <a:bodyPr wrap="square" lIns="0" rIns="0" tIns="0" bIns="0" anchor="t">
            <a:spAutoFit/>
          </a:bodyPr>
          <a:lstStyle/>
          <a:p>
            <a:pPr algn="l"/>
            <a:r>
              <a:rPr sz="1400" b="1">
                <a:solidFill>
                  <a:srgbClr val="E91D63"/>
                </a:solidFill>
                <a:latin typeface="Source Code Pro"/>
              </a:rPr>
              <a:t>This</a:t>
            </a:r>
          </a:p>
        </p:txBody>
      </p:sp>
      <p:sp>
        <p:nvSpPr>
          <p:cNvPr id="33" name="TextBox 32"/>
          <p:cNvSpPr txBox="1"/>
          <p:nvPr/>
        </p:nvSpPr>
        <p:spPr>
          <a:xfrm>
            <a:off x="4937760" y="1975104"/>
            <a:ext cx="3712463" cy="274320"/>
          </a:xfrm>
          <a:prstGeom prst="rect">
            <a:avLst/>
          </a:prstGeom>
          <a:noFill/>
        </p:spPr>
        <p:txBody>
          <a:bodyPr wrap="square" lIns="0" rIns="0" tIns="0" bIns="0" anchor="t">
            <a:spAutoFit/>
          </a:bodyPr>
          <a:lstStyle/>
          <a:p>
            <a:pPr algn="l">
              <a:lnSpc>
                <a:spcPct val="115000"/>
              </a:lnSpc>
            </a:pPr>
            <a:r>
              <a:rPr sz="1300" b="0">
                <a:solidFill>
                  <a:srgbClr val="424242"/>
                </a:solidFill>
                <a:latin typeface="Source Code Pro"/>
              </a:rPr>
              <a:t>—  Instructions it opens when relevant</a:t>
            </a:r>
          </a:p>
        </p:txBody>
      </p:sp>
      <p:sp>
        <p:nvSpPr>
          <p:cNvPr id="34" name="TextBox 33"/>
          <p:cNvSpPr txBox="1"/>
          <p:nvPr/>
        </p:nvSpPr>
        <p:spPr>
          <a:xfrm>
            <a:off x="4937760" y="2286000"/>
            <a:ext cx="3712463" cy="274320"/>
          </a:xfrm>
          <a:prstGeom prst="rect">
            <a:avLst/>
          </a:prstGeom>
          <a:noFill/>
        </p:spPr>
        <p:txBody>
          <a:bodyPr wrap="square" lIns="0" rIns="0" tIns="0" bIns="0" anchor="t">
            <a:spAutoFit/>
          </a:bodyPr>
          <a:lstStyle/>
          <a:p>
            <a:pPr algn="l">
              <a:lnSpc>
                <a:spcPct val="115000"/>
              </a:lnSpc>
            </a:pPr>
            <a:r>
              <a:rPr sz="1300" b="0">
                <a:solidFill>
                  <a:srgbClr val="424242"/>
                </a:solidFill>
                <a:latin typeface="Source Code Pro"/>
              </a:rPr>
              <a:t>—  A folder that stays where it is</a:t>
            </a:r>
          </a:p>
        </p:txBody>
      </p:sp>
      <p:sp>
        <p:nvSpPr>
          <p:cNvPr id="35" name="TextBox 34"/>
          <p:cNvSpPr txBox="1"/>
          <p:nvPr/>
        </p:nvSpPr>
        <p:spPr>
          <a:xfrm>
            <a:off x="4937760" y="2596896"/>
            <a:ext cx="3712463" cy="274320"/>
          </a:xfrm>
          <a:prstGeom prst="rect">
            <a:avLst/>
          </a:prstGeom>
          <a:noFill/>
        </p:spPr>
        <p:txBody>
          <a:bodyPr wrap="square" lIns="0" rIns="0" tIns="0" bIns="0" anchor="t">
            <a:spAutoFit/>
          </a:bodyPr>
          <a:lstStyle/>
          <a:p>
            <a:pPr algn="l">
              <a:lnSpc>
                <a:spcPct val="115000"/>
              </a:lnSpc>
            </a:pPr>
            <a:r>
              <a:rPr sz="1300" b="0">
                <a:solidFill>
                  <a:srgbClr val="424242"/>
                </a:solidFill>
                <a:latin typeface="Source Code Pro"/>
              </a:rPr>
              <a:t>—  Opened only when the job matches it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How It Works - You Write a Page, and Bundle Everything Else</a:t>
            </a:r>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graphicFrame>
        <p:nvGraphicFramePr>
          <p:cNvPr id="26" name="Table 25"/>
          <p:cNvGraphicFramePr>
            <a:graphicFrameLocks noGrp="1"/>
          </p:cNvGraphicFramePr>
          <p:nvPr/>
        </p:nvGraphicFramePr>
        <p:xfrm>
          <a:off x="310896" y="1426464"/>
          <a:ext cx="8522206" cy="1920240"/>
        </p:xfrm>
        <a:graphic>
          <a:graphicData uri="http://schemas.openxmlformats.org/drawingml/2006/table">
            <a:tbl>
              <a:tblPr>
                <a:tableStyleId>{2D5ABB26-0587-4C30-8999-92F81FD0307C}</a:tableStyleId>
              </a:tblPr>
              <a:tblGrid>
                <a:gridCol w="1832732"/>
                <a:gridCol w="3390555"/>
                <a:gridCol w="3298919"/>
              </a:tblGrid>
              <a:tr h="480060">
                <a:tc>
                  <a:txBody>
                    <a:bodyPr wrap="square"/>
                    <a:lstStyle/>
                    <a:p>
                      <a:r>
                        <a:rPr sz="1200" b="1">
                          <a:solidFill>
                            <a:srgbClr val="424242"/>
                          </a:solidFill>
                          <a:latin typeface="Source Code Pro"/>
                        </a:rPr>
                        <a:t/>
                      </a:r>
                    </a:p>
                  </a:txBody>
                  <a:tcPr marL="91440" marR="91440" marT="36576" marB="36576" anchor="ctr">
                    <a:lnT w="9525" cap="flat">
                      <a:solidFill>
                        <a:srgbClr val="D8D8DE"/>
                      </a:solidFill>
                    </a:lnT>
                    <a:lnB w="15875" cap="flat">
                      <a:solidFill>
                        <a:srgbClr val="424242"/>
                      </a:solidFill>
                    </a:lnB>
                    <a:solidFill>
                      <a:srgbClr val="FFFFFF"/>
                    </a:solidFill>
                  </a:tcPr>
                </a:tc>
                <a:tc>
                  <a:txBody>
                    <a:bodyPr wrap="square"/>
                    <a:lstStyle/>
                    <a:p>
                      <a:r>
                        <a:rPr sz="1200" b="1">
                          <a:solidFill>
                            <a:srgbClr val="424242"/>
                          </a:solidFill>
                          <a:latin typeface="Source Code Pro"/>
                        </a:rPr>
                        <a:t>The instruction page</a:t>
                      </a:r>
                    </a:p>
                  </a:txBody>
                  <a:tcPr marL="91440" marR="91440" marT="36576" marB="36576" anchor="ctr">
                    <a:lnT w="9525" cap="flat">
                      <a:solidFill>
                        <a:srgbClr val="D8D8DE"/>
                      </a:solidFill>
                    </a:lnT>
                    <a:lnB w="15875" cap="flat">
                      <a:solidFill>
                        <a:srgbClr val="424242"/>
                      </a:solidFill>
                    </a:lnB>
                    <a:solidFill>
                      <a:srgbClr val="FFFFFF"/>
                    </a:solidFill>
                  </a:tcPr>
                </a:tc>
                <a:tc>
                  <a:txBody>
                    <a:bodyPr wrap="square"/>
                    <a:lstStyle/>
                    <a:p>
                      <a:r>
                        <a:rPr sz="1200" b="1">
                          <a:solidFill>
                            <a:srgbClr val="424242"/>
                          </a:solidFill>
                          <a:latin typeface="Source Code Pro"/>
                        </a:rPr>
                        <a:t>The bundled files</a:t>
                      </a:r>
                    </a:p>
                  </a:txBody>
                  <a:tcPr marL="91440" marR="91440" marT="36576" marB="36576" anchor="ctr">
                    <a:lnT w="9525" cap="flat">
                      <a:solidFill>
                        <a:srgbClr val="D8D8DE"/>
                      </a:solidFill>
                    </a:lnT>
                    <a:lnB w="15875" cap="flat">
                      <a:solidFill>
                        <a:srgbClr val="424242"/>
                      </a:solidFill>
                    </a:lnB>
                    <a:solidFill>
                      <a:srgbClr val="FFFFFF"/>
                    </a:solidFill>
                  </a:tcPr>
                </a:tc>
              </a:tr>
              <a:tr h="480060">
                <a:tc>
                  <a:txBody>
                    <a:bodyPr wrap="square"/>
                    <a:lstStyle/>
                    <a:p>
                      <a:r>
                        <a:rPr sz="1200" b="0">
                          <a:solidFill>
                            <a:srgbClr val="424242"/>
                          </a:solidFill>
                          <a:latin typeface="Source Code Pro"/>
                        </a:rPr>
                        <a:t>What goes there</a:t>
                      </a:r>
                    </a:p>
                  </a:txBody>
                  <a:tcPr marL="91440" marR="91440" marT="36576" marB="36576" anchor="ctr">
                    <a:lnB w="9525" cap="flat">
                      <a:solidFill>
                        <a:srgbClr val="D8D8DE"/>
                      </a:solidFill>
                    </a:lnB>
                    <a:solidFill>
                      <a:srgbClr val="FFFFFF"/>
                    </a:solidFill>
                  </a:tcPr>
                </a:tc>
                <a:tc>
                  <a:txBody>
                    <a:bodyPr wrap="square"/>
                    <a:lstStyle/>
                    <a:p>
                      <a:r>
                        <a:rPr sz="1200" b="0">
                          <a:solidFill>
                            <a:srgbClr val="424242"/>
                          </a:solidFill>
                          <a:latin typeface="Source Code Pro"/>
                        </a:rPr>
                        <a:t>the steps of the job</a:t>
                      </a:r>
                    </a:p>
                  </a:txBody>
                  <a:tcPr marL="91440" marR="91440" marT="36576" marB="36576" anchor="ctr">
                    <a:lnB w="9525" cap="flat">
                      <a:solidFill>
                        <a:srgbClr val="D8D8DE"/>
                      </a:solidFill>
                    </a:lnB>
                    <a:solidFill>
                      <a:srgbClr val="FFFFFF"/>
                    </a:solidFill>
                  </a:tcPr>
                </a:tc>
                <a:tc>
                  <a:txBody>
                    <a:bodyPr wrap="square"/>
                    <a:lstStyle/>
                    <a:p>
                      <a:r>
                        <a:rPr sz="1200" b="0">
                          <a:solidFill>
                            <a:srgbClr val="424242"/>
                          </a:solidFill>
                          <a:latin typeface="Source Code Pro"/>
                        </a:rPr>
                        <a:t>the detail behind one step</a:t>
                      </a:r>
                    </a:p>
                  </a:txBody>
                  <a:tcPr marL="91440" marR="91440" marT="36576" marB="36576" anchor="ctr">
                    <a:lnB w="9525" cap="flat">
                      <a:solidFill>
                        <a:srgbClr val="D8D8DE"/>
                      </a:solidFill>
                    </a:lnB>
                    <a:solidFill>
                      <a:srgbClr val="FFFFFF"/>
                    </a:solidFill>
                  </a:tcPr>
                </a:tc>
              </a:tr>
              <a:tr h="480060">
                <a:tc>
                  <a:txBody>
                    <a:bodyPr wrap="square"/>
                    <a:lstStyle/>
                    <a:p>
                      <a:r>
                        <a:rPr sz="1200" b="0">
                          <a:solidFill>
                            <a:srgbClr val="424242"/>
                          </a:solidFill>
                          <a:latin typeface="Source Code Pro"/>
                        </a:rPr>
                        <a:t>How long</a:t>
                      </a:r>
                    </a:p>
                  </a:txBody>
                  <a:tcPr marL="91440" marR="91440" marT="36576" marB="36576" anchor="ctr">
                    <a:lnB w="9525" cap="flat">
                      <a:solidFill>
                        <a:srgbClr val="D8D8DE"/>
                      </a:solidFill>
                    </a:lnB>
                    <a:solidFill>
                      <a:srgbClr val="FFFFFF"/>
                    </a:solidFill>
                  </a:tcPr>
                </a:tc>
                <a:tc>
                  <a:txBody>
                    <a:bodyPr wrap="square"/>
                    <a:lstStyle/>
                    <a:p>
                      <a:r>
                        <a:rPr sz="1200" b="0">
                          <a:solidFill>
                            <a:srgbClr val="424242"/>
                          </a:solidFill>
                          <a:latin typeface="Source Code Pro"/>
                        </a:rPr>
                        <a:t>about a page</a:t>
                      </a:r>
                    </a:p>
                  </a:txBody>
                  <a:tcPr marL="91440" marR="91440" marT="36576" marB="36576" anchor="ctr">
                    <a:lnB w="9525" cap="flat">
                      <a:solidFill>
                        <a:srgbClr val="D8D8DE"/>
                      </a:solidFill>
                    </a:lnB>
                    <a:solidFill>
                      <a:srgbClr val="FFFFFF"/>
                    </a:solidFill>
                  </a:tcPr>
                </a:tc>
                <a:tc>
                  <a:txBody>
                    <a:bodyPr wrap="square"/>
                    <a:lstStyle/>
                    <a:p>
                      <a:r>
                        <a:rPr sz="1200" b="0">
                          <a:solidFill>
                            <a:srgbClr val="424242"/>
                          </a:solidFill>
                          <a:latin typeface="Source Code Pro"/>
                        </a:rPr>
                        <a:t>as long as they need to be</a:t>
                      </a:r>
                    </a:p>
                  </a:txBody>
                  <a:tcPr marL="91440" marR="91440" marT="36576" marB="36576" anchor="ctr">
                    <a:lnB w="9525" cap="flat">
                      <a:solidFill>
                        <a:srgbClr val="D8D8DE"/>
                      </a:solidFill>
                    </a:lnB>
                    <a:solidFill>
                      <a:srgbClr val="FFFFFF"/>
                    </a:solidFill>
                  </a:tcPr>
                </a:tc>
              </a:tr>
              <a:tr h="480060">
                <a:tc>
                  <a:txBody>
                    <a:bodyPr wrap="square"/>
                    <a:lstStyle/>
                    <a:p>
                      <a:r>
                        <a:rPr sz="1200" b="0">
                          <a:solidFill>
                            <a:srgbClr val="424242"/>
                          </a:solidFill>
                          <a:latin typeface="Source Code Pro"/>
                        </a:rPr>
                        <a:t>Your test</a:t>
                      </a:r>
                    </a:p>
                  </a:txBody>
                  <a:tcPr marL="91440" marR="91440" marT="36576" marB="36576" anchor="ctr">
                    <a:lnB w="9525" cap="flat">
                      <a:solidFill>
                        <a:srgbClr val="D8D8DE"/>
                      </a:solidFill>
                    </a:lnB>
                    <a:solidFill>
                      <a:srgbClr val="FFFFFF"/>
                    </a:solidFill>
                  </a:tcPr>
                </a:tc>
                <a:tc>
                  <a:txBody>
                    <a:bodyPr wrap="square"/>
                    <a:lstStyle/>
                    <a:p>
                      <a:r>
                        <a:rPr sz="1200" b="0">
                          <a:solidFill>
                            <a:srgbClr val="424242"/>
                          </a:solidFill>
                          <a:latin typeface="Source Code Pro"/>
                        </a:rPr>
                        <a:t>would you say it every time?</a:t>
                      </a:r>
                    </a:p>
                  </a:txBody>
                  <a:tcPr marL="91440" marR="91440" marT="36576" marB="36576" anchor="ctr">
                    <a:lnB w="9525" cap="flat">
                      <a:solidFill>
                        <a:srgbClr val="D8D8DE"/>
                      </a:solidFill>
                    </a:lnB>
                    <a:solidFill>
                      <a:srgbClr val="FFFFFF"/>
                    </a:solidFill>
                  </a:tcPr>
                </a:tc>
                <a:tc>
                  <a:txBody>
                    <a:bodyPr wrap="square"/>
                    <a:lstStyle/>
                    <a:p>
                      <a:r>
                        <a:rPr sz="1200" b="0">
                          <a:solidFill>
                            <a:srgbClr val="424242"/>
                          </a:solidFill>
                          <a:latin typeface="Source Code Pro"/>
                        </a:rPr>
                        <a:t>would you say it only sometimes?</a:t>
                      </a:r>
                    </a:p>
                  </a:txBody>
                  <a:tcPr marL="91440" marR="91440" marT="36576" marB="36576" anchor="ctr">
                    <a:lnB w="9525" cap="flat">
                      <a:solidFill>
                        <a:srgbClr val="D8D8DE"/>
                      </a:solidFill>
                    </a:lnB>
                    <a:solidFill>
                      <a:srgbClr val="FFFFFF"/>
                    </a:solidFill>
                  </a:tcPr>
                </a:tc>
              </a:tr>
            </a:tbl>
          </a:graphicData>
        </a:graphic>
      </p:graphicFrame>
      <p:sp>
        <p:nvSpPr>
          <p:cNvPr id="27" name="TextBox 26"/>
          <p:cNvSpPr txBox="1"/>
          <p:nvPr/>
        </p:nvSpPr>
        <p:spPr>
          <a:xfrm>
            <a:off x="310896" y="3584448"/>
            <a:ext cx="8522208" cy="617220"/>
          </a:xfrm>
          <a:prstGeom prst="rect">
            <a:avLst/>
          </a:prstGeom>
          <a:noFill/>
        </p:spPr>
        <p:txBody>
          <a:bodyPr wrap="square" lIns="0" rIns="0" tIns="0" bIns="0" anchor="t">
            <a:spAutoFit/>
          </a:bodyPr>
          <a:lstStyle/>
          <a:p>
            <a:pPr algn="l">
              <a:lnSpc>
                <a:spcPct val="125000"/>
              </a:lnSpc>
            </a:pPr>
            <a:r>
              <a:rPr sz="1200" b="0">
                <a:solidFill>
                  <a:srgbClr val="6B6B6B"/>
                </a:solidFill>
                <a:latin typeface="Source Code Pro"/>
              </a:rPr>
              <a:t>Be generous with the folder and mean with the page. Every line of the instruction page is read in full each time the skill fires, so a page that says too much is worse than one that says less and points at the shelf behind 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Instruction Page Is a Table of Contents</a:t>
            </a:r>
          </a:p>
        </p:txBody>
      </p:sp>
      <p:sp>
        <p:nvSpPr>
          <p:cNvPr id="3" name="Text Placeholder 2"/>
          <p:cNvSpPr>
            <a:spLocks noGrp="1"/>
          </p:cNvSpPr>
          <p:nvPr>
            <p:ph type="body" idx="1"/>
          </p:nvPr>
        </p:nvSpPr>
        <p:spPr>
          <a:xfrm>
            <a:off x="5349240" y="1389888"/>
            <a:ext cx="3483863" cy="2304288"/>
          </a:xfrm>
        </p:spPr>
        <p:txBody>
          <a:bodyPr wrap="square" anchor="ctr"/>
          <a:lstStyle/>
          <a:p>
            <a:pPr marL="0" indent="0">
              <a:buNone/>
            </a:pPr>
            <a:r>
              <a:t>Our own skill's instructions are barely more than the steps of the job and a set of pointers. Write those pointers for a colleague who has not opened the folder, because that is what Claude is.</a:t>
            </a:r>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6" name="Rounded Rectangle 25"/>
          <p:cNvSpPr/>
          <p:nvPr/>
        </p:nvSpPr>
        <p:spPr>
          <a:xfrm>
            <a:off x="365760" y="1426464"/>
            <a:ext cx="4480560" cy="2231136"/>
          </a:xfrm>
          <a:prstGeom prst="roundRect">
            <a:avLst>
              <a:gd name="adj" fmla="val 1818"/>
            </a:avLst>
          </a:prstGeom>
          <a:solidFill>
            <a:srgbClr val="3031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ounded Rectangle 26"/>
          <p:cNvSpPr/>
          <p:nvPr/>
        </p:nvSpPr>
        <p:spPr>
          <a:xfrm>
            <a:off x="365760" y="1426464"/>
            <a:ext cx="4480560" cy="301752"/>
          </a:xfrm>
          <a:prstGeom prst="roundRect">
            <a:avLst>
              <a:gd name="adj" fmla="val 18181"/>
            </a:avLst>
          </a:prstGeom>
          <a:solidFill>
            <a:srgbClr val="252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365760" y="1619585"/>
            <a:ext cx="4480560" cy="108630"/>
          </a:xfrm>
          <a:prstGeom prst="rect">
            <a:avLst/>
          </a:prstGeom>
          <a:solidFill>
            <a:srgbClr val="252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512064" y="1508760"/>
            <a:ext cx="3136392" cy="182880"/>
          </a:xfrm>
          <a:prstGeom prst="rect">
            <a:avLst/>
          </a:prstGeom>
          <a:noFill/>
        </p:spPr>
        <p:txBody>
          <a:bodyPr wrap="square" lIns="0" rIns="0" tIns="0" bIns="0" anchor="t">
            <a:spAutoFit/>
          </a:bodyPr>
          <a:lstStyle/>
          <a:p>
            <a:pPr algn="l"/>
            <a:r>
              <a:rPr sz="1200" b="1">
                <a:solidFill>
                  <a:srgbClr val="F7F7FA"/>
                </a:solidFill>
                <a:latin typeface="Arial"/>
              </a:rPr>
              <a:t>The instruction page</a:t>
            </a:r>
          </a:p>
        </p:txBody>
      </p:sp>
      <p:sp>
        <p:nvSpPr>
          <p:cNvPr id="30" name="TextBox 29"/>
          <p:cNvSpPr txBox="1"/>
          <p:nvPr/>
        </p:nvSpPr>
        <p:spPr>
          <a:xfrm>
            <a:off x="3602736" y="1527048"/>
            <a:ext cx="1097280" cy="173736"/>
          </a:xfrm>
          <a:prstGeom prst="rect">
            <a:avLst/>
          </a:prstGeom>
          <a:noFill/>
        </p:spPr>
        <p:txBody>
          <a:bodyPr wrap="square" lIns="0" rIns="0" tIns="0" bIns="0" anchor="t">
            <a:spAutoFit/>
          </a:bodyPr>
          <a:lstStyle/>
          <a:p>
            <a:pPr algn="r"/>
            <a:r>
              <a:rPr sz="885" b="0">
                <a:solidFill>
                  <a:srgbClr val="C6C7D0"/>
                </a:solidFill>
                <a:latin typeface="Arial"/>
              </a:rPr>
              <a:t>Example</a:t>
            </a:r>
          </a:p>
        </p:txBody>
      </p:sp>
      <p:sp>
        <p:nvSpPr>
          <p:cNvPr id="31" name="TextBox 30"/>
          <p:cNvSpPr txBox="1"/>
          <p:nvPr/>
        </p:nvSpPr>
        <p:spPr>
          <a:xfrm>
            <a:off x="512064" y="1856232"/>
            <a:ext cx="1737360" cy="173736"/>
          </a:xfrm>
          <a:prstGeom prst="rect">
            <a:avLst/>
          </a:prstGeom>
          <a:noFill/>
        </p:spPr>
        <p:txBody>
          <a:bodyPr wrap="square" lIns="0" rIns="0" tIns="0" bIns="0" anchor="t">
            <a:spAutoFit/>
          </a:bodyPr>
          <a:lstStyle/>
          <a:p>
            <a:pPr algn="l"/>
            <a:r>
              <a:rPr sz="885" b="1">
                <a:solidFill>
                  <a:srgbClr val="C6C7D0"/>
                </a:solidFill>
                <a:latin typeface="Arial"/>
              </a:rPr>
              <a:t>The steps</a:t>
            </a:r>
          </a:p>
        </p:txBody>
      </p:sp>
      <p:sp>
        <p:nvSpPr>
          <p:cNvPr id="32" name="TextBox 31"/>
          <p:cNvSpPr txBox="1"/>
          <p:nvPr/>
        </p:nvSpPr>
        <p:spPr>
          <a:xfrm>
            <a:off x="512064" y="2057400"/>
            <a:ext cx="4187952" cy="210312"/>
          </a:xfrm>
          <a:prstGeom prst="rect">
            <a:avLst/>
          </a:prstGeom>
          <a:noFill/>
        </p:spPr>
        <p:txBody>
          <a:bodyPr wrap="none" lIns="0" rIns="0" tIns="0" bIns="0" anchor="t">
            <a:spAutoFit/>
          </a:bodyPr>
          <a:lstStyle/>
          <a:p>
            <a:pPr algn="l"/>
            <a:r>
              <a:rPr sz="1125" b="0">
                <a:solidFill>
                  <a:srgbClr val="F7F7FA"/>
                </a:solidFill>
                <a:latin typeface="Arial"/>
              </a:rPr>
              <a:t>Write the arc, then build it with the kit.</a:t>
            </a:r>
          </a:p>
        </p:txBody>
      </p:sp>
      <p:sp>
        <p:nvSpPr>
          <p:cNvPr id="33" name="TextBox 32"/>
          <p:cNvSpPr txBox="1"/>
          <p:nvPr/>
        </p:nvSpPr>
        <p:spPr>
          <a:xfrm>
            <a:off x="512064" y="2267712"/>
            <a:ext cx="4187952" cy="210312"/>
          </a:xfrm>
          <a:prstGeom prst="rect">
            <a:avLst/>
          </a:prstGeom>
          <a:noFill/>
        </p:spPr>
        <p:txBody>
          <a:bodyPr wrap="none" lIns="0" rIns="0" tIns="0" bIns="0" anchor="t">
            <a:spAutoFit/>
          </a:bodyPr>
          <a:lstStyle/>
          <a:p>
            <a:pPr algn="l"/>
            <a:r>
              <a:rPr sz="1125" b="0">
                <a:solidFill>
                  <a:srgbClr val="F7F7FA"/>
                </a:solidFill>
                <a:latin typeface="Arial"/>
              </a:rPr>
              <a:t>Lint it. Review it twice. Fix what you find.</a:t>
            </a:r>
          </a:p>
        </p:txBody>
      </p:sp>
      <p:sp>
        <p:nvSpPr>
          <p:cNvPr id="34" name="Rectangle 33"/>
          <p:cNvSpPr/>
          <p:nvPr/>
        </p:nvSpPr>
        <p:spPr>
          <a:xfrm>
            <a:off x="512064" y="2587752"/>
            <a:ext cx="4187952" cy="9144"/>
          </a:xfrm>
          <a:prstGeom prst="rect">
            <a:avLst/>
          </a:prstGeom>
          <a:solidFill>
            <a:srgbClr val="3C3D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512064" y="2679192"/>
            <a:ext cx="1737360" cy="173736"/>
          </a:xfrm>
          <a:prstGeom prst="rect">
            <a:avLst/>
          </a:prstGeom>
          <a:noFill/>
        </p:spPr>
        <p:txBody>
          <a:bodyPr wrap="square" lIns="0" rIns="0" tIns="0" bIns="0" anchor="t">
            <a:spAutoFit/>
          </a:bodyPr>
          <a:lstStyle/>
          <a:p>
            <a:pPr algn="l"/>
            <a:r>
              <a:rPr sz="885" b="1">
                <a:solidFill>
                  <a:srgbClr val="C6C7D0"/>
                </a:solidFill>
                <a:latin typeface="Arial"/>
              </a:rPr>
              <a:t>Where the detail lives</a:t>
            </a:r>
          </a:p>
        </p:txBody>
      </p:sp>
      <p:sp>
        <p:nvSpPr>
          <p:cNvPr id="36" name="TextBox 35"/>
          <p:cNvSpPr txBox="1"/>
          <p:nvPr/>
        </p:nvSpPr>
        <p:spPr>
          <a:xfrm>
            <a:off x="512064" y="2880360"/>
            <a:ext cx="4187952" cy="210312"/>
          </a:xfrm>
          <a:prstGeom prst="rect">
            <a:avLst/>
          </a:prstGeom>
          <a:noFill/>
        </p:spPr>
        <p:txBody>
          <a:bodyPr wrap="none" lIns="0" rIns="0" tIns="0" bIns="0" anchor="t">
            <a:spAutoFit/>
          </a:bodyPr>
          <a:lstStyle/>
          <a:p>
            <a:pPr algn="l"/>
            <a:r>
              <a:rPr sz="1125" b="0">
                <a:solidFill>
                  <a:srgbClr val="F7F7FA"/>
                </a:solidFill>
                <a:latin typeface="Arial"/>
              </a:rPr>
              <a:t>For the house style, see the style spec.</a:t>
            </a:r>
          </a:p>
        </p:txBody>
      </p:sp>
      <p:sp>
        <p:nvSpPr>
          <p:cNvPr id="37" name="TextBox 36"/>
          <p:cNvSpPr txBox="1"/>
          <p:nvPr/>
        </p:nvSpPr>
        <p:spPr>
          <a:xfrm>
            <a:off x="512064" y="3090672"/>
            <a:ext cx="4187952" cy="210312"/>
          </a:xfrm>
          <a:prstGeom prst="rect">
            <a:avLst/>
          </a:prstGeom>
          <a:noFill/>
        </p:spPr>
        <p:txBody>
          <a:bodyPr wrap="none" lIns="0" rIns="0" tIns="0" bIns="0" anchor="t">
            <a:spAutoFit/>
          </a:bodyPr>
          <a:lstStyle/>
          <a:p>
            <a:pPr algn="l"/>
            <a:r>
              <a:rPr sz="1125" b="0">
                <a:solidFill>
                  <a:srgbClr val="F7F7FA"/>
                </a:solidFill>
                <a:latin typeface="Arial"/>
              </a:rPr>
              <a:t>For a mock window, see the recipe book.</a:t>
            </a:r>
          </a:p>
        </p:txBody>
      </p:sp>
      <p:sp>
        <p:nvSpPr>
          <p:cNvPr id="38" name="TextBox 37"/>
          <p:cNvSpPr txBox="1"/>
          <p:nvPr/>
        </p:nvSpPr>
        <p:spPr>
          <a:xfrm>
            <a:off x="512064" y="3300984"/>
            <a:ext cx="4187952" cy="210312"/>
          </a:xfrm>
          <a:prstGeom prst="rect">
            <a:avLst/>
          </a:prstGeom>
          <a:noFill/>
        </p:spPr>
        <p:txBody>
          <a:bodyPr wrap="none" lIns="0" rIns="0" tIns="0" bIns="0" anchor="t">
            <a:spAutoFit/>
          </a:bodyPr>
          <a:lstStyle/>
          <a:p>
            <a:pPr algn="l"/>
            <a:r>
              <a:rPr sz="1125" b="0">
                <a:solidFill>
                  <a:srgbClr val="F7F7FA"/>
                </a:solidFill>
                <a:latin typeface="Arial"/>
              </a:rPr>
              <a:t>For the review, see the two-round rubric.</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Writing a Description You Can Test</a:t>
            </a:r>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6" name="Rounded Rectangle 25"/>
          <p:cNvSpPr/>
          <p:nvPr/>
        </p:nvSpPr>
        <p:spPr>
          <a:xfrm>
            <a:off x="310896" y="1426464"/>
            <a:ext cx="5303520" cy="512064"/>
          </a:xfrm>
          <a:prstGeom prst="roundRect">
            <a:avLst>
              <a:gd name="adj" fmla="val 10714"/>
            </a:avLst>
          </a:prstGeom>
          <a:solidFill>
            <a:srgbClr val="F5F5F7"/>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475488" y="1426464"/>
            <a:ext cx="292608" cy="512064"/>
          </a:xfrm>
          <a:prstGeom prst="rect">
            <a:avLst/>
          </a:prstGeom>
          <a:noFill/>
        </p:spPr>
        <p:txBody>
          <a:bodyPr wrap="square" lIns="0" rIns="0" tIns="0" bIns="0" anchor="ctr">
            <a:spAutoFit/>
          </a:bodyPr>
          <a:lstStyle/>
          <a:p>
            <a:pPr algn="l"/>
            <a:r>
              <a:rPr sz="1300" b="1">
                <a:solidFill>
                  <a:srgbClr val="E91D63"/>
                </a:solidFill>
                <a:latin typeface="Source Code Pro"/>
              </a:rPr>
              <a:t>1</a:t>
            </a:r>
          </a:p>
        </p:txBody>
      </p:sp>
      <p:sp>
        <p:nvSpPr>
          <p:cNvPr id="28" name="TextBox 27"/>
          <p:cNvSpPr txBox="1"/>
          <p:nvPr/>
        </p:nvSpPr>
        <p:spPr>
          <a:xfrm>
            <a:off x="822960" y="1426464"/>
            <a:ext cx="4626864" cy="512064"/>
          </a:xfrm>
          <a:prstGeom prst="rect">
            <a:avLst/>
          </a:prstGeom>
          <a:noFill/>
        </p:spPr>
        <p:txBody>
          <a:bodyPr wrap="square" lIns="0" rIns="0" tIns="0" bIns="0" anchor="ctr">
            <a:spAutoFit/>
          </a:bodyPr>
          <a:lstStyle/>
          <a:p>
            <a:pPr algn="l"/>
            <a:r>
              <a:rPr sz="1300" b="0">
                <a:solidFill>
                  <a:srgbClr val="424242"/>
                </a:solidFill>
                <a:latin typeface="Source Code Pro"/>
              </a:rPr>
              <a:t>Write it in the third person, not as "I can".</a:t>
            </a:r>
          </a:p>
        </p:txBody>
      </p:sp>
      <p:sp>
        <p:nvSpPr>
          <p:cNvPr id="29" name="Rounded Rectangle 28"/>
          <p:cNvSpPr/>
          <p:nvPr/>
        </p:nvSpPr>
        <p:spPr>
          <a:xfrm>
            <a:off x="310896" y="2066544"/>
            <a:ext cx="5303520" cy="512064"/>
          </a:xfrm>
          <a:prstGeom prst="roundRect">
            <a:avLst>
              <a:gd name="adj" fmla="val 10714"/>
            </a:avLst>
          </a:prstGeom>
          <a:solidFill>
            <a:srgbClr val="F5F5F7"/>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475488" y="2066544"/>
            <a:ext cx="292608" cy="512064"/>
          </a:xfrm>
          <a:prstGeom prst="rect">
            <a:avLst/>
          </a:prstGeom>
          <a:noFill/>
        </p:spPr>
        <p:txBody>
          <a:bodyPr wrap="square" lIns="0" rIns="0" tIns="0" bIns="0" anchor="ctr">
            <a:spAutoFit/>
          </a:bodyPr>
          <a:lstStyle/>
          <a:p>
            <a:pPr algn="l"/>
            <a:r>
              <a:rPr sz="1300" b="1">
                <a:solidFill>
                  <a:srgbClr val="E91D63"/>
                </a:solidFill>
                <a:latin typeface="Source Code Pro"/>
              </a:rPr>
              <a:t>2</a:t>
            </a:r>
          </a:p>
        </p:txBody>
      </p:sp>
      <p:sp>
        <p:nvSpPr>
          <p:cNvPr id="31" name="TextBox 30"/>
          <p:cNvSpPr txBox="1"/>
          <p:nvPr/>
        </p:nvSpPr>
        <p:spPr>
          <a:xfrm>
            <a:off x="822960" y="2066544"/>
            <a:ext cx="4626864" cy="512064"/>
          </a:xfrm>
          <a:prstGeom prst="rect">
            <a:avLst/>
          </a:prstGeom>
          <a:noFill/>
        </p:spPr>
        <p:txBody>
          <a:bodyPr wrap="square" lIns="0" rIns="0" tIns="0" bIns="0" anchor="ctr">
            <a:spAutoFit/>
          </a:bodyPr>
          <a:lstStyle/>
          <a:p>
            <a:pPr algn="l"/>
            <a:r>
              <a:rPr sz="1300" b="0">
                <a:solidFill>
                  <a:srgbClr val="424242"/>
                </a:solidFill>
                <a:latin typeface="Source Code Pro"/>
              </a:rPr>
              <a:t>Say what it does and when to reach for it.</a:t>
            </a:r>
          </a:p>
        </p:txBody>
      </p:sp>
      <p:sp>
        <p:nvSpPr>
          <p:cNvPr id="32" name="Rounded Rectangle 31"/>
          <p:cNvSpPr/>
          <p:nvPr/>
        </p:nvSpPr>
        <p:spPr>
          <a:xfrm>
            <a:off x="310896" y="2706624"/>
            <a:ext cx="5303520" cy="512064"/>
          </a:xfrm>
          <a:prstGeom prst="roundRect">
            <a:avLst>
              <a:gd name="adj" fmla="val 10714"/>
            </a:avLst>
          </a:prstGeom>
          <a:solidFill>
            <a:srgbClr val="F5F5F7"/>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475488" y="2706624"/>
            <a:ext cx="292608" cy="512064"/>
          </a:xfrm>
          <a:prstGeom prst="rect">
            <a:avLst/>
          </a:prstGeom>
          <a:noFill/>
        </p:spPr>
        <p:txBody>
          <a:bodyPr wrap="square" lIns="0" rIns="0" tIns="0" bIns="0" anchor="ctr">
            <a:spAutoFit/>
          </a:bodyPr>
          <a:lstStyle/>
          <a:p>
            <a:pPr algn="l"/>
            <a:r>
              <a:rPr sz="1300" b="1">
                <a:solidFill>
                  <a:srgbClr val="E91D63"/>
                </a:solidFill>
                <a:latin typeface="Source Code Pro"/>
              </a:rPr>
              <a:t>3</a:t>
            </a:r>
          </a:p>
        </p:txBody>
      </p:sp>
      <p:sp>
        <p:nvSpPr>
          <p:cNvPr id="34" name="TextBox 33"/>
          <p:cNvSpPr txBox="1"/>
          <p:nvPr/>
        </p:nvSpPr>
        <p:spPr>
          <a:xfrm>
            <a:off x="822960" y="2706624"/>
            <a:ext cx="4626864" cy="512064"/>
          </a:xfrm>
          <a:prstGeom prst="rect">
            <a:avLst/>
          </a:prstGeom>
          <a:noFill/>
        </p:spPr>
        <p:txBody>
          <a:bodyPr wrap="square" lIns="0" rIns="0" tIns="0" bIns="0" anchor="ctr">
            <a:spAutoFit/>
          </a:bodyPr>
          <a:lstStyle/>
          <a:p>
            <a:pPr algn="l"/>
            <a:r>
              <a:rPr sz="1300" b="0">
                <a:solidFill>
                  <a:srgbClr val="424242"/>
                </a:solidFill>
                <a:latin typeface="Source Code Pro"/>
              </a:rPr>
              <a:t>Use the words you would actually type.</a:t>
            </a:r>
          </a:p>
        </p:txBody>
      </p:sp>
      <p:sp>
        <p:nvSpPr>
          <p:cNvPr id="35" name="Rounded Rectangle 34"/>
          <p:cNvSpPr/>
          <p:nvPr/>
        </p:nvSpPr>
        <p:spPr>
          <a:xfrm>
            <a:off x="310896" y="3346704"/>
            <a:ext cx="5303520" cy="512064"/>
          </a:xfrm>
          <a:prstGeom prst="roundRect">
            <a:avLst>
              <a:gd name="adj" fmla="val 10714"/>
            </a:avLst>
          </a:prstGeom>
          <a:solidFill>
            <a:srgbClr val="F5F5F7"/>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475488" y="3346704"/>
            <a:ext cx="292608" cy="512064"/>
          </a:xfrm>
          <a:prstGeom prst="rect">
            <a:avLst/>
          </a:prstGeom>
          <a:noFill/>
        </p:spPr>
        <p:txBody>
          <a:bodyPr wrap="square" lIns="0" rIns="0" tIns="0" bIns="0" anchor="ctr">
            <a:spAutoFit/>
          </a:bodyPr>
          <a:lstStyle/>
          <a:p>
            <a:pPr algn="l"/>
            <a:r>
              <a:rPr sz="1300" b="1">
                <a:solidFill>
                  <a:srgbClr val="E91D63"/>
                </a:solidFill>
                <a:latin typeface="Source Code Pro"/>
              </a:rPr>
              <a:t>4</a:t>
            </a:r>
          </a:p>
        </p:txBody>
      </p:sp>
      <p:sp>
        <p:nvSpPr>
          <p:cNvPr id="37" name="TextBox 36"/>
          <p:cNvSpPr txBox="1"/>
          <p:nvPr/>
        </p:nvSpPr>
        <p:spPr>
          <a:xfrm>
            <a:off x="822960" y="3346704"/>
            <a:ext cx="4626864" cy="512064"/>
          </a:xfrm>
          <a:prstGeom prst="rect">
            <a:avLst/>
          </a:prstGeom>
          <a:noFill/>
        </p:spPr>
        <p:txBody>
          <a:bodyPr wrap="square" lIns="0" rIns="0" tIns="0" bIns="0" anchor="ctr">
            <a:spAutoFit/>
          </a:bodyPr>
          <a:lstStyle/>
          <a:p>
            <a:pPr algn="l"/>
            <a:r>
              <a:rPr sz="1300" b="0">
                <a:solidFill>
                  <a:srgbClr val="424242"/>
                </a:solidFill>
                <a:latin typeface="Source Code Pro"/>
              </a:rPr>
              <a:t>Read it beside your other skills' descriptions.</a:t>
            </a:r>
          </a:p>
        </p:txBody>
      </p:sp>
      <p:sp>
        <p:nvSpPr>
          <p:cNvPr id="38" name="Rounded Rectangle 37"/>
          <p:cNvSpPr/>
          <p:nvPr/>
        </p:nvSpPr>
        <p:spPr>
          <a:xfrm>
            <a:off x="310896" y="3986784"/>
            <a:ext cx="5303520" cy="512064"/>
          </a:xfrm>
          <a:prstGeom prst="roundRect">
            <a:avLst>
              <a:gd name="adj" fmla="val 10714"/>
            </a:avLst>
          </a:prstGeom>
          <a:solidFill>
            <a:srgbClr val="F5F5F7"/>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475488" y="3986784"/>
            <a:ext cx="292608" cy="512064"/>
          </a:xfrm>
          <a:prstGeom prst="rect">
            <a:avLst/>
          </a:prstGeom>
          <a:noFill/>
        </p:spPr>
        <p:txBody>
          <a:bodyPr wrap="square" lIns="0" rIns="0" tIns="0" bIns="0" anchor="ctr">
            <a:spAutoFit/>
          </a:bodyPr>
          <a:lstStyle/>
          <a:p>
            <a:pPr algn="l"/>
            <a:r>
              <a:rPr sz="1300" b="1">
                <a:solidFill>
                  <a:srgbClr val="E91D63"/>
                </a:solidFill>
                <a:latin typeface="Source Code Pro"/>
              </a:rPr>
              <a:t>5</a:t>
            </a:r>
          </a:p>
        </p:txBody>
      </p:sp>
      <p:sp>
        <p:nvSpPr>
          <p:cNvPr id="40" name="TextBox 39"/>
          <p:cNvSpPr txBox="1"/>
          <p:nvPr/>
        </p:nvSpPr>
        <p:spPr>
          <a:xfrm>
            <a:off x="822960" y="3986784"/>
            <a:ext cx="4626864" cy="512064"/>
          </a:xfrm>
          <a:prstGeom prst="rect">
            <a:avLst/>
          </a:prstGeom>
          <a:noFill/>
        </p:spPr>
        <p:txBody>
          <a:bodyPr wrap="square" lIns="0" rIns="0" tIns="0" bIns="0" anchor="ctr">
            <a:spAutoFit/>
          </a:bodyPr>
          <a:lstStyle/>
          <a:p>
            <a:pPr algn="l"/>
            <a:r>
              <a:rPr sz="1300" b="0">
                <a:solidFill>
                  <a:srgbClr val="424242"/>
                </a:solidFill>
                <a:latin typeface="Source Code Pro"/>
              </a:rPr>
              <a:t>Test it: ask for the job without naming it.</a:t>
            </a:r>
          </a:p>
        </p:txBody>
      </p:sp>
      <p:sp>
        <p:nvSpPr>
          <p:cNvPr id="41" name="TextBox 40"/>
          <p:cNvSpPr txBox="1"/>
          <p:nvPr/>
        </p:nvSpPr>
        <p:spPr>
          <a:xfrm>
            <a:off x="5943600" y="1481328"/>
            <a:ext cx="2889504" cy="1440180"/>
          </a:xfrm>
          <a:prstGeom prst="rect">
            <a:avLst/>
          </a:prstGeom>
          <a:noFill/>
        </p:spPr>
        <p:txBody>
          <a:bodyPr wrap="square" lIns="0" rIns="0" tIns="0" bIns="0" anchor="t">
            <a:spAutoFit/>
          </a:bodyPr>
          <a:lstStyle/>
          <a:p>
            <a:pPr algn="l">
              <a:lnSpc>
                <a:spcPct val="125000"/>
              </a:lnSpc>
            </a:pPr>
            <a:r>
              <a:rPr sz="1200" b="0">
                <a:solidFill>
                  <a:srgbClr val="6B6B6B"/>
                </a:solidFill>
                <a:latin typeface="Source Code Pro"/>
              </a:rPr>
              <a:t>The last step is the only one that tells you anything.</a:t>
            </a:r>
          </a:p>
          <a:p>
            <a:pPr algn="l">
              <a:lnSpc>
                <a:spcPct val="125000"/>
              </a:lnSpc>
            </a:pPr>
            <a:r>
              <a:rPr sz="1200" b="0">
                <a:solidFill>
                  <a:srgbClr val="6B6B6B"/>
                </a:solidFill>
                <a:latin typeface="Source Code Pro"/>
              </a:rPr>
              <a:t/>
            </a:r>
          </a:p>
          <a:p>
            <a:pPr algn="l">
              <a:lnSpc>
                <a:spcPct val="125000"/>
              </a:lnSpc>
            </a:pPr>
            <a:r>
              <a:rPr sz="1200" b="0">
                <a:solidFill>
                  <a:srgbClr val="6B6B6B"/>
                </a:solidFill>
                <a:latin typeface="Source Code Pro"/>
              </a:rPr>
              <a:t>If the skill does not fire, the description is not describing the request you actually make. Change the description, not the request.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Where a Skill Stops</a:t>
            </a:r>
          </a:p>
        </p:txBody>
      </p:sp>
      <p:sp>
        <p:nvSpPr>
          <p:cNvPr id="3" name="Text Placeholder 2"/>
          <p:cNvSpPr>
            <a:spLocks noGrp="1"/>
          </p:cNvSpPr>
          <p:nvPr>
            <p:ph type="body" idx="1"/>
          </p:nvPr>
        </p:nvSpPr>
        <p:spPr>
          <a:xfrm>
            <a:off x="310896" y="1426463"/>
            <a:ext cx="3776472" cy="2441448"/>
          </a:xfrm>
        </p:spPr>
        <p:txBody>
          <a:bodyPr wrap="square" anchor="ctr"/>
          <a:lstStyle/>
          <a:p>
            <a:pPr marL="0" indent="0">
              <a:buNone/>
            </a:pPr>
            <a:r>
              <a:t>A skill is instructions and code, so it inherits their risks. It runs with the access you have. Install skills you wrote, or ones you trust, exactly as you would treat software.</a:t>
            </a:r>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6" name="Rounded Rectangle 25"/>
          <p:cNvSpPr/>
          <p:nvPr/>
        </p:nvSpPr>
        <p:spPr>
          <a:xfrm>
            <a:off x="4590288" y="1426464"/>
            <a:ext cx="4242816" cy="2441448"/>
          </a:xfrm>
          <a:prstGeom prst="roundRect">
            <a:avLst>
              <a:gd name="adj" fmla="val 1875"/>
            </a:avLst>
          </a:prstGeom>
          <a:solidFill>
            <a:srgbClr val="3031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ounded Rectangle 26"/>
          <p:cNvSpPr/>
          <p:nvPr/>
        </p:nvSpPr>
        <p:spPr>
          <a:xfrm>
            <a:off x="4590288" y="1426464"/>
            <a:ext cx="4242816" cy="301752"/>
          </a:xfrm>
          <a:prstGeom prst="roundRect">
            <a:avLst>
              <a:gd name="adj" fmla="val 18181"/>
            </a:avLst>
          </a:prstGeom>
          <a:solidFill>
            <a:srgbClr val="252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4590288" y="1619585"/>
            <a:ext cx="4242816" cy="108630"/>
          </a:xfrm>
          <a:prstGeom prst="rect">
            <a:avLst/>
          </a:prstGeom>
          <a:solidFill>
            <a:srgbClr val="252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4736592" y="1508760"/>
            <a:ext cx="2969971" cy="182880"/>
          </a:xfrm>
          <a:prstGeom prst="rect">
            <a:avLst/>
          </a:prstGeom>
          <a:noFill/>
        </p:spPr>
        <p:txBody>
          <a:bodyPr wrap="square" lIns="0" rIns="0" tIns="0" bIns="0" anchor="t">
            <a:spAutoFit/>
          </a:bodyPr>
          <a:lstStyle/>
          <a:p>
            <a:pPr algn="l"/>
            <a:r>
              <a:rPr sz="1200" b="1">
                <a:solidFill>
                  <a:srgbClr val="F7F7FA"/>
                </a:solidFill>
                <a:latin typeface="Arial"/>
              </a:rPr>
              <a:t>Scope of a skill</a:t>
            </a:r>
          </a:p>
        </p:txBody>
      </p:sp>
      <p:sp>
        <p:nvSpPr>
          <p:cNvPr id="30" name="TextBox 29"/>
          <p:cNvSpPr txBox="1"/>
          <p:nvPr/>
        </p:nvSpPr>
        <p:spPr>
          <a:xfrm>
            <a:off x="7589520" y="1527048"/>
            <a:ext cx="1097280" cy="173736"/>
          </a:xfrm>
          <a:prstGeom prst="rect">
            <a:avLst/>
          </a:prstGeom>
          <a:noFill/>
        </p:spPr>
        <p:txBody>
          <a:bodyPr wrap="square" lIns="0" rIns="0" tIns="0" bIns="0" anchor="t">
            <a:spAutoFit/>
          </a:bodyPr>
          <a:lstStyle/>
          <a:p>
            <a:pPr algn="r"/>
            <a:r>
              <a:rPr sz="885" b="0">
                <a:solidFill>
                  <a:srgbClr val="C6C7D0"/>
                </a:solidFill>
                <a:latin typeface="Arial"/>
              </a:rPr>
              <a:t>Boundaries</a:t>
            </a:r>
          </a:p>
        </p:txBody>
      </p:sp>
      <p:sp>
        <p:nvSpPr>
          <p:cNvPr id="31" name="TextBox 30"/>
          <p:cNvSpPr txBox="1"/>
          <p:nvPr/>
        </p:nvSpPr>
        <p:spPr>
          <a:xfrm>
            <a:off x="4736592" y="1856232"/>
            <a:ext cx="1737360" cy="173736"/>
          </a:xfrm>
          <a:prstGeom prst="rect">
            <a:avLst/>
          </a:prstGeom>
          <a:noFill/>
        </p:spPr>
        <p:txBody>
          <a:bodyPr wrap="square" lIns="0" rIns="0" tIns="0" bIns="0" anchor="t">
            <a:spAutoFit/>
          </a:bodyPr>
          <a:lstStyle/>
          <a:p>
            <a:pPr algn="l"/>
            <a:r>
              <a:rPr sz="885" b="1">
                <a:solidFill>
                  <a:srgbClr val="C6C7D0"/>
                </a:solidFill>
                <a:latin typeface="Arial"/>
              </a:rPr>
              <a:t>What it changes</a:t>
            </a:r>
          </a:p>
        </p:txBody>
      </p:sp>
      <p:sp>
        <p:nvSpPr>
          <p:cNvPr id="32" name="TextBox 31"/>
          <p:cNvSpPr txBox="1"/>
          <p:nvPr/>
        </p:nvSpPr>
        <p:spPr>
          <a:xfrm>
            <a:off x="4736592" y="2057400"/>
            <a:ext cx="3950207" cy="210312"/>
          </a:xfrm>
          <a:prstGeom prst="rect">
            <a:avLst/>
          </a:prstGeom>
          <a:noFill/>
        </p:spPr>
        <p:txBody>
          <a:bodyPr wrap="none" lIns="0" rIns="0" tIns="0" bIns="0" anchor="t">
            <a:spAutoFit/>
          </a:bodyPr>
          <a:lstStyle/>
          <a:p>
            <a:pPr algn="l"/>
            <a:r>
              <a:rPr sz="1125" b="0">
                <a:solidFill>
                  <a:srgbClr val="F7F7FA"/>
                </a:solidFill>
                <a:latin typeface="Arial"/>
              </a:rPr>
              <a:t>How Claude does a job you repeat</a:t>
            </a:r>
          </a:p>
        </p:txBody>
      </p:sp>
      <p:sp>
        <p:nvSpPr>
          <p:cNvPr id="33" name="TextBox 32"/>
          <p:cNvSpPr txBox="1"/>
          <p:nvPr/>
        </p:nvSpPr>
        <p:spPr>
          <a:xfrm>
            <a:off x="4736592" y="2267712"/>
            <a:ext cx="3950207" cy="210312"/>
          </a:xfrm>
          <a:prstGeom prst="rect">
            <a:avLst/>
          </a:prstGeom>
          <a:noFill/>
        </p:spPr>
        <p:txBody>
          <a:bodyPr wrap="none" lIns="0" rIns="0" tIns="0" bIns="0" anchor="t">
            <a:spAutoFit/>
          </a:bodyPr>
          <a:lstStyle/>
          <a:p>
            <a:pPr algn="l"/>
            <a:r>
              <a:rPr sz="1125" b="0">
                <a:solidFill>
                  <a:srgbClr val="F7F7FA"/>
                </a:solidFill>
                <a:latin typeface="Arial"/>
              </a:rPr>
              <a:t>Which files and scripts it reaches for</a:t>
            </a:r>
          </a:p>
        </p:txBody>
      </p:sp>
      <p:sp>
        <p:nvSpPr>
          <p:cNvPr id="34" name="Rectangle 33"/>
          <p:cNvSpPr/>
          <p:nvPr/>
        </p:nvSpPr>
        <p:spPr>
          <a:xfrm>
            <a:off x="4736592" y="2587752"/>
            <a:ext cx="3950207" cy="9144"/>
          </a:xfrm>
          <a:prstGeom prst="rect">
            <a:avLst/>
          </a:prstGeom>
          <a:solidFill>
            <a:srgbClr val="3C3D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4736592" y="2679192"/>
            <a:ext cx="1737360" cy="173736"/>
          </a:xfrm>
          <a:prstGeom prst="rect">
            <a:avLst/>
          </a:prstGeom>
          <a:noFill/>
        </p:spPr>
        <p:txBody>
          <a:bodyPr wrap="square" lIns="0" rIns="0" tIns="0" bIns="0" anchor="t">
            <a:spAutoFit/>
          </a:bodyPr>
          <a:lstStyle/>
          <a:p>
            <a:pPr algn="l"/>
            <a:r>
              <a:rPr sz="885" b="1">
                <a:solidFill>
                  <a:srgbClr val="C6C7D0"/>
                </a:solidFill>
                <a:latin typeface="Arial"/>
              </a:rPr>
              <a:t>What it does not</a:t>
            </a:r>
          </a:p>
        </p:txBody>
      </p:sp>
      <p:sp>
        <p:nvSpPr>
          <p:cNvPr id="36" name="TextBox 35"/>
          <p:cNvSpPr txBox="1"/>
          <p:nvPr/>
        </p:nvSpPr>
        <p:spPr>
          <a:xfrm>
            <a:off x="4736592" y="2880360"/>
            <a:ext cx="3950207" cy="210312"/>
          </a:xfrm>
          <a:prstGeom prst="rect">
            <a:avLst/>
          </a:prstGeom>
          <a:noFill/>
        </p:spPr>
        <p:txBody>
          <a:bodyPr wrap="none" lIns="0" rIns="0" tIns="0" bIns="0" anchor="t">
            <a:spAutoFit/>
          </a:bodyPr>
          <a:lstStyle/>
          <a:p>
            <a:pPr algn="l"/>
            <a:r>
              <a:rPr sz="1125" b="0">
                <a:solidFill>
                  <a:srgbClr val="F7F7FA"/>
                </a:solidFill>
                <a:latin typeface="Arial"/>
              </a:rPr>
              <a:t>The model itself, or what it knows</a:t>
            </a:r>
          </a:p>
        </p:txBody>
      </p:sp>
      <p:sp>
        <p:nvSpPr>
          <p:cNvPr id="37" name="TextBox 36"/>
          <p:cNvSpPr txBox="1"/>
          <p:nvPr/>
        </p:nvSpPr>
        <p:spPr>
          <a:xfrm>
            <a:off x="4736592" y="3090672"/>
            <a:ext cx="3950207" cy="210312"/>
          </a:xfrm>
          <a:prstGeom prst="rect">
            <a:avLst/>
          </a:prstGeom>
          <a:noFill/>
        </p:spPr>
        <p:txBody>
          <a:bodyPr wrap="none" lIns="0" rIns="0" tIns="0" bIns="0" anchor="t">
            <a:spAutoFit/>
          </a:bodyPr>
          <a:lstStyle/>
          <a:p>
            <a:pPr algn="l"/>
            <a:r>
              <a:rPr sz="1125" b="0">
                <a:solidFill>
                  <a:srgbClr val="F7F7FA"/>
                </a:solidFill>
                <a:latin typeface="Arial"/>
              </a:rPr>
              <a:t>Anything, if the description never matches</a:t>
            </a:r>
          </a:p>
        </p:txBody>
      </p:sp>
      <p:sp>
        <p:nvSpPr>
          <p:cNvPr id="38" name="TextBox 37"/>
          <p:cNvSpPr txBox="1"/>
          <p:nvPr/>
        </p:nvSpPr>
        <p:spPr>
          <a:xfrm>
            <a:off x="4736592" y="3300984"/>
            <a:ext cx="3950207" cy="210312"/>
          </a:xfrm>
          <a:prstGeom prst="rect">
            <a:avLst/>
          </a:prstGeom>
          <a:noFill/>
        </p:spPr>
        <p:txBody>
          <a:bodyPr wrap="none" lIns="0" rIns="0" tIns="0" bIns="0" anchor="t">
            <a:spAutoFit/>
          </a:bodyPr>
          <a:lstStyle/>
          <a:p>
            <a:pPr algn="l"/>
            <a:r>
              <a:rPr sz="1125" b="0">
                <a:solidFill>
                  <a:srgbClr val="F7F7FA"/>
                </a:solidFill>
                <a:latin typeface="Arial"/>
              </a:rPr>
              <a:t>Its own trustworthiness: you vouch for it</a:t>
            </a:r>
          </a:p>
        </p:txBody>
      </p:sp>
      <p:sp>
        <p:nvSpPr>
          <p:cNvPr id="39" name="TextBox 38"/>
          <p:cNvSpPr txBox="1"/>
          <p:nvPr/>
        </p:nvSpPr>
        <p:spPr>
          <a:xfrm>
            <a:off x="4736592" y="3511296"/>
            <a:ext cx="3950207" cy="210312"/>
          </a:xfrm>
          <a:prstGeom prst="rect">
            <a:avLst/>
          </a:prstGeom>
          <a:noFill/>
        </p:spPr>
        <p:txBody>
          <a:bodyPr wrap="none" lIns="0" rIns="0" tIns="0" bIns="0" anchor="t">
            <a:spAutoFit/>
          </a:bodyPr>
          <a:lstStyle/>
          <a:p>
            <a:pPr algn="l"/>
            <a:r>
              <a:rPr sz="1125" b="0">
                <a:solidFill>
                  <a:srgbClr val="F7F7FA"/>
                </a:solidFill>
                <a:latin typeface="Arial"/>
              </a:rPr>
              <a:t>Installing itself everywhere you work</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Why It Matters - It Carries What a Prompt Cannot</a:t>
            </a:r>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graphicFrame>
        <p:nvGraphicFramePr>
          <p:cNvPr id="26" name="Table 25"/>
          <p:cNvGraphicFramePr>
            <a:graphicFrameLocks noGrp="1"/>
          </p:cNvGraphicFramePr>
          <p:nvPr/>
        </p:nvGraphicFramePr>
        <p:xfrm>
          <a:off x="310896" y="1426464"/>
          <a:ext cx="8522206" cy="2231135"/>
        </p:xfrm>
        <a:graphic>
          <a:graphicData uri="http://schemas.openxmlformats.org/drawingml/2006/table">
            <a:tbl>
              <a:tblPr>
                <a:tableStyleId>{2D5ABB26-0587-4C30-8999-92F81FD0307C}</a:tableStyleId>
              </a:tblPr>
              <a:tblGrid>
                <a:gridCol w="1924369"/>
                <a:gridCol w="3207282"/>
                <a:gridCol w="3390555"/>
              </a:tblGrid>
              <a:tr h="446227">
                <a:tc>
                  <a:txBody>
                    <a:bodyPr wrap="square"/>
                    <a:lstStyle/>
                    <a:p>
                      <a:r>
                        <a:rPr sz="1200" b="1">
                          <a:solidFill>
                            <a:srgbClr val="424242"/>
                          </a:solidFill>
                          <a:latin typeface="Source Code Pro"/>
                        </a:rPr>
                        <a:t/>
                      </a:r>
                    </a:p>
                  </a:txBody>
                  <a:tcPr marL="91440" marR="91440" marT="36576" marB="36576" anchor="ctr">
                    <a:lnT w="9525" cap="flat">
                      <a:solidFill>
                        <a:srgbClr val="D8D8DE"/>
                      </a:solidFill>
                    </a:lnT>
                    <a:lnB w="15875" cap="flat">
                      <a:solidFill>
                        <a:srgbClr val="424242"/>
                      </a:solidFill>
                    </a:lnB>
                    <a:solidFill>
                      <a:srgbClr val="FFFFFF"/>
                    </a:solidFill>
                  </a:tcPr>
                </a:tc>
                <a:tc>
                  <a:txBody>
                    <a:bodyPr wrap="square"/>
                    <a:lstStyle/>
                    <a:p>
                      <a:r>
                        <a:rPr sz="1200" b="1">
                          <a:solidFill>
                            <a:srgbClr val="424242"/>
                          </a:solidFill>
                          <a:latin typeface="Source Code Pro"/>
                        </a:rPr>
                        <a:t>A saved prompt</a:t>
                      </a:r>
                    </a:p>
                  </a:txBody>
                  <a:tcPr marL="91440" marR="91440" marT="36576" marB="36576" anchor="ctr">
                    <a:lnT w="9525" cap="flat">
                      <a:solidFill>
                        <a:srgbClr val="D8D8DE"/>
                      </a:solidFill>
                    </a:lnT>
                    <a:lnB w="15875" cap="flat">
                      <a:solidFill>
                        <a:srgbClr val="424242"/>
                      </a:solidFill>
                    </a:lnB>
                    <a:solidFill>
                      <a:srgbClr val="FFFFFF"/>
                    </a:solidFill>
                  </a:tcPr>
                </a:tc>
                <a:tc>
                  <a:txBody>
                    <a:bodyPr wrap="square"/>
                    <a:lstStyle/>
                    <a:p>
                      <a:r>
                        <a:rPr sz="1200" b="1">
                          <a:solidFill>
                            <a:srgbClr val="424242"/>
                          </a:solidFill>
                          <a:latin typeface="Source Code Pro"/>
                        </a:rPr>
                        <a:t>A skill</a:t>
                      </a:r>
                    </a:p>
                  </a:txBody>
                  <a:tcPr marL="91440" marR="91440" marT="36576" marB="36576" anchor="ctr">
                    <a:lnT w="9525" cap="flat">
                      <a:solidFill>
                        <a:srgbClr val="D8D8DE"/>
                      </a:solidFill>
                    </a:lnT>
                    <a:lnB w="15875" cap="flat">
                      <a:solidFill>
                        <a:srgbClr val="424242"/>
                      </a:solidFill>
                    </a:lnB>
                    <a:solidFill>
                      <a:srgbClr val="FFFFFF"/>
                    </a:solidFill>
                  </a:tcPr>
                </a:tc>
              </a:tr>
              <a:tr h="446227">
                <a:tc>
                  <a:txBody>
                    <a:bodyPr wrap="square"/>
                    <a:lstStyle/>
                    <a:p>
                      <a:r>
                        <a:rPr sz="1200" b="0">
                          <a:solidFill>
                            <a:srgbClr val="424242"/>
                          </a:solidFill>
                          <a:latin typeface="Source Code Pro"/>
                        </a:rPr>
                        <a:t>What it holds</a:t>
                      </a:r>
                    </a:p>
                  </a:txBody>
                  <a:tcPr marL="91440" marR="91440" marT="36576" marB="36576" anchor="ctr">
                    <a:lnB w="9525" cap="flat">
                      <a:solidFill>
                        <a:srgbClr val="D8D8DE"/>
                      </a:solidFill>
                    </a:lnB>
                    <a:solidFill>
                      <a:srgbClr val="FFFFFF"/>
                    </a:solidFill>
                  </a:tcPr>
                </a:tc>
                <a:tc>
                  <a:txBody>
                    <a:bodyPr wrap="square"/>
                    <a:lstStyle/>
                    <a:p>
                      <a:r>
                        <a:rPr sz="1200" b="0">
                          <a:solidFill>
                            <a:srgbClr val="424242"/>
                          </a:solidFill>
                          <a:latin typeface="Source Code Pro"/>
                        </a:rPr>
                        <a:t>one block of text</a:t>
                      </a:r>
                    </a:p>
                  </a:txBody>
                  <a:tcPr marL="91440" marR="91440" marT="36576" marB="36576" anchor="ctr">
                    <a:lnB w="9525" cap="flat">
                      <a:solidFill>
                        <a:srgbClr val="D8D8DE"/>
                      </a:solidFill>
                    </a:lnB>
                    <a:solidFill>
                      <a:srgbClr val="FFFFFF"/>
                    </a:solidFill>
                  </a:tcPr>
                </a:tc>
                <a:tc>
                  <a:txBody>
                    <a:bodyPr wrap="square"/>
                    <a:lstStyle/>
                    <a:p>
                      <a:r>
                        <a:rPr sz="1200" b="0">
                          <a:solidFill>
                            <a:srgbClr val="424242"/>
                          </a:solidFill>
                          <a:latin typeface="Source Code Pro"/>
                        </a:rPr>
                        <a:t>instructions plus the files they need</a:t>
                      </a:r>
                    </a:p>
                  </a:txBody>
                  <a:tcPr marL="91440" marR="91440" marT="36576" marB="36576" anchor="ctr">
                    <a:lnB w="9525" cap="flat">
                      <a:solidFill>
                        <a:srgbClr val="D8D8DE"/>
                      </a:solidFill>
                    </a:lnB>
                    <a:solidFill>
                      <a:srgbClr val="FFFFFF"/>
                    </a:solidFill>
                  </a:tcPr>
                </a:tc>
              </a:tr>
              <a:tr h="446227">
                <a:tc>
                  <a:txBody>
                    <a:bodyPr wrap="square"/>
                    <a:lstStyle/>
                    <a:p>
                      <a:r>
                        <a:rPr sz="1200" b="0">
                          <a:solidFill>
                            <a:srgbClr val="424242"/>
                          </a:solidFill>
                          <a:latin typeface="Source Code Pro"/>
                        </a:rPr>
                        <a:t>When it arrives</a:t>
                      </a:r>
                    </a:p>
                  </a:txBody>
                  <a:tcPr marL="91440" marR="91440" marT="36576" marB="36576" anchor="ctr">
                    <a:lnB w="9525" cap="flat">
                      <a:solidFill>
                        <a:srgbClr val="D8D8DE"/>
                      </a:solidFill>
                    </a:lnB>
                    <a:solidFill>
                      <a:srgbClr val="FFFFFF"/>
                    </a:solidFill>
                  </a:tcPr>
                </a:tc>
                <a:tc>
                  <a:txBody>
                    <a:bodyPr wrap="square"/>
                    <a:lstStyle/>
                    <a:p>
                      <a:r>
                        <a:rPr sz="1200" b="0">
                          <a:solidFill>
                            <a:srgbClr val="424242"/>
                          </a:solidFill>
                          <a:latin typeface="Source Code Pro"/>
                        </a:rPr>
                        <a:t>when you remember to paste it</a:t>
                      </a:r>
                    </a:p>
                  </a:txBody>
                  <a:tcPr marL="91440" marR="91440" marT="36576" marB="36576" anchor="ctr">
                    <a:lnB w="9525" cap="flat">
                      <a:solidFill>
                        <a:srgbClr val="D8D8DE"/>
                      </a:solidFill>
                    </a:lnB>
                    <a:solidFill>
                      <a:srgbClr val="FFFFFF"/>
                    </a:solidFill>
                  </a:tcPr>
                </a:tc>
                <a:tc>
                  <a:txBody>
                    <a:bodyPr wrap="square"/>
                    <a:lstStyle/>
                    <a:p>
                      <a:r>
                        <a:rPr sz="1200" b="0">
                          <a:solidFill>
                            <a:srgbClr val="424242"/>
                          </a:solidFill>
                          <a:latin typeface="Source Code Pro"/>
                        </a:rPr>
                        <a:t>when the job matches its description</a:t>
                      </a:r>
                    </a:p>
                  </a:txBody>
                  <a:tcPr marL="91440" marR="91440" marT="36576" marB="36576" anchor="ctr">
                    <a:lnB w="9525" cap="flat">
                      <a:solidFill>
                        <a:srgbClr val="D8D8DE"/>
                      </a:solidFill>
                    </a:lnB>
                    <a:solidFill>
                      <a:srgbClr val="FFFFFF"/>
                    </a:solidFill>
                  </a:tcPr>
                </a:tc>
              </a:tr>
              <a:tr h="446227">
                <a:tc>
                  <a:txBody>
                    <a:bodyPr wrap="square"/>
                    <a:lstStyle/>
                    <a:p>
                      <a:r>
                        <a:rPr sz="1200" b="0">
                          <a:solidFill>
                            <a:srgbClr val="424242"/>
                          </a:solidFill>
                          <a:latin typeface="Source Code Pro"/>
                        </a:rPr>
                        <a:t>Repeatability</a:t>
                      </a:r>
                    </a:p>
                  </a:txBody>
                  <a:tcPr marL="91440" marR="91440" marT="36576" marB="36576" anchor="ctr">
                    <a:lnB w="9525" cap="flat">
                      <a:solidFill>
                        <a:srgbClr val="D8D8DE"/>
                      </a:solidFill>
                    </a:lnB>
                    <a:solidFill>
                      <a:srgbClr val="FFFFFF"/>
                    </a:solidFill>
                  </a:tcPr>
                </a:tc>
                <a:tc>
                  <a:txBody>
                    <a:bodyPr wrap="square"/>
                    <a:lstStyle/>
                    <a:p>
                      <a:r>
                        <a:rPr sz="1200" b="0">
                          <a:solidFill>
                            <a:srgbClr val="424242"/>
                          </a:solidFill>
                          <a:latin typeface="Source Code Pro"/>
                        </a:rPr>
                        <a:t>as good as your memory</a:t>
                      </a:r>
                    </a:p>
                  </a:txBody>
                  <a:tcPr marL="91440" marR="91440" marT="36576" marB="36576" anchor="ctr">
                    <a:lnB w="9525" cap="flat">
                      <a:solidFill>
                        <a:srgbClr val="D8D8DE"/>
                      </a:solidFill>
                    </a:lnB>
                    <a:solidFill>
                      <a:srgbClr val="FFFFFF"/>
                    </a:solidFill>
                  </a:tcPr>
                </a:tc>
                <a:tc>
                  <a:txBody>
                    <a:bodyPr wrap="square"/>
                    <a:lstStyle/>
                    <a:p>
                      <a:r>
                        <a:rPr sz="1200" b="0">
                          <a:solidFill>
                            <a:srgbClr val="424242"/>
                          </a:solidFill>
                          <a:latin typeface="Source Code Pro"/>
                        </a:rPr>
                        <a:t>the same steps every time</a:t>
                      </a:r>
                    </a:p>
                  </a:txBody>
                  <a:tcPr marL="91440" marR="91440" marT="36576" marB="36576" anchor="ctr">
                    <a:lnB w="9525" cap="flat">
                      <a:solidFill>
                        <a:srgbClr val="D8D8DE"/>
                      </a:solidFill>
                    </a:lnB>
                    <a:solidFill>
                      <a:srgbClr val="FFFFFF"/>
                    </a:solidFill>
                  </a:tcPr>
                </a:tc>
              </a:tr>
              <a:tr h="446227">
                <a:tc>
                  <a:txBody>
                    <a:bodyPr wrap="square"/>
                    <a:lstStyle/>
                    <a:p>
                      <a:r>
                        <a:rPr sz="1200" b="0">
                          <a:solidFill>
                            <a:srgbClr val="424242"/>
                          </a:solidFill>
                          <a:latin typeface="Source Code Pro"/>
                        </a:rPr>
                        <a:t>Failure mode</a:t>
                      </a:r>
                    </a:p>
                  </a:txBody>
                  <a:tcPr marL="91440" marR="91440" marT="36576" marB="36576" anchor="ctr">
                    <a:lnB w="9525" cap="flat">
                      <a:solidFill>
                        <a:srgbClr val="D8D8DE"/>
                      </a:solidFill>
                    </a:lnB>
                    <a:solidFill>
                      <a:srgbClr val="FFFFFF"/>
                    </a:solidFill>
                  </a:tcPr>
                </a:tc>
                <a:tc>
                  <a:txBody>
                    <a:bodyPr wrap="square"/>
                    <a:lstStyle/>
                    <a:p>
                      <a:r>
                        <a:rPr sz="1200" b="0">
                          <a:solidFill>
                            <a:srgbClr val="424242"/>
                          </a:solidFill>
                          <a:latin typeface="Source Code Pro"/>
                        </a:rPr>
                        <a:t>forgotten, or half pasted</a:t>
                      </a:r>
                    </a:p>
                  </a:txBody>
                  <a:tcPr marL="91440" marR="91440" marT="36576" marB="36576" anchor="ctr">
                    <a:lnB w="9525" cap="flat">
                      <a:solidFill>
                        <a:srgbClr val="D8D8DE"/>
                      </a:solidFill>
                    </a:lnB>
                    <a:solidFill>
                      <a:srgbClr val="FFFFFF"/>
                    </a:solidFill>
                  </a:tcPr>
                </a:tc>
                <a:tc>
                  <a:txBody>
                    <a:bodyPr wrap="square"/>
                    <a:lstStyle/>
                    <a:p>
                      <a:r>
                        <a:rPr sz="1200" b="0">
                          <a:solidFill>
                            <a:srgbClr val="424242"/>
                          </a:solidFill>
                          <a:latin typeface="Source Code Pro"/>
                        </a:rPr>
                        <a:t>fires on the wrong job, or never fires</a:t>
                      </a:r>
                    </a:p>
                  </a:txBody>
                  <a:tcPr marL="91440" marR="91440" marT="36576" marB="36576" anchor="ctr">
                    <a:lnB w="9525" cap="flat">
                      <a:solidFill>
                        <a:srgbClr val="D8D8DE"/>
                      </a:solidFill>
                    </a:lnB>
                    <a:solidFill>
                      <a:srgbClr val="FFFFFF"/>
                    </a:solidFill>
                  </a:tcPr>
                </a:tc>
              </a:tr>
            </a:tbl>
          </a:graphicData>
        </a:graphic>
      </p:graphicFrame>
      <p:sp>
        <p:nvSpPr>
          <p:cNvPr id="27" name="TextBox 26"/>
          <p:cNvSpPr txBox="1"/>
          <p:nvPr/>
        </p:nvSpPr>
        <p:spPr>
          <a:xfrm>
            <a:off x="310896" y="3858768"/>
            <a:ext cx="8522208" cy="411480"/>
          </a:xfrm>
          <a:prstGeom prst="rect">
            <a:avLst/>
          </a:prstGeom>
          <a:noFill/>
        </p:spPr>
        <p:txBody>
          <a:bodyPr wrap="square" lIns="0" rIns="0" tIns="0" bIns="0" anchor="t">
            <a:spAutoFit/>
          </a:bodyPr>
          <a:lstStyle/>
          <a:p>
            <a:pPr algn="l">
              <a:lnSpc>
                <a:spcPct val="125000"/>
              </a:lnSpc>
            </a:pPr>
            <a:r>
              <a:rPr sz="1200" b="0">
                <a:solidFill>
                  <a:srgbClr val="6B6B6B"/>
                </a:solidFill>
                <a:latin typeface="Source Code Pro"/>
              </a:rPr>
              <a:t>Both can go wrong. The difference is that a skill goes wrong in one place you can open, so you fix it once and every later job is fixed too.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Written Once, Used in More than One Place</a:t>
            </a:r>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6" name="Rounded Rectangle 25"/>
          <p:cNvSpPr/>
          <p:nvPr/>
        </p:nvSpPr>
        <p:spPr>
          <a:xfrm>
            <a:off x="310896" y="1426464"/>
            <a:ext cx="2633472" cy="1325880"/>
          </a:xfrm>
          <a:prstGeom prst="roundRect">
            <a:avLst>
              <a:gd name="adj" fmla="val 3448"/>
            </a:avLst>
          </a:prstGeom>
          <a:solidFill>
            <a:srgbClr val="F5F5F7"/>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402336" y="1787652"/>
            <a:ext cx="2450592" cy="256032"/>
          </a:xfrm>
          <a:prstGeom prst="rect">
            <a:avLst/>
          </a:prstGeom>
          <a:noFill/>
        </p:spPr>
        <p:txBody>
          <a:bodyPr wrap="square" lIns="0" rIns="0" tIns="0" bIns="0" anchor="t">
            <a:spAutoFit/>
          </a:bodyPr>
          <a:lstStyle/>
          <a:p>
            <a:pPr algn="ctr">
              <a:lnSpc>
                <a:spcPct val="115000"/>
              </a:lnSpc>
            </a:pPr>
            <a:r>
              <a:rPr sz="1300" b="1">
                <a:solidFill>
                  <a:srgbClr val="424242"/>
                </a:solidFill>
                <a:latin typeface="Source Code Pro"/>
              </a:rPr>
              <a:t>Write it once</a:t>
            </a:r>
          </a:p>
        </p:txBody>
      </p:sp>
      <p:sp>
        <p:nvSpPr>
          <p:cNvPr id="28" name="TextBox 27"/>
          <p:cNvSpPr txBox="1"/>
          <p:nvPr/>
        </p:nvSpPr>
        <p:spPr>
          <a:xfrm>
            <a:off x="402336" y="2135124"/>
            <a:ext cx="2450592" cy="256032"/>
          </a:xfrm>
          <a:prstGeom prst="rect">
            <a:avLst/>
          </a:prstGeom>
          <a:noFill/>
        </p:spPr>
        <p:txBody>
          <a:bodyPr wrap="square" lIns="0" rIns="0" tIns="0" bIns="0" anchor="t">
            <a:spAutoFit/>
          </a:bodyPr>
          <a:lstStyle/>
          <a:p>
            <a:pPr algn="ctr">
              <a:lnSpc>
                <a:spcPct val="115000"/>
              </a:lnSpc>
            </a:pPr>
            <a:r>
              <a:rPr sz="1200" b="0">
                <a:solidFill>
                  <a:srgbClr val="6B6B6B"/>
                </a:solidFill>
                <a:latin typeface="Source Code Pro"/>
              </a:rPr>
              <a:t>as a folder</a:t>
            </a:r>
          </a:p>
        </p:txBody>
      </p:sp>
      <p:sp>
        <p:nvSpPr>
          <p:cNvPr id="29" name="Right Arrow 28"/>
          <p:cNvSpPr/>
          <p:nvPr/>
        </p:nvSpPr>
        <p:spPr>
          <a:xfrm>
            <a:off x="3008376" y="2043684"/>
            <a:ext cx="182880" cy="91440"/>
          </a:xfrm>
          <a:prstGeom prst="rightArrow">
            <a:avLst/>
          </a:prstGeom>
          <a:solidFill>
            <a:srgbClr val="ED17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3255264" y="1426464"/>
            <a:ext cx="2633472" cy="1325880"/>
          </a:xfrm>
          <a:prstGeom prst="roundRect">
            <a:avLst>
              <a:gd name="adj" fmla="val 3448"/>
            </a:avLst>
          </a:prstGeom>
          <a:solidFill>
            <a:srgbClr val="F5F5F7"/>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3346704" y="1787652"/>
            <a:ext cx="2450592" cy="256032"/>
          </a:xfrm>
          <a:prstGeom prst="rect">
            <a:avLst/>
          </a:prstGeom>
          <a:noFill/>
        </p:spPr>
        <p:txBody>
          <a:bodyPr wrap="square" lIns="0" rIns="0" tIns="0" bIns="0" anchor="t">
            <a:spAutoFit/>
          </a:bodyPr>
          <a:lstStyle/>
          <a:p>
            <a:pPr algn="ctr">
              <a:lnSpc>
                <a:spcPct val="115000"/>
              </a:lnSpc>
            </a:pPr>
            <a:r>
              <a:rPr sz="1300" b="1">
                <a:solidFill>
                  <a:srgbClr val="424242"/>
                </a:solidFill>
                <a:latin typeface="Source Code Pro"/>
              </a:rPr>
              <a:t>Add it where you work</a:t>
            </a:r>
          </a:p>
        </p:txBody>
      </p:sp>
      <p:sp>
        <p:nvSpPr>
          <p:cNvPr id="32" name="TextBox 31"/>
          <p:cNvSpPr txBox="1"/>
          <p:nvPr/>
        </p:nvSpPr>
        <p:spPr>
          <a:xfrm>
            <a:off x="3346704" y="2135124"/>
            <a:ext cx="2450592" cy="256032"/>
          </a:xfrm>
          <a:prstGeom prst="rect">
            <a:avLst/>
          </a:prstGeom>
          <a:noFill/>
        </p:spPr>
        <p:txBody>
          <a:bodyPr wrap="square" lIns="0" rIns="0" tIns="0" bIns="0" anchor="t">
            <a:spAutoFit/>
          </a:bodyPr>
          <a:lstStyle/>
          <a:p>
            <a:pPr algn="ctr">
              <a:lnSpc>
                <a:spcPct val="115000"/>
              </a:lnSpc>
            </a:pPr>
            <a:r>
              <a:rPr sz="1200" b="0">
                <a:solidFill>
                  <a:srgbClr val="6B6B6B"/>
                </a:solidFill>
                <a:latin typeface="Source Code Pro"/>
              </a:rPr>
              <a:t>each place, once</a:t>
            </a:r>
          </a:p>
        </p:txBody>
      </p:sp>
      <p:sp>
        <p:nvSpPr>
          <p:cNvPr id="33" name="Right Arrow 32"/>
          <p:cNvSpPr/>
          <p:nvPr/>
        </p:nvSpPr>
        <p:spPr>
          <a:xfrm>
            <a:off x="5952744" y="2043684"/>
            <a:ext cx="182880" cy="91440"/>
          </a:xfrm>
          <a:prstGeom prst="rightArrow">
            <a:avLst/>
          </a:prstGeom>
          <a:solidFill>
            <a:srgbClr val="ED17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6199632" y="1426464"/>
            <a:ext cx="2633472" cy="1325880"/>
          </a:xfrm>
          <a:prstGeom prst="roundRect">
            <a:avLst>
              <a:gd name="adj" fmla="val 3448"/>
            </a:avLst>
          </a:prstGeom>
          <a:solidFill>
            <a:srgbClr val="FBE4EC"/>
          </a:solidFill>
          <a:ln w="12700">
            <a:solidFill>
              <a:srgbClr val="E91D6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291072" y="1787652"/>
            <a:ext cx="2450592" cy="256032"/>
          </a:xfrm>
          <a:prstGeom prst="rect">
            <a:avLst/>
          </a:prstGeom>
          <a:noFill/>
        </p:spPr>
        <p:txBody>
          <a:bodyPr wrap="square" lIns="0" rIns="0" tIns="0" bIns="0" anchor="t">
            <a:spAutoFit/>
          </a:bodyPr>
          <a:lstStyle/>
          <a:p>
            <a:pPr algn="ctr">
              <a:lnSpc>
                <a:spcPct val="115000"/>
              </a:lnSpc>
            </a:pPr>
            <a:r>
              <a:rPr sz="1300" b="1">
                <a:solidFill>
                  <a:srgbClr val="424242"/>
                </a:solidFill>
                <a:latin typeface="Source Code Pro"/>
              </a:rPr>
              <a:t>Hand the folder on</a:t>
            </a:r>
          </a:p>
        </p:txBody>
      </p:sp>
      <p:sp>
        <p:nvSpPr>
          <p:cNvPr id="36" name="TextBox 35"/>
          <p:cNvSpPr txBox="1"/>
          <p:nvPr/>
        </p:nvSpPr>
        <p:spPr>
          <a:xfrm>
            <a:off x="6291072" y="2135124"/>
            <a:ext cx="2450592" cy="256032"/>
          </a:xfrm>
          <a:prstGeom prst="rect">
            <a:avLst/>
          </a:prstGeom>
          <a:noFill/>
        </p:spPr>
        <p:txBody>
          <a:bodyPr wrap="square" lIns="0" rIns="0" tIns="0" bIns="0" anchor="t">
            <a:spAutoFit/>
          </a:bodyPr>
          <a:lstStyle/>
          <a:p>
            <a:pPr algn="ctr">
              <a:lnSpc>
                <a:spcPct val="115000"/>
              </a:lnSpc>
            </a:pPr>
            <a:r>
              <a:rPr sz="1200" b="0">
                <a:solidFill>
                  <a:srgbClr val="6B6B6B"/>
                </a:solidFill>
                <a:latin typeface="Source Code Pro"/>
              </a:rPr>
              <a:t>and a colleague has it too</a:t>
            </a:r>
          </a:p>
        </p:txBody>
      </p:sp>
      <p:sp>
        <p:nvSpPr>
          <p:cNvPr id="37" name="TextBox 36"/>
          <p:cNvSpPr txBox="1"/>
          <p:nvPr/>
        </p:nvSpPr>
        <p:spPr>
          <a:xfrm>
            <a:off x="310896" y="3072384"/>
            <a:ext cx="8522208" cy="617220"/>
          </a:xfrm>
          <a:prstGeom prst="rect">
            <a:avLst/>
          </a:prstGeom>
          <a:noFill/>
        </p:spPr>
        <p:txBody>
          <a:bodyPr wrap="square" lIns="0" rIns="0" tIns="0" bIns="0" anchor="t">
            <a:spAutoFit/>
          </a:bodyPr>
          <a:lstStyle/>
          <a:p>
            <a:pPr algn="l">
              <a:lnSpc>
                <a:spcPct val="125000"/>
              </a:lnSpc>
            </a:pPr>
            <a:r>
              <a:rPr sz="1200" b="0">
                <a:solidFill>
                  <a:srgbClr val="6B6B6B"/>
                </a:solidFill>
                <a:latin typeface="Source Code Pro"/>
              </a:rPr>
              <a:t>Anthropic published the format as an open standard, so the same folder can sit in Claude Cowork, in a chat, in Claude Code, and in other agent products that adopted it. What travels is the folder, not the installation: you add it once in each place you want it.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When a Skill Earns Its Place</a:t>
            </a:r>
          </a:p>
        </p:txBody>
      </p:sp>
      <p:sp>
        <p:nvSpPr>
          <p:cNvPr id="3" name="Text Placeholder 2"/>
          <p:cNvSpPr>
            <a:spLocks noGrp="1"/>
          </p:cNvSpPr>
          <p:nvPr>
            <p:ph type="body" idx="1"/>
          </p:nvPr>
        </p:nvSpPr>
        <p:spPr>
          <a:xfrm>
            <a:off x="311700" y="1874519"/>
            <a:ext cx="3999900" cy="2679191"/>
          </a:xfrm>
        </p:spPr>
        <p:txBody>
          <a:bodyPr/>
          <a:lstStyle/>
          <a:p>
            <a:r>
              <a:t>A job you repeat</a:t>
            </a:r>
          </a:p>
          <a:p>
            <a:r>
              <a:t>Work with a house standard</a:t>
            </a:r>
          </a:p>
          <a:p>
            <a:r>
              <a:t>Steps you keep re-explaining</a:t>
            </a:r>
          </a:p>
          <a:p>
            <a:r>
              <a:t>Anything with files attached to it</a:t>
            </a:r>
          </a:p>
        </p:txBody>
      </p:sp>
      <p:sp>
        <p:nvSpPr>
          <p:cNvPr id="4" name="Text Placeholder 3"/>
          <p:cNvSpPr>
            <a:spLocks noGrp="1"/>
          </p:cNvSpPr>
          <p:nvPr>
            <p:ph type="body" idx="2"/>
          </p:nvPr>
        </p:nvSpPr>
        <p:spPr>
          <a:xfrm>
            <a:off x="4832400" y="1874519"/>
            <a:ext cx="3999900" cy="2679191"/>
          </a:xfrm>
        </p:spPr>
        <p:txBody>
          <a:bodyPr/>
          <a:lstStyle/>
          <a:p>
            <a:r>
              <a:t>A one-off request</a:t>
            </a:r>
          </a:p>
          <a:p>
            <a:r>
              <a:t>Something you do once a year</a:t>
            </a:r>
          </a:p>
          <a:p>
            <a:r>
              <a:t>A preference that belongs in your settings</a:t>
            </a:r>
          </a:p>
          <a:p>
            <a:r>
              <a:t>Work you cannot yet describe</a:t>
            </a:r>
          </a:p>
        </p:txBody>
      </p:sp>
      <p:sp>
        <p:nvSpPr>
          <p:cNvPr id="32" name="Google Shape;32;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3" name="TextBox 32"/>
          <p:cNvSpPr txBox="1"/>
          <p:nvPr/>
        </p:nvSpPr>
        <p:spPr>
          <a:xfrm>
            <a:off x="310896" y="1444752"/>
            <a:ext cx="3995928" cy="274320"/>
          </a:xfrm>
          <a:prstGeom prst="rect">
            <a:avLst/>
          </a:prstGeom>
          <a:noFill/>
        </p:spPr>
        <p:txBody>
          <a:bodyPr wrap="square" lIns="0" rIns="0" tIns="0" bIns="0" anchor="t">
            <a:spAutoFit/>
          </a:bodyPr>
          <a:lstStyle/>
          <a:p>
            <a:pPr algn="l"/>
            <a:r>
              <a:rPr sz="1400" b="1">
                <a:solidFill>
                  <a:srgbClr val="424242"/>
                </a:solidFill>
                <a:latin typeface="Source Code Pro"/>
              </a:rPr>
              <a:t>Make one for</a:t>
            </a:r>
          </a:p>
        </p:txBody>
      </p:sp>
      <p:sp>
        <p:nvSpPr>
          <p:cNvPr id="34" name="TextBox 33"/>
          <p:cNvSpPr txBox="1"/>
          <p:nvPr/>
        </p:nvSpPr>
        <p:spPr>
          <a:xfrm>
            <a:off x="4828032" y="1444752"/>
            <a:ext cx="3995928" cy="274320"/>
          </a:xfrm>
          <a:prstGeom prst="rect">
            <a:avLst/>
          </a:prstGeom>
          <a:noFill/>
        </p:spPr>
        <p:txBody>
          <a:bodyPr wrap="square" lIns="0" rIns="0" tIns="0" bIns="0" anchor="t">
            <a:spAutoFit/>
          </a:bodyPr>
          <a:lstStyle/>
          <a:p>
            <a:pPr algn="l"/>
            <a:r>
              <a:rPr sz="1400" b="1">
                <a:solidFill>
                  <a:srgbClr val="424242"/>
                </a:solidFill>
                <a:latin typeface="Source Code Pro"/>
              </a:rPr>
              <a:t>Do not bother for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7" name="Google Shape;67;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8" name="Rectangle 67"/>
          <p:cNvSpPr/>
          <p:nvPr/>
        </p:nvSpPr>
        <p:spPr>
          <a:xfrm>
            <a:off x="0" y="0"/>
            <a:ext cx="9144000" cy="1572768"/>
          </a:xfrm>
          <a:prstGeom prst="rect">
            <a:avLst/>
          </a:prstGeom>
          <a:solidFill>
            <a:srgbClr val="E91D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TextBox 68"/>
          <p:cNvSpPr txBox="1"/>
          <p:nvPr/>
        </p:nvSpPr>
        <p:spPr>
          <a:xfrm>
            <a:off x="502920" y="0"/>
            <a:ext cx="8138160" cy="1572768"/>
          </a:xfrm>
          <a:prstGeom prst="rect">
            <a:avLst/>
          </a:prstGeom>
          <a:noFill/>
        </p:spPr>
        <p:txBody>
          <a:bodyPr wrap="square" lIns="0" rIns="0" tIns="0" bIns="0" anchor="ctr">
            <a:spAutoFit/>
          </a:bodyPr>
          <a:lstStyle/>
          <a:p>
            <a:pPr algn="l"/>
            <a:r>
              <a:rPr sz="4000" b="0">
                <a:solidFill>
                  <a:srgbClr val="FFFFFF"/>
                </a:solidFill>
                <a:latin typeface="Oswald"/>
              </a:rPr>
              <a:t>Let's See It in Action</a:t>
            </a:r>
          </a:p>
        </p:txBody>
      </p:sp>
      <p:sp>
        <p:nvSpPr>
          <p:cNvPr id="70" name="TextBox 69"/>
          <p:cNvSpPr txBox="1"/>
          <p:nvPr/>
        </p:nvSpPr>
        <p:spPr>
          <a:xfrm>
            <a:off x="502920" y="1883664"/>
            <a:ext cx="8138160" cy="384048"/>
          </a:xfrm>
          <a:prstGeom prst="rect">
            <a:avLst/>
          </a:prstGeom>
          <a:noFill/>
        </p:spPr>
        <p:txBody>
          <a:bodyPr wrap="square" lIns="0" rIns="0" tIns="0" bIns="0" anchor="t">
            <a:spAutoFit/>
          </a:bodyPr>
          <a:lstStyle/>
          <a:p>
            <a:pPr algn="l">
              <a:lnSpc>
                <a:spcPct val="120000"/>
              </a:lnSpc>
            </a:pPr>
            <a:r>
              <a:rPr sz="1500" b="0">
                <a:solidFill>
                  <a:srgbClr val="424242"/>
                </a:solidFill>
                <a:latin typeface="Source Code Pro"/>
              </a:rPr>
              <a:t>That is the principle. Now we build one in the tool.</a:t>
            </a:r>
          </a:p>
        </p:txBody>
      </p:sp>
      <p:sp>
        <p:nvSpPr>
          <p:cNvPr id="71" name="Rounded Rectangle 70"/>
          <p:cNvSpPr/>
          <p:nvPr/>
        </p:nvSpPr>
        <p:spPr>
          <a:xfrm>
            <a:off x="502920" y="2450592"/>
            <a:ext cx="1842516" cy="1691640"/>
          </a:xfrm>
          <a:prstGeom prst="roundRect">
            <a:avLst>
              <a:gd name="adj" fmla="val 2702"/>
            </a:avLst>
          </a:prstGeom>
          <a:solidFill>
            <a:srgbClr val="FFFFFF"/>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Oval 71"/>
          <p:cNvSpPr/>
          <p:nvPr/>
        </p:nvSpPr>
        <p:spPr>
          <a:xfrm>
            <a:off x="722376" y="2670048"/>
            <a:ext cx="384048" cy="384048"/>
          </a:xfrm>
          <a:prstGeom prst="ellipse">
            <a:avLst/>
          </a:prstGeom>
          <a:solidFill>
            <a:srgbClr val="E91D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TextBox 72"/>
          <p:cNvSpPr txBox="1"/>
          <p:nvPr/>
        </p:nvSpPr>
        <p:spPr>
          <a:xfrm>
            <a:off x="722376" y="2670048"/>
            <a:ext cx="384048" cy="384048"/>
          </a:xfrm>
          <a:prstGeom prst="rect">
            <a:avLst/>
          </a:prstGeom>
          <a:noFill/>
        </p:spPr>
        <p:txBody>
          <a:bodyPr wrap="square" lIns="0" rIns="0" tIns="0" bIns="0" anchor="ctr">
            <a:spAutoFit/>
          </a:bodyPr>
          <a:lstStyle/>
          <a:p>
            <a:pPr algn="ctr"/>
            <a:r>
              <a:rPr sz="1700" b="1">
                <a:solidFill>
                  <a:srgbClr val="FFFFFF"/>
                </a:solidFill>
                <a:latin typeface="Oswald"/>
              </a:rPr>
              <a:t>1</a:t>
            </a:r>
          </a:p>
        </p:txBody>
      </p:sp>
      <p:sp>
        <p:nvSpPr>
          <p:cNvPr id="74" name="TextBox 73"/>
          <p:cNvSpPr txBox="1"/>
          <p:nvPr/>
        </p:nvSpPr>
        <p:spPr>
          <a:xfrm>
            <a:off x="704088" y="3127248"/>
            <a:ext cx="1440180" cy="411480"/>
          </a:xfrm>
          <a:prstGeom prst="rect">
            <a:avLst/>
          </a:prstGeom>
          <a:noFill/>
        </p:spPr>
        <p:txBody>
          <a:bodyPr wrap="square" lIns="0" rIns="0" tIns="0" bIns="0" anchor="t">
            <a:spAutoFit/>
          </a:bodyPr>
          <a:lstStyle/>
          <a:p>
            <a:pPr algn="l">
              <a:lnSpc>
                <a:spcPct val="120000"/>
              </a:lnSpc>
            </a:pPr>
            <a:r>
              <a:rPr sz="1300" b="0">
                <a:solidFill>
                  <a:srgbClr val="424242"/>
                </a:solidFill>
                <a:latin typeface="Source Code Pro"/>
              </a:rPr>
              <a:t>Name the job</a:t>
            </a:r>
          </a:p>
        </p:txBody>
      </p:sp>
      <p:sp>
        <p:nvSpPr>
          <p:cNvPr id="75" name="TextBox 74"/>
          <p:cNvSpPr txBox="1"/>
          <p:nvPr/>
        </p:nvSpPr>
        <p:spPr>
          <a:xfrm>
            <a:off x="704088" y="3630168"/>
            <a:ext cx="1440180" cy="420624"/>
          </a:xfrm>
          <a:prstGeom prst="rect">
            <a:avLst/>
          </a:prstGeom>
          <a:noFill/>
        </p:spPr>
        <p:txBody>
          <a:bodyPr wrap="square" lIns="0" rIns="0" tIns="0" bIns="0" anchor="t">
            <a:spAutoFit/>
          </a:bodyPr>
          <a:lstStyle/>
          <a:p>
            <a:pPr algn="l">
              <a:lnSpc>
                <a:spcPct val="115000"/>
              </a:lnSpc>
            </a:pPr>
            <a:r>
              <a:rPr sz="1200" b="0">
                <a:solidFill>
                  <a:srgbClr val="6B6B6B"/>
                </a:solidFill>
                <a:latin typeface="Source Code Pro"/>
              </a:rPr>
              <a:t>one thing you repeat</a:t>
            </a:r>
          </a:p>
        </p:txBody>
      </p:sp>
      <p:sp>
        <p:nvSpPr>
          <p:cNvPr id="76" name="Rounded Rectangle 75"/>
          <p:cNvSpPr/>
          <p:nvPr/>
        </p:nvSpPr>
        <p:spPr>
          <a:xfrm>
            <a:off x="2601468" y="2450592"/>
            <a:ext cx="1842516" cy="1691640"/>
          </a:xfrm>
          <a:prstGeom prst="roundRect">
            <a:avLst>
              <a:gd name="adj" fmla="val 2702"/>
            </a:avLst>
          </a:prstGeom>
          <a:solidFill>
            <a:srgbClr val="FFFFFF"/>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Oval 76"/>
          <p:cNvSpPr/>
          <p:nvPr/>
        </p:nvSpPr>
        <p:spPr>
          <a:xfrm>
            <a:off x="2820924" y="2670048"/>
            <a:ext cx="384048" cy="384048"/>
          </a:xfrm>
          <a:prstGeom prst="ellipse">
            <a:avLst/>
          </a:prstGeom>
          <a:solidFill>
            <a:srgbClr val="E91D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TextBox 77"/>
          <p:cNvSpPr txBox="1"/>
          <p:nvPr/>
        </p:nvSpPr>
        <p:spPr>
          <a:xfrm>
            <a:off x="2820924" y="2670048"/>
            <a:ext cx="384048" cy="384048"/>
          </a:xfrm>
          <a:prstGeom prst="rect">
            <a:avLst/>
          </a:prstGeom>
          <a:noFill/>
        </p:spPr>
        <p:txBody>
          <a:bodyPr wrap="square" lIns="0" rIns="0" tIns="0" bIns="0" anchor="ctr">
            <a:spAutoFit/>
          </a:bodyPr>
          <a:lstStyle/>
          <a:p>
            <a:pPr algn="ctr"/>
            <a:r>
              <a:rPr sz="1700" b="1">
                <a:solidFill>
                  <a:srgbClr val="FFFFFF"/>
                </a:solidFill>
                <a:latin typeface="Oswald"/>
              </a:rPr>
              <a:t>2</a:t>
            </a:r>
          </a:p>
        </p:txBody>
      </p:sp>
      <p:sp>
        <p:nvSpPr>
          <p:cNvPr id="79" name="TextBox 78"/>
          <p:cNvSpPr txBox="1"/>
          <p:nvPr/>
        </p:nvSpPr>
        <p:spPr>
          <a:xfrm>
            <a:off x="2802636" y="3127248"/>
            <a:ext cx="1440180" cy="411480"/>
          </a:xfrm>
          <a:prstGeom prst="rect">
            <a:avLst/>
          </a:prstGeom>
          <a:noFill/>
        </p:spPr>
        <p:txBody>
          <a:bodyPr wrap="square" lIns="0" rIns="0" tIns="0" bIns="0" anchor="t">
            <a:spAutoFit/>
          </a:bodyPr>
          <a:lstStyle/>
          <a:p>
            <a:pPr algn="l">
              <a:lnSpc>
                <a:spcPct val="120000"/>
              </a:lnSpc>
            </a:pPr>
            <a:r>
              <a:rPr sz="1300" b="0">
                <a:solidFill>
                  <a:srgbClr val="424242"/>
                </a:solidFill>
                <a:latin typeface="Source Code Pro"/>
              </a:rPr>
              <a:t>Write the description</a:t>
            </a:r>
          </a:p>
        </p:txBody>
      </p:sp>
      <p:sp>
        <p:nvSpPr>
          <p:cNvPr id="80" name="TextBox 79"/>
          <p:cNvSpPr txBox="1"/>
          <p:nvPr/>
        </p:nvSpPr>
        <p:spPr>
          <a:xfrm>
            <a:off x="2802636" y="3630168"/>
            <a:ext cx="1440180" cy="420624"/>
          </a:xfrm>
          <a:prstGeom prst="rect">
            <a:avLst/>
          </a:prstGeom>
          <a:noFill/>
        </p:spPr>
        <p:txBody>
          <a:bodyPr wrap="square" lIns="0" rIns="0" tIns="0" bIns="0" anchor="t">
            <a:spAutoFit/>
          </a:bodyPr>
          <a:lstStyle/>
          <a:p>
            <a:pPr algn="l">
              <a:lnSpc>
                <a:spcPct val="115000"/>
              </a:lnSpc>
            </a:pPr>
            <a:r>
              <a:rPr sz="1200" b="0">
                <a:solidFill>
                  <a:srgbClr val="6B6B6B"/>
                </a:solidFill>
                <a:latin typeface="Source Code Pro"/>
              </a:rPr>
              <a:t>what it does, and when</a:t>
            </a:r>
          </a:p>
        </p:txBody>
      </p:sp>
      <p:sp>
        <p:nvSpPr>
          <p:cNvPr id="81" name="Rounded Rectangle 80"/>
          <p:cNvSpPr/>
          <p:nvPr/>
        </p:nvSpPr>
        <p:spPr>
          <a:xfrm>
            <a:off x="4700016" y="2450592"/>
            <a:ext cx="1842516" cy="1691640"/>
          </a:xfrm>
          <a:prstGeom prst="roundRect">
            <a:avLst>
              <a:gd name="adj" fmla="val 2702"/>
            </a:avLst>
          </a:prstGeom>
          <a:solidFill>
            <a:srgbClr val="FFFFFF"/>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Oval 81"/>
          <p:cNvSpPr/>
          <p:nvPr/>
        </p:nvSpPr>
        <p:spPr>
          <a:xfrm>
            <a:off x="4919472" y="2670048"/>
            <a:ext cx="384048" cy="384048"/>
          </a:xfrm>
          <a:prstGeom prst="ellipse">
            <a:avLst/>
          </a:prstGeom>
          <a:solidFill>
            <a:srgbClr val="E91D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TextBox 82"/>
          <p:cNvSpPr txBox="1"/>
          <p:nvPr/>
        </p:nvSpPr>
        <p:spPr>
          <a:xfrm>
            <a:off x="4919472" y="2670048"/>
            <a:ext cx="384048" cy="384048"/>
          </a:xfrm>
          <a:prstGeom prst="rect">
            <a:avLst/>
          </a:prstGeom>
          <a:noFill/>
        </p:spPr>
        <p:txBody>
          <a:bodyPr wrap="square" lIns="0" rIns="0" tIns="0" bIns="0" anchor="ctr">
            <a:spAutoFit/>
          </a:bodyPr>
          <a:lstStyle/>
          <a:p>
            <a:pPr algn="ctr"/>
            <a:r>
              <a:rPr sz="1700" b="1">
                <a:solidFill>
                  <a:srgbClr val="FFFFFF"/>
                </a:solidFill>
                <a:latin typeface="Oswald"/>
              </a:rPr>
              <a:t>3</a:t>
            </a:r>
          </a:p>
        </p:txBody>
      </p:sp>
      <p:sp>
        <p:nvSpPr>
          <p:cNvPr id="84" name="TextBox 83"/>
          <p:cNvSpPr txBox="1"/>
          <p:nvPr/>
        </p:nvSpPr>
        <p:spPr>
          <a:xfrm>
            <a:off x="4901183" y="3127248"/>
            <a:ext cx="1440180" cy="411480"/>
          </a:xfrm>
          <a:prstGeom prst="rect">
            <a:avLst/>
          </a:prstGeom>
          <a:noFill/>
        </p:spPr>
        <p:txBody>
          <a:bodyPr wrap="square" lIns="0" rIns="0" tIns="0" bIns="0" anchor="t">
            <a:spAutoFit/>
          </a:bodyPr>
          <a:lstStyle/>
          <a:p>
            <a:pPr algn="l">
              <a:lnSpc>
                <a:spcPct val="120000"/>
              </a:lnSpc>
            </a:pPr>
            <a:r>
              <a:rPr sz="1300" b="0">
                <a:solidFill>
                  <a:srgbClr val="424242"/>
                </a:solidFill>
                <a:latin typeface="Source Code Pro"/>
              </a:rPr>
              <a:t>Add the files it needs</a:t>
            </a:r>
          </a:p>
        </p:txBody>
      </p:sp>
      <p:sp>
        <p:nvSpPr>
          <p:cNvPr id="85" name="TextBox 84"/>
          <p:cNvSpPr txBox="1"/>
          <p:nvPr/>
        </p:nvSpPr>
        <p:spPr>
          <a:xfrm>
            <a:off x="4901183" y="3630168"/>
            <a:ext cx="1440180" cy="420624"/>
          </a:xfrm>
          <a:prstGeom prst="rect">
            <a:avLst/>
          </a:prstGeom>
          <a:noFill/>
        </p:spPr>
        <p:txBody>
          <a:bodyPr wrap="square" lIns="0" rIns="0" tIns="0" bIns="0" anchor="t">
            <a:spAutoFit/>
          </a:bodyPr>
          <a:lstStyle/>
          <a:p>
            <a:pPr algn="l">
              <a:lnSpc>
                <a:spcPct val="115000"/>
              </a:lnSpc>
            </a:pPr>
            <a:r>
              <a:rPr sz="1200" b="0">
                <a:solidFill>
                  <a:srgbClr val="6B6B6B"/>
                </a:solidFill>
                <a:latin typeface="Source Code Pro"/>
              </a:rPr>
              <a:t>a reference, a template</a:t>
            </a:r>
          </a:p>
        </p:txBody>
      </p:sp>
      <p:sp>
        <p:nvSpPr>
          <p:cNvPr id="86" name="Rounded Rectangle 85"/>
          <p:cNvSpPr/>
          <p:nvPr/>
        </p:nvSpPr>
        <p:spPr>
          <a:xfrm>
            <a:off x="6798564" y="2450592"/>
            <a:ext cx="1842516" cy="1691640"/>
          </a:xfrm>
          <a:prstGeom prst="roundRect">
            <a:avLst>
              <a:gd name="adj" fmla="val 2702"/>
            </a:avLst>
          </a:prstGeom>
          <a:solidFill>
            <a:srgbClr val="FFFFFF"/>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7" name="Oval 86"/>
          <p:cNvSpPr/>
          <p:nvPr/>
        </p:nvSpPr>
        <p:spPr>
          <a:xfrm>
            <a:off x="7018020" y="2670048"/>
            <a:ext cx="384048" cy="384048"/>
          </a:xfrm>
          <a:prstGeom prst="ellipse">
            <a:avLst/>
          </a:prstGeom>
          <a:solidFill>
            <a:srgbClr val="E91D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TextBox 87"/>
          <p:cNvSpPr txBox="1"/>
          <p:nvPr/>
        </p:nvSpPr>
        <p:spPr>
          <a:xfrm>
            <a:off x="7018020" y="2670048"/>
            <a:ext cx="384048" cy="384048"/>
          </a:xfrm>
          <a:prstGeom prst="rect">
            <a:avLst/>
          </a:prstGeom>
          <a:noFill/>
        </p:spPr>
        <p:txBody>
          <a:bodyPr wrap="square" lIns="0" rIns="0" tIns="0" bIns="0" anchor="ctr">
            <a:spAutoFit/>
          </a:bodyPr>
          <a:lstStyle/>
          <a:p>
            <a:pPr algn="ctr"/>
            <a:r>
              <a:rPr sz="1700" b="1">
                <a:solidFill>
                  <a:srgbClr val="FFFFFF"/>
                </a:solidFill>
                <a:latin typeface="Oswald"/>
              </a:rPr>
              <a:t>4</a:t>
            </a:r>
          </a:p>
        </p:txBody>
      </p:sp>
      <p:sp>
        <p:nvSpPr>
          <p:cNvPr id="89" name="TextBox 88"/>
          <p:cNvSpPr txBox="1"/>
          <p:nvPr/>
        </p:nvSpPr>
        <p:spPr>
          <a:xfrm>
            <a:off x="6999731" y="3127248"/>
            <a:ext cx="1440180" cy="411480"/>
          </a:xfrm>
          <a:prstGeom prst="rect">
            <a:avLst/>
          </a:prstGeom>
          <a:noFill/>
        </p:spPr>
        <p:txBody>
          <a:bodyPr wrap="square" lIns="0" rIns="0" tIns="0" bIns="0" anchor="t">
            <a:spAutoFit/>
          </a:bodyPr>
          <a:lstStyle/>
          <a:p>
            <a:pPr algn="l">
              <a:lnSpc>
                <a:spcPct val="120000"/>
              </a:lnSpc>
            </a:pPr>
            <a:r>
              <a:rPr sz="1300" b="0">
                <a:solidFill>
                  <a:srgbClr val="424242"/>
                </a:solidFill>
                <a:latin typeface="Source Code Pro"/>
              </a:rPr>
              <a:t>Trigger it by accident</a:t>
            </a:r>
          </a:p>
        </p:txBody>
      </p:sp>
      <p:sp>
        <p:nvSpPr>
          <p:cNvPr id="90" name="TextBox 89"/>
          <p:cNvSpPr txBox="1"/>
          <p:nvPr/>
        </p:nvSpPr>
        <p:spPr>
          <a:xfrm>
            <a:off x="6999731" y="3630168"/>
            <a:ext cx="1440180" cy="420624"/>
          </a:xfrm>
          <a:prstGeom prst="rect">
            <a:avLst/>
          </a:prstGeom>
          <a:noFill/>
        </p:spPr>
        <p:txBody>
          <a:bodyPr wrap="square" lIns="0" rIns="0" tIns="0" bIns="0" anchor="t">
            <a:spAutoFit/>
          </a:bodyPr>
          <a:lstStyle/>
          <a:p>
            <a:pPr algn="l">
              <a:lnSpc>
                <a:spcPct val="115000"/>
              </a:lnSpc>
            </a:pPr>
            <a:r>
              <a:rPr sz="1200" b="0">
                <a:solidFill>
                  <a:srgbClr val="6B6B6B"/>
                </a:solidFill>
                <a:latin typeface="Source Code Pro"/>
              </a:rPr>
              <a:t>without naming the skill</a:t>
            </a:r>
          </a:p>
        </p:txBody>
      </p:sp>
    </p:spTree>
  </p:cSld>
  <p:clrMapOvr>
    <a:masterClrMapping/>
  </p:clrMapOvr>
</p:sld>
</file>

<file path=ppt/theme/theme1.xml><?xml version="1.0" encoding="utf-8"?>
<a:theme xmlns:a="http://schemas.openxmlformats.org/drawingml/2006/main" xmlns:r="http://schemas.openxmlformats.org/officeDocument/2006/relationships" name="Modern Writer">
  <a:themeElements>
    <a:clrScheme name="Modern Writer">
      <a:dk1>
        <a:srgbClr val="E91D63"/>
      </a:dk1>
      <a:lt1>
        <a:srgbClr val="FFFFFF"/>
      </a:lt1>
      <a:dk2>
        <a:srgbClr val="424242"/>
      </a:dk2>
      <a:lt2>
        <a:srgbClr val="999999"/>
      </a:lt2>
      <a:accent1>
        <a:srgbClr val="607D8B"/>
      </a:accent1>
      <a:accent2>
        <a:srgbClr val="673AB7"/>
      </a:accent2>
      <a:accent3>
        <a:srgbClr val="9C26B0"/>
      </a:accent3>
      <a:accent4>
        <a:srgbClr val="0090AC"/>
      </a:accent4>
      <a:accent5>
        <a:srgbClr val="00838F"/>
      </a:accent5>
      <a:accent6>
        <a:srgbClr val="F8E71C"/>
      </a:accent6>
      <a:hlink>
        <a:srgbClr val="00838F"/>
      </a:hlink>
      <a:folHlink>
        <a:srgbClr val="00838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Modern Writer">
  <a:themeElements>
    <a:clrScheme name="Modern Writer">
      <a:dk1>
        <a:srgbClr val="E91D63"/>
      </a:dk1>
      <a:lt1>
        <a:srgbClr val="FFFFFF"/>
      </a:lt1>
      <a:dk2>
        <a:srgbClr val="424242"/>
      </a:dk2>
      <a:lt2>
        <a:srgbClr val="999999"/>
      </a:lt2>
      <a:accent1>
        <a:srgbClr val="607D8B"/>
      </a:accent1>
      <a:accent2>
        <a:srgbClr val="673AB7"/>
      </a:accent2>
      <a:accent3>
        <a:srgbClr val="9C26B0"/>
      </a:accent3>
      <a:accent4>
        <a:srgbClr val="0090AC"/>
      </a:accent4>
      <a:accent5>
        <a:srgbClr val="00838F"/>
      </a:accent5>
      <a:accent6>
        <a:srgbClr val="F8E71C"/>
      </a:accent6>
      <a:hlink>
        <a:srgbClr val="00838F"/>
      </a:hlink>
      <a:folHlink>
        <a:srgbClr val="00838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