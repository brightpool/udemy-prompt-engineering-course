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Custom Instructions</a:t>
            </a:r>
          </a:p>
        </p:txBody>
      </p:sp>
      <p:sp>
        <p:nvSpPr>
          <p:cNvPr id="3" name="Subtitle 2"/>
          <p:cNvSpPr>
            <a:spLocks noGrp="1"/>
          </p:cNvSpPr>
          <p:nvPr>
            <p:ph type="subTitle" idx="1"/>
          </p:nvPr>
        </p:nvSpPr>
        <p:spPr/>
        <p:txBody>
          <a:bodyPr/>
          <a:lstStyle/>
          <a:p>
            <a:pPr marL="0" indent="0">
              <a:buNone/>
            </a:pPr>
            <a:r>
              <a:t>How a paragraph you write once is attached to every chat you start.</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Standing Prompt You Write Once</a:t>
            </a:r>
          </a:p>
        </p:txBody>
      </p:sp>
      <p:sp>
        <p:nvSpPr>
          <p:cNvPr id="3" name="Text Placeholder 2"/>
          <p:cNvSpPr>
            <a:spLocks noGrp="1"/>
          </p:cNvSpPr>
          <p:nvPr>
            <p:ph type="body" idx="1"/>
          </p:nvPr>
        </p:nvSpPr>
        <p:spPr>
          <a:xfrm>
            <a:off x="5074920" y="1389888"/>
            <a:ext cx="3758184" cy="3172968"/>
          </a:xfrm>
        </p:spPr>
        <p:txBody>
          <a:bodyPr wrap="square" anchor="ctr"/>
          <a:lstStyle/>
          <a:p>
            <a:pPr marL="0" indent="0">
              <a:buNone/>
            </a:pPr>
            <a:r>
              <a:t>Nobody typed that top line into this chat. It is a short standing prompt you wrote once and saved, and it is attached to every new chat you open - so who you are, what you work on and how you want the answer shaped are in place before your first message.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06240" cy="3172968"/>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490472"/>
            <a:ext cx="1097280" cy="173736"/>
          </a:xfrm>
          <a:prstGeom prst="rect">
            <a:avLst/>
          </a:prstGeom>
          <a:noFill/>
        </p:spPr>
        <p:txBody>
          <a:bodyPr wrap="square" lIns="0" rIns="0" tIns="0" bIns="0" anchor="t">
            <a:spAutoFit/>
          </a:bodyPr>
          <a:lstStyle/>
          <a:p>
            <a:pPr algn="r"/>
            <a:r>
              <a:rPr sz="885" b="0">
                <a:solidFill>
                  <a:srgbClr val="C6C7D0"/>
                </a:solidFill>
                <a:latin typeface="Arial"/>
              </a:rPr>
              <a:t>Every new chat</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System</a:t>
            </a:r>
          </a:p>
        </p:txBody>
      </p:sp>
      <p:sp>
        <p:nvSpPr>
          <p:cNvPr id="32" name="TextBox 31"/>
          <p:cNvSpPr txBox="1"/>
          <p:nvPr/>
        </p:nvSpPr>
        <p:spPr>
          <a:xfrm>
            <a:off x="512064" y="2020824"/>
            <a:ext cx="3913631" cy="210312"/>
          </a:xfrm>
          <a:prstGeom prst="rect">
            <a:avLst/>
          </a:prstGeom>
          <a:noFill/>
        </p:spPr>
        <p:txBody>
          <a:bodyPr wrap="none" lIns="0" rIns="0" tIns="0" bIns="0" anchor="t">
            <a:spAutoFit/>
          </a:bodyPr>
          <a:lstStyle/>
          <a:p>
            <a:pPr algn="l"/>
            <a:r>
              <a:rPr sz="1125" b="0">
                <a:solidFill>
                  <a:srgbClr val="F7F7FA"/>
                </a:solidFill>
                <a:latin typeface="Arial"/>
              </a:rPr>
              <a:t>British English. No preamble. I run marketing</a:t>
            </a:r>
          </a:p>
        </p:txBody>
      </p:sp>
      <p:sp>
        <p:nvSpPr>
          <p:cNvPr id="33" name="TextBox 32"/>
          <p:cNvSpPr txBox="1"/>
          <p:nvPr/>
        </p:nvSpPr>
        <p:spPr>
          <a:xfrm>
            <a:off x="512064" y="2231136"/>
            <a:ext cx="3913631" cy="210312"/>
          </a:xfrm>
          <a:prstGeom prst="rect">
            <a:avLst/>
          </a:prstGeom>
          <a:noFill/>
        </p:spPr>
        <p:txBody>
          <a:bodyPr wrap="none" lIns="0" rIns="0" tIns="0" bIns="0" anchor="t">
            <a:spAutoFit/>
          </a:bodyPr>
          <a:lstStyle/>
          <a:p>
            <a:pPr algn="l"/>
            <a:r>
              <a:rPr sz="1125" b="0">
                <a:solidFill>
                  <a:srgbClr val="F7F7FA"/>
                </a:solidFill>
                <a:latin typeface="Arial"/>
              </a:rPr>
              <a:t>at a B2B software firm.</a:t>
            </a:r>
          </a:p>
        </p:txBody>
      </p:sp>
      <p:sp>
        <p:nvSpPr>
          <p:cNvPr id="34" name="Rectangle 33"/>
          <p:cNvSpPr/>
          <p:nvPr/>
        </p:nvSpPr>
        <p:spPr>
          <a:xfrm>
            <a:off x="512064" y="2532888"/>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 y="2624328"/>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6" name="TextBox 35"/>
          <p:cNvSpPr txBox="1"/>
          <p:nvPr/>
        </p:nvSpPr>
        <p:spPr>
          <a:xfrm>
            <a:off x="512064" y="2825496"/>
            <a:ext cx="3913631" cy="210312"/>
          </a:xfrm>
          <a:prstGeom prst="rect">
            <a:avLst/>
          </a:prstGeom>
          <a:noFill/>
        </p:spPr>
        <p:txBody>
          <a:bodyPr wrap="none" lIns="0" rIns="0" tIns="0" bIns="0" anchor="t">
            <a:spAutoFit/>
          </a:bodyPr>
          <a:lstStyle/>
          <a:p>
            <a:pPr algn="l"/>
            <a:r>
              <a:rPr sz="1125" b="0">
                <a:solidFill>
                  <a:srgbClr val="F7F7FA"/>
                </a:solidFill>
                <a:latin typeface="Arial"/>
              </a:rPr>
              <a:t>Rewrite this launch email.</a:t>
            </a:r>
          </a:p>
        </p:txBody>
      </p:sp>
      <p:sp>
        <p:nvSpPr>
          <p:cNvPr id="40" name="Rounded Rectangle 39"/>
          <p:cNvSpPr/>
          <p:nvPr/>
        </p:nvSpPr>
        <p:spPr>
          <a:xfrm>
            <a:off x="475488" y="3090672"/>
            <a:ext cx="3986783"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21792" y="3209544"/>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8" name="TextBox 37"/>
          <p:cNvSpPr txBox="1"/>
          <p:nvPr/>
        </p:nvSpPr>
        <p:spPr>
          <a:xfrm>
            <a:off x="621792" y="3410712"/>
            <a:ext cx="3694175" cy="210312"/>
          </a:xfrm>
          <a:prstGeom prst="rect">
            <a:avLst/>
          </a:prstGeom>
          <a:noFill/>
        </p:spPr>
        <p:txBody>
          <a:bodyPr wrap="none" lIns="0" rIns="0" tIns="0" bIns="0" anchor="t">
            <a:spAutoFit/>
          </a:bodyPr>
          <a:lstStyle/>
          <a:p>
            <a:pPr algn="l"/>
            <a:r>
              <a:rPr sz="1125" b="0">
                <a:solidFill>
                  <a:srgbClr val="F7F7FA"/>
                </a:solidFill>
                <a:latin typeface="Arial"/>
              </a:rPr>
              <a:t>The date is the story, not the feature list.</a:t>
            </a:r>
          </a:p>
        </p:txBody>
      </p:sp>
      <p:sp>
        <p:nvSpPr>
          <p:cNvPr id="39" name="TextBox 38"/>
          <p:cNvSpPr txBox="1"/>
          <p:nvPr/>
        </p:nvSpPr>
        <p:spPr>
          <a:xfrm>
            <a:off x="621792" y="3621024"/>
            <a:ext cx="3694175" cy="210312"/>
          </a:xfrm>
          <a:prstGeom prst="rect">
            <a:avLst/>
          </a:prstGeom>
          <a:noFill/>
        </p:spPr>
        <p:txBody>
          <a:bodyPr wrap="none" lIns="0" rIns="0" tIns="0" bIns="0" anchor="t">
            <a:spAutoFit/>
          </a:bodyPr>
          <a:lstStyle/>
          <a:p>
            <a:pPr algn="l"/>
            <a:r>
              <a:rPr sz="1125" b="0">
                <a:solidFill>
                  <a:srgbClr val="F7F7FA"/>
                </a:solidFill>
                <a:latin typeface="Arial"/>
              </a:rPr>
              <a:t>Open on it, then cut the second paragraph.</a:t>
            </a:r>
          </a:p>
        </p:txBody>
      </p:sp>
      <p:sp>
        <p:nvSpPr>
          <p:cNvPr id="41" name="Rounded Rectangle 40"/>
          <p:cNvSpPr/>
          <p:nvPr/>
        </p:nvSpPr>
        <p:spPr>
          <a:xfrm>
            <a:off x="512064" y="4151376"/>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224528"/>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4151376" y="4197096"/>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151376" y="4197096"/>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Yours to Write, Not the Model's to Save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389888"/>
          <a:ext cx="8522208" cy="1828800"/>
        </p:xfrm>
        <a:graphic>
          <a:graphicData uri="http://schemas.openxmlformats.org/drawingml/2006/table">
            <a:tbl>
              <a:tblPr>
                <a:tableStyleId>{2D5ABB26-0587-4C30-8999-92F81FD0307C}</a:tableStyleId>
              </a:tblPr>
              <a:tblGrid>
                <a:gridCol w="1554480"/>
                <a:gridCol w="2395728"/>
                <a:gridCol w="2286000"/>
                <a:gridCol w="2286000"/>
              </a:tblGrid>
              <a:tr h="457200">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Custom instructions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Memory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Projects</a:t>
                      </a:r>
                    </a:p>
                  </a:txBody>
                  <a:tcPr marL="91440" marR="91440" marT="36576" marB="36576" anchor="ctr">
                    <a:lnT w="9525" cap="flat">
                      <a:solidFill>
                        <a:srgbClr val="D8D8DE"/>
                      </a:solidFill>
                    </a:lnT>
                    <a:lnB w="15875" cap="flat">
                      <a:solidFill>
                        <a:srgbClr val="424242"/>
                      </a:solidFill>
                    </a:lnB>
                    <a:solidFill>
                      <a:srgbClr val="FFFFFF"/>
                    </a:solidFill>
                  </a:tcPr>
                </a:tc>
              </a:tr>
              <a:tr h="457200">
                <a:tc>
                  <a:txBody>
                    <a:bodyPr wrap="square"/>
                    <a:lstStyle/>
                    <a:p>
                      <a:r>
                        <a:rPr sz="1200" b="0">
                          <a:solidFill>
                            <a:srgbClr val="424242"/>
                          </a:solidFill>
                          <a:latin typeface="Source Code Pro"/>
                        </a:rPr>
                        <a:t>Who writes it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 once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assistant, as you talk</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 per project</a:t>
                      </a:r>
                    </a:p>
                  </a:txBody>
                  <a:tcPr marL="91440" marR="91440" marT="36576" marB="36576" anchor="ctr">
                    <a:lnB w="9525" cap="flat">
                      <a:solidFill>
                        <a:srgbClr val="D8D8DE"/>
                      </a:solidFill>
                    </a:lnB>
                    <a:solidFill>
                      <a:srgbClr val="FFFFFF"/>
                    </a:solidFill>
                  </a:tcPr>
                </a:tc>
              </a:tr>
              <a:tr h="457200">
                <a:tc>
                  <a:txBody>
                    <a:bodyPr wrap="square"/>
                    <a:lstStyle/>
                    <a:p>
                      <a:r>
                        <a:rPr sz="1200" b="0">
                          <a:solidFill>
                            <a:srgbClr val="424242"/>
                          </a:solidFill>
                          <a:latin typeface="Source Code Pro"/>
                        </a:rPr>
                        <a:t>Where it lands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Every new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Chats where it is 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Chats inside that project</a:t>
                      </a:r>
                    </a:p>
                  </a:txBody>
                  <a:tcPr marL="91440" marR="91440" marT="36576" marB="36576" anchor="ctr">
                    <a:lnB w="9525" cap="flat">
                      <a:solidFill>
                        <a:srgbClr val="D8D8DE"/>
                      </a:solidFill>
                    </a:lnB>
                    <a:solidFill>
                      <a:srgbClr val="FFFFFF"/>
                    </a:solidFill>
                  </a:tcPr>
                </a:tc>
              </a:tr>
              <a:tr h="457200">
                <a:tc>
                  <a:txBody>
                    <a:bodyPr wrap="square"/>
                    <a:lstStyle/>
                    <a:p>
                      <a:r>
                        <a:rPr sz="1200" b="0">
                          <a:solidFill>
                            <a:srgbClr val="424242"/>
                          </a:solidFill>
                          <a:latin typeface="Source Code Pro"/>
                        </a:rPr>
                        <a:t>Good for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Standing rules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Facts it picked up</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One body of work</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52958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All three end up in the same place - text in front of the model - so the difference is who authored it and how far it reaches. Custom instructions are the only one you write deliberately, and the only one that follows you into every conversation.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Your Instructions Are Prompt Text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539496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389888"/>
            <a:ext cx="2805379" cy="512064"/>
          </a:xfrm>
          <a:prstGeom prst="rect">
            <a:avLst/>
          </a:prstGeom>
          <a:noFill/>
        </p:spPr>
        <p:txBody>
          <a:bodyPr wrap="square" lIns="0" rIns="0" tIns="0" bIns="0" anchor="ctr">
            <a:spAutoFit/>
          </a:bodyPr>
          <a:lstStyle/>
          <a:p>
            <a:pPr algn="l"/>
            <a:r>
              <a:rPr sz="1300" b="0">
                <a:solidFill>
                  <a:srgbClr val="424242"/>
                </a:solidFill>
                <a:latin typeface="Source Code Pro"/>
              </a:rPr>
              <a:t>The product's own rules</a:t>
            </a:r>
          </a:p>
        </p:txBody>
      </p:sp>
      <p:sp>
        <p:nvSpPr>
          <p:cNvPr id="28" name="TextBox 27"/>
          <p:cNvSpPr txBox="1"/>
          <p:nvPr/>
        </p:nvSpPr>
        <p:spPr>
          <a:xfrm>
            <a:off x="3278124" y="1389888"/>
            <a:ext cx="2173528" cy="512064"/>
          </a:xfrm>
          <a:prstGeom prst="rect">
            <a:avLst/>
          </a:prstGeom>
          <a:noFill/>
        </p:spPr>
        <p:txBody>
          <a:bodyPr wrap="square" lIns="0" rIns="0" tIns="0" bIns="0" anchor="ctr">
            <a:spAutoFit/>
          </a:bodyPr>
          <a:lstStyle/>
          <a:p>
            <a:pPr algn="r"/>
            <a:r>
              <a:rPr sz="1200" b="0">
                <a:solidFill>
                  <a:srgbClr val="6B6B6B"/>
                </a:solidFill>
                <a:latin typeface="Source Code Pro"/>
              </a:rPr>
              <a:t>set by whoever built it</a:t>
            </a:r>
          </a:p>
        </p:txBody>
      </p:sp>
      <p:sp>
        <p:nvSpPr>
          <p:cNvPr id="29" name="Rounded Rectangle 28"/>
          <p:cNvSpPr/>
          <p:nvPr/>
        </p:nvSpPr>
        <p:spPr>
          <a:xfrm>
            <a:off x="310896" y="1965960"/>
            <a:ext cx="5394960" cy="512064"/>
          </a:xfrm>
          <a:prstGeom prst="roundRect">
            <a:avLst>
              <a:gd name="adj" fmla="val 7142"/>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1965960"/>
            <a:ext cx="2805379" cy="512064"/>
          </a:xfrm>
          <a:prstGeom prst="rect">
            <a:avLst/>
          </a:prstGeom>
          <a:noFill/>
        </p:spPr>
        <p:txBody>
          <a:bodyPr wrap="square" lIns="0" rIns="0" tIns="0" bIns="0" anchor="ctr">
            <a:spAutoFit/>
          </a:bodyPr>
          <a:lstStyle/>
          <a:p>
            <a:pPr algn="l"/>
            <a:r>
              <a:rPr sz="1300" b="1">
                <a:solidFill>
                  <a:srgbClr val="424242"/>
                </a:solidFill>
                <a:latin typeface="Source Code Pro"/>
              </a:rPr>
              <a:t>Your standing instructions</a:t>
            </a:r>
          </a:p>
        </p:txBody>
      </p:sp>
      <p:sp>
        <p:nvSpPr>
          <p:cNvPr id="31" name="TextBox 30"/>
          <p:cNvSpPr txBox="1"/>
          <p:nvPr/>
        </p:nvSpPr>
        <p:spPr>
          <a:xfrm>
            <a:off x="3278124" y="1965960"/>
            <a:ext cx="2173528" cy="512064"/>
          </a:xfrm>
          <a:prstGeom prst="rect">
            <a:avLst/>
          </a:prstGeom>
          <a:noFill/>
        </p:spPr>
        <p:txBody>
          <a:bodyPr wrap="square" lIns="0" rIns="0" tIns="0" bIns="0" anchor="ctr">
            <a:spAutoFit/>
          </a:bodyPr>
          <a:lstStyle/>
          <a:p>
            <a:pPr algn="r"/>
            <a:r>
              <a:rPr sz="1200" b="0">
                <a:solidFill>
                  <a:srgbClr val="6B6B6B"/>
                </a:solidFill>
                <a:latin typeface="Source Code Pro"/>
              </a:rPr>
              <a:t>written once, saved</a:t>
            </a:r>
          </a:p>
        </p:txBody>
      </p:sp>
      <p:sp>
        <p:nvSpPr>
          <p:cNvPr id="32" name="Rounded Rectangle 31"/>
          <p:cNvSpPr/>
          <p:nvPr/>
        </p:nvSpPr>
        <p:spPr>
          <a:xfrm>
            <a:off x="310896" y="2542032"/>
            <a:ext cx="539496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542032"/>
            <a:ext cx="2805379" cy="512064"/>
          </a:xfrm>
          <a:prstGeom prst="rect">
            <a:avLst/>
          </a:prstGeom>
          <a:noFill/>
        </p:spPr>
        <p:txBody>
          <a:bodyPr wrap="square" lIns="0" rIns="0" tIns="0" bIns="0" anchor="ctr">
            <a:spAutoFit/>
          </a:bodyPr>
          <a:lstStyle/>
          <a:p>
            <a:pPr algn="l"/>
            <a:r>
              <a:rPr sz="1300" b="0">
                <a:solidFill>
                  <a:srgbClr val="424242"/>
                </a:solidFill>
                <a:latin typeface="Source Code Pro"/>
              </a:rPr>
              <a:t>Anything memory holds</a:t>
            </a:r>
          </a:p>
        </p:txBody>
      </p:sp>
      <p:sp>
        <p:nvSpPr>
          <p:cNvPr id="34" name="TextBox 33"/>
          <p:cNvSpPr txBox="1"/>
          <p:nvPr/>
        </p:nvSpPr>
        <p:spPr>
          <a:xfrm>
            <a:off x="3278124" y="2542032"/>
            <a:ext cx="2173528" cy="512064"/>
          </a:xfrm>
          <a:prstGeom prst="rect">
            <a:avLst/>
          </a:prstGeom>
          <a:noFill/>
        </p:spPr>
        <p:txBody>
          <a:bodyPr wrap="square" lIns="0" rIns="0" tIns="0" bIns="0" anchor="ctr">
            <a:spAutoFit/>
          </a:bodyPr>
          <a:lstStyle/>
          <a:p>
            <a:pPr algn="r"/>
            <a:r>
              <a:rPr sz="1200" b="0">
                <a:solidFill>
                  <a:srgbClr val="6B6B6B"/>
                </a:solidFill>
                <a:latin typeface="Source Code Pro"/>
              </a:rPr>
              <a:t>if you have it switched on</a:t>
            </a:r>
          </a:p>
        </p:txBody>
      </p:sp>
      <p:sp>
        <p:nvSpPr>
          <p:cNvPr id="35" name="Rounded Rectangle 34"/>
          <p:cNvSpPr/>
          <p:nvPr/>
        </p:nvSpPr>
        <p:spPr>
          <a:xfrm>
            <a:off x="310896" y="3118104"/>
            <a:ext cx="539496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3118104"/>
            <a:ext cx="2805379" cy="512064"/>
          </a:xfrm>
          <a:prstGeom prst="rect">
            <a:avLst/>
          </a:prstGeom>
          <a:noFill/>
        </p:spPr>
        <p:txBody>
          <a:bodyPr wrap="square" lIns="0" rIns="0" tIns="0" bIns="0" anchor="ctr">
            <a:spAutoFit/>
          </a:bodyPr>
          <a:lstStyle/>
          <a:p>
            <a:pPr algn="l"/>
            <a:r>
              <a:rPr sz="1300" b="0">
                <a:solidFill>
                  <a:srgbClr val="424242"/>
                </a:solidFill>
                <a:latin typeface="Source Code Pro"/>
              </a:rPr>
              <a:t>Your message</a:t>
            </a:r>
          </a:p>
        </p:txBody>
      </p:sp>
      <p:sp>
        <p:nvSpPr>
          <p:cNvPr id="37" name="TextBox 36"/>
          <p:cNvSpPr txBox="1"/>
          <p:nvPr/>
        </p:nvSpPr>
        <p:spPr>
          <a:xfrm>
            <a:off x="3278124" y="3118104"/>
            <a:ext cx="2173528" cy="512064"/>
          </a:xfrm>
          <a:prstGeom prst="rect">
            <a:avLst/>
          </a:prstGeom>
          <a:noFill/>
        </p:spPr>
        <p:txBody>
          <a:bodyPr wrap="square" lIns="0" rIns="0" tIns="0" bIns="0" anchor="ctr">
            <a:spAutoFit/>
          </a:bodyPr>
          <a:lstStyle/>
          <a:p>
            <a:pPr algn="r"/>
            <a:r>
              <a:rPr sz="1200" b="0">
                <a:solidFill>
                  <a:srgbClr val="6B6B6B"/>
                </a:solidFill>
                <a:latin typeface="Source Code Pro"/>
              </a:rPr>
              <a:t>typed just now</a:t>
            </a:r>
          </a:p>
        </p:txBody>
      </p:sp>
      <p:sp>
        <p:nvSpPr>
          <p:cNvPr id="38" name="Down Arrow 37"/>
          <p:cNvSpPr/>
          <p:nvPr/>
        </p:nvSpPr>
        <p:spPr>
          <a:xfrm>
            <a:off x="2834640" y="3730752"/>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10896" y="4023360"/>
            <a:ext cx="5394960" cy="548640"/>
          </a:xfrm>
          <a:prstGeom prst="roundRect">
            <a:avLst>
              <a:gd name="adj" fmla="val 8333"/>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2336" y="4023360"/>
            <a:ext cx="5212080" cy="548640"/>
          </a:xfrm>
          <a:prstGeom prst="rect">
            <a:avLst/>
          </a:prstGeom>
          <a:noFill/>
        </p:spPr>
        <p:txBody>
          <a:bodyPr wrap="square" lIns="0" rIns="0" tIns="0" bIns="0" anchor="ctr">
            <a:spAutoFit/>
          </a:bodyPr>
          <a:lstStyle/>
          <a:p>
            <a:pPr algn="ctr"/>
            <a:r>
              <a:rPr sz="1300" b="1">
                <a:solidFill>
                  <a:srgbClr val="424242"/>
                </a:solidFill>
                <a:latin typeface="Source Code Pro"/>
              </a:rPr>
              <a:t>One prompt, top to bottom</a:t>
            </a:r>
          </a:p>
        </p:txBody>
      </p:sp>
      <p:sp>
        <p:nvSpPr>
          <p:cNvPr id="41" name="TextBox 40"/>
          <p:cNvSpPr txBox="1"/>
          <p:nvPr/>
        </p:nvSpPr>
        <p:spPr>
          <a:xfrm>
            <a:off x="5943600" y="2057400"/>
            <a:ext cx="2889504" cy="16459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model never reads a settings page. Your instructions are pasted in above your message, and the whole block is read as one prompt. They work exactly the way anything you type works - which is why wording them is a prompting job, not a form to fill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Wording the Model Can Act 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078224" cy="2103120"/>
          </a:xfrm>
          <a:prstGeom prst="roundRect">
            <a:avLst>
              <a:gd name="adj" fmla="val 2608"/>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36192"/>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Does nothing</a:t>
            </a:r>
          </a:p>
        </p:txBody>
      </p:sp>
      <p:sp>
        <p:nvSpPr>
          <p:cNvPr id="28" name="TextBox 27"/>
          <p:cNvSpPr txBox="1"/>
          <p:nvPr/>
        </p:nvSpPr>
        <p:spPr>
          <a:xfrm>
            <a:off x="493776"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Be smart</a:t>
            </a:r>
          </a:p>
        </p:txBody>
      </p:sp>
      <p:sp>
        <p:nvSpPr>
          <p:cNvPr id="29" name="TextBox 28"/>
          <p:cNvSpPr txBox="1"/>
          <p:nvPr/>
        </p:nvSpPr>
        <p:spPr>
          <a:xfrm>
            <a:off x="493776"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Be professional</a:t>
            </a:r>
          </a:p>
        </p:txBody>
      </p:sp>
      <p:sp>
        <p:nvSpPr>
          <p:cNvPr id="30" name="TextBox 29"/>
          <p:cNvSpPr txBox="1"/>
          <p:nvPr/>
        </p:nvSpPr>
        <p:spPr>
          <a:xfrm>
            <a:off x="493776"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Give me good answers</a:t>
            </a:r>
          </a:p>
        </p:txBody>
      </p:sp>
      <p:sp>
        <p:nvSpPr>
          <p:cNvPr id="31" name="TextBox 30"/>
          <p:cNvSpPr txBox="1"/>
          <p:nvPr/>
        </p:nvSpPr>
        <p:spPr>
          <a:xfrm>
            <a:off x="493776" y="2871215"/>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Be concise but thorough</a:t>
            </a:r>
          </a:p>
        </p:txBody>
      </p:sp>
      <p:sp>
        <p:nvSpPr>
          <p:cNvPr id="32" name="Rounded Rectangle 31"/>
          <p:cNvSpPr/>
          <p:nvPr/>
        </p:nvSpPr>
        <p:spPr>
          <a:xfrm>
            <a:off x="4754880" y="1389888"/>
            <a:ext cx="4078224" cy="2103120"/>
          </a:xfrm>
          <a:prstGeom prst="roundRect">
            <a:avLst>
              <a:gd name="adj" fmla="val 2608"/>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37760" y="1536192"/>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Changes the answer</a:t>
            </a:r>
          </a:p>
        </p:txBody>
      </p:sp>
      <p:sp>
        <p:nvSpPr>
          <p:cNvPr id="34" name="TextBox 33"/>
          <p:cNvSpPr txBox="1"/>
          <p:nvPr/>
        </p:nvSpPr>
        <p:spPr>
          <a:xfrm>
            <a:off x="4937760"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Answer in British English</a:t>
            </a:r>
          </a:p>
        </p:txBody>
      </p:sp>
      <p:sp>
        <p:nvSpPr>
          <p:cNvPr id="35" name="TextBox 34"/>
          <p:cNvSpPr txBox="1"/>
          <p:nvPr/>
        </p:nvSpPr>
        <p:spPr>
          <a:xfrm>
            <a:off x="4937760"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No preamble - open with the answer</a:t>
            </a:r>
          </a:p>
        </p:txBody>
      </p:sp>
      <p:sp>
        <p:nvSpPr>
          <p:cNvPr id="36" name="TextBox 35"/>
          <p:cNvSpPr txBox="1"/>
          <p:nvPr/>
        </p:nvSpPr>
        <p:spPr>
          <a:xfrm>
            <a:off x="4937760"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Flag anything you are unsure of</a:t>
            </a:r>
          </a:p>
        </p:txBody>
      </p:sp>
      <p:sp>
        <p:nvSpPr>
          <p:cNvPr id="37" name="TextBox 36"/>
          <p:cNvSpPr txBox="1"/>
          <p:nvPr/>
        </p:nvSpPr>
        <p:spPr>
          <a:xfrm>
            <a:off x="4937760" y="2871215"/>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Ask before you assume a figure</a:t>
            </a:r>
          </a:p>
        </p:txBody>
      </p:sp>
      <p:sp>
        <p:nvSpPr>
          <p:cNvPr id="38" name="TextBox 37"/>
          <p:cNvSpPr txBox="1"/>
          <p:nvPr/>
        </p:nvSpPr>
        <p:spPr>
          <a:xfrm>
            <a:off x="310896" y="3694176"/>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An instruction is only worth writing if you could tell whether it had been followed. "Professional" describes a feeling; "no preamble" describes an output you can check. Write down the correction you keep having to make.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A Strong Default, Not a Guarantee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389888"/>
          <a:ext cx="8522206" cy="1737360"/>
        </p:xfrm>
        <a:graphic>
          <a:graphicData uri="http://schemas.openxmlformats.org/drawingml/2006/table">
            <a:tbl>
              <a:tblPr>
                <a:tableStyleId>{2D5ABB26-0587-4C30-8999-92F81FD0307C}</a:tableStyleId>
              </a:tblPr>
              <a:tblGrid>
                <a:gridCol w="1832732"/>
                <a:gridCol w="3253100"/>
                <a:gridCol w="3436374"/>
              </a:tblGrid>
              <a:tr h="434340">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Without them</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 them</a:t>
                      </a:r>
                    </a:p>
                  </a:txBody>
                  <a:tcPr marL="91440" marR="91440" marT="36576" marB="36576" anchor="ctr">
                    <a:lnT w="9525" cap="flat">
                      <a:solidFill>
                        <a:srgbClr val="D8D8DE"/>
                      </a:solidFill>
                    </a:lnT>
                    <a:lnB w="15875" cap="flat">
                      <a:solidFill>
                        <a:srgbClr val="424242"/>
                      </a:solidFill>
                    </a:lnB>
                    <a:solidFill>
                      <a:srgbClr val="FFFFFF"/>
                    </a:solidFill>
                  </a:tcPr>
                </a:tc>
              </a:tr>
              <a:tr h="434340">
                <a:tc>
                  <a:txBody>
                    <a:bodyPr wrap="square"/>
                    <a:lstStyle/>
                    <a:p>
                      <a:r>
                        <a:rPr sz="1200" b="0">
                          <a:solidFill>
                            <a:srgbClr val="424242"/>
                          </a:solidFill>
                          <a:latin typeface="Source Code Pro"/>
                        </a:rPr>
                        <a:t>Every new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Re-type your context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is already there</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Consistency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Whatever you re-typed that day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same baseline every time</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Answers drift chat to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Applied where they do not fit</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346704"/>
            <a:ext cx="8522208" cy="8229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Standing instructions steer the model, they do not bind it. A later line in the same chat outranks them, a long conversation drifts back towards the model's own habits, and rules written for your day job still arrive when you ask about something else. When one of them matters for this answer, say it again in the message.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Earns a Place in It</a:t>
            </a:r>
          </a:p>
        </p:txBody>
      </p:sp>
      <p:sp>
        <p:nvSpPr>
          <p:cNvPr id="3" name="Text Placeholder 2"/>
          <p:cNvSpPr>
            <a:spLocks noGrp="1"/>
          </p:cNvSpPr>
          <p:nvPr>
            <p:ph type="body" idx="1"/>
          </p:nvPr>
        </p:nvSpPr>
        <p:spPr>
          <a:xfrm>
            <a:off x="311700" y="1874519"/>
            <a:ext cx="3999900" cy="2679191"/>
          </a:xfrm>
        </p:spPr>
        <p:txBody>
          <a:bodyPr/>
          <a:lstStyle/>
          <a:p>
            <a:r>
              <a:t>Who you are and what you work on</a:t>
            </a:r>
          </a:p>
          <a:p>
            <a:r>
              <a:t>The output shape you always want</a:t>
            </a:r>
          </a:p>
          <a:p>
            <a:r>
              <a:t>The correction you keep making</a:t>
            </a:r>
          </a:p>
          <a:p>
            <a:r>
              <a:t>The audience you usually write for</a:t>
            </a:r>
          </a:p>
        </p:txBody>
      </p:sp>
      <p:sp>
        <p:nvSpPr>
          <p:cNvPr id="4" name="Text Placeholder 3"/>
          <p:cNvSpPr>
            <a:spLocks noGrp="1"/>
          </p:cNvSpPr>
          <p:nvPr>
            <p:ph type="body" idx="2"/>
          </p:nvPr>
        </p:nvSpPr>
        <p:spPr>
          <a:xfrm>
            <a:off x="4832400" y="1874519"/>
            <a:ext cx="3999900" cy="2679191"/>
          </a:xfrm>
        </p:spPr>
        <p:txBody>
          <a:bodyPr/>
          <a:lstStyle/>
          <a:p>
            <a:r>
              <a:t>Anything true only this week</a:t>
            </a:r>
          </a:p>
          <a:p>
            <a:r>
              <a:t>Detail that belongs to one task</a:t>
            </a:r>
          </a:p>
          <a:p>
            <a:r>
              <a:t>A long brief you will never re-read</a:t>
            </a:r>
          </a:p>
          <a:p>
            <a:r>
              <a:t>Anything you would not want on every chat</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Write it once</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Say it in the message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do it live in the tool.</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Write two lines</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who you are, how you want answers</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a fresh chat</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ask something ordinary</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Watch the shape change</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same question, different answer</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Contradict it in the message</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watch the later line win</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