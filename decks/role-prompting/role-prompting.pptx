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5"/>
    <p:sldMasterId id="2147483671" r:id="rId6"/>
  </p:sldMasterIdLst>
  <p:notesMasterIdLst>
    <p:notesMasterId r:id="rId7"/>
  </p:notesMasterIdLst>
  <p:sldIdLst>
    <p:sldId id="256" r:id="rId14"/>
    <p:sldId id="257" r:id="rId15"/>
    <p:sldId id="258" r:id="rId16"/>
    <p:sldId id="259" r:id="rId17"/>
    <p:sldId id="260" r:id="rId18"/>
  </p:sldIdLst>
  <p:sldSz cy="5143500" cx="9144000"/>
  <p:notesSz cx="6858000" cy="9144000"/>
  <p:embeddedFontLst>
    <p:embeddedFont>
      <p:font typeface="Source Code Pro"/>
      <p:regular r:id="rId24"/>
      <p:bold r:id="rId25"/>
      <p:italic r:id="rId26"/>
      <p:boldItalic r:id="rId27"/>
    </p:embeddedFont>
    <p:embeddedFont>
      <p:font typeface="Oswa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73574E-313A-4E41-A38C-36F247BE0EA5}">
  <a:tblStyle styleId="{3673574E-313A-4E41-A38C-36F247BE0EA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09F496F-DB3D-4476-992D-8F9A65F795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24" Type="http://schemas.openxmlformats.org/officeDocument/2006/relationships/font" Target="fonts/SourceCodePro-regular.fntdata"/><Relationship Id="rId25" Type="http://schemas.openxmlformats.org/officeDocument/2006/relationships/font" Target="fonts/SourceCodePro-bold.fntdata"/><Relationship Id="rId26" Type="http://schemas.openxmlformats.org/officeDocument/2006/relationships/font" Target="fonts/SourceCodePro-italic.fntdata"/><Relationship Id="rId27" Type="http://schemas.openxmlformats.org/officeDocument/2006/relationships/font" Target="fonts/SourceCodePro-boldItalic.fntdata"/><Relationship Id="rId28" Type="http://schemas.openxmlformats.org/officeDocument/2006/relationships/font" Target="fonts/Oswald-regular.fntdata"/><Relationship Id="rId29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2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11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0" name="Google Shape;4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11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7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17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Google Shape;103;p19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21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15" name="Google Shape;115;p21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1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Google Shape;125;p23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26" name="Google Shape;126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b="0" i="0" sz="18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Role Prompting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How telling the model who it is changes the tone, focus and framing of its answer.</a:t>
            </a:r>
          </a:p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Role Sets the Perspective of the Answer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" name="Role 1"/>
          <p:cNvGrpSpPr/>
          <p:nvPr/>
        </p:nvGrpSpPr>
        <p:grpSpPr>
          <a:xfrm>
            <a:off x="310896" y="1371600"/>
            <a:ext cx="2706624" cy="365760"/>
            <a:chOff x="310896" y="1371600"/>
            <a:chExt cx="2706624" cy="365760"/>
          </a:xfrm>
        </p:grpSpPr>
        <p:sp>
          <p:nvSpPr>
            <p:cNvPr id="26" name="Oval 25"/>
            <p:cNvSpPr/>
            <p:nvPr/>
          </p:nvSpPr>
          <p:spPr>
            <a:xfrm>
              <a:off x="310896" y="1371600"/>
              <a:ext cx="365760" cy="365760"/>
            </a:xfrm>
            <a:prstGeom prst="ellipse">
              <a:avLst/>
            </a:prstGeom>
            <a:solidFill>
              <a:srgbClr val="E91D63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7" name="Picture 26" descr="i-pen-tool-whit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5020" y="1455724"/>
              <a:ext cx="197510" cy="197510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786384" y="1371600"/>
              <a:ext cx="2231136" cy="3657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Copywriter</a:t>
              </a:r>
            </a:p>
          </p:txBody>
        </p:sp>
      </p:grpSp>
      <p:sp>
        <p:nvSpPr>
          <p:cNvPr id="29" name="Rounded Rectangle 28"/>
          <p:cNvSpPr/>
          <p:nvPr/>
        </p:nvSpPr>
        <p:spPr>
          <a:xfrm>
            <a:off x="310896" y="1847088"/>
            <a:ext cx="2706624" cy="2359152"/>
          </a:xfrm>
          <a:prstGeom prst="roundRect">
            <a:avLst>
              <a:gd name="adj" fmla="val 2027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310896" y="1847088"/>
            <a:ext cx="2706624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10896" y="2040209"/>
            <a:ext cx="2706624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57200" y="1929384"/>
            <a:ext cx="18946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AI Assistant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73935" y="1947672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Example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2276856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User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2478024"/>
            <a:ext cx="2414016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Act as a copywriter.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2688336"/>
            <a:ext cx="2414016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Review: Friday login launch.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0624" y="2953512"/>
            <a:ext cx="2487168" cy="1069848"/>
          </a:xfrm>
          <a:prstGeom prst="roundRect">
            <a:avLst>
              <a:gd name="adj" fmla="val 4273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66928" y="3072384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AI Assistant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21207" y="3264408"/>
            <a:ext cx="1725930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66928" y="3273552"/>
            <a:ext cx="219456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Lead with the benefit: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21207" y="3474720"/>
            <a:ext cx="1874520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66928" y="3483864"/>
            <a:ext cx="219456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"Sign in with one click,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7" y="3685032"/>
            <a:ext cx="1057275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566928" y="3694176"/>
            <a:ext cx="219456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from Friday."</a:t>
            </a:r>
          </a:p>
        </p:txBody>
      </p:sp>
      <p:grpSp>
        <p:nvGrpSpPr>
          <p:cNvPr id="5" name="Role 2"/>
          <p:cNvGrpSpPr/>
          <p:nvPr/>
        </p:nvGrpSpPr>
        <p:grpSpPr>
          <a:xfrm>
            <a:off x="3218688" y="1371600"/>
            <a:ext cx="2706624" cy="365760"/>
            <a:chOff x="3218688" y="1371600"/>
            <a:chExt cx="2706624" cy="365760"/>
          </a:xfrm>
        </p:grpSpPr>
        <p:sp>
          <p:nvSpPr>
            <p:cNvPr id="45" name="Oval 44"/>
            <p:cNvSpPr/>
            <p:nvPr/>
          </p:nvSpPr>
          <p:spPr>
            <a:xfrm>
              <a:off x="3218688" y="1371600"/>
              <a:ext cx="365760" cy="365760"/>
            </a:xfrm>
            <a:prstGeom prst="ellipse">
              <a:avLst/>
            </a:prstGeom>
            <a:solidFill>
              <a:srgbClr val="E91D63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6" name="Picture 45" descr="i-code-whit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02812" y="1455724"/>
              <a:ext cx="197510" cy="197510"/>
            </a:xfrm>
            <a:prstGeom prst="rect">
              <a:avLst/>
            </a:prstGeom>
          </p:spPr>
        </p:pic>
        <p:sp>
          <p:nvSpPr>
            <p:cNvPr id="47" name="TextBox 46"/>
            <p:cNvSpPr txBox="1"/>
            <p:nvPr/>
          </p:nvSpPr>
          <p:spPr>
            <a:xfrm>
              <a:off x="3694176" y="1371600"/>
              <a:ext cx="2231136" cy="3657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Senior Engineer</a:t>
              </a:r>
            </a:p>
          </p:txBody>
        </p:sp>
      </p:grpSp>
      <p:sp>
        <p:nvSpPr>
          <p:cNvPr id="48" name="Rounded Rectangle 47"/>
          <p:cNvSpPr/>
          <p:nvPr/>
        </p:nvSpPr>
        <p:spPr>
          <a:xfrm>
            <a:off x="3218688" y="1847088"/>
            <a:ext cx="2706624" cy="2359152"/>
          </a:xfrm>
          <a:prstGeom prst="roundRect">
            <a:avLst>
              <a:gd name="adj" fmla="val 2027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ounded Rectangle 48"/>
          <p:cNvSpPr/>
          <p:nvPr/>
        </p:nvSpPr>
        <p:spPr>
          <a:xfrm>
            <a:off x="3218688" y="1847088"/>
            <a:ext cx="2706624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3218688" y="2040209"/>
            <a:ext cx="2706624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3364992" y="1929384"/>
            <a:ext cx="18946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AI Assistant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81728" y="1947672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Example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64992" y="2276856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User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64992" y="2478024"/>
            <a:ext cx="2414016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Act as a senior engineer.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64992" y="2688336"/>
            <a:ext cx="2414016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Review: Friday login launch.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328416" y="2953512"/>
            <a:ext cx="2487168" cy="1069848"/>
          </a:xfrm>
          <a:prstGeom prst="roundRect">
            <a:avLst>
              <a:gd name="adj" fmla="val 4273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3474720" y="3072384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AI Assistant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429000" y="3264408"/>
            <a:ext cx="1800225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3474720" y="3273552"/>
            <a:ext cx="219456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Avoid a Friday release.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429000" y="3474720"/>
            <a:ext cx="1651635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3474720" y="3483864"/>
            <a:ext cx="219456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Ship Tuesday behind a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429000" y="3685032"/>
            <a:ext cx="1057275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3474720" y="3694176"/>
            <a:ext cx="219456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feature flag.</a:t>
            </a:r>
          </a:p>
        </p:txBody>
      </p:sp>
      <p:grpSp>
        <p:nvGrpSpPr>
          <p:cNvPr id="6" name="Role 3"/>
          <p:cNvGrpSpPr/>
          <p:nvPr/>
        </p:nvGrpSpPr>
        <p:grpSpPr>
          <a:xfrm>
            <a:off x="6126480" y="1371600"/>
            <a:ext cx="2706624" cy="365760"/>
            <a:chOff x="6126480" y="1371600"/>
            <a:chExt cx="2706624" cy="365760"/>
          </a:xfrm>
        </p:grpSpPr>
        <p:sp>
          <p:nvSpPr>
            <p:cNvPr id="64" name="Oval 63"/>
            <p:cNvSpPr/>
            <p:nvPr/>
          </p:nvSpPr>
          <p:spPr>
            <a:xfrm>
              <a:off x="6126480" y="1371600"/>
              <a:ext cx="365760" cy="365760"/>
            </a:xfrm>
            <a:prstGeom prst="ellipse">
              <a:avLst/>
            </a:prstGeom>
            <a:solidFill>
              <a:srgbClr val="E91D63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65" name="Picture 64" descr="i-clipboard-list-whit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10604" y="1455724"/>
              <a:ext cx="197510" cy="197510"/>
            </a:xfrm>
            <a:prstGeom prst="rect">
              <a:avLst/>
            </a:prstGeom>
          </p:spPr>
        </p:pic>
        <p:sp>
          <p:nvSpPr>
            <p:cNvPr id="66" name="TextBox 65"/>
            <p:cNvSpPr txBox="1"/>
            <p:nvPr/>
          </p:nvSpPr>
          <p:spPr>
            <a:xfrm>
              <a:off x="6601968" y="1371600"/>
              <a:ext cx="2231136" cy="3657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Product Manager</a:t>
              </a:r>
            </a:p>
          </p:txBody>
        </p:sp>
      </p:grpSp>
      <p:sp>
        <p:nvSpPr>
          <p:cNvPr id="67" name="Rounded Rectangle 66"/>
          <p:cNvSpPr/>
          <p:nvPr/>
        </p:nvSpPr>
        <p:spPr>
          <a:xfrm>
            <a:off x="6126480" y="1847088"/>
            <a:ext cx="2706624" cy="2359152"/>
          </a:xfrm>
          <a:prstGeom prst="roundRect">
            <a:avLst>
              <a:gd name="adj" fmla="val 2027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ounded Rectangle 67"/>
          <p:cNvSpPr/>
          <p:nvPr/>
        </p:nvSpPr>
        <p:spPr>
          <a:xfrm>
            <a:off x="6126480" y="1847088"/>
            <a:ext cx="2706624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6126480" y="2040209"/>
            <a:ext cx="2706624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6272784" y="1929384"/>
            <a:ext cx="18946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AI Assistant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589520" y="1947672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Example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72784" y="2276856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User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72784" y="2478024"/>
            <a:ext cx="2414016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Act as a product manager.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72784" y="2688336"/>
            <a:ext cx="2414016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Review: Friday login launch.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236208" y="2953512"/>
            <a:ext cx="2487168" cy="1069848"/>
          </a:xfrm>
          <a:prstGeom prst="roundRect">
            <a:avLst>
              <a:gd name="adj" fmla="val 4273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6382512" y="3072384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AI Assistant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336792" y="3264408"/>
            <a:ext cx="1651635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6382512" y="3273552"/>
            <a:ext cx="219456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Define success first: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336792" y="3474720"/>
            <a:ext cx="1725930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6382512" y="3483864"/>
            <a:ext cx="219456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fewer failed logins in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336792" y="3685032"/>
            <a:ext cx="1205865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6382512" y="3694176"/>
            <a:ext cx="219456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the first week.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10896" y="4334256"/>
            <a:ext cx="8522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Same plan. Only the role changed, and with it the priorities.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- A Role Shifts Emphasis, Not Knowledge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0896" y="1389888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91D63"/>
                </a:solidFill>
                <a:latin typeface="Source Code Pro"/>
              </a:rPr>
              <a:t>What a Role Changes</a:t>
            </a:r>
          </a:p>
        </p:txBody>
      </p:sp>
      <p:grpSp>
        <p:nvGrpSpPr>
          <p:cNvPr id="4" name="Vocabulary and tone"/>
          <p:cNvGrpSpPr/>
          <p:nvPr/>
        </p:nvGrpSpPr>
        <p:grpSpPr>
          <a:xfrm>
            <a:off x="310896" y="1810512"/>
            <a:ext cx="3474719" cy="402336"/>
            <a:chOff x="310896" y="1810512"/>
            <a:chExt cx="3474719" cy="402336"/>
          </a:xfrm>
        </p:grpSpPr>
        <p:sp>
          <p:nvSpPr>
            <p:cNvPr id="27" name="Oval 26"/>
            <p:cNvSpPr/>
            <p:nvPr/>
          </p:nvSpPr>
          <p:spPr>
            <a:xfrm>
              <a:off x="310896" y="1810512"/>
              <a:ext cx="402336" cy="402336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8" name="Picture 27" descr="i-mic-pink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3433" y="1903049"/>
              <a:ext cx="217261" cy="217261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841247" y="1810512"/>
              <a:ext cx="2944368" cy="40233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Vocabulary and Tone</a:t>
              </a:r>
            </a:p>
          </p:txBody>
        </p:sp>
      </p:grpSp>
      <p:grpSp>
        <p:nvGrpSpPr>
          <p:cNvPr id="5" name="Which details come first"/>
          <p:cNvGrpSpPr/>
          <p:nvPr/>
        </p:nvGrpSpPr>
        <p:grpSpPr>
          <a:xfrm>
            <a:off x="310896" y="2359152"/>
            <a:ext cx="3474719" cy="402336"/>
            <a:chOff x="310896" y="2359152"/>
            <a:chExt cx="3474719" cy="402336"/>
          </a:xfrm>
        </p:grpSpPr>
        <p:sp>
          <p:nvSpPr>
            <p:cNvPr id="30" name="Oval 29"/>
            <p:cNvSpPr/>
            <p:nvPr/>
          </p:nvSpPr>
          <p:spPr>
            <a:xfrm>
              <a:off x="310896" y="2359152"/>
              <a:ext cx="402336" cy="402336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1" name="Picture 30" descr="i-list-ordered-pink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3433" y="2451689"/>
              <a:ext cx="217261" cy="217261"/>
            </a:xfrm>
            <a:prstGeom prst="rect">
              <a:avLst/>
            </a:prstGeom>
          </p:spPr>
        </p:pic>
        <p:sp>
          <p:nvSpPr>
            <p:cNvPr id="32" name="TextBox 31"/>
            <p:cNvSpPr txBox="1"/>
            <p:nvPr/>
          </p:nvSpPr>
          <p:spPr>
            <a:xfrm>
              <a:off x="841247" y="2359152"/>
              <a:ext cx="2944368" cy="40233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Which Details Come First</a:t>
              </a:r>
            </a:p>
          </p:txBody>
        </p:sp>
      </p:grpSp>
      <p:grpSp>
        <p:nvGrpSpPr>
          <p:cNvPr id="6" name="What a good answer looks like"/>
          <p:cNvGrpSpPr/>
          <p:nvPr/>
        </p:nvGrpSpPr>
        <p:grpSpPr>
          <a:xfrm>
            <a:off x="310896" y="2907791"/>
            <a:ext cx="3474719" cy="402336"/>
            <a:chOff x="310896" y="2907791"/>
            <a:chExt cx="3474719" cy="402336"/>
          </a:xfrm>
        </p:grpSpPr>
        <p:sp>
          <p:nvSpPr>
            <p:cNvPr id="33" name="Oval 32"/>
            <p:cNvSpPr/>
            <p:nvPr/>
          </p:nvSpPr>
          <p:spPr>
            <a:xfrm>
              <a:off x="310896" y="2907791"/>
              <a:ext cx="402336" cy="402336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4" name="Picture 33" descr="i-target-pink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3433" y="3000329"/>
              <a:ext cx="217261" cy="217261"/>
            </a:xfrm>
            <a:prstGeom prst="rect">
              <a:avLst/>
            </a:prstGeom>
          </p:spPr>
        </p:pic>
        <p:sp>
          <p:nvSpPr>
            <p:cNvPr id="35" name="TextBox 34"/>
            <p:cNvSpPr txBox="1"/>
            <p:nvPr/>
          </p:nvSpPr>
          <p:spPr>
            <a:xfrm>
              <a:off x="841247" y="2907791"/>
              <a:ext cx="2944368" cy="40233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What a Good Answer Looks Like</a:t>
              </a:r>
            </a:p>
          </p:txBody>
        </p:sp>
      </p:grpSp>
      <p:grpSp>
        <p:nvGrpSpPr>
          <p:cNvPr id="7" name="The questions it asks back"/>
          <p:cNvGrpSpPr/>
          <p:nvPr/>
        </p:nvGrpSpPr>
        <p:grpSpPr>
          <a:xfrm>
            <a:off x="310896" y="3456432"/>
            <a:ext cx="3474719" cy="402336"/>
            <a:chOff x="310896" y="3456432"/>
            <a:chExt cx="3474719" cy="402336"/>
          </a:xfrm>
        </p:grpSpPr>
        <p:sp>
          <p:nvSpPr>
            <p:cNvPr id="36" name="Oval 35"/>
            <p:cNvSpPr/>
            <p:nvPr/>
          </p:nvSpPr>
          <p:spPr>
            <a:xfrm>
              <a:off x="310896" y="3456432"/>
              <a:ext cx="402336" cy="402336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7" name="Picture 36" descr="i-help-circle-pink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3433" y="3548969"/>
              <a:ext cx="217261" cy="217261"/>
            </a:xfrm>
            <a:prstGeom prst="rect">
              <a:avLst/>
            </a:prstGeom>
          </p:spPr>
        </p:pic>
        <p:sp>
          <p:nvSpPr>
            <p:cNvPr id="38" name="TextBox 37"/>
            <p:cNvSpPr txBox="1"/>
            <p:nvPr/>
          </p:nvSpPr>
          <p:spPr>
            <a:xfrm>
              <a:off x="841247" y="3456432"/>
              <a:ext cx="2944368" cy="40233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The Questions It Asks Back</a:t>
              </a: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3913632" y="1389888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24242"/>
                </a:solidFill>
                <a:latin typeface="Source Code Pro"/>
              </a:rPr>
              <a:t>What It Doesn't Change</a:t>
            </a:r>
          </a:p>
        </p:txBody>
      </p:sp>
      <p:grpSp>
        <p:nvGrpSpPr>
          <p:cNvPr id="8" name="What the model knows"/>
          <p:cNvGrpSpPr/>
          <p:nvPr/>
        </p:nvGrpSpPr>
        <p:grpSpPr>
          <a:xfrm>
            <a:off x="3913632" y="1810512"/>
            <a:ext cx="3017520" cy="402336"/>
            <a:chOff x="3913632" y="1810512"/>
            <a:chExt cx="3017520" cy="402336"/>
          </a:xfrm>
        </p:grpSpPr>
        <p:sp>
          <p:nvSpPr>
            <p:cNvPr id="40" name="Oval 39"/>
            <p:cNvSpPr/>
            <p:nvPr/>
          </p:nvSpPr>
          <p:spPr>
            <a:xfrm>
              <a:off x="3913632" y="1810512"/>
              <a:ext cx="402336" cy="402336"/>
            </a:xfrm>
            <a:prstGeom prst="ellipse">
              <a:avLst/>
            </a:prstGeom>
            <a:solidFill>
              <a:srgbClr val="ECECF0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1" name="Picture 40" descr="i-brain-ink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006169" y="1903049"/>
              <a:ext cx="217261" cy="217261"/>
            </a:xfrm>
            <a:prstGeom prst="rect">
              <a:avLst/>
            </a:prstGeom>
          </p:spPr>
        </p:pic>
        <p:sp>
          <p:nvSpPr>
            <p:cNvPr id="42" name="TextBox 41"/>
            <p:cNvSpPr txBox="1"/>
            <p:nvPr/>
          </p:nvSpPr>
          <p:spPr>
            <a:xfrm>
              <a:off x="4443984" y="1810512"/>
              <a:ext cx="2487168" cy="40233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What the Model Knows</a:t>
              </a:r>
            </a:p>
          </p:txBody>
        </p:sp>
      </p:grpSp>
      <p:grpSp>
        <p:nvGrpSpPr>
          <p:cNvPr id="9" name="Whether facts are right"/>
          <p:cNvGrpSpPr/>
          <p:nvPr/>
        </p:nvGrpSpPr>
        <p:grpSpPr>
          <a:xfrm>
            <a:off x="3913632" y="2359152"/>
            <a:ext cx="3017520" cy="402336"/>
            <a:chOff x="3913632" y="2359152"/>
            <a:chExt cx="3017520" cy="402336"/>
          </a:xfrm>
        </p:grpSpPr>
        <p:sp>
          <p:nvSpPr>
            <p:cNvPr id="43" name="Oval 42"/>
            <p:cNvSpPr/>
            <p:nvPr/>
          </p:nvSpPr>
          <p:spPr>
            <a:xfrm>
              <a:off x="3913632" y="2359152"/>
              <a:ext cx="402336" cy="402336"/>
            </a:xfrm>
            <a:prstGeom prst="ellipse">
              <a:avLst/>
            </a:prstGeom>
            <a:solidFill>
              <a:srgbClr val="ECECF0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4" name="Picture 43" descr="i-shield-check-ink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006169" y="2451689"/>
              <a:ext cx="217261" cy="217261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4443984" y="2359152"/>
              <a:ext cx="2487168" cy="40233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Whether Facts Are Right</a:t>
              </a:r>
            </a:p>
          </p:txBody>
        </p:sp>
      </p:grpSp>
      <p:grpSp>
        <p:nvGrpSpPr>
          <p:cNvPr id="10" name="Your need to check it"/>
          <p:cNvGrpSpPr/>
          <p:nvPr/>
        </p:nvGrpSpPr>
        <p:grpSpPr>
          <a:xfrm>
            <a:off x="3913632" y="2907791"/>
            <a:ext cx="3017520" cy="402336"/>
            <a:chOff x="3913632" y="2907791"/>
            <a:chExt cx="3017520" cy="402336"/>
          </a:xfrm>
        </p:grpSpPr>
        <p:sp>
          <p:nvSpPr>
            <p:cNvPr id="46" name="Oval 45"/>
            <p:cNvSpPr/>
            <p:nvPr/>
          </p:nvSpPr>
          <p:spPr>
            <a:xfrm>
              <a:off x="3913632" y="2907791"/>
              <a:ext cx="402336" cy="402336"/>
            </a:xfrm>
            <a:prstGeom prst="ellipse">
              <a:avLst/>
            </a:prstGeom>
            <a:solidFill>
              <a:srgbClr val="ECECF0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7" name="Picture 46" descr="i-circle-check-ink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006169" y="3000329"/>
              <a:ext cx="217261" cy="217261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4443984" y="2907791"/>
              <a:ext cx="2487168" cy="40233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Your Need to Check It</a:t>
              </a:r>
            </a:p>
          </p:txBody>
        </p:sp>
      </p:grpSp>
      <p:grpSp>
        <p:nvGrpSpPr>
          <p:cNvPr id="11" name="Study"/>
          <p:cNvGrpSpPr/>
          <p:nvPr/>
        </p:nvGrpSpPr>
        <p:grpSpPr>
          <a:xfrm>
            <a:off x="7077456" y="1389888"/>
            <a:ext cx="1755648" cy="2688336"/>
            <a:chOff x="7077456" y="1389888"/>
            <a:chExt cx="1755648" cy="2688336"/>
          </a:xfrm>
        </p:grpSpPr>
        <p:sp>
          <p:nvSpPr>
            <p:cNvPr id="49" name="Rounded Rectangle 48"/>
            <p:cNvSpPr/>
            <p:nvPr/>
          </p:nvSpPr>
          <p:spPr>
            <a:xfrm>
              <a:off x="7077456" y="1389888"/>
              <a:ext cx="1755648" cy="2688336"/>
            </a:xfrm>
            <a:prstGeom prst="roundRect">
              <a:avLst>
                <a:gd name="adj" fmla="val 4166"/>
              </a:avLst>
            </a:prstGeom>
            <a:solidFill>
              <a:srgbClr val="FBE4EC"/>
            </a:solidFill>
            <a:ln w="9525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0" name="TextBox 49"/>
            <p:cNvSpPr txBox="1"/>
            <p:nvPr/>
          </p:nvSpPr>
          <p:spPr>
            <a:xfrm>
              <a:off x="7077456" y="1481328"/>
              <a:ext cx="1755648" cy="4572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2600" b="1">
                  <a:solidFill>
                    <a:srgbClr val="E91D63"/>
                  </a:solidFill>
                  <a:latin typeface="Oswald"/>
                </a:rPr>
                <a:t>162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077456" y="1938528"/>
              <a:ext cx="1755648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424242"/>
                  </a:solidFill>
                  <a:latin typeface="Source Code Pro"/>
                </a:rPr>
                <a:t>Roles Tested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077456" y="2267712"/>
              <a:ext cx="1755648" cy="4572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2600" b="1">
                  <a:solidFill>
                    <a:srgbClr val="E91D63"/>
                  </a:solidFill>
                  <a:latin typeface="Oswald"/>
                </a:rPr>
                <a:t>2,410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077456" y="2724912"/>
              <a:ext cx="1755648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424242"/>
                  </a:solidFill>
                  <a:latin typeface="Source Code Pro"/>
                </a:rPr>
                <a:t>Factual Questions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7306056" y="3145536"/>
              <a:ext cx="1298448" cy="7315"/>
            </a:xfrm>
            <a:prstGeom prst="rect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5" name="TextBox 54"/>
            <p:cNvSpPr txBox="1"/>
            <p:nvPr/>
          </p:nvSpPr>
          <p:spPr>
            <a:xfrm>
              <a:off x="7187184" y="3236976"/>
              <a:ext cx="1536192" cy="7315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200" b="1">
                  <a:solidFill>
                    <a:srgbClr val="E91D63"/>
                  </a:solidFill>
                  <a:latin typeface="Source Code Pro"/>
                </a:rPr>
                <a:t>No Average Accuracy Gain</a:t>
              </a:r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310896" y="4224528"/>
            <a:ext cx="8522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Source: persona prompting study, EMNLP 2024.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 - Specific Roles Beat Vague Ones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48640" y="2532888"/>
            <a:ext cx="7772400" cy="54864"/>
          </a:xfrm>
          <a:prstGeom prst="roundRect">
            <a:avLst>
              <a:gd name="adj" fmla="val 50000"/>
            </a:avLst>
          </a:prstGeom>
          <a:solidFill>
            <a:srgbClr val="D8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ight Arrow 26"/>
          <p:cNvSpPr/>
          <p:nvPr/>
        </p:nvSpPr>
        <p:spPr>
          <a:xfrm>
            <a:off x="8266176" y="2487168"/>
            <a:ext cx="237744" cy="146304"/>
          </a:xfrm>
          <a:prstGeom prst="rightArrow">
            <a:avLst/>
          </a:prstGeom>
          <a:solidFill>
            <a:srgbClr val="B8B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4" name="&quot;Act as an expert.&quot;"/>
          <p:cNvGrpSpPr/>
          <p:nvPr/>
        </p:nvGrpSpPr>
        <p:grpSpPr>
          <a:xfrm>
            <a:off x="274320" y="1426464"/>
            <a:ext cx="2560320" cy="1901951"/>
            <a:chOff x="274320" y="1426464"/>
            <a:chExt cx="2560320" cy="1901951"/>
          </a:xfrm>
        </p:grpSpPr>
        <p:sp>
          <p:nvSpPr>
            <p:cNvPr id="28" name="Oval 27"/>
            <p:cNvSpPr/>
            <p:nvPr/>
          </p:nvSpPr>
          <p:spPr>
            <a:xfrm>
              <a:off x="1444752" y="2450591"/>
              <a:ext cx="219456" cy="219456"/>
            </a:xfrm>
            <a:prstGeom prst="ellipse">
              <a:avLst/>
            </a:prstGeom>
            <a:solidFill>
              <a:srgbClr val="E0E0E6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74320" y="1426464"/>
              <a:ext cx="2560320" cy="822960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200" b="0">
                  <a:solidFill>
                    <a:srgbClr val="424242"/>
                  </a:solidFill>
                  <a:latin typeface="Source Code Pro"/>
                </a:rPr>
                <a:t>"Act as an expert."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74320" y="2871215"/>
              <a:ext cx="2560320" cy="4572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200" b="0">
                  <a:solidFill>
                    <a:srgbClr val="6B6B6B"/>
                  </a:solidFill>
                  <a:latin typeface="Source Code Pro"/>
                </a:rPr>
                <a:t>Barely Changes the Answer</a:t>
              </a:r>
            </a:p>
          </p:txBody>
        </p:sp>
      </p:grpSp>
      <p:grpSp>
        <p:nvGrpSpPr>
          <p:cNvPr id="5" name="&quot;Act as a senior engineer.&quot;"/>
          <p:cNvGrpSpPr/>
          <p:nvPr/>
        </p:nvGrpSpPr>
        <p:grpSpPr>
          <a:xfrm>
            <a:off x="3291840" y="1426464"/>
            <a:ext cx="2560320" cy="1901951"/>
            <a:chOff x="3291840" y="1426464"/>
            <a:chExt cx="2560320" cy="1901951"/>
          </a:xfrm>
        </p:grpSpPr>
        <p:sp>
          <p:nvSpPr>
            <p:cNvPr id="31" name="Oval 30"/>
            <p:cNvSpPr/>
            <p:nvPr/>
          </p:nvSpPr>
          <p:spPr>
            <a:xfrm>
              <a:off x="4425696" y="2414015"/>
              <a:ext cx="292608" cy="292608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291840" y="1426464"/>
              <a:ext cx="2560320" cy="822960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200" b="0">
                  <a:solidFill>
                    <a:srgbClr val="424242"/>
                  </a:solidFill>
                  <a:latin typeface="Source Code Pro"/>
                </a:rPr>
                <a:t>"Act as a senior engineer."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291840" y="2871215"/>
              <a:ext cx="2560320" cy="4572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200" b="0">
                  <a:solidFill>
                    <a:srgbClr val="6B6B6B"/>
                  </a:solidFill>
                  <a:latin typeface="Source Code Pro"/>
                </a:rPr>
                <a:t>Right Vocabulary</a:t>
              </a:r>
            </a:p>
          </p:txBody>
        </p:sp>
      </p:grpSp>
      <p:grpSp>
        <p:nvGrpSpPr>
          <p:cNvPr id="6" name="&quot;Act as a senior engineer reviewing a junior's code for security.&quot;"/>
          <p:cNvGrpSpPr/>
          <p:nvPr/>
        </p:nvGrpSpPr>
        <p:grpSpPr>
          <a:xfrm>
            <a:off x="6126479" y="1426464"/>
            <a:ext cx="2560320" cy="1901951"/>
            <a:chOff x="6126479" y="1426464"/>
            <a:chExt cx="2560320" cy="1901951"/>
          </a:xfrm>
        </p:grpSpPr>
        <p:sp>
          <p:nvSpPr>
            <p:cNvPr id="34" name="Oval 33"/>
            <p:cNvSpPr/>
            <p:nvPr/>
          </p:nvSpPr>
          <p:spPr>
            <a:xfrm>
              <a:off x="7223759" y="2377439"/>
              <a:ext cx="365760" cy="365760"/>
            </a:xfrm>
            <a:prstGeom prst="ellipse">
              <a:avLst/>
            </a:prstGeom>
            <a:solidFill>
              <a:srgbClr val="E91D63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126479" y="1426464"/>
              <a:ext cx="2560320" cy="822960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200" b="0">
                  <a:solidFill>
                    <a:srgbClr val="424242"/>
                  </a:solidFill>
                  <a:latin typeface="Source Code Pro"/>
                </a:rPr>
                <a:t>"Act as a senior engineer reviewing a junior's code for security."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126479" y="2871215"/>
              <a:ext cx="2560320" cy="4572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200" b="1">
                  <a:solidFill>
                    <a:srgbClr val="E91D63"/>
                  </a:solidFill>
                  <a:latin typeface="Source Code Pro"/>
                </a:rPr>
                <a:t>Right Vocabulary, Priorities and Checks</a:t>
              </a:r>
            </a:p>
          </p:txBody>
        </p:sp>
      </p:grpSp>
      <p:grpSp>
        <p:nvGrpSpPr>
          <p:cNvPr id="7" name="Failure mode"/>
          <p:cNvGrpSpPr/>
          <p:nvPr/>
        </p:nvGrpSpPr>
        <p:grpSpPr>
          <a:xfrm>
            <a:off x="310896" y="3657600"/>
            <a:ext cx="8522208" cy="566928"/>
            <a:chOff x="310896" y="3657600"/>
            <a:chExt cx="8522208" cy="566928"/>
          </a:xfrm>
        </p:grpSpPr>
        <p:sp>
          <p:nvSpPr>
            <p:cNvPr id="37" name="Rounded Rectangle 36"/>
            <p:cNvSpPr/>
            <p:nvPr/>
          </p:nvSpPr>
          <p:spPr>
            <a:xfrm>
              <a:off x="310896" y="3657600"/>
              <a:ext cx="8522208" cy="566928"/>
            </a:xfrm>
            <a:prstGeom prst="roundRect">
              <a:avLst>
                <a:gd name="adj" fmla="val 16129"/>
              </a:avLst>
            </a:prstGeom>
            <a:solidFill>
              <a:srgbClr val="FBE4EC"/>
            </a:solidFill>
            <a:ln w="9525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38" name="Picture 37" descr="i-triangle-alert-pink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2064" y="3794760"/>
              <a:ext cx="292608" cy="292608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950976" y="3657600"/>
              <a:ext cx="7772400" cy="56692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424242"/>
                  </a:solidFill>
                  <a:latin typeface="Source Code Pro"/>
                </a:rPr>
                <a:t>Failure mode: a convincing voice can hide a wrong fact. Still check it.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0" y="0"/>
            <a:ext cx="9144000" cy="1572768"/>
          </a:xfrm>
          <a:prstGeom prst="rect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502920" y="0"/>
            <a:ext cx="8138160" cy="1572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Oswald"/>
              </a:rPr>
              <a:t>Let's See It in Action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1883664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24242"/>
                </a:solidFill>
                <a:latin typeface="Source Code Pro"/>
              </a:rPr>
              <a:t>Next, we send the same request in ChatGPT with different roles.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02920" y="2450592"/>
            <a:ext cx="2542032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722376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722376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4088" y="3127248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Ask with No Role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4088" y="3511296"/>
            <a:ext cx="2139696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See the Default Answer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300983" y="2450592"/>
            <a:ext cx="2542032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3520439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3520439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02151" y="3127248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Add a Role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502151" y="3511296"/>
            <a:ext cx="2139696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Act as a Copywriter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099047" y="2450592"/>
            <a:ext cx="2542032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6318503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6318503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00215" y="3127248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Swap the Role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00215" y="3511296"/>
            <a:ext cx="2139696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Act as a Senior Engineer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