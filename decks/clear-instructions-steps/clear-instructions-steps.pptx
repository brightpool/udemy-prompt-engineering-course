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Specifying the Steps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an ordered workflow helps ChatGPT complete tasks with real dependencies.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Step Names the Output the Next One Needs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5532120" cy="2990088"/>
          </a:xfrm>
          <a:prstGeom prst="roundRect">
            <a:avLst>
              <a:gd name="adj" fmla="val 168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10896" y="1389888"/>
            <a:ext cx="553212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10896" y="1583009"/>
            <a:ext cx="553212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472184"/>
            <a:ext cx="387248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1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020824"/>
            <a:ext cx="523951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Using cars.csv, complete these steps in order: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231136"/>
            <a:ext cx="523951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1. Add price_gbp from understandingdata.com/.../car-prices/v1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441448"/>
            <a:ext cx="523951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2. Average price by body type; revenue = units x price.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651760"/>
            <a:ext cx="523951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3. Save cars_enriched.csv: top 3 by revenue, any gaps.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" y="2916936"/>
            <a:ext cx="5312664" cy="1280160"/>
          </a:xfrm>
          <a:prstGeom prst="roundRect">
            <a:avLst>
              <a:gd name="adj" fmla="val 357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303580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236976"/>
            <a:ext cx="5020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Step 1 done: 20 of 20 rows priced.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447288"/>
            <a:ext cx="5020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Step 2 done: SUVs average £36k, hatchbacks £24k.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207" y="3648456"/>
            <a:ext cx="373189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66928" y="3657600"/>
            <a:ext cx="5020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Step 3 done: saved. Top: Puma, Qashqai, Sportage.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1207" y="3858768"/>
            <a:ext cx="90868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6928" y="3867912"/>
            <a:ext cx="5020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Gaps: none.</a:t>
            </a:r>
          </a:p>
        </p:txBody>
      </p:sp>
      <p:grpSp>
        <p:nvGrpSpPr>
          <p:cNvPr id="4" name="Output 1"/>
          <p:cNvGrpSpPr/>
          <p:nvPr/>
        </p:nvGrpSpPr>
        <p:grpSpPr>
          <a:xfrm>
            <a:off x="6199632" y="1444752"/>
            <a:ext cx="2706624" cy="512064"/>
            <a:chOff x="6199632" y="1444752"/>
            <a:chExt cx="2706624" cy="512064"/>
          </a:xfrm>
        </p:grpSpPr>
        <p:sp>
          <p:nvSpPr>
            <p:cNvPr id="44" name="Oval 43"/>
            <p:cNvSpPr/>
            <p:nvPr/>
          </p:nvSpPr>
          <p:spPr>
            <a:xfrm>
              <a:off x="6199632" y="1463040"/>
              <a:ext cx="475488" cy="475488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5" name="Picture 44" descr="i-search-p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8994" y="1572402"/>
              <a:ext cx="256763" cy="256763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6803136" y="1444752"/>
              <a:ext cx="210312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Prices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803136" y="1700784"/>
              <a:ext cx="210312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One per Model</a:t>
              </a:r>
            </a:p>
          </p:txBody>
        </p:sp>
      </p:grpSp>
      <p:sp>
        <p:nvSpPr>
          <p:cNvPr id="48" name="Down Arrow 47"/>
          <p:cNvSpPr/>
          <p:nvPr/>
        </p:nvSpPr>
        <p:spPr>
          <a:xfrm>
            <a:off x="6382512" y="1993392"/>
            <a:ext cx="109728" cy="292608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Output 2"/>
          <p:cNvGrpSpPr/>
          <p:nvPr/>
        </p:nvGrpSpPr>
        <p:grpSpPr>
          <a:xfrm>
            <a:off x="6199632" y="2340864"/>
            <a:ext cx="2706624" cy="512064"/>
            <a:chOff x="6199632" y="2340864"/>
            <a:chExt cx="2706624" cy="512064"/>
          </a:xfrm>
        </p:grpSpPr>
        <p:sp>
          <p:nvSpPr>
            <p:cNvPr id="49" name="Oval 48"/>
            <p:cNvSpPr/>
            <p:nvPr/>
          </p:nvSpPr>
          <p:spPr>
            <a:xfrm>
              <a:off x="6199632" y="2359152"/>
              <a:ext cx="475488" cy="475488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0" name="Picture 49" descr="i-calculator-p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8994" y="2468514"/>
              <a:ext cx="256763" cy="256763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6803136" y="2340864"/>
              <a:ext cx="210312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Analysis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803136" y="2596896"/>
              <a:ext cx="210312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Averages and Revenue</a:t>
              </a:r>
            </a:p>
          </p:txBody>
        </p:sp>
      </p:grpSp>
      <p:sp>
        <p:nvSpPr>
          <p:cNvPr id="53" name="Down Arrow 52"/>
          <p:cNvSpPr/>
          <p:nvPr/>
        </p:nvSpPr>
        <p:spPr>
          <a:xfrm>
            <a:off x="6382512" y="2889504"/>
            <a:ext cx="109728" cy="292608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Output 3"/>
          <p:cNvGrpSpPr/>
          <p:nvPr/>
        </p:nvGrpSpPr>
        <p:grpSpPr>
          <a:xfrm>
            <a:off x="6199632" y="3236976"/>
            <a:ext cx="2706624" cy="512064"/>
            <a:chOff x="6199632" y="3236976"/>
            <a:chExt cx="2706624" cy="512064"/>
          </a:xfrm>
        </p:grpSpPr>
        <p:sp>
          <p:nvSpPr>
            <p:cNvPr id="54" name="Oval 53"/>
            <p:cNvSpPr/>
            <p:nvPr/>
          </p:nvSpPr>
          <p:spPr>
            <a:xfrm>
              <a:off x="6199632" y="3255264"/>
              <a:ext cx="475488" cy="475488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5" name="Picture 54" descr="i-file-spreadsheet-whit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8994" y="3364626"/>
              <a:ext cx="256763" cy="256763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6803136" y="3236976"/>
              <a:ext cx="210312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Enriched CSV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803136" y="3493008"/>
              <a:ext cx="210312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Plus a Summary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99632" y="4133087"/>
            <a:ext cx="2633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Each output feeds the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The Output of One Step Becomes the Next Input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Step 1"/>
          <p:cNvGrpSpPr/>
          <p:nvPr/>
        </p:nvGrpSpPr>
        <p:grpSpPr>
          <a:xfrm>
            <a:off x="310896" y="1408176"/>
            <a:ext cx="2840736" cy="2468880"/>
            <a:chOff x="310896" y="1408176"/>
            <a:chExt cx="2840736" cy="2468880"/>
          </a:xfrm>
        </p:grpSpPr>
        <p:sp>
          <p:nvSpPr>
            <p:cNvPr id="26" name="Rounded Rectangle 25"/>
            <p:cNvSpPr/>
            <p:nvPr/>
          </p:nvSpPr>
          <p:spPr>
            <a:xfrm>
              <a:off x="496824" y="1408176"/>
              <a:ext cx="2468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27" name="Picture 26" descr="i-file-spreadsheet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6552" y="1453896"/>
              <a:ext cx="219456" cy="219456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880872" y="1408176"/>
              <a:ext cx="201168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Input: cars.csv</a:t>
              </a:r>
            </a:p>
          </p:txBody>
        </p:sp>
        <p:sp>
          <p:nvSpPr>
            <p:cNvPr id="29" name="Down Arrow 28"/>
            <p:cNvSpPr/>
            <p:nvPr/>
          </p:nvSpPr>
          <p:spPr>
            <a:xfrm>
              <a:off x="1676400" y="1737360"/>
              <a:ext cx="109728" cy="182880"/>
            </a:xfrm>
            <a:prstGeom prst="down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1365504" y="1956816"/>
              <a:ext cx="731520" cy="73152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1" name="Picture 30" descr="i-search-p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3753" y="2125065"/>
              <a:ext cx="395020" cy="39502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310896" y="2779776"/>
              <a:ext cx="2840736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Price Lookup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10896" y="3054096"/>
              <a:ext cx="2840736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One Price per Model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588264" y="3474720"/>
              <a:ext cx="2286000" cy="402336"/>
            </a:xfrm>
            <a:prstGeom prst="roundRect">
              <a:avLst>
                <a:gd name="adj" fmla="val 45454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5" name="Picture 34" descr="i-circle-check-p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4568" y="3566160"/>
              <a:ext cx="219456" cy="219456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1008888" y="3474720"/>
              <a:ext cx="1773936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Every Row Priced?</a:t>
              </a:r>
            </a:p>
          </p:txBody>
        </p:sp>
      </p:grpSp>
      <p:sp>
        <p:nvSpPr>
          <p:cNvPr id="37" name="Right Arrow 36"/>
          <p:cNvSpPr/>
          <p:nvPr/>
        </p:nvSpPr>
        <p:spPr>
          <a:xfrm>
            <a:off x="2243328" y="2267712"/>
            <a:ext cx="1816608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Step 2"/>
          <p:cNvGrpSpPr/>
          <p:nvPr/>
        </p:nvGrpSpPr>
        <p:grpSpPr>
          <a:xfrm>
            <a:off x="3151631" y="1408176"/>
            <a:ext cx="2840736" cy="2468880"/>
            <a:chOff x="3151631" y="1408176"/>
            <a:chExt cx="2840736" cy="2468880"/>
          </a:xfrm>
        </p:grpSpPr>
        <p:sp>
          <p:nvSpPr>
            <p:cNvPr id="38" name="Rounded Rectangle 37"/>
            <p:cNvSpPr/>
            <p:nvPr/>
          </p:nvSpPr>
          <p:spPr>
            <a:xfrm>
              <a:off x="3337560" y="1408176"/>
              <a:ext cx="2468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9" name="Picture 38" descr="i-table-2-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47288" y="1453896"/>
              <a:ext cx="219456" cy="219456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3721608" y="1408176"/>
              <a:ext cx="201168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Input: the priced rows</a:t>
              </a:r>
            </a:p>
          </p:txBody>
        </p:sp>
        <p:sp>
          <p:nvSpPr>
            <p:cNvPr id="41" name="Down Arrow 40"/>
            <p:cNvSpPr/>
            <p:nvPr/>
          </p:nvSpPr>
          <p:spPr>
            <a:xfrm>
              <a:off x="4517136" y="1737360"/>
              <a:ext cx="109728" cy="182880"/>
            </a:xfrm>
            <a:prstGeom prst="down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4206240" y="1956816"/>
              <a:ext cx="731520" cy="73152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3" name="Picture 42" descr="i-calculator-pin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74489" y="2125065"/>
              <a:ext cx="395020" cy="395020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3151631" y="2779776"/>
              <a:ext cx="2840736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Analysis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51631" y="3054096"/>
              <a:ext cx="2840736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Averages and Revenue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3429000" y="3474720"/>
              <a:ext cx="2286000" cy="402336"/>
            </a:xfrm>
            <a:prstGeom prst="roundRect">
              <a:avLst>
                <a:gd name="adj" fmla="val 45454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47" name="Picture 46" descr="i-circle-check-p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75304" y="3566160"/>
              <a:ext cx="219456" cy="219456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3849624" y="3474720"/>
              <a:ext cx="1773936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Sums Add Up?</a:t>
              </a:r>
            </a:p>
          </p:txBody>
        </p:sp>
      </p:grpSp>
      <p:sp>
        <p:nvSpPr>
          <p:cNvPr id="49" name="Right Arrow 48"/>
          <p:cNvSpPr/>
          <p:nvPr/>
        </p:nvSpPr>
        <p:spPr>
          <a:xfrm>
            <a:off x="5084064" y="2267712"/>
            <a:ext cx="1816608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Step 3"/>
          <p:cNvGrpSpPr/>
          <p:nvPr/>
        </p:nvGrpSpPr>
        <p:grpSpPr>
          <a:xfrm>
            <a:off x="5992368" y="1408176"/>
            <a:ext cx="2840736" cy="2468880"/>
            <a:chOff x="5992368" y="1408176"/>
            <a:chExt cx="2840736" cy="2468880"/>
          </a:xfrm>
        </p:grpSpPr>
        <p:sp>
          <p:nvSpPr>
            <p:cNvPr id="50" name="Rounded Rectangle 49"/>
            <p:cNvSpPr/>
            <p:nvPr/>
          </p:nvSpPr>
          <p:spPr>
            <a:xfrm>
              <a:off x="6178296" y="1408176"/>
              <a:ext cx="2468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51" name="Picture 50" descr="i-calculator-ink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88024" y="1453896"/>
              <a:ext cx="219456" cy="219456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6562344" y="1408176"/>
              <a:ext cx="201168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Input: the analysis</a:t>
              </a:r>
            </a:p>
          </p:txBody>
        </p:sp>
        <p:sp>
          <p:nvSpPr>
            <p:cNvPr id="53" name="Down Arrow 52"/>
            <p:cNvSpPr/>
            <p:nvPr/>
          </p:nvSpPr>
          <p:spPr>
            <a:xfrm>
              <a:off x="7357872" y="1737360"/>
              <a:ext cx="109728" cy="182880"/>
            </a:xfrm>
            <a:prstGeom prst="down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7046976" y="1956816"/>
              <a:ext cx="731520" cy="731520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5" name="Picture 54" descr="i-file-spreadsheet-whit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15225" y="2125065"/>
              <a:ext cx="395020" cy="395020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5992368" y="2779776"/>
              <a:ext cx="2840736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Enriched File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992368" y="3054096"/>
              <a:ext cx="2840736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Plus a Short Summary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6269736" y="3474720"/>
              <a:ext cx="2286000" cy="402336"/>
            </a:xfrm>
            <a:prstGeom prst="roundRect">
              <a:avLst>
                <a:gd name="adj" fmla="val 45454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59" name="Picture 58" descr="i-circle-check-p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6040" y="3566160"/>
              <a:ext cx="219456" cy="219456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6690360" y="3474720"/>
              <a:ext cx="1773936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Gaps Named?</a:t>
              </a: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310896" y="4078224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If step 1 misses a price, the summary in step 3 should say 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A Required Process Becomes Easier to Inspect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Outcome only"/>
          <p:cNvGrpSpPr/>
          <p:nvPr/>
        </p:nvGrpSpPr>
        <p:grpSpPr>
          <a:xfrm>
            <a:off x="310896" y="1463040"/>
            <a:ext cx="8522208" cy="914400"/>
            <a:chOff x="310896" y="1463040"/>
            <a:chExt cx="8522208" cy="914400"/>
          </a:xfrm>
        </p:grpSpPr>
        <p:sp>
          <p:nvSpPr>
            <p:cNvPr id="26" name="TextBox 25"/>
            <p:cNvSpPr txBox="1"/>
            <p:nvPr/>
          </p:nvSpPr>
          <p:spPr>
            <a:xfrm>
              <a:off x="310896" y="1481328"/>
              <a:ext cx="210312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Outcome Only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10896" y="1755648"/>
              <a:ext cx="210312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Best for Simple Tasks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2468880" y="1481328"/>
              <a:ext cx="475488" cy="475488"/>
            </a:xfrm>
            <a:prstGeom prst="ellipse">
              <a:avLst/>
            </a:prstGeom>
            <a:solidFill>
              <a:srgbClr val="ECECF0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9" name="Picture 28" descr="i-message-square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78242" y="1590690"/>
              <a:ext cx="256763" cy="256763"/>
            </a:xfrm>
            <a:prstGeom prst="rect">
              <a:avLst/>
            </a:prstGeom>
          </p:spPr>
        </p:pic>
        <p:sp>
          <p:nvSpPr>
            <p:cNvPr id="30" name="Oval 29"/>
            <p:cNvSpPr/>
            <p:nvPr/>
          </p:nvSpPr>
          <p:spPr>
            <a:xfrm>
              <a:off x="8357616" y="1481328"/>
              <a:ext cx="475488" cy="475488"/>
            </a:xfrm>
            <a:prstGeom prst="ellipse">
              <a:avLst/>
            </a:prstGeom>
            <a:solidFill>
              <a:srgbClr val="ECECF0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1" name="Picture 30" descr="i-circle-check-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66978" y="1590690"/>
              <a:ext cx="256763" cy="256763"/>
            </a:xfrm>
            <a:prstGeom prst="rect">
              <a:avLst/>
            </a:prstGeom>
          </p:spPr>
        </p:pic>
        <p:sp>
          <p:nvSpPr>
            <p:cNvPr id="32" name="Right Arrow 31"/>
            <p:cNvSpPr/>
            <p:nvPr/>
          </p:nvSpPr>
          <p:spPr>
            <a:xfrm>
              <a:off x="3017520" y="1664208"/>
              <a:ext cx="402336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529584" y="1463040"/>
              <a:ext cx="4242816" cy="512064"/>
            </a:xfrm>
            <a:prstGeom prst="roundRect">
              <a:avLst>
                <a:gd name="adj" fmla="val 17857"/>
              </a:avLst>
            </a:prstGeom>
            <a:solidFill>
              <a:srgbClr val="EDEDF0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TextBox 33"/>
            <p:cNvSpPr txBox="1"/>
            <p:nvPr/>
          </p:nvSpPr>
          <p:spPr>
            <a:xfrm>
              <a:off x="3529584" y="1463040"/>
              <a:ext cx="4242816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2200" b="1">
                  <a:solidFill>
                    <a:srgbClr val="6B6B6B"/>
                  </a:solidFill>
                  <a:latin typeface="Oswald"/>
                </a:rPr>
                <a:t>?</a:t>
              </a:r>
            </a:p>
          </p:txBody>
        </p:sp>
        <p:sp>
          <p:nvSpPr>
            <p:cNvPr id="35" name="Right Arrow 34"/>
            <p:cNvSpPr/>
            <p:nvPr/>
          </p:nvSpPr>
          <p:spPr>
            <a:xfrm>
              <a:off x="7845552" y="1664208"/>
              <a:ext cx="420624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" name="Picture 35" descr="i-circle-alert-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8880" y="2157984"/>
              <a:ext cx="201168" cy="201168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2743200" y="2139696"/>
              <a:ext cx="603504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Risk: a key stage is skipped.</a:t>
              </a:r>
            </a:p>
          </p:txBody>
        </p:sp>
      </p:grpSp>
      <p:grpSp>
        <p:nvGrpSpPr>
          <p:cNvPr id="5" name="Specified workflow"/>
          <p:cNvGrpSpPr/>
          <p:nvPr/>
        </p:nvGrpSpPr>
        <p:grpSpPr>
          <a:xfrm>
            <a:off x="310896" y="2871216"/>
            <a:ext cx="8522208" cy="1078992"/>
            <a:chOff x="310896" y="2871216"/>
            <a:chExt cx="8522208" cy="1078992"/>
          </a:xfrm>
        </p:grpSpPr>
        <p:sp>
          <p:nvSpPr>
            <p:cNvPr id="38" name="TextBox 37"/>
            <p:cNvSpPr txBox="1"/>
            <p:nvPr/>
          </p:nvSpPr>
          <p:spPr>
            <a:xfrm>
              <a:off x="310896" y="2871216"/>
              <a:ext cx="210312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E91D63"/>
                  </a:solidFill>
                  <a:latin typeface="Source Code Pro"/>
                </a:rPr>
                <a:t>Specified Workflow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10896" y="3145536"/>
              <a:ext cx="210312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Best for Dependencies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2468880" y="2871216"/>
              <a:ext cx="475488" cy="475488"/>
            </a:xfrm>
            <a:prstGeom prst="ellipse">
              <a:avLst/>
            </a:prstGeom>
            <a:solidFill>
              <a:srgbClr val="ECECF0"/>
            </a:solidFill>
            <a:ln w="12700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1" name="Picture 40" descr="i-message-square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78242" y="2980578"/>
              <a:ext cx="256763" cy="256763"/>
            </a:xfrm>
            <a:prstGeom prst="rect">
              <a:avLst/>
            </a:prstGeom>
          </p:spPr>
        </p:pic>
        <p:sp>
          <p:nvSpPr>
            <p:cNvPr id="42" name="Oval 41"/>
            <p:cNvSpPr/>
            <p:nvPr/>
          </p:nvSpPr>
          <p:spPr>
            <a:xfrm>
              <a:off x="8357616" y="2871216"/>
              <a:ext cx="475488" cy="475488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3" name="Picture 42" descr="i-circle-check-whit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66978" y="2980578"/>
              <a:ext cx="256763" cy="256763"/>
            </a:xfrm>
            <a:prstGeom prst="rect">
              <a:avLst/>
            </a:prstGeom>
          </p:spPr>
        </p:pic>
        <p:sp>
          <p:nvSpPr>
            <p:cNvPr id="44" name="Right Arrow 43"/>
            <p:cNvSpPr/>
            <p:nvPr/>
          </p:nvSpPr>
          <p:spPr>
            <a:xfrm>
              <a:off x="3017520" y="3054096"/>
              <a:ext cx="640079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Oval 44"/>
            <p:cNvSpPr/>
            <p:nvPr/>
          </p:nvSpPr>
          <p:spPr>
            <a:xfrm>
              <a:off x="3749039" y="2907792"/>
              <a:ext cx="402336" cy="402336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TextBox 45"/>
            <p:cNvSpPr txBox="1"/>
            <p:nvPr/>
          </p:nvSpPr>
          <p:spPr>
            <a:xfrm>
              <a:off x="3749039" y="2907792"/>
              <a:ext cx="402336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Oswald"/>
                </a:rPr>
                <a:t>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383279" y="3364992"/>
              <a:ext cx="113385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Check</a:t>
              </a:r>
            </a:p>
          </p:txBody>
        </p:sp>
        <p:sp>
          <p:nvSpPr>
            <p:cNvPr id="48" name="Right Arrow 47"/>
            <p:cNvSpPr/>
            <p:nvPr/>
          </p:nvSpPr>
          <p:spPr>
            <a:xfrm>
              <a:off x="4224527" y="3054096"/>
              <a:ext cx="941832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257800" y="2907792"/>
              <a:ext cx="402336" cy="402336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0" name="TextBox 49"/>
            <p:cNvSpPr txBox="1"/>
            <p:nvPr/>
          </p:nvSpPr>
          <p:spPr>
            <a:xfrm>
              <a:off x="5257800" y="2907792"/>
              <a:ext cx="402336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Oswald"/>
                </a:rP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892040" y="3364992"/>
              <a:ext cx="113385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Check</a:t>
              </a:r>
            </a:p>
          </p:txBody>
        </p:sp>
        <p:sp>
          <p:nvSpPr>
            <p:cNvPr id="52" name="Right Arrow 51"/>
            <p:cNvSpPr/>
            <p:nvPr/>
          </p:nvSpPr>
          <p:spPr>
            <a:xfrm>
              <a:off x="5733288" y="3054096"/>
              <a:ext cx="941832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6766560" y="2907792"/>
              <a:ext cx="402336" cy="402336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4" name="TextBox 53"/>
            <p:cNvSpPr txBox="1"/>
            <p:nvPr/>
          </p:nvSpPr>
          <p:spPr>
            <a:xfrm>
              <a:off x="6766560" y="2907792"/>
              <a:ext cx="402336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Oswald"/>
                </a:rPr>
                <a:t>3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00800" y="3364992"/>
              <a:ext cx="113385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Check</a:t>
              </a:r>
            </a:p>
          </p:txBody>
        </p:sp>
        <p:sp>
          <p:nvSpPr>
            <p:cNvPr id="56" name="Right Arrow 55"/>
            <p:cNvSpPr/>
            <p:nvPr/>
          </p:nvSpPr>
          <p:spPr>
            <a:xfrm>
              <a:off x="7242048" y="3054096"/>
              <a:ext cx="1024128" cy="109728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7" name="Picture 56" descr="i-circle-alert-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8880" y="3730752"/>
              <a:ext cx="201168" cy="201168"/>
            </a:xfrm>
            <a:prstGeom prst="rect">
              <a:avLst/>
            </a:prstGeom>
          </p:spPr>
        </p:pic>
        <p:sp>
          <p:nvSpPr>
            <p:cNvPr id="58" name="TextBox 57"/>
            <p:cNvSpPr txBox="1"/>
            <p:nvPr/>
          </p:nvSpPr>
          <p:spPr>
            <a:xfrm>
              <a:off x="2743200" y="3712464"/>
              <a:ext cx="603504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Risk: rigid steps block a better route.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Now we run this three-step request live in ChatGPT on cars.csv.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Upload cars.csv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20 Models, No Prices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Run the Three Steps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Prices, Analysis, File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Check the Report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Every Row Priced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