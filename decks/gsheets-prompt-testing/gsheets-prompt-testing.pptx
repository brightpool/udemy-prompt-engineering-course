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0" r:id="rId5"/>
    <p:sldMasterId id="2147483671" r:id="rId6"/>
  </p:sldMasterIdLst>
  <p:notesMasterIdLst>
    <p:notesMasterId r:id="rId7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13"/>
    <p:sldId id="267" r:id="rId12"/>
  </p:sldIdLst>
  <p:sldSz cy="5143500" cx="9144000"/>
  <p:notesSz cx="6858000" cy="9144000"/>
  <p:embeddedFontLst>
    <p:embeddedFont>
      <p:font typeface="Source Code Pro"/>
      <p:regular r:id="rId24"/>
      <p:bold r:id="rId25"/>
      <p:italic r:id="rId26"/>
      <p:boldItalic r:id="rId27"/>
    </p:embeddedFont>
    <p:embeddedFont>
      <p:font typeface="Oswal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73574E-313A-4E41-A38C-36F247BE0EA5}">
  <a:tblStyle styleId="{3673574E-313A-4E41-A38C-36F247BE0EA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09F496F-DB3D-4476-992D-8F9A65F7952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12" Type="http://schemas.openxmlformats.org/officeDocument/2006/relationships/slide" Target="slides/slide12.xml"/><Relationship Id="rId13" Type="http://schemas.openxmlformats.org/officeDocument/2006/relationships/slide" Target="slides/slide1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font" Target="fonts/SourceCodePro-regular.fntdata"/><Relationship Id="rId25" Type="http://schemas.openxmlformats.org/officeDocument/2006/relationships/font" Target="fonts/SourceCodePro-bold.fntdata"/><Relationship Id="rId26" Type="http://schemas.openxmlformats.org/officeDocument/2006/relationships/font" Target="fonts/SourceCodePro-italic.fntdata"/><Relationship Id="rId27" Type="http://schemas.openxmlformats.org/officeDocument/2006/relationships/font" Target="fonts/SourceCodePro-boldItalic.fntdata"/><Relationship Id="rId28" Type="http://schemas.openxmlformats.org/officeDocument/2006/relationships/font" Target="fonts/Oswald-regular.fntdata"/><Relationship Id="rId29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" name="Google Shape;15;p2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11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3" name="Google Shape;23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0" name="Google Shape;4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1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4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4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11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1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82" name="Google Shape;82;p1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7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5" name="Google Shape;95;p17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Google Shape;103;p19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1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21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15" name="Google Shape;115;p21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21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" name="Google Shape;125;p23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26" name="Google Shape;126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2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b="0" i="0" sz="18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Prompt Testing in a Spreadsheet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Turn a hunch about a prompt into a number, using a grid instead of code.</a:t>
            </a:r>
          </a:p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Grid Where Every Row Is One Run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" name="Sheet"/>
          <p:cNvGrpSpPr/>
          <p:nvPr/>
        </p:nvGrpSpPr>
        <p:grpSpPr>
          <a:xfrm>
            <a:off x="310896" y="1426464"/>
            <a:ext cx="8522207" cy="1773936"/>
            <a:chOff x="310896" y="1426464"/>
            <a:chExt cx="8522207" cy="1773936"/>
          </a:xfrm>
        </p:grpSpPr>
        <p:sp>
          <p:nvSpPr>
            <p:cNvPr id="26" name="Rectangle 25"/>
            <p:cNvSpPr/>
            <p:nvPr/>
          </p:nvSpPr>
          <p:spPr>
            <a:xfrm>
              <a:off x="310896" y="1426464"/>
              <a:ext cx="329184" cy="219456"/>
            </a:xfrm>
            <a:prstGeom prst="rect">
              <a:avLst/>
            </a:prstGeom>
            <a:solidFill>
              <a:srgbClr val="ECECF0"/>
            </a:solidFill>
            <a:ln w="635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7" name="Rectangle 26"/>
            <p:cNvSpPr/>
            <p:nvPr/>
          </p:nvSpPr>
          <p:spPr>
            <a:xfrm>
              <a:off x="640080" y="1426464"/>
              <a:ext cx="502920" cy="219456"/>
            </a:xfrm>
            <a:prstGeom prst="rect">
              <a:avLst/>
            </a:prstGeom>
            <a:solidFill>
              <a:srgbClr val="ECECF0"/>
            </a:solidFill>
            <a:ln w="635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8" name="TextBox 27"/>
            <p:cNvSpPr txBox="1"/>
            <p:nvPr/>
          </p:nvSpPr>
          <p:spPr>
            <a:xfrm>
              <a:off x="640080" y="1426464"/>
              <a:ext cx="502920" cy="21945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A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143000" y="1426464"/>
              <a:ext cx="1143000" cy="219456"/>
            </a:xfrm>
            <a:prstGeom prst="rect">
              <a:avLst/>
            </a:prstGeom>
            <a:solidFill>
              <a:srgbClr val="ECECF0"/>
            </a:solidFill>
            <a:ln w="635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0" name="TextBox 29"/>
            <p:cNvSpPr txBox="1"/>
            <p:nvPr/>
          </p:nvSpPr>
          <p:spPr>
            <a:xfrm>
              <a:off x="1143000" y="1426464"/>
              <a:ext cx="1143000" cy="21945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B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286000" y="1426464"/>
              <a:ext cx="2788920" cy="219456"/>
            </a:xfrm>
            <a:prstGeom prst="rect">
              <a:avLst/>
            </a:prstGeom>
            <a:solidFill>
              <a:srgbClr val="ECECF0"/>
            </a:solidFill>
            <a:ln w="635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2" name="TextBox 31"/>
            <p:cNvSpPr txBox="1"/>
            <p:nvPr/>
          </p:nvSpPr>
          <p:spPr>
            <a:xfrm>
              <a:off x="2286000" y="1426464"/>
              <a:ext cx="2788920" cy="21945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C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5074920" y="1426464"/>
              <a:ext cx="2798064" cy="219456"/>
            </a:xfrm>
            <a:prstGeom prst="rect">
              <a:avLst/>
            </a:prstGeom>
            <a:solidFill>
              <a:srgbClr val="ECECF0"/>
            </a:solidFill>
            <a:ln w="635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4" name="TextBox 33"/>
            <p:cNvSpPr txBox="1"/>
            <p:nvPr/>
          </p:nvSpPr>
          <p:spPr>
            <a:xfrm>
              <a:off x="5074920" y="1426464"/>
              <a:ext cx="2798064" cy="21945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D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7872983" y="1426464"/>
              <a:ext cx="960120" cy="219456"/>
            </a:xfrm>
            <a:prstGeom prst="rect">
              <a:avLst/>
            </a:prstGeom>
            <a:solidFill>
              <a:srgbClr val="ECECF0"/>
            </a:solidFill>
            <a:ln w="635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6" name="TextBox 35"/>
            <p:cNvSpPr txBox="1"/>
            <p:nvPr/>
          </p:nvSpPr>
          <p:spPr>
            <a:xfrm>
              <a:off x="7872983" y="1426464"/>
              <a:ext cx="960120" cy="21945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E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310896" y="1645920"/>
              <a:ext cx="329184" cy="310896"/>
            </a:xfrm>
            <a:prstGeom prst="rect">
              <a:avLst/>
            </a:prstGeom>
            <a:solidFill>
              <a:srgbClr val="ECECF0"/>
            </a:solidFill>
            <a:ln w="635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8" name="Rectangle 37"/>
            <p:cNvSpPr/>
            <p:nvPr/>
          </p:nvSpPr>
          <p:spPr>
            <a:xfrm>
              <a:off x="640080" y="1645920"/>
              <a:ext cx="50292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9" name="TextBox 38"/>
            <p:cNvSpPr txBox="1"/>
            <p:nvPr/>
          </p:nvSpPr>
          <p:spPr>
            <a:xfrm>
              <a:off x="713231" y="1645920"/>
              <a:ext cx="393192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200" b="1">
                  <a:solidFill>
                    <a:srgbClr val="424242"/>
                  </a:solidFill>
                  <a:latin typeface="Source Code Pro"/>
                </a:rPr>
                <a:t>Run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1143000" y="1645920"/>
              <a:ext cx="114300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1" name="TextBox 40"/>
            <p:cNvSpPr txBox="1"/>
            <p:nvPr/>
          </p:nvSpPr>
          <p:spPr>
            <a:xfrm>
              <a:off x="1216152" y="1645920"/>
              <a:ext cx="1033271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1200" b="1">
                  <a:solidFill>
                    <a:srgbClr val="424242"/>
                  </a:solidFill>
                  <a:latin typeface="Source Code Pro"/>
                </a:rPr>
                <a:t>Version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2286000" y="1645920"/>
              <a:ext cx="278892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3" name="TextBox 42"/>
            <p:cNvSpPr txBox="1"/>
            <p:nvPr/>
          </p:nvSpPr>
          <p:spPr>
            <a:xfrm>
              <a:off x="2359152" y="1645920"/>
              <a:ext cx="2679191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1200" b="1">
                  <a:solidFill>
                    <a:srgbClr val="424242"/>
                  </a:solidFill>
                  <a:latin typeface="Source Code Pro"/>
                </a:rPr>
                <a:t>Prompt Sent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5074920" y="1645920"/>
              <a:ext cx="2798064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5" name="TextBox 44"/>
            <p:cNvSpPr txBox="1"/>
            <p:nvPr/>
          </p:nvSpPr>
          <p:spPr>
            <a:xfrm>
              <a:off x="5148072" y="1645920"/>
              <a:ext cx="2688336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1200" b="1">
                  <a:solidFill>
                    <a:srgbClr val="424242"/>
                  </a:solidFill>
                  <a:latin typeface="Source Code Pro"/>
                </a:rPr>
                <a:t>Answer Saved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7872983" y="1645920"/>
              <a:ext cx="96012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7" name="TextBox 46"/>
            <p:cNvSpPr txBox="1"/>
            <p:nvPr/>
          </p:nvSpPr>
          <p:spPr>
            <a:xfrm>
              <a:off x="7946136" y="1645920"/>
              <a:ext cx="850392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200" b="1">
                  <a:solidFill>
                    <a:srgbClr val="424242"/>
                  </a:solidFill>
                  <a:latin typeface="Source Code Pro"/>
                </a:rPr>
                <a:t>Words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310896" y="1956816"/>
              <a:ext cx="329184" cy="310896"/>
            </a:xfrm>
            <a:prstGeom prst="rect">
              <a:avLst/>
            </a:prstGeom>
            <a:solidFill>
              <a:srgbClr val="ECECF0"/>
            </a:solidFill>
            <a:ln w="635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9" name="TextBox 48"/>
            <p:cNvSpPr txBox="1"/>
            <p:nvPr/>
          </p:nvSpPr>
          <p:spPr>
            <a:xfrm>
              <a:off x="384048" y="1956816"/>
              <a:ext cx="219456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1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640080" y="1956816"/>
              <a:ext cx="50292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1" name="TextBox 50"/>
            <p:cNvSpPr txBox="1"/>
            <p:nvPr/>
          </p:nvSpPr>
          <p:spPr>
            <a:xfrm>
              <a:off x="713231" y="1956816"/>
              <a:ext cx="393192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200" b="0">
                  <a:solidFill>
                    <a:srgbClr val="424242"/>
                  </a:solidFill>
                  <a:latin typeface="Source Code Pro"/>
                </a:rPr>
                <a:t>1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143000" y="1956816"/>
              <a:ext cx="1143000" cy="310896"/>
            </a:xfrm>
            <a:prstGeom prst="rect">
              <a:avLst/>
            </a:prstGeom>
            <a:solidFill>
              <a:srgbClr val="F5F5F7"/>
            </a:solidFill>
            <a:ln w="635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3" name="TextBox 52"/>
            <p:cNvSpPr txBox="1"/>
            <p:nvPr/>
          </p:nvSpPr>
          <p:spPr>
            <a:xfrm>
              <a:off x="1216152" y="1956816"/>
              <a:ext cx="1033271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Control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2286000" y="1956816"/>
              <a:ext cx="278892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5" name="TextBox 54"/>
            <p:cNvSpPr txBox="1"/>
            <p:nvPr/>
          </p:nvSpPr>
          <p:spPr>
            <a:xfrm>
              <a:off x="2359152" y="1956816"/>
              <a:ext cx="2679191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Blog post on time blocking</a:t>
              </a: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5074920" y="1956816"/>
              <a:ext cx="2798064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7" name="TextBox 56"/>
            <p:cNvSpPr txBox="1"/>
            <p:nvPr/>
          </p:nvSpPr>
          <p:spPr>
            <a:xfrm>
              <a:off x="5148072" y="1956816"/>
              <a:ext cx="2688336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Time blocking is a way…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7872983" y="1956816"/>
              <a:ext cx="960120" cy="310896"/>
            </a:xfrm>
            <a:prstGeom prst="rect">
              <a:avLst/>
            </a:prstGeom>
            <a:solidFill>
              <a:srgbClr val="FBE4EC"/>
            </a:solidFill>
            <a:ln w="635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9" name="TextBox 58"/>
            <p:cNvSpPr txBox="1"/>
            <p:nvPr/>
          </p:nvSpPr>
          <p:spPr>
            <a:xfrm>
              <a:off x="7946136" y="1956816"/>
              <a:ext cx="850392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200" b="1">
                  <a:solidFill>
                    <a:srgbClr val="E91D63"/>
                  </a:solidFill>
                  <a:latin typeface="Source Code Pro"/>
                </a:rPr>
                <a:t>1,120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310896" y="2267712"/>
              <a:ext cx="329184" cy="310896"/>
            </a:xfrm>
            <a:prstGeom prst="rect">
              <a:avLst/>
            </a:prstGeom>
            <a:solidFill>
              <a:srgbClr val="ECECF0"/>
            </a:solidFill>
            <a:ln w="635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61" name="TextBox 60"/>
            <p:cNvSpPr txBox="1"/>
            <p:nvPr/>
          </p:nvSpPr>
          <p:spPr>
            <a:xfrm>
              <a:off x="384048" y="2267712"/>
              <a:ext cx="219456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2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640080" y="2267712"/>
              <a:ext cx="50292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63" name="TextBox 62"/>
            <p:cNvSpPr txBox="1"/>
            <p:nvPr/>
          </p:nvSpPr>
          <p:spPr>
            <a:xfrm>
              <a:off x="713231" y="2267712"/>
              <a:ext cx="393192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200" b="0">
                  <a:solidFill>
                    <a:srgbClr val="424242"/>
                  </a:solidFill>
                  <a:latin typeface="Source Code Pro"/>
                </a:rPr>
                <a:t>2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1143000" y="2267712"/>
              <a:ext cx="1143000" cy="310896"/>
            </a:xfrm>
            <a:prstGeom prst="rect">
              <a:avLst/>
            </a:prstGeom>
            <a:solidFill>
              <a:srgbClr val="F5F5F7"/>
            </a:solidFill>
            <a:ln w="635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65" name="TextBox 64"/>
            <p:cNvSpPr txBox="1"/>
            <p:nvPr/>
          </p:nvSpPr>
          <p:spPr>
            <a:xfrm>
              <a:off x="1216152" y="2267712"/>
              <a:ext cx="1033271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Control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2286000" y="2267712"/>
              <a:ext cx="278892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67" name="TextBox 66"/>
            <p:cNvSpPr txBox="1"/>
            <p:nvPr/>
          </p:nvSpPr>
          <p:spPr>
            <a:xfrm>
              <a:off x="2359152" y="2267712"/>
              <a:ext cx="2679191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Blog post on time blocking</a:t>
              </a: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5074920" y="2267712"/>
              <a:ext cx="2798064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69" name="TextBox 68"/>
            <p:cNvSpPr txBox="1"/>
            <p:nvPr/>
          </p:nvSpPr>
          <p:spPr>
            <a:xfrm>
              <a:off x="5148072" y="2267712"/>
              <a:ext cx="2688336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Most advice about time…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7872983" y="2267712"/>
              <a:ext cx="960120" cy="310896"/>
            </a:xfrm>
            <a:prstGeom prst="rect">
              <a:avLst/>
            </a:prstGeom>
            <a:solidFill>
              <a:srgbClr val="FBE4EC"/>
            </a:solidFill>
            <a:ln w="635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1" name="TextBox 70"/>
            <p:cNvSpPr txBox="1"/>
            <p:nvPr/>
          </p:nvSpPr>
          <p:spPr>
            <a:xfrm>
              <a:off x="7946136" y="2267712"/>
              <a:ext cx="850392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200" b="1">
                  <a:solidFill>
                    <a:srgbClr val="E91D63"/>
                  </a:solidFill>
                  <a:latin typeface="Source Code Pro"/>
                </a:rPr>
                <a:t>980</a:t>
              </a: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310896" y="2578608"/>
              <a:ext cx="329184" cy="310896"/>
            </a:xfrm>
            <a:prstGeom prst="rect">
              <a:avLst/>
            </a:prstGeom>
            <a:solidFill>
              <a:srgbClr val="ECECF0"/>
            </a:solidFill>
            <a:ln w="635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3" name="TextBox 72"/>
            <p:cNvSpPr txBox="1"/>
            <p:nvPr/>
          </p:nvSpPr>
          <p:spPr>
            <a:xfrm>
              <a:off x="384048" y="2578608"/>
              <a:ext cx="219456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3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640080" y="2578608"/>
              <a:ext cx="50292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5" name="TextBox 74"/>
            <p:cNvSpPr txBox="1"/>
            <p:nvPr/>
          </p:nvSpPr>
          <p:spPr>
            <a:xfrm>
              <a:off x="713231" y="2578608"/>
              <a:ext cx="393192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200" b="0">
                  <a:solidFill>
                    <a:srgbClr val="424242"/>
                  </a:solidFill>
                  <a:latin typeface="Source Code Pro"/>
                </a:rPr>
                <a:t>3</a:t>
              </a: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143000" y="2578608"/>
              <a:ext cx="1143000" cy="310896"/>
            </a:xfrm>
            <a:prstGeom prst="rect">
              <a:avLst/>
            </a:prstGeom>
            <a:solidFill>
              <a:srgbClr val="F5F5F7"/>
            </a:solidFill>
            <a:ln w="635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7" name="TextBox 76"/>
            <p:cNvSpPr txBox="1"/>
            <p:nvPr/>
          </p:nvSpPr>
          <p:spPr>
            <a:xfrm>
              <a:off x="1216152" y="2578608"/>
              <a:ext cx="1033271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Variation</a:t>
              </a:r>
            </a:p>
          </p:txBody>
        </p:sp>
        <p:sp>
          <p:nvSpPr>
            <p:cNvPr id="78" name="Rectangle 77"/>
            <p:cNvSpPr/>
            <p:nvPr/>
          </p:nvSpPr>
          <p:spPr>
            <a:xfrm>
              <a:off x="2286000" y="2578608"/>
              <a:ext cx="278892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9" name="TextBox 78"/>
            <p:cNvSpPr txBox="1"/>
            <p:nvPr/>
          </p:nvSpPr>
          <p:spPr>
            <a:xfrm>
              <a:off x="2359152" y="2578608"/>
              <a:ext cx="2679191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…plus: at least 2,000 words</a:t>
              </a: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5074920" y="2578608"/>
              <a:ext cx="2798064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81" name="TextBox 80"/>
            <p:cNvSpPr txBox="1"/>
            <p:nvPr/>
          </p:nvSpPr>
          <p:spPr>
            <a:xfrm>
              <a:off x="5148072" y="2578608"/>
              <a:ext cx="2688336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Blocking your calendar…</a:t>
              </a: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7872983" y="2578608"/>
              <a:ext cx="960120" cy="310896"/>
            </a:xfrm>
            <a:prstGeom prst="rect">
              <a:avLst/>
            </a:prstGeom>
            <a:solidFill>
              <a:srgbClr val="FBE4EC"/>
            </a:solidFill>
            <a:ln w="635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83" name="TextBox 82"/>
            <p:cNvSpPr txBox="1"/>
            <p:nvPr/>
          </p:nvSpPr>
          <p:spPr>
            <a:xfrm>
              <a:off x="7946136" y="2578608"/>
              <a:ext cx="850392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200" b="1">
                  <a:solidFill>
                    <a:srgbClr val="E91D63"/>
                  </a:solidFill>
                  <a:latin typeface="Source Code Pro"/>
                </a:rPr>
                <a:t>1,190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310896" y="2889504"/>
              <a:ext cx="329184" cy="310896"/>
            </a:xfrm>
            <a:prstGeom prst="rect">
              <a:avLst/>
            </a:prstGeom>
            <a:solidFill>
              <a:srgbClr val="ECECF0"/>
            </a:solidFill>
            <a:ln w="635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85" name="TextBox 84"/>
            <p:cNvSpPr txBox="1"/>
            <p:nvPr/>
          </p:nvSpPr>
          <p:spPr>
            <a:xfrm>
              <a:off x="384048" y="2889504"/>
              <a:ext cx="219456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4</a:t>
              </a:r>
            </a:p>
          </p:txBody>
        </p:sp>
        <p:sp>
          <p:nvSpPr>
            <p:cNvPr id="86" name="Rectangle 85"/>
            <p:cNvSpPr/>
            <p:nvPr/>
          </p:nvSpPr>
          <p:spPr>
            <a:xfrm>
              <a:off x="640080" y="2889504"/>
              <a:ext cx="50292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87" name="TextBox 86"/>
            <p:cNvSpPr txBox="1"/>
            <p:nvPr/>
          </p:nvSpPr>
          <p:spPr>
            <a:xfrm>
              <a:off x="713231" y="2889504"/>
              <a:ext cx="393192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200" b="0">
                  <a:solidFill>
                    <a:srgbClr val="424242"/>
                  </a:solidFill>
                  <a:latin typeface="Source Code Pro"/>
                </a:rPr>
                <a:t>4</a:t>
              </a: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1143000" y="2889504"/>
              <a:ext cx="1143000" cy="310896"/>
            </a:xfrm>
            <a:prstGeom prst="rect">
              <a:avLst/>
            </a:prstGeom>
            <a:solidFill>
              <a:srgbClr val="F5F5F7"/>
            </a:solidFill>
            <a:ln w="635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89" name="TextBox 88"/>
            <p:cNvSpPr txBox="1"/>
            <p:nvPr/>
          </p:nvSpPr>
          <p:spPr>
            <a:xfrm>
              <a:off x="1216152" y="2889504"/>
              <a:ext cx="1033271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Variation</a:t>
              </a:r>
            </a:p>
          </p:txBody>
        </p:sp>
        <p:sp>
          <p:nvSpPr>
            <p:cNvPr id="90" name="Rectangle 89"/>
            <p:cNvSpPr/>
            <p:nvPr/>
          </p:nvSpPr>
          <p:spPr>
            <a:xfrm>
              <a:off x="2286000" y="2889504"/>
              <a:ext cx="278892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91" name="TextBox 90"/>
            <p:cNvSpPr txBox="1"/>
            <p:nvPr/>
          </p:nvSpPr>
          <p:spPr>
            <a:xfrm>
              <a:off x="2359152" y="2889504"/>
              <a:ext cx="2679191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…plus: at least 2,000 words</a:t>
              </a:r>
            </a:p>
          </p:txBody>
        </p:sp>
        <p:sp>
          <p:nvSpPr>
            <p:cNvPr id="92" name="Rectangle 91"/>
            <p:cNvSpPr/>
            <p:nvPr/>
          </p:nvSpPr>
          <p:spPr>
            <a:xfrm>
              <a:off x="5074920" y="2889504"/>
              <a:ext cx="2798064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93" name="TextBox 92"/>
            <p:cNvSpPr txBox="1"/>
            <p:nvPr/>
          </p:nvSpPr>
          <p:spPr>
            <a:xfrm>
              <a:off x="5148072" y="2889504"/>
              <a:ext cx="2688336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Time blocking asks you…</a:t>
              </a:r>
            </a:p>
          </p:txBody>
        </p:sp>
        <p:sp>
          <p:nvSpPr>
            <p:cNvPr id="94" name="Rectangle 93"/>
            <p:cNvSpPr/>
            <p:nvPr/>
          </p:nvSpPr>
          <p:spPr>
            <a:xfrm>
              <a:off x="7872983" y="2889504"/>
              <a:ext cx="960120" cy="310896"/>
            </a:xfrm>
            <a:prstGeom prst="rect">
              <a:avLst/>
            </a:prstGeom>
            <a:solidFill>
              <a:srgbClr val="FBE4EC"/>
            </a:solidFill>
            <a:ln w="635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95" name="TextBox 94"/>
            <p:cNvSpPr txBox="1"/>
            <p:nvPr/>
          </p:nvSpPr>
          <p:spPr>
            <a:xfrm>
              <a:off x="7946136" y="2889504"/>
              <a:ext cx="850392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200" b="1">
                  <a:solidFill>
                    <a:srgbClr val="E91D63"/>
                  </a:solidFill>
                  <a:latin typeface="Source Code Pro"/>
                </a:rPr>
                <a:t>1,420</a:t>
              </a:r>
            </a:p>
          </p:txBody>
        </p:sp>
      </p:grpSp>
      <p:grpSp>
        <p:nvGrpSpPr>
          <p:cNvPr id="5" name="One Row, One Run"/>
          <p:cNvGrpSpPr/>
          <p:nvPr/>
        </p:nvGrpSpPr>
        <p:grpSpPr>
          <a:xfrm>
            <a:off x="310896" y="3456432"/>
            <a:ext cx="2670048" cy="438911"/>
            <a:chOff x="310896" y="3456432"/>
            <a:chExt cx="2670048" cy="438911"/>
          </a:xfrm>
        </p:grpSpPr>
        <p:sp>
          <p:nvSpPr>
            <p:cNvPr id="96" name="Oval 95"/>
            <p:cNvSpPr/>
            <p:nvPr/>
          </p:nvSpPr>
          <p:spPr>
            <a:xfrm>
              <a:off x="310896" y="3474720"/>
              <a:ext cx="402336" cy="402336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97" name="Picture 96" descr="icon-rows-3-p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5386" y="3559210"/>
              <a:ext cx="233354" cy="233354"/>
            </a:xfrm>
            <a:prstGeom prst="rect">
              <a:avLst/>
            </a:prstGeom>
          </p:spPr>
        </p:pic>
        <p:sp>
          <p:nvSpPr>
            <p:cNvPr id="98" name="TextBox 97"/>
            <p:cNvSpPr txBox="1"/>
            <p:nvPr/>
          </p:nvSpPr>
          <p:spPr>
            <a:xfrm>
              <a:off x="822960" y="3456432"/>
              <a:ext cx="2157984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300" b="1">
                  <a:solidFill>
                    <a:srgbClr val="424242"/>
                  </a:solidFill>
                  <a:latin typeface="Source Code Pro"/>
                </a:rPr>
                <a:t>One Row, One Run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822960" y="3675887"/>
              <a:ext cx="2157984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Every Answer Kept</a:t>
              </a:r>
            </a:p>
          </p:txBody>
        </p:sp>
      </p:grpSp>
      <p:grpSp>
        <p:nvGrpSpPr>
          <p:cNvPr id="6" name="Which Version"/>
          <p:cNvGrpSpPr/>
          <p:nvPr/>
        </p:nvGrpSpPr>
        <p:grpSpPr>
          <a:xfrm>
            <a:off x="3236976" y="3456432"/>
            <a:ext cx="2670047" cy="438911"/>
            <a:chOff x="3236976" y="3456432"/>
            <a:chExt cx="2670047" cy="438911"/>
          </a:xfrm>
        </p:grpSpPr>
        <p:sp>
          <p:nvSpPr>
            <p:cNvPr id="100" name="Oval 99"/>
            <p:cNvSpPr/>
            <p:nvPr/>
          </p:nvSpPr>
          <p:spPr>
            <a:xfrm>
              <a:off x="3236976" y="3474720"/>
              <a:ext cx="402336" cy="402336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01" name="Picture 100" descr="icon-git-branch-p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21466" y="3559210"/>
              <a:ext cx="233354" cy="233354"/>
            </a:xfrm>
            <a:prstGeom prst="rect">
              <a:avLst/>
            </a:prstGeom>
          </p:spPr>
        </p:pic>
        <p:sp>
          <p:nvSpPr>
            <p:cNvPr id="102" name="TextBox 101"/>
            <p:cNvSpPr txBox="1"/>
            <p:nvPr/>
          </p:nvSpPr>
          <p:spPr>
            <a:xfrm>
              <a:off x="3749039" y="3456432"/>
              <a:ext cx="2157984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300" b="1">
                  <a:solidFill>
                    <a:srgbClr val="424242"/>
                  </a:solidFill>
                  <a:latin typeface="Source Code Pro"/>
                </a:rPr>
                <a:t>Which Version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3749039" y="3675887"/>
              <a:ext cx="2157984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Control or Variation</a:t>
              </a:r>
            </a:p>
          </p:txBody>
        </p:sp>
      </p:grpSp>
      <p:grpSp>
        <p:nvGrpSpPr>
          <p:cNvPr id="7" name="The Score"/>
          <p:cNvGrpSpPr/>
          <p:nvPr/>
        </p:nvGrpSpPr>
        <p:grpSpPr>
          <a:xfrm>
            <a:off x="6163056" y="3456432"/>
            <a:ext cx="2670048" cy="438911"/>
            <a:chOff x="6163056" y="3456432"/>
            <a:chExt cx="2670048" cy="438911"/>
          </a:xfrm>
        </p:grpSpPr>
        <p:sp>
          <p:nvSpPr>
            <p:cNvPr id="104" name="Oval 103"/>
            <p:cNvSpPr/>
            <p:nvPr/>
          </p:nvSpPr>
          <p:spPr>
            <a:xfrm>
              <a:off x="6163056" y="3474720"/>
              <a:ext cx="402336" cy="402336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05" name="Picture 104" descr="icon-hash-p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47546" y="3559210"/>
              <a:ext cx="233354" cy="233354"/>
            </a:xfrm>
            <a:prstGeom prst="rect">
              <a:avLst/>
            </a:prstGeom>
          </p:spPr>
        </p:pic>
        <p:sp>
          <p:nvSpPr>
            <p:cNvPr id="106" name="TextBox 105"/>
            <p:cNvSpPr txBox="1"/>
            <p:nvPr/>
          </p:nvSpPr>
          <p:spPr>
            <a:xfrm>
              <a:off x="6675120" y="3456432"/>
              <a:ext cx="2157984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300" b="1">
                  <a:solidFill>
                    <a:srgbClr val="424242"/>
                  </a:solidFill>
                  <a:latin typeface="Source Code Pro"/>
                </a:rPr>
                <a:t>The Score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6675120" y="3675887"/>
              <a:ext cx="2157984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Same Test Each Row</a:t>
              </a:r>
            </a:p>
          </p:txBody>
        </p:sp>
      </p:grpSp>
      <p:sp>
        <p:nvSpPr>
          <p:cNvPr id="108" name="TextBox 107"/>
          <p:cNvSpPr txBox="1"/>
          <p:nvPr/>
        </p:nvSpPr>
        <p:spPr>
          <a:xfrm>
            <a:off x="310896" y="4133087"/>
            <a:ext cx="8522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That grid is an eval. No code required.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Same Prompt, Ten Times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" name="Control spread"/>
          <p:cNvGrpSpPr/>
          <p:nvPr/>
        </p:nvGrpSpPr>
        <p:grpSpPr>
          <a:xfrm>
            <a:off x="310896" y="1481328"/>
            <a:ext cx="8284464" cy="1463040"/>
            <a:chOff x="310896" y="1481328"/>
            <a:chExt cx="8284464" cy="1463040"/>
          </a:xfrm>
        </p:grpSpPr>
        <p:sp>
          <p:nvSpPr>
            <p:cNvPr id="26" name="Rectangle 25"/>
            <p:cNvSpPr/>
            <p:nvPr/>
          </p:nvSpPr>
          <p:spPr>
            <a:xfrm>
              <a:off x="1371600" y="2395728"/>
              <a:ext cx="7223760" cy="10972"/>
            </a:xfrm>
            <a:prstGeom prst="rect">
              <a:avLst/>
            </a:prstGeom>
            <a:solidFill>
              <a:srgbClr val="6B6B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7" name="Rectangle 26"/>
            <p:cNvSpPr/>
            <p:nvPr/>
          </p:nvSpPr>
          <p:spPr>
            <a:xfrm>
              <a:off x="1968093" y="2395728"/>
              <a:ext cx="10972" cy="73152"/>
            </a:xfrm>
            <a:prstGeom prst="rect">
              <a:avLst/>
            </a:prstGeom>
            <a:solidFill>
              <a:srgbClr val="6B6B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8" name="TextBox 27"/>
            <p:cNvSpPr txBox="1"/>
            <p:nvPr/>
          </p:nvSpPr>
          <p:spPr>
            <a:xfrm>
              <a:off x="1607820" y="2487168"/>
              <a:ext cx="731520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900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172053" y="2395728"/>
              <a:ext cx="10972" cy="73152"/>
            </a:xfrm>
            <a:prstGeom prst="rect">
              <a:avLst/>
            </a:prstGeom>
            <a:solidFill>
              <a:srgbClr val="6B6B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0" name="TextBox 29"/>
            <p:cNvSpPr txBox="1"/>
            <p:nvPr/>
          </p:nvSpPr>
          <p:spPr>
            <a:xfrm>
              <a:off x="2811780" y="2487168"/>
              <a:ext cx="731520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1,000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4376013" y="2395728"/>
              <a:ext cx="10972" cy="73152"/>
            </a:xfrm>
            <a:prstGeom prst="rect">
              <a:avLst/>
            </a:prstGeom>
            <a:solidFill>
              <a:srgbClr val="6B6B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2" name="TextBox 31"/>
            <p:cNvSpPr txBox="1"/>
            <p:nvPr/>
          </p:nvSpPr>
          <p:spPr>
            <a:xfrm>
              <a:off x="4015740" y="2487168"/>
              <a:ext cx="731520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1,100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5579973" y="2395728"/>
              <a:ext cx="10972" cy="73152"/>
            </a:xfrm>
            <a:prstGeom prst="rect">
              <a:avLst/>
            </a:prstGeom>
            <a:solidFill>
              <a:srgbClr val="6B6B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4" name="TextBox 33"/>
            <p:cNvSpPr txBox="1"/>
            <p:nvPr/>
          </p:nvSpPr>
          <p:spPr>
            <a:xfrm>
              <a:off x="5219700" y="2487168"/>
              <a:ext cx="731520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1,200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6783933" y="2395728"/>
              <a:ext cx="10972" cy="73152"/>
            </a:xfrm>
            <a:prstGeom prst="rect">
              <a:avLst/>
            </a:prstGeom>
            <a:solidFill>
              <a:srgbClr val="6B6B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6" name="TextBox 35"/>
            <p:cNvSpPr txBox="1"/>
            <p:nvPr/>
          </p:nvSpPr>
          <p:spPr>
            <a:xfrm>
              <a:off x="6423660" y="2487168"/>
              <a:ext cx="731520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1,300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7987893" y="2395728"/>
              <a:ext cx="10972" cy="73152"/>
            </a:xfrm>
            <a:prstGeom prst="rect">
              <a:avLst/>
            </a:prstGeom>
            <a:solidFill>
              <a:srgbClr val="6B6B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8" name="TextBox 37"/>
            <p:cNvSpPr txBox="1"/>
            <p:nvPr/>
          </p:nvSpPr>
          <p:spPr>
            <a:xfrm>
              <a:off x="7627620" y="2487168"/>
              <a:ext cx="731520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1,400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10896" y="1874519"/>
              <a:ext cx="100584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300" b="1">
                  <a:solidFill>
                    <a:srgbClr val="424242"/>
                  </a:solidFill>
                  <a:latin typeface="Source Code Pro"/>
                </a:rPr>
                <a:t>Control</a:t>
              </a:r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1761744" y="1883664"/>
              <a:ext cx="5239512" cy="256032"/>
            </a:xfrm>
            <a:prstGeom prst="roundRect">
              <a:avLst>
                <a:gd name="adj" fmla="val 42857"/>
              </a:avLst>
            </a:prstGeom>
            <a:solidFill>
              <a:srgbClr val="F5F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1" name="Oval 40"/>
            <p:cNvSpPr/>
            <p:nvPr/>
          </p:nvSpPr>
          <p:spPr>
            <a:xfrm>
              <a:off x="4530852" y="1920240"/>
              <a:ext cx="182880" cy="18288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42424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Oval 41"/>
            <p:cNvSpPr/>
            <p:nvPr/>
          </p:nvSpPr>
          <p:spPr>
            <a:xfrm>
              <a:off x="2845308" y="1920240"/>
              <a:ext cx="182880" cy="18288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42424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Oval 42"/>
            <p:cNvSpPr/>
            <p:nvPr/>
          </p:nvSpPr>
          <p:spPr>
            <a:xfrm>
              <a:off x="5975604" y="1920240"/>
              <a:ext cx="182880" cy="18288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42424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Oval 43"/>
            <p:cNvSpPr/>
            <p:nvPr/>
          </p:nvSpPr>
          <p:spPr>
            <a:xfrm>
              <a:off x="3688080" y="1920240"/>
              <a:ext cx="182880" cy="18288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42424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Oval 44"/>
            <p:cNvSpPr/>
            <p:nvPr/>
          </p:nvSpPr>
          <p:spPr>
            <a:xfrm>
              <a:off x="1761744" y="1920240"/>
              <a:ext cx="182880" cy="18288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42424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Oval 45"/>
            <p:cNvSpPr/>
            <p:nvPr/>
          </p:nvSpPr>
          <p:spPr>
            <a:xfrm>
              <a:off x="6818376" y="1920240"/>
              <a:ext cx="182880" cy="18288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42424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Oval 46"/>
            <p:cNvSpPr/>
            <p:nvPr/>
          </p:nvSpPr>
          <p:spPr>
            <a:xfrm>
              <a:off x="3326892" y="1920240"/>
              <a:ext cx="182880" cy="18288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42424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Oval 47"/>
            <p:cNvSpPr/>
            <p:nvPr/>
          </p:nvSpPr>
          <p:spPr>
            <a:xfrm>
              <a:off x="2604516" y="1920240"/>
              <a:ext cx="182880" cy="18288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42424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Oval 48"/>
            <p:cNvSpPr/>
            <p:nvPr/>
          </p:nvSpPr>
          <p:spPr>
            <a:xfrm>
              <a:off x="5253228" y="1920240"/>
              <a:ext cx="182880" cy="18288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42424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Oval 49"/>
            <p:cNvSpPr/>
            <p:nvPr/>
          </p:nvSpPr>
          <p:spPr>
            <a:xfrm>
              <a:off x="4290060" y="1920240"/>
              <a:ext cx="182880" cy="18288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42424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4187190" y="1792224"/>
              <a:ext cx="27432" cy="438912"/>
            </a:xfrm>
            <a:prstGeom prst="rect">
              <a:avLst/>
            </a:prstGeom>
            <a:solidFill>
              <a:srgbClr val="42424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2" name="TextBox 51"/>
            <p:cNvSpPr txBox="1"/>
            <p:nvPr/>
          </p:nvSpPr>
          <p:spPr>
            <a:xfrm>
              <a:off x="3469386" y="1481328"/>
              <a:ext cx="1463040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1">
                  <a:solidFill>
                    <a:srgbClr val="424242"/>
                  </a:solidFill>
                  <a:latin typeface="Source Code Pro"/>
                </a:rPr>
                <a:t>Mean 1,085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400800" y="2724912"/>
              <a:ext cx="2194560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r"/>
              <a:r>
                <a:rPr sz="1200" b="0">
                  <a:solidFill>
                    <a:srgbClr val="6B6B6B"/>
                  </a:solidFill>
                  <a:latin typeface="Source Code Pro"/>
                </a:rPr>
                <a:t>Words per Answer</a:t>
              </a:r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310896" y="3054096"/>
            <a:ext cx="8522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Same prompt, same model, same settings. Ten different answers.</a:t>
            </a:r>
          </a:p>
        </p:txBody>
      </p:sp>
      <p:grpSp>
        <p:nvGrpSpPr>
          <p:cNvPr id="5" name="Lower temperature narrows the spread"/>
          <p:cNvGrpSpPr/>
          <p:nvPr/>
        </p:nvGrpSpPr>
        <p:grpSpPr>
          <a:xfrm>
            <a:off x="310896" y="3566160"/>
            <a:ext cx="8522208" cy="640080"/>
            <a:chOff x="310896" y="3566160"/>
            <a:chExt cx="8522208" cy="640080"/>
          </a:xfrm>
        </p:grpSpPr>
        <p:sp>
          <p:nvSpPr>
            <p:cNvPr id="55" name="Rounded Rectangle 54"/>
            <p:cNvSpPr/>
            <p:nvPr/>
          </p:nvSpPr>
          <p:spPr>
            <a:xfrm>
              <a:off x="310896" y="3566160"/>
              <a:ext cx="8522208" cy="640080"/>
            </a:xfrm>
            <a:prstGeom prst="roundRect">
              <a:avLst>
                <a:gd name="adj" fmla="val 8571"/>
              </a:avLst>
            </a:prstGeom>
            <a:solidFill>
              <a:srgbClr val="FBE4EC"/>
            </a:solidFill>
            <a:ln w="9525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6" name="Oval 55"/>
            <p:cNvSpPr/>
            <p:nvPr/>
          </p:nvSpPr>
          <p:spPr>
            <a:xfrm>
              <a:off x="457200" y="3685032"/>
              <a:ext cx="402336" cy="402336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7" name="Picture 56" descr="icon-thermometer-p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1690" y="3769522"/>
              <a:ext cx="233354" cy="233354"/>
            </a:xfrm>
            <a:prstGeom prst="rect">
              <a:avLst/>
            </a:prstGeom>
          </p:spPr>
        </p:pic>
        <p:sp>
          <p:nvSpPr>
            <p:cNvPr id="58" name="TextBox 57"/>
            <p:cNvSpPr txBox="1"/>
            <p:nvPr/>
          </p:nvSpPr>
          <p:spPr>
            <a:xfrm>
              <a:off x="1005840" y="3657600"/>
              <a:ext cx="7699248" cy="25603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Lower Temperature Narrows the Spread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1005840" y="3913632"/>
              <a:ext cx="7699248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It does not close it. The fix for a wide spread is more rows.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Chat Window Does Not Keep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65760" y="1426464"/>
            <a:ext cx="4206240" cy="3172968"/>
          </a:xfrm>
          <a:prstGeom prst="roundRect">
            <a:avLst>
              <a:gd name="adj" fmla="val 1675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365760" y="1426464"/>
            <a:ext cx="4206240" cy="301752"/>
          </a:xfrm>
          <a:prstGeom prst="roundRect">
            <a:avLst>
              <a:gd name="adj" fmla="val 18181"/>
            </a:avLst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65760" y="1619585"/>
            <a:ext cx="4206240" cy="108630"/>
          </a:xfrm>
          <a:prstGeom prst="rect">
            <a:avLst/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12064" y="1508760"/>
            <a:ext cx="2944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F7FA"/>
                </a:solidFill>
                <a:latin typeface="Arial"/>
              </a:rPr>
              <a:t>ChatGPT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28415" y="1527048"/>
            <a:ext cx="10972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5" b="0">
                <a:solidFill>
                  <a:srgbClr val="C6C7D0"/>
                </a:solidFill>
                <a:latin typeface="Arial"/>
              </a:rPr>
              <a:t>Demonstration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" y="1856232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User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" y="2057400"/>
            <a:ext cx="391363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Blog post on time blocking. Make it long.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5488" y="2322576"/>
            <a:ext cx="3986783" cy="914400"/>
          </a:xfrm>
          <a:prstGeom prst="roundRect">
            <a:avLst>
              <a:gd name="adj" fmla="val 5000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1792" y="2441448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AI Assistant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2642616"/>
            <a:ext cx="369417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Time blocking is a way of committing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2852928"/>
            <a:ext cx="369417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specific hours to specific work…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2064" y="3364992"/>
            <a:ext cx="3913631" cy="9144"/>
          </a:xfrm>
          <a:prstGeom prst="rect">
            <a:avLst/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12064" y="3456432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Same prompt, minutes later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" y="3657600"/>
            <a:ext cx="391363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A different answer. The first one 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" y="3867912"/>
            <a:ext cx="391363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somewhere in the history, unlabelled.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12064" y="4187952"/>
            <a:ext cx="3913631" cy="301752"/>
          </a:xfrm>
          <a:prstGeom prst="roundRect">
            <a:avLst>
              <a:gd name="adj" fmla="val 15151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30936" y="4261104"/>
            <a:ext cx="3291839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0">
                <a:solidFill>
                  <a:srgbClr val="C6C7D0"/>
                </a:solidFill>
                <a:latin typeface="Arial"/>
              </a:rPr>
              <a:t>Send a message…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51376" y="4233672"/>
            <a:ext cx="210312" cy="210312"/>
          </a:xfrm>
          <a:prstGeom prst="roundRect">
            <a:avLst>
              <a:gd name="adj" fmla="val 21739"/>
            </a:avLst>
          </a:prstGeom>
          <a:solidFill>
            <a:srgbClr val="E4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4151376" y="4233672"/>
            <a:ext cx="2103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0">
                <a:solidFill>
                  <a:srgbClr val="25262C"/>
                </a:solidFill>
                <a:latin typeface="Arial"/>
              </a:rPr>
              <a:t>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0" y="146304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91D63"/>
                </a:solidFill>
                <a:latin typeface="Source Code Pro"/>
              </a:rPr>
              <a:t>Lost in the Chat</a:t>
            </a:r>
          </a:p>
        </p:txBody>
      </p:sp>
      <p:grpSp>
        <p:nvGrpSpPr>
          <p:cNvPr id="4" name="The Exact Prompt"/>
          <p:cNvGrpSpPr/>
          <p:nvPr/>
        </p:nvGrpSpPr>
        <p:grpSpPr>
          <a:xfrm>
            <a:off x="5029200" y="1883664"/>
            <a:ext cx="3730752" cy="438912"/>
            <a:chOff x="5029200" y="1883664"/>
            <a:chExt cx="3730752" cy="438912"/>
          </a:xfrm>
        </p:grpSpPr>
        <p:sp>
          <p:nvSpPr>
            <p:cNvPr id="46" name="Oval 45"/>
            <p:cNvSpPr/>
            <p:nvPr/>
          </p:nvSpPr>
          <p:spPr>
            <a:xfrm>
              <a:off x="5029200" y="1901952"/>
              <a:ext cx="402336" cy="402336"/>
            </a:xfrm>
            <a:prstGeom prst="ellipse">
              <a:avLst/>
            </a:prstGeom>
            <a:solidFill>
              <a:srgbClr val="F5F5F7"/>
            </a:solidFill>
            <a:ln w="1270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7" name="Picture 46" descr="icon-file-text-i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13690" y="1986442"/>
              <a:ext cx="233354" cy="233354"/>
            </a:xfrm>
            <a:prstGeom prst="rect">
              <a:avLst/>
            </a:prstGeom>
          </p:spPr>
        </p:pic>
        <p:sp>
          <p:nvSpPr>
            <p:cNvPr id="48" name="TextBox 47"/>
            <p:cNvSpPr txBox="1"/>
            <p:nvPr/>
          </p:nvSpPr>
          <p:spPr>
            <a:xfrm>
              <a:off x="5559552" y="1883664"/>
              <a:ext cx="3200400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300" b="1">
                  <a:solidFill>
                    <a:srgbClr val="424242"/>
                  </a:solidFill>
                  <a:latin typeface="Source Code Pro"/>
                </a:rPr>
                <a:t>The Exact Prompt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559552" y="2103120"/>
              <a:ext cx="3200400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What You Actually Sent</a:t>
              </a:r>
            </a:p>
          </p:txBody>
        </p:sp>
      </p:grpSp>
      <p:grpSp>
        <p:nvGrpSpPr>
          <p:cNvPr id="5" name="The Other Answers"/>
          <p:cNvGrpSpPr/>
          <p:nvPr/>
        </p:nvGrpSpPr>
        <p:grpSpPr>
          <a:xfrm>
            <a:off x="5029200" y="2487168"/>
            <a:ext cx="3730752" cy="438912"/>
            <a:chOff x="5029200" y="2487168"/>
            <a:chExt cx="3730752" cy="438912"/>
          </a:xfrm>
        </p:grpSpPr>
        <p:sp>
          <p:nvSpPr>
            <p:cNvPr id="50" name="Oval 49"/>
            <p:cNvSpPr/>
            <p:nvPr/>
          </p:nvSpPr>
          <p:spPr>
            <a:xfrm>
              <a:off x="5029200" y="2505456"/>
              <a:ext cx="402336" cy="402336"/>
            </a:xfrm>
            <a:prstGeom prst="ellipse">
              <a:avLst/>
            </a:prstGeom>
            <a:solidFill>
              <a:srgbClr val="F5F5F7"/>
            </a:solidFill>
            <a:ln w="1270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1" name="Picture 50" descr="icon-layers-i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13690" y="2589946"/>
              <a:ext cx="233354" cy="233354"/>
            </a:xfrm>
            <a:prstGeom prst="rect">
              <a:avLst/>
            </a:prstGeom>
          </p:spPr>
        </p:pic>
        <p:sp>
          <p:nvSpPr>
            <p:cNvPr id="52" name="TextBox 51"/>
            <p:cNvSpPr txBox="1"/>
            <p:nvPr/>
          </p:nvSpPr>
          <p:spPr>
            <a:xfrm>
              <a:off x="5559552" y="2487168"/>
              <a:ext cx="3200400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300" b="1">
                  <a:solidFill>
                    <a:srgbClr val="424242"/>
                  </a:solidFill>
                  <a:latin typeface="Source Code Pro"/>
                </a:rPr>
                <a:t>The Other Answers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5559552" y="2706624"/>
              <a:ext cx="3200400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The Nine It Could Have Given</a:t>
              </a:r>
            </a:p>
          </p:txBody>
        </p:sp>
      </p:grpSp>
      <p:grpSp>
        <p:nvGrpSpPr>
          <p:cNvPr id="6" name="A Record to Share"/>
          <p:cNvGrpSpPr/>
          <p:nvPr/>
        </p:nvGrpSpPr>
        <p:grpSpPr>
          <a:xfrm>
            <a:off x="5029200" y="3090672"/>
            <a:ext cx="3730752" cy="438912"/>
            <a:chOff x="5029200" y="3090672"/>
            <a:chExt cx="3730752" cy="438912"/>
          </a:xfrm>
        </p:grpSpPr>
        <p:sp>
          <p:nvSpPr>
            <p:cNvPr id="54" name="Oval 53"/>
            <p:cNvSpPr/>
            <p:nvPr/>
          </p:nvSpPr>
          <p:spPr>
            <a:xfrm>
              <a:off x="5029200" y="3108960"/>
              <a:ext cx="402336" cy="402336"/>
            </a:xfrm>
            <a:prstGeom prst="ellipse">
              <a:avLst/>
            </a:prstGeom>
            <a:solidFill>
              <a:srgbClr val="F5F5F7"/>
            </a:solidFill>
            <a:ln w="1270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5" name="Picture 54" descr="icon-share-2-i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13690" y="3193450"/>
              <a:ext cx="233354" cy="233354"/>
            </a:xfrm>
            <a:prstGeom prst="rect">
              <a:avLst/>
            </a:prstGeom>
          </p:spPr>
        </p:pic>
        <p:sp>
          <p:nvSpPr>
            <p:cNvPr id="56" name="TextBox 55"/>
            <p:cNvSpPr txBox="1"/>
            <p:nvPr/>
          </p:nvSpPr>
          <p:spPr>
            <a:xfrm>
              <a:off x="5559552" y="3090672"/>
              <a:ext cx="3200400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300" b="1">
                  <a:solidFill>
                    <a:srgbClr val="424242"/>
                  </a:solidFill>
                  <a:latin typeface="Source Code Pro"/>
                </a:rPr>
                <a:t>A Record to Share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5559552" y="3310128"/>
              <a:ext cx="3200400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Something a Colleague Can Check</a:t>
              </a:r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5029200" y="3803904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24242"/>
                </a:solidFill>
                <a:latin typeface="Source Code Pro"/>
              </a:rPr>
              <a:t>The sheet keeps all three.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 Prompt Test Is Not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8096" y="1426464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6B6B6B"/>
                </a:solidFill>
                <a:latin typeface="Source Code Pro"/>
              </a:rPr>
              <a:t>Not This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57216" y="1426464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91D63"/>
                </a:solidFill>
                <a:latin typeface="Source Code Pro"/>
              </a:rPr>
              <a:t>This</a:t>
            </a:r>
          </a:p>
        </p:txBody>
      </p:sp>
      <p:grpSp>
        <p:nvGrpSpPr>
          <p:cNvPr id="4" name="Pair 1"/>
          <p:cNvGrpSpPr/>
          <p:nvPr/>
        </p:nvGrpSpPr>
        <p:grpSpPr>
          <a:xfrm>
            <a:off x="310896" y="1773936"/>
            <a:ext cx="8522208" cy="457200"/>
            <a:chOff x="310896" y="1773936"/>
            <a:chExt cx="8522208" cy="457200"/>
          </a:xfrm>
        </p:grpSpPr>
        <p:sp>
          <p:nvSpPr>
            <p:cNvPr id="28" name="Rounded Rectangle 27"/>
            <p:cNvSpPr/>
            <p:nvPr/>
          </p:nvSpPr>
          <p:spPr>
            <a:xfrm>
              <a:off x="310896" y="1773936"/>
              <a:ext cx="8522208" cy="457200"/>
            </a:xfrm>
            <a:prstGeom prst="roundRect">
              <a:avLst>
                <a:gd name="adj" fmla="val 12000"/>
              </a:avLst>
            </a:prstGeom>
            <a:solidFill>
              <a:srgbClr val="F5F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pic>
          <p:nvPicPr>
            <p:cNvPr id="29" name="Picture 28" descr="icon-x-g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2336" y="1874519"/>
              <a:ext cx="256032" cy="256032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768096" y="1828800"/>
              <a:ext cx="3566160" cy="34747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A Prompt That Reads Better</a:t>
              </a:r>
            </a:p>
          </p:txBody>
        </p:sp>
        <p:pic>
          <p:nvPicPr>
            <p:cNvPr id="31" name="Picture 30" descr="icon-check-p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09744" y="1874519"/>
              <a:ext cx="256032" cy="256032"/>
            </a:xfrm>
            <a:prstGeom prst="rect">
              <a:avLst/>
            </a:prstGeom>
          </p:spPr>
        </p:pic>
        <p:sp>
          <p:nvSpPr>
            <p:cNvPr id="32" name="TextBox 31"/>
            <p:cNvSpPr txBox="1"/>
            <p:nvPr/>
          </p:nvSpPr>
          <p:spPr>
            <a:xfrm>
              <a:off x="5157216" y="1828800"/>
              <a:ext cx="3639312" cy="34747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1">
                  <a:solidFill>
                    <a:srgbClr val="424242"/>
                  </a:solidFill>
                  <a:latin typeface="Source Code Pro"/>
                </a:rPr>
                <a:t>The Same Input, Run Many Times</a:t>
              </a:r>
            </a:p>
          </p:txBody>
        </p:sp>
      </p:grpSp>
      <p:grpSp>
        <p:nvGrpSpPr>
          <p:cNvPr id="5" name="Pair 2"/>
          <p:cNvGrpSpPr/>
          <p:nvPr/>
        </p:nvGrpSpPr>
        <p:grpSpPr>
          <a:xfrm>
            <a:off x="310896" y="2304288"/>
            <a:ext cx="8522208" cy="457200"/>
            <a:chOff x="310896" y="2304288"/>
            <a:chExt cx="8522208" cy="457200"/>
          </a:xfrm>
        </p:grpSpPr>
        <p:sp>
          <p:nvSpPr>
            <p:cNvPr id="33" name="Rounded Rectangle 32"/>
            <p:cNvSpPr/>
            <p:nvPr/>
          </p:nvSpPr>
          <p:spPr>
            <a:xfrm>
              <a:off x="310896" y="2304288"/>
              <a:ext cx="8522208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pic>
          <p:nvPicPr>
            <p:cNvPr id="34" name="Picture 33" descr="icon-x-g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2336" y="2404872"/>
              <a:ext cx="256032" cy="256032"/>
            </a:xfrm>
            <a:prstGeom prst="rect">
              <a:avLst/>
            </a:prstGeom>
          </p:spPr>
        </p:pic>
        <p:sp>
          <p:nvSpPr>
            <p:cNvPr id="35" name="TextBox 34"/>
            <p:cNvSpPr txBox="1"/>
            <p:nvPr/>
          </p:nvSpPr>
          <p:spPr>
            <a:xfrm>
              <a:off x="768096" y="2359152"/>
              <a:ext cx="3566160" cy="34747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One Good Run, Screenshotted</a:t>
              </a:r>
            </a:p>
          </p:txBody>
        </p:sp>
        <p:pic>
          <p:nvPicPr>
            <p:cNvPr id="36" name="Picture 35" descr="icon-check-p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09744" y="2404872"/>
              <a:ext cx="256032" cy="256032"/>
            </a:xfrm>
            <a:prstGeom prst="rect">
              <a:avLst/>
            </a:prstGeom>
          </p:spPr>
        </p:pic>
        <p:sp>
          <p:nvSpPr>
            <p:cNvPr id="37" name="TextBox 36"/>
            <p:cNvSpPr txBox="1"/>
            <p:nvPr/>
          </p:nvSpPr>
          <p:spPr>
            <a:xfrm>
              <a:off x="5157216" y="2359152"/>
              <a:ext cx="3639312" cy="34747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1">
                  <a:solidFill>
                    <a:srgbClr val="424242"/>
                  </a:solidFill>
                  <a:latin typeface="Source Code Pro"/>
                </a:rPr>
                <a:t>Every Answer Kept, Weak Ones Too</a:t>
              </a:r>
            </a:p>
          </p:txBody>
        </p:sp>
      </p:grpSp>
      <p:grpSp>
        <p:nvGrpSpPr>
          <p:cNvPr id="6" name="Pair 3"/>
          <p:cNvGrpSpPr/>
          <p:nvPr/>
        </p:nvGrpSpPr>
        <p:grpSpPr>
          <a:xfrm>
            <a:off x="310896" y="2834640"/>
            <a:ext cx="8522208" cy="457200"/>
            <a:chOff x="310896" y="2834640"/>
            <a:chExt cx="8522208" cy="457200"/>
          </a:xfrm>
        </p:grpSpPr>
        <p:sp>
          <p:nvSpPr>
            <p:cNvPr id="38" name="Rounded Rectangle 37"/>
            <p:cNvSpPr/>
            <p:nvPr/>
          </p:nvSpPr>
          <p:spPr>
            <a:xfrm>
              <a:off x="310896" y="2834640"/>
              <a:ext cx="8522208" cy="457200"/>
            </a:xfrm>
            <a:prstGeom prst="roundRect">
              <a:avLst>
                <a:gd name="adj" fmla="val 12000"/>
              </a:avLst>
            </a:prstGeom>
            <a:solidFill>
              <a:srgbClr val="F5F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pic>
          <p:nvPicPr>
            <p:cNvPr id="39" name="Picture 38" descr="icon-x-g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2336" y="2935224"/>
              <a:ext cx="256032" cy="256032"/>
            </a:xfrm>
            <a:prstGeom prst="rect">
              <a:avLst/>
            </a:prstGeom>
          </p:spPr>
        </p:pic>
        <p:sp>
          <p:nvSpPr>
            <p:cNvPr id="40" name="TextBox 39"/>
            <p:cNvSpPr txBox="1"/>
            <p:nvPr/>
          </p:nvSpPr>
          <p:spPr>
            <a:xfrm>
              <a:off x="768096" y="2889504"/>
              <a:ext cx="3566160" cy="34747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One Person's Read of One Answer</a:t>
              </a:r>
            </a:p>
          </p:txBody>
        </p:sp>
        <p:pic>
          <p:nvPicPr>
            <p:cNvPr id="41" name="Picture 40" descr="icon-check-p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09744" y="2935224"/>
              <a:ext cx="256032" cy="256032"/>
            </a:xfrm>
            <a:prstGeom prst="rect">
              <a:avLst/>
            </a:prstGeom>
          </p:spPr>
        </p:pic>
        <p:sp>
          <p:nvSpPr>
            <p:cNvPr id="42" name="TextBox 41"/>
            <p:cNvSpPr txBox="1"/>
            <p:nvPr/>
          </p:nvSpPr>
          <p:spPr>
            <a:xfrm>
              <a:off x="5157216" y="2889504"/>
              <a:ext cx="3639312" cy="34747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1">
                  <a:solidFill>
                    <a:srgbClr val="424242"/>
                  </a:solidFill>
                  <a:latin typeface="Source Code Pro"/>
                </a:rPr>
                <a:t>A Number Anyone Can Recompute</a:t>
              </a:r>
            </a:p>
          </p:txBody>
        </p:sp>
      </p:grpSp>
      <p:grpSp>
        <p:nvGrpSpPr>
          <p:cNvPr id="7" name="Pair 4"/>
          <p:cNvGrpSpPr/>
          <p:nvPr/>
        </p:nvGrpSpPr>
        <p:grpSpPr>
          <a:xfrm>
            <a:off x="310896" y="3364991"/>
            <a:ext cx="8522208" cy="457200"/>
            <a:chOff x="310896" y="3364991"/>
            <a:chExt cx="8522208" cy="457200"/>
          </a:xfrm>
        </p:grpSpPr>
        <p:sp>
          <p:nvSpPr>
            <p:cNvPr id="43" name="Rounded Rectangle 42"/>
            <p:cNvSpPr/>
            <p:nvPr/>
          </p:nvSpPr>
          <p:spPr>
            <a:xfrm>
              <a:off x="310896" y="3364991"/>
              <a:ext cx="8522208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pic>
          <p:nvPicPr>
            <p:cNvPr id="44" name="Picture 43" descr="icon-x-g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2336" y="3465575"/>
              <a:ext cx="256032" cy="256032"/>
            </a:xfrm>
            <a:prstGeom prst="rect">
              <a:avLst/>
            </a:prstGeom>
          </p:spPr>
        </p:pic>
        <p:sp>
          <p:nvSpPr>
            <p:cNvPr id="45" name="TextBox 44"/>
            <p:cNvSpPr txBox="1"/>
            <p:nvPr/>
          </p:nvSpPr>
          <p:spPr>
            <a:xfrm>
              <a:off x="768096" y="3419856"/>
              <a:ext cx="3566160" cy="34747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A Framework You Install First</a:t>
              </a:r>
            </a:p>
          </p:txBody>
        </p:sp>
        <p:pic>
          <p:nvPicPr>
            <p:cNvPr id="46" name="Picture 45" descr="icon-check-p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09744" y="3465575"/>
              <a:ext cx="256032" cy="256032"/>
            </a:xfrm>
            <a:prstGeom prst="rect">
              <a:avLst/>
            </a:prstGeom>
          </p:spPr>
        </p:pic>
        <p:sp>
          <p:nvSpPr>
            <p:cNvPr id="47" name="TextBox 46"/>
            <p:cNvSpPr txBox="1"/>
            <p:nvPr/>
          </p:nvSpPr>
          <p:spPr>
            <a:xfrm>
              <a:off x="5157216" y="3419856"/>
              <a:ext cx="3639312" cy="34747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1">
                  <a:solidFill>
                    <a:srgbClr val="424242"/>
                  </a:solidFill>
                  <a:latin typeface="Source Code Pro"/>
                </a:rPr>
                <a:t>A File Anyone Can Open and Check</a:t>
              </a: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310896" y="4096512"/>
            <a:ext cx="8522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What makes it an eval: every row is scored the same way.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- The Template Is Not the Text You Test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" name="Prompt Template"/>
          <p:cNvGrpSpPr/>
          <p:nvPr/>
        </p:nvGrpSpPr>
        <p:grpSpPr>
          <a:xfrm>
            <a:off x="310896" y="1426464"/>
            <a:ext cx="2743200" cy="1536191"/>
            <a:chOff x="310896" y="1426464"/>
            <a:chExt cx="2743200" cy="1536191"/>
          </a:xfrm>
        </p:grpSpPr>
        <p:sp>
          <p:nvSpPr>
            <p:cNvPr id="26" name="Oval 25"/>
            <p:cNvSpPr/>
            <p:nvPr/>
          </p:nvSpPr>
          <p:spPr>
            <a:xfrm>
              <a:off x="310896" y="1426464"/>
              <a:ext cx="402336" cy="402336"/>
            </a:xfrm>
            <a:prstGeom prst="ellipse">
              <a:avLst/>
            </a:prstGeom>
            <a:solidFill>
              <a:srgbClr val="F5F5F7"/>
            </a:solidFill>
            <a:ln w="1270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7" name="Picture 26" descr="icon-braces-i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5386" y="1510954"/>
              <a:ext cx="233354" cy="233354"/>
            </a:xfrm>
            <a:prstGeom prst="rect">
              <a:avLst/>
            </a:prstGeom>
          </p:spPr>
        </p:pic>
        <p:sp>
          <p:nvSpPr>
            <p:cNvPr id="28" name="TextBox 27"/>
            <p:cNvSpPr txBox="1"/>
            <p:nvPr/>
          </p:nvSpPr>
          <p:spPr>
            <a:xfrm>
              <a:off x="822960" y="1499616"/>
              <a:ext cx="2231136" cy="25603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300" b="1">
                  <a:solidFill>
                    <a:srgbClr val="424242"/>
                  </a:solidFill>
                  <a:latin typeface="Source Code Pro"/>
                </a:rPr>
                <a:t>Prompt Template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310896" y="1956816"/>
              <a:ext cx="2743200" cy="1005839"/>
            </a:xfrm>
            <a:prstGeom prst="roundRect">
              <a:avLst>
                <a:gd name="adj" fmla="val 4545"/>
              </a:avLst>
            </a:prstGeom>
            <a:solidFill>
              <a:srgbClr val="F5F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0" name="TextBox 29"/>
            <p:cNvSpPr txBox="1"/>
            <p:nvPr/>
          </p:nvSpPr>
          <p:spPr>
            <a:xfrm>
              <a:off x="457200" y="2084832"/>
              <a:ext cx="2523744" cy="822959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sz="1200" b="0">
                  <a:solidFill>
                    <a:srgbClr val="424242"/>
                  </a:solidFill>
                  <a:latin typeface="Source Code Pro"/>
                </a:rPr>
                <a:t>Write a blog post on</a:t>
              </a:r>
            </a:p>
            <a:p>
              <a:pPr>
                <a:lnSpc>
                  <a:spcPct val="100000"/>
                </a:lnSpc>
              </a:pPr>
              <a:r>
                <a:rPr sz="1200" b="1">
                  <a:solidFill>
                    <a:srgbClr val="E91D63"/>
                  </a:solidFill>
                  <a:latin typeface="Source Code Pro"/>
                </a:rPr>
                <a:t>{topic} in a {style}</a:t>
              </a:r>
            </a:p>
            <a:p>
              <a:pPr>
                <a:lnSpc>
                  <a:spcPct val="100000"/>
                </a:lnSpc>
              </a:pPr>
              <a:r>
                <a:rPr sz="1200" b="0">
                  <a:solidFill>
                    <a:srgbClr val="424242"/>
                  </a:solidFill>
                  <a:latin typeface="Source Code Pro"/>
                </a:rPr>
                <a:t>tone.</a:t>
              </a:r>
            </a:p>
            <a:p>
              <a:pPr>
                <a:lnSpc>
                  <a:spcPct val="100000"/>
                </a:lnSpc>
              </a:pPr>
              <a:r>
                <a:rPr sz="1200" b="1">
                  <a:solidFill>
                    <a:srgbClr val="E91D63"/>
                  </a:solidFill>
                  <a:latin typeface="Source Code Pro"/>
                </a:rPr>
                <a:t>At least 2,000 words.</a:t>
              </a:r>
            </a:p>
          </p:txBody>
        </p:sp>
      </p:grpSp>
      <p:grpSp>
        <p:nvGrpSpPr>
          <p:cNvPr id="5" name="Row Values"/>
          <p:cNvGrpSpPr/>
          <p:nvPr/>
        </p:nvGrpSpPr>
        <p:grpSpPr>
          <a:xfrm>
            <a:off x="3474720" y="1426464"/>
            <a:ext cx="2157984" cy="1536191"/>
            <a:chOff x="3474720" y="1426464"/>
            <a:chExt cx="2157984" cy="1536191"/>
          </a:xfrm>
        </p:grpSpPr>
        <p:sp>
          <p:nvSpPr>
            <p:cNvPr id="31" name="Oval 30"/>
            <p:cNvSpPr/>
            <p:nvPr/>
          </p:nvSpPr>
          <p:spPr>
            <a:xfrm>
              <a:off x="3474720" y="1426464"/>
              <a:ext cx="402336" cy="402336"/>
            </a:xfrm>
            <a:prstGeom prst="ellipse">
              <a:avLst/>
            </a:prstGeom>
            <a:solidFill>
              <a:srgbClr val="F5F5F7"/>
            </a:solidFill>
            <a:ln w="1270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2" name="Picture 31" descr="icon-table-i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59210" y="1510954"/>
              <a:ext cx="233354" cy="233354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3986783" y="1499616"/>
              <a:ext cx="1645919" cy="25603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300" b="1">
                  <a:solidFill>
                    <a:srgbClr val="424242"/>
                  </a:solidFill>
                  <a:latin typeface="Source Code Pro"/>
                </a:rPr>
                <a:t>Row Values</a:t>
              </a:r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3474720" y="1956816"/>
              <a:ext cx="2157984" cy="1005839"/>
            </a:xfrm>
            <a:prstGeom prst="roundRect">
              <a:avLst>
                <a:gd name="adj" fmla="val 4545"/>
              </a:avLst>
            </a:prstGeom>
            <a:solidFill>
              <a:srgbClr val="F5F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5" name="TextBox 34"/>
            <p:cNvSpPr txBox="1"/>
            <p:nvPr/>
          </p:nvSpPr>
          <p:spPr>
            <a:xfrm>
              <a:off x="3621024" y="2084832"/>
              <a:ext cx="1938528" cy="822959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sz="1200" b="0">
                  <a:solidFill>
                    <a:srgbClr val="424242"/>
                  </a:solidFill>
                  <a:latin typeface="Source Code Pro"/>
                </a:rPr>
                <a:t>topic: time blocking</a:t>
              </a:r>
            </a:p>
            <a:p>
              <a:pPr>
                <a:lnSpc>
                  <a:spcPct val="100000"/>
                </a:lnSpc>
              </a:pPr>
              <a:r>
                <a:rPr sz="1200" b="0">
                  <a:solidFill>
                    <a:srgbClr val="424242"/>
                  </a:solidFill>
                  <a:latin typeface="Source Code Pro"/>
                </a:rPr>
                <a:t>style: friendly</a:t>
              </a:r>
            </a:p>
          </p:txBody>
        </p:sp>
      </p:grpSp>
      <p:grpSp>
        <p:nvGrpSpPr>
          <p:cNvPr id="6" name="The Prompt Sent"/>
          <p:cNvGrpSpPr/>
          <p:nvPr/>
        </p:nvGrpSpPr>
        <p:grpSpPr>
          <a:xfrm>
            <a:off x="6053328" y="1426464"/>
            <a:ext cx="2779776" cy="1536191"/>
            <a:chOff x="6053328" y="1426464"/>
            <a:chExt cx="2779776" cy="1536191"/>
          </a:xfrm>
        </p:grpSpPr>
        <p:sp>
          <p:nvSpPr>
            <p:cNvPr id="36" name="Oval 35"/>
            <p:cNvSpPr/>
            <p:nvPr/>
          </p:nvSpPr>
          <p:spPr>
            <a:xfrm>
              <a:off x="6053328" y="1426464"/>
              <a:ext cx="402336" cy="402336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7" name="Picture 36" descr="icon-send-p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37818" y="1510954"/>
              <a:ext cx="233354" cy="233354"/>
            </a:xfrm>
            <a:prstGeom prst="rect">
              <a:avLst/>
            </a:prstGeom>
          </p:spPr>
        </p:pic>
        <p:sp>
          <p:nvSpPr>
            <p:cNvPr id="38" name="TextBox 37"/>
            <p:cNvSpPr txBox="1"/>
            <p:nvPr/>
          </p:nvSpPr>
          <p:spPr>
            <a:xfrm>
              <a:off x="6565392" y="1499616"/>
              <a:ext cx="2267712" cy="25603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300" b="1">
                  <a:solidFill>
                    <a:srgbClr val="424242"/>
                  </a:solidFill>
                  <a:latin typeface="Source Code Pro"/>
                </a:rPr>
                <a:t>The Prompt Sent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6053328" y="1956816"/>
              <a:ext cx="2779776" cy="1005839"/>
            </a:xfrm>
            <a:prstGeom prst="roundRect">
              <a:avLst>
                <a:gd name="adj" fmla="val 4545"/>
              </a:avLst>
            </a:prstGeom>
            <a:solidFill>
              <a:srgbClr val="FBE4EC"/>
            </a:solidFill>
            <a:ln w="9525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0" name="TextBox 39"/>
            <p:cNvSpPr txBox="1"/>
            <p:nvPr/>
          </p:nvSpPr>
          <p:spPr>
            <a:xfrm>
              <a:off x="6199632" y="2084832"/>
              <a:ext cx="2560320" cy="822959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sz="1200" b="0">
                  <a:solidFill>
                    <a:srgbClr val="424242"/>
                  </a:solidFill>
                  <a:latin typeface="Source Code Pro"/>
                </a:rPr>
                <a:t>Write a blog post on</a:t>
              </a:r>
            </a:p>
            <a:p>
              <a:pPr>
                <a:lnSpc>
                  <a:spcPct val="100000"/>
                </a:lnSpc>
              </a:pPr>
              <a:r>
                <a:rPr sz="1200" b="0">
                  <a:solidFill>
                    <a:srgbClr val="424242"/>
                  </a:solidFill>
                  <a:latin typeface="Source Code Pro"/>
                </a:rPr>
                <a:t>time blocking in a</a:t>
              </a:r>
            </a:p>
            <a:p>
              <a:pPr>
                <a:lnSpc>
                  <a:spcPct val="100000"/>
                </a:lnSpc>
              </a:pPr>
              <a:r>
                <a:rPr sz="1200" b="0">
                  <a:solidFill>
                    <a:srgbClr val="424242"/>
                  </a:solidFill>
                  <a:latin typeface="Source Code Pro"/>
                </a:rPr>
                <a:t>friendly tone.</a:t>
              </a:r>
            </a:p>
            <a:p>
              <a:pPr>
                <a:lnSpc>
                  <a:spcPct val="100000"/>
                </a:lnSpc>
              </a:pPr>
              <a:r>
                <a:rPr sz="1200" b="1">
                  <a:solidFill>
                    <a:srgbClr val="E91D63"/>
                  </a:solidFill>
                  <a:latin typeface="Source Code Pro"/>
                </a:rPr>
                <a:t>At least 2,000 words.</a:t>
              </a: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3054096" y="1956816"/>
            <a:ext cx="420624" cy="10058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E91D63"/>
                </a:solidFill>
                <a:latin typeface="Source Code Pro"/>
              </a:rPr>
              <a:t>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32704" y="1956816"/>
            <a:ext cx="420624" cy="10058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E91D63"/>
                </a:solidFill>
                <a:latin typeface="Source Code Pro"/>
              </a:rPr>
              <a:t>=</a:t>
            </a:r>
          </a:p>
        </p:txBody>
      </p:sp>
      <p:grpSp>
        <p:nvGrpSpPr>
          <p:cNvPr id="7" name="The edit under test lives in the template"/>
          <p:cNvGrpSpPr/>
          <p:nvPr/>
        </p:nvGrpSpPr>
        <p:grpSpPr>
          <a:xfrm>
            <a:off x="310896" y="3291840"/>
            <a:ext cx="8522208" cy="640080"/>
            <a:chOff x="310896" y="3291840"/>
            <a:chExt cx="8522208" cy="640080"/>
          </a:xfrm>
        </p:grpSpPr>
        <p:sp>
          <p:nvSpPr>
            <p:cNvPr id="43" name="Rounded Rectangle 42"/>
            <p:cNvSpPr/>
            <p:nvPr/>
          </p:nvSpPr>
          <p:spPr>
            <a:xfrm>
              <a:off x="310896" y="3291840"/>
              <a:ext cx="8522208" cy="640080"/>
            </a:xfrm>
            <a:prstGeom prst="roundRect">
              <a:avLst>
                <a:gd name="adj" fmla="val 8571"/>
              </a:avLst>
            </a:prstGeom>
            <a:solidFill>
              <a:srgbClr val="FBE4EC"/>
            </a:solidFill>
            <a:ln w="9525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4" name="Oval 43"/>
            <p:cNvSpPr/>
            <p:nvPr/>
          </p:nvSpPr>
          <p:spPr>
            <a:xfrm>
              <a:off x="457200" y="3410712"/>
              <a:ext cx="402336" cy="402336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5" name="Picture 44" descr="icon-tag-p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1690" y="3495202"/>
              <a:ext cx="233354" cy="233354"/>
            </a:xfrm>
            <a:prstGeom prst="rect">
              <a:avLst/>
            </a:prstGeom>
          </p:spPr>
        </p:pic>
        <p:sp>
          <p:nvSpPr>
            <p:cNvPr id="46" name="TextBox 45"/>
            <p:cNvSpPr txBox="1"/>
            <p:nvPr/>
          </p:nvSpPr>
          <p:spPr>
            <a:xfrm>
              <a:off x="1005840" y="3383280"/>
              <a:ext cx="7699248" cy="25603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The Edit Under Test Lives in the Template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005840" y="3639312"/>
              <a:ext cx="7699248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Keep both columns: the template you edit, and the prompt that was sent.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Getting the Answer Back into the Cell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" name="The Prompt Sent"/>
          <p:cNvGrpSpPr/>
          <p:nvPr/>
        </p:nvGrpSpPr>
        <p:grpSpPr>
          <a:xfrm>
            <a:off x="310896" y="1426464"/>
            <a:ext cx="2130552" cy="1097280"/>
            <a:chOff x="310896" y="1426464"/>
            <a:chExt cx="2130552" cy="1097280"/>
          </a:xfrm>
        </p:grpSpPr>
        <p:sp>
          <p:nvSpPr>
            <p:cNvPr id="26" name="Oval 25"/>
            <p:cNvSpPr/>
            <p:nvPr/>
          </p:nvSpPr>
          <p:spPr>
            <a:xfrm>
              <a:off x="1101852" y="1426464"/>
              <a:ext cx="548640" cy="548640"/>
            </a:xfrm>
            <a:prstGeom prst="ellipse">
              <a:avLst/>
            </a:prstGeom>
            <a:solidFill>
              <a:srgbClr val="F5F5F7"/>
            </a:solidFill>
            <a:ln w="1270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7" name="Picture 26" descr="icon-file-text-i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17066" y="1541678"/>
              <a:ext cx="318211" cy="318211"/>
            </a:xfrm>
            <a:prstGeom prst="rect">
              <a:avLst/>
            </a:prstGeom>
          </p:spPr>
        </p:pic>
        <p:sp>
          <p:nvSpPr>
            <p:cNvPr id="28" name="TextBox 27"/>
            <p:cNvSpPr txBox="1"/>
            <p:nvPr/>
          </p:nvSpPr>
          <p:spPr>
            <a:xfrm>
              <a:off x="310896" y="2066543"/>
              <a:ext cx="2130552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300" b="1">
                  <a:solidFill>
                    <a:srgbClr val="424242"/>
                  </a:solidFill>
                  <a:latin typeface="Source Code Pro"/>
                </a:rPr>
                <a:t>The Prompt Sent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10896" y="2304288"/>
              <a:ext cx="2130552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One Cell</a:t>
              </a:r>
            </a:p>
          </p:txBody>
        </p:sp>
      </p:grpSp>
      <p:sp>
        <p:nvSpPr>
          <p:cNvPr id="30" name="Right Arrow 29"/>
          <p:cNvSpPr/>
          <p:nvPr/>
        </p:nvSpPr>
        <p:spPr>
          <a:xfrm>
            <a:off x="1796796" y="1645920"/>
            <a:ext cx="1289304" cy="109728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" name="The Model"/>
          <p:cNvGrpSpPr/>
          <p:nvPr/>
        </p:nvGrpSpPr>
        <p:grpSpPr>
          <a:xfrm>
            <a:off x="2441448" y="1426464"/>
            <a:ext cx="2130552" cy="1097280"/>
            <a:chOff x="2441448" y="1426464"/>
            <a:chExt cx="2130552" cy="1097280"/>
          </a:xfrm>
        </p:grpSpPr>
        <p:sp>
          <p:nvSpPr>
            <p:cNvPr id="31" name="Oval 30"/>
            <p:cNvSpPr/>
            <p:nvPr/>
          </p:nvSpPr>
          <p:spPr>
            <a:xfrm>
              <a:off x="3232404" y="1426464"/>
              <a:ext cx="548640" cy="548640"/>
            </a:xfrm>
            <a:prstGeom prst="ellipse">
              <a:avLst/>
            </a:prstGeom>
            <a:solidFill>
              <a:srgbClr val="F5F5F7"/>
            </a:solidFill>
            <a:ln w="1270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2" name="Picture 31" descr="icon-cpu-i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47618" y="1541678"/>
              <a:ext cx="318211" cy="318211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2441448" y="2066543"/>
              <a:ext cx="2130552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300" b="1">
                  <a:solidFill>
                    <a:srgbClr val="424242"/>
                  </a:solidFill>
                  <a:latin typeface="Source Code Pro"/>
                </a:rPr>
                <a:t>The Model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2441448" y="2304288"/>
              <a:ext cx="2130552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Answers It</a:t>
              </a:r>
            </a:p>
          </p:txBody>
        </p:sp>
      </p:grpSp>
      <p:sp>
        <p:nvSpPr>
          <p:cNvPr id="35" name="Right Arrow 34"/>
          <p:cNvSpPr/>
          <p:nvPr/>
        </p:nvSpPr>
        <p:spPr>
          <a:xfrm>
            <a:off x="3927348" y="1645920"/>
            <a:ext cx="1289304" cy="109728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" name="The Answer"/>
          <p:cNvGrpSpPr/>
          <p:nvPr/>
        </p:nvGrpSpPr>
        <p:grpSpPr>
          <a:xfrm>
            <a:off x="4572000" y="1426464"/>
            <a:ext cx="2130552" cy="1097280"/>
            <a:chOff x="4572000" y="1426464"/>
            <a:chExt cx="2130552" cy="1097280"/>
          </a:xfrm>
        </p:grpSpPr>
        <p:sp>
          <p:nvSpPr>
            <p:cNvPr id="36" name="Oval 35"/>
            <p:cNvSpPr/>
            <p:nvPr/>
          </p:nvSpPr>
          <p:spPr>
            <a:xfrm>
              <a:off x="5362956" y="1426464"/>
              <a:ext cx="548640" cy="548640"/>
            </a:xfrm>
            <a:prstGeom prst="ellipse">
              <a:avLst/>
            </a:prstGeom>
            <a:solidFill>
              <a:srgbClr val="F5F5F7"/>
            </a:solidFill>
            <a:ln w="1270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7" name="Picture 36" descr="icon-table-i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78170" y="1541678"/>
              <a:ext cx="318211" cy="318211"/>
            </a:xfrm>
            <a:prstGeom prst="rect">
              <a:avLst/>
            </a:prstGeom>
          </p:spPr>
        </p:pic>
        <p:sp>
          <p:nvSpPr>
            <p:cNvPr id="38" name="TextBox 37"/>
            <p:cNvSpPr txBox="1"/>
            <p:nvPr/>
          </p:nvSpPr>
          <p:spPr>
            <a:xfrm>
              <a:off x="4572000" y="2066543"/>
              <a:ext cx="2130552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300" b="1">
                  <a:solidFill>
                    <a:srgbClr val="424242"/>
                  </a:solidFill>
                  <a:latin typeface="Source Code Pro"/>
                </a:rPr>
                <a:t>The Answer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572000" y="2304288"/>
              <a:ext cx="2130552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Back into a Cell</a:t>
              </a:r>
            </a:p>
          </p:txBody>
        </p:sp>
      </p:grpSp>
      <p:sp>
        <p:nvSpPr>
          <p:cNvPr id="40" name="Right Arrow 39"/>
          <p:cNvSpPr/>
          <p:nvPr/>
        </p:nvSpPr>
        <p:spPr>
          <a:xfrm>
            <a:off x="6057900" y="1645920"/>
            <a:ext cx="1289304" cy="109728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7" name="The Score"/>
          <p:cNvGrpSpPr/>
          <p:nvPr/>
        </p:nvGrpSpPr>
        <p:grpSpPr>
          <a:xfrm>
            <a:off x="6702552" y="1426464"/>
            <a:ext cx="2130552" cy="1097280"/>
            <a:chOff x="6702552" y="1426464"/>
            <a:chExt cx="2130552" cy="1097280"/>
          </a:xfrm>
        </p:grpSpPr>
        <p:sp>
          <p:nvSpPr>
            <p:cNvPr id="41" name="Oval 40"/>
            <p:cNvSpPr/>
            <p:nvPr/>
          </p:nvSpPr>
          <p:spPr>
            <a:xfrm>
              <a:off x="7493508" y="1426464"/>
              <a:ext cx="548640" cy="548640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2" name="Picture 41" descr="icon-hash-p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608722" y="1541678"/>
              <a:ext cx="318211" cy="318211"/>
            </a:xfrm>
            <a:prstGeom prst="rect">
              <a:avLst/>
            </a:prstGeom>
          </p:spPr>
        </p:pic>
        <p:sp>
          <p:nvSpPr>
            <p:cNvPr id="43" name="TextBox 42"/>
            <p:cNvSpPr txBox="1"/>
            <p:nvPr/>
          </p:nvSpPr>
          <p:spPr>
            <a:xfrm>
              <a:off x="6702552" y="2066543"/>
              <a:ext cx="2130552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300" b="1">
                  <a:solidFill>
                    <a:srgbClr val="424242"/>
                  </a:solidFill>
                  <a:latin typeface="Source Code Pro"/>
                </a:rPr>
                <a:t>The Score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702552" y="2304288"/>
              <a:ext cx="2130552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One Number</a:t>
              </a: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310896" y="2724912"/>
            <a:ext cx="85222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424242"/>
                </a:solidFill>
                <a:latin typeface="Source Code Pro"/>
              </a:rPr>
              <a:t>Two Ways Across the Gap</a:t>
            </a:r>
          </a:p>
        </p:txBody>
      </p:sp>
      <p:grpSp>
        <p:nvGrpSpPr>
          <p:cNvPr id="8" name="Copy and Paste"/>
          <p:cNvGrpSpPr/>
          <p:nvPr/>
        </p:nvGrpSpPr>
        <p:grpSpPr>
          <a:xfrm>
            <a:off x="859536" y="3035808"/>
            <a:ext cx="3621024" cy="438912"/>
            <a:chOff x="859536" y="3035808"/>
            <a:chExt cx="3621024" cy="438912"/>
          </a:xfrm>
        </p:grpSpPr>
        <p:sp>
          <p:nvSpPr>
            <p:cNvPr id="46" name="Oval 45"/>
            <p:cNvSpPr/>
            <p:nvPr/>
          </p:nvSpPr>
          <p:spPr>
            <a:xfrm>
              <a:off x="859536" y="3054096"/>
              <a:ext cx="402336" cy="402336"/>
            </a:xfrm>
            <a:prstGeom prst="ellipse">
              <a:avLst/>
            </a:prstGeom>
            <a:solidFill>
              <a:srgbClr val="F5F5F7"/>
            </a:solidFill>
            <a:ln w="1270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7" name="Picture 46" descr="icon-clipboard-i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44026" y="3138586"/>
              <a:ext cx="233354" cy="233354"/>
            </a:xfrm>
            <a:prstGeom prst="rect">
              <a:avLst/>
            </a:prstGeom>
          </p:spPr>
        </p:pic>
        <p:sp>
          <p:nvSpPr>
            <p:cNvPr id="48" name="TextBox 47"/>
            <p:cNvSpPr txBox="1"/>
            <p:nvPr/>
          </p:nvSpPr>
          <p:spPr>
            <a:xfrm>
              <a:off x="1371600" y="3035808"/>
              <a:ext cx="3108960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300" b="1">
                  <a:solidFill>
                    <a:srgbClr val="424242"/>
                  </a:solidFill>
                  <a:latin typeface="Source Code Pro"/>
                </a:rPr>
                <a:t>Copy and Paste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1371600" y="3255264"/>
              <a:ext cx="3108960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Works Anywhere</a:t>
              </a:r>
            </a:p>
          </p:txBody>
        </p:sp>
      </p:grpSp>
      <p:grpSp>
        <p:nvGrpSpPr>
          <p:cNvPr id="9" name="A Formula in the Cell"/>
          <p:cNvGrpSpPr/>
          <p:nvPr/>
        </p:nvGrpSpPr>
        <p:grpSpPr>
          <a:xfrm>
            <a:off x="4846320" y="3035808"/>
            <a:ext cx="3621024" cy="438912"/>
            <a:chOff x="4846320" y="3035808"/>
            <a:chExt cx="3621024" cy="438912"/>
          </a:xfrm>
        </p:grpSpPr>
        <p:sp>
          <p:nvSpPr>
            <p:cNvPr id="50" name="Oval 49"/>
            <p:cNvSpPr/>
            <p:nvPr/>
          </p:nvSpPr>
          <p:spPr>
            <a:xfrm>
              <a:off x="4846320" y="3054096"/>
              <a:ext cx="402336" cy="402336"/>
            </a:xfrm>
            <a:prstGeom prst="ellipse">
              <a:avLst/>
            </a:prstGeom>
            <a:solidFill>
              <a:srgbClr val="F5F5F7"/>
            </a:solidFill>
            <a:ln w="1270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1" name="Picture 50" descr="icon-square-function-i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930810" y="3138586"/>
              <a:ext cx="233354" cy="233354"/>
            </a:xfrm>
            <a:prstGeom prst="rect">
              <a:avLst/>
            </a:prstGeom>
          </p:spPr>
        </p:pic>
        <p:sp>
          <p:nvSpPr>
            <p:cNvPr id="52" name="TextBox 51"/>
            <p:cNvSpPr txBox="1"/>
            <p:nvPr/>
          </p:nvSpPr>
          <p:spPr>
            <a:xfrm>
              <a:off x="5358384" y="3035808"/>
              <a:ext cx="3108960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300" b="1">
                  <a:solidFill>
                    <a:srgbClr val="424242"/>
                  </a:solidFill>
                  <a:latin typeface="Source Code Pro"/>
                </a:rPr>
                <a:t>A Formula in the Cell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5358384" y="3255264"/>
              <a:ext cx="3108960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Faster, with Caps and Queues</a:t>
              </a:r>
            </a:p>
          </p:txBody>
        </p:sp>
      </p:grpSp>
      <p:grpSp>
        <p:nvGrpSpPr>
          <p:cNvPr id="10" name="Record which model produced each row"/>
          <p:cNvGrpSpPr/>
          <p:nvPr/>
        </p:nvGrpSpPr>
        <p:grpSpPr>
          <a:xfrm>
            <a:off x="310896" y="3730752"/>
            <a:ext cx="8522208" cy="640080"/>
            <a:chOff x="310896" y="3730752"/>
            <a:chExt cx="8522208" cy="640080"/>
          </a:xfrm>
        </p:grpSpPr>
        <p:sp>
          <p:nvSpPr>
            <p:cNvPr id="54" name="Rounded Rectangle 53"/>
            <p:cNvSpPr/>
            <p:nvPr/>
          </p:nvSpPr>
          <p:spPr>
            <a:xfrm>
              <a:off x="310896" y="3730752"/>
              <a:ext cx="8522208" cy="640080"/>
            </a:xfrm>
            <a:prstGeom prst="roundRect">
              <a:avLst>
                <a:gd name="adj" fmla="val 8571"/>
              </a:avLst>
            </a:prstGeom>
            <a:solidFill>
              <a:srgbClr val="FBE4EC"/>
            </a:solidFill>
            <a:ln w="9525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5" name="Oval 54"/>
            <p:cNvSpPr/>
            <p:nvPr/>
          </p:nvSpPr>
          <p:spPr>
            <a:xfrm>
              <a:off x="457200" y="3849624"/>
              <a:ext cx="402336" cy="402336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6" name="Picture 55" descr="icon-tag-p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41690" y="3934114"/>
              <a:ext cx="233354" cy="233354"/>
            </a:xfrm>
            <a:prstGeom prst="rect">
              <a:avLst/>
            </a:prstGeom>
          </p:spPr>
        </p:pic>
        <p:sp>
          <p:nvSpPr>
            <p:cNvPr id="57" name="TextBox 56"/>
            <p:cNvSpPr txBox="1"/>
            <p:nvPr/>
          </p:nvSpPr>
          <p:spPr>
            <a:xfrm>
              <a:off x="1005840" y="3822191"/>
              <a:ext cx="7699248" cy="25603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Record Which Model Produced Each Row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1005840" y="4078224"/>
              <a:ext cx="7699248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An unlabelled answer cannot be re-checked once the model moves on.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Goes in the Score Column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" name="A Formula Counts It"/>
          <p:cNvGrpSpPr/>
          <p:nvPr/>
        </p:nvGrpSpPr>
        <p:grpSpPr>
          <a:xfrm>
            <a:off x="310896" y="1426464"/>
            <a:ext cx="2840736" cy="1865376"/>
            <a:chOff x="310896" y="1426464"/>
            <a:chExt cx="2840736" cy="1865376"/>
          </a:xfrm>
        </p:grpSpPr>
        <p:sp>
          <p:nvSpPr>
            <p:cNvPr id="26" name="Oval 25"/>
            <p:cNvSpPr/>
            <p:nvPr/>
          </p:nvSpPr>
          <p:spPr>
            <a:xfrm>
              <a:off x="1438656" y="1426464"/>
              <a:ext cx="585216" cy="585216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7" name="Picture 26" descr="icon-calculator-p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61551" y="1549359"/>
              <a:ext cx="339425" cy="339425"/>
            </a:xfrm>
            <a:prstGeom prst="rect">
              <a:avLst/>
            </a:prstGeom>
          </p:spPr>
        </p:pic>
        <p:sp>
          <p:nvSpPr>
            <p:cNvPr id="28" name="TextBox 27"/>
            <p:cNvSpPr txBox="1"/>
            <p:nvPr/>
          </p:nvSpPr>
          <p:spPr>
            <a:xfrm>
              <a:off x="310896" y="2121408"/>
              <a:ext cx="2840736" cy="25603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300" b="1">
                  <a:solidFill>
                    <a:srgbClr val="424242"/>
                  </a:solidFill>
                  <a:latin typeface="Source Code Pro"/>
                </a:rPr>
                <a:t>A Formula Counts It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10896" y="2377440"/>
              <a:ext cx="2840736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Words, a Phrase, a Format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25424" y="2761488"/>
              <a:ext cx="1280160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Consistency</a:t>
              </a:r>
            </a:p>
          </p:txBody>
        </p:sp>
        <p:sp>
          <p:nvSpPr>
            <p:cNvPr id="31" name="Oval 30"/>
            <p:cNvSpPr/>
            <p:nvPr/>
          </p:nvSpPr>
          <p:spPr>
            <a:xfrm>
              <a:off x="2060448" y="2788920"/>
              <a:ext cx="164592" cy="164592"/>
            </a:xfrm>
            <a:prstGeom prst="ellipse">
              <a:avLst/>
            </a:prstGeom>
            <a:solidFill>
              <a:srgbClr val="E91D63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2316480" y="2788920"/>
              <a:ext cx="164592" cy="164592"/>
            </a:xfrm>
            <a:prstGeom prst="ellipse">
              <a:avLst/>
            </a:prstGeom>
            <a:solidFill>
              <a:srgbClr val="E91D63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2572512" y="2788920"/>
              <a:ext cx="164592" cy="164592"/>
            </a:xfrm>
            <a:prstGeom prst="ellipse">
              <a:avLst/>
            </a:prstGeom>
            <a:solidFill>
              <a:srgbClr val="E91D63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25424" y="3072384"/>
              <a:ext cx="1280160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Judgement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2060448" y="3099816"/>
              <a:ext cx="164592" cy="164592"/>
            </a:xfrm>
            <a:prstGeom prst="ellipse">
              <a:avLst/>
            </a:prstGeom>
            <a:solidFill>
              <a:srgbClr val="E91D63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Oval 35"/>
            <p:cNvSpPr/>
            <p:nvPr/>
          </p:nvSpPr>
          <p:spPr>
            <a:xfrm>
              <a:off x="2316480" y="3099816"/>
              <a:ext cx="164592" cy="164592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Oval 36"/>
            <p:cNvSpPr/>
            <p:nvPr/>
          </p:nvSpPr>
          <p:spPr>
            <a:xfrm>
              <a:off x="2572512" y="3099816"/>
              <a:ext cx="164592" cy="164592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Another Model Rates It"/>
          <p:cNvGrpSpPr/>
          <p:nvPr/>
        </p:nvGrpSpPr>
        <p:grpSpPr>
          <a:xfrm>
            <a:off x="3151631" y="1426464"/>
            <a:ext cx="2840736" cy="1865376"/>
            <a:chOff x="3151631" y="1426464"/>
            <a:chExt cx="2840736" cy="1865376"/>
          </a:xfrm>
        </p:grpSpPr>
        <p:sp>
          <p:nvSpPr>
            <p:cNvPr id="38" name="Oval 37"/>
            <p:cNvSpPr/>
            <p:nvPr/>
          </p:nvSpPr>
          <p:spPr>
            <a:xfrm>
              <a:off x="4279392" y="1426464"/>
              <a:ext cx="585216" cy="585216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9" name="Picture 38" descr="icon-bot-p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02287" y="1549359"/>
              <a:ext cx="339425" cy="339425"/>
            </a:xfrm>
            <a:prstGeom prst="rect">
              <a:avLst/>
            </a:prstGeom>
          </p:spPr>
        </p:pic>
        <p:sp>
          <p:nvSpPr>
            <p:cNvPr id="40" name="TextBox 39"/>
            <p:cNvSpPr txBox="1"/>
            <p:nvPr/>
          </p:nvSpPr>
          <p:spPr>
            <a:xfrm>
              <a:off x="3151631" y="2121408"/>
              <a:ext cx="2840736" cy="25603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300" b="1">
                  <a:solidFill>
                    <a:srgbClr val="424242"/>
                  </a:solidFill>
                  <a:latin typeface="Source Code Pro"/>
                </a:rPr>
                <a:t>Another Model Rates It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151631" y="2377440"/>
              <a:ext cx="2840736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Fast and Cheap, but Drifts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566160" y="2761488"/>
              <a:ext cx="1280160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Consistency</a:t>
              </a:r>
            </a:p>
          </p:txBody>
        </p:sp>
        <p:sp>
          <p:nvSpPr>
            <p:cNvPr id="43" name="Oval 42"/>
            <p:cNvSpPr/>
            <p:nvPr/>
          </p:nvSpPr>
          <p:spPr>
            <a:xfrm>
              <a:off x="4901183" y="2788920"/>
              <a:ext cx="164592" cy="164592"/>
            </a:xfrm>
            <a:prstGeom prst="ellipse">
              <a:avLst/>
            </a:prstGeom>
            <a:solidFill>
              <a:srgbClr val="E91D63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Oval 43"/>
            <p:cNvSpPr/>
            <p:nvPr/>
          </p:nvSpPr>
          <p:spPr>
            <a:xfrm>
              <a:off x="5157216" y="2788920"/>
              <a:ext cx="164592" cy="164592"/>
            </a:xfrm>
            <a:prstGeom prst="ellipse">
              <a:avLst/>
            </a:prstGeom>
            <a:solidFill>
              <a:srgbClr val="E91D63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Oval 44"/>
            <p:cNvSpPr/>
            <p:nvPr/>
          </p:nvSpPr>
          <p:spPr>
            <a:xfrm>
              <a:off x="5413248" y="2788920"/>
              <a:ext cx="164592" cy="164592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3566160" y="3072384"/>
              <a:ext cx="1280160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Judgement</a:t>
              </a:r>
            </a:p>
          </p:txBody>
        </p:sp>
        <p:sp>
          <p:nvSpPr>
            <p:cNvPr id="47" name="Oval 46"/>
            <p:cNvSpPr/>
            <p:nvPr/>
          </p:nvSpPr>
          <p:spPr>
            <a:xfrm>
              <a:off x="4901183" y="3099816"/>
              <a:ext cx="164592" cy="164592"/>
            </a:xfrm>
            <a:prstGeom prst="ellipse">
              <a:avLst/>
            </a:prstGeom>
            <a:solidFill>
              <a:srgbClr val="E91D63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Oval 47"/>
            <p:cNvSpPr/>
            <p:nvPr/>
          </p:nvSpPr>
          <p:spPr>
            <a:xfrm>
              <a:off x="5157216" y="3099816"/>
              <a:ext cx="164592" cy="164592"/>
            </a:xfrm>
            <a:prstGeom prst="ellipse">
              <a:avLst/>
            </a:prstGeom>
            <a:solidFill>
              <a:srgbClr val="E91D63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Oval 48"/>
            <p:cNvSpPr/>
            <p:nvPr/>
          </p:nvSpPr>
          <p:spPr>
            <a:xfrm>
              <a:off x="5413248" y="3099816"/>
              <a:ext cx="164592" cy="164592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A Person Reads It"/>
          <p:cNvGrpSpPr/>
          <p:nvPr/>
        </p:nvGrpSpPr>
        <p:grpSpPr>
          <a:xfrm>
            <a:off x="5992368" y="1426464"/>
            <a:ext cx="2840736" cy="1865376"/>
            <a:chOff x="5992368" y="1426464"/>
            <a:chExt cx="2840736" cy="1865376"/>
          </a:xfrm>
        </p:grpSpPr>
        <p:sp>
          <p:nvSpPr>
            <p:cNvPr id="50" name="Oval 49"/>
            <p:cNvSpPr/>
            <p:nvPr/>
          </p:nvSpPr>
          <p:spPr>
            <a:xfrm>
              <a:off x="7120128" y="1426464"/>
              <a:ext cx="585216" cy="585216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1" name="Picture 50" descr="icon-user-round-p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43023" y="1549359"/>
              <a:ext cx="339425" cy="339425"/>
            </a:xfrm>
            <a:prstGeom prst="rect">
              <a:avLst/>
            </a:prstGeom>
          </p:spPr>
        </p:pic>
        <p:sp>
          <p:nvSpPr>
            <p:cNvPr id="52" name="TextBox 51"/>
            <p:cNvSpPr txBox="1"/>
            <p:nvPr/>
          </p:nvSpPr>
          <p:spPr>
            <a:xfrm>
              <a:off x="5992368" y="2121408"/>
              <a:ext cx="2840736" cy="25603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300" b="1">
                  <a:solidFill>
                    <a:srgbClr val="424242"/>
                  </a:solidFill>
                  <a:latin typeface="Source Code Pro"/>
                </a:rPr>
                <a:t>A Person Reads It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5992368" y="2377440"/>
              <a:ext cx="2840736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The Only Judge of Taste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6406896" y="2761488"/>
              <a:ext cx="1280160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Consistency</a:t>
              </a:r>
            </a:p>
          </p:txBody>
        </p:sp>
        <p:sp>
          <p:nvSpPr>
            <p:cNvPr id="55" name="Oval 54"/>
            <p:cNvSpPr/>
            <p:nvPr/>
          </p:nvSpPr>
          <p:spPr>
            <a:xfrm>
              <a:off x="7741920" y="2788920"/>
              <a:ext cx="164592" cy="164592"/>
            </a:xfrm>
            <a:prstGeom prst="ellipse">
              <a:avLst/>
            </a:prstGeom>
            <a:solidFill>
              <a:srgbClr val="E91D63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Oval 55"/>
            <p:cNvSpPr/>
            <p:nvPr/>
          </p:nvSpPr>
          <p:spPr>
            <a:xfrm>
              <a:off x="7997952" y="2788920"/>
              <a:ext cx="164592" cy="164592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Oval 56"/>
            <p:cNvSpPr/>
            <p:nvPr/>
          </p:nvSpPr>
          <p:spPr>
            <a:xfrm>
              <a:off x="8253984" y="2788920"/>
              <a:ext cx="164592" cy="164592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6406896" y="3072384"/>
              <a:ext cx="1280160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Judgement</a:t>
              </a:r>
            </a:p>
          </p:txBody>
        </p:sp>
        <p:sp>
          <p:nvSpPr>
            <p:cNvPr id="59" name="Oval 58"/>
            <p:cNvSpPr/>
            <p:nvPr/>
          </p:nvSpPr>
          <p:spPr>
            <a:xfrm>
              <a:off x="7741920" y="3099816"/>
              <a:ext cx="164592" cy="164592"/>
            </a:xfrm>
            <a:prstGeom prst="ellipse">
              <a:avLst/>
            </a:prstGeom>
            <a:solidFill>
              <a:srgbClr val="E91D63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Oval 59"/>
            <p:cNvSpPr/>
            <p:nvPr/>
          </p:nvSpPr>
          <p:spPr>
            <a:xfrm>
              <a:off x="7997952" y="3099816"/>
              <a:ext cx="164592" cy="164592"/>
            </a:xfrm>
            <a:prstGeom prst="ellipse">
              <a:avLst/>
            </a:prstGeom>
            <a:solidFill>
              <a:srgbClr val="E91D63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Oval 60"/>
            <p:cNvSpPr/>
            <p:nvPr/>
          </p:nvSpPr>
          <p:spPr>
            <a:xfrm>
              <a:off x="8253984" y="3099816"/>
              <a:ext cx="164592" cy="164592"/>
            </a:xfrm>
            <a:prstGeom prst="ellipse">
              <a:avLst/>
            </a:prstGeom>
            <a:solidFill>
              <a:srgbClr val="E91D63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2" name="TextBox 61"/>
          <p:cNvSpPr txBox="1"/>
          <p:nvPr/>
        </p:nvSpPr>
        <p:spPr>
          <a:xfrm>
            <a:off x="310896" y="3657600"/>
            <a:ext cx="8522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Count it with a formula where you can. Pay for judgement only where you must.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Reading Ten Runs Honestly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" name="Control vs variation"/>
          <p:cNvGrpSpPr/>
          <p:nvPr/>
        </p:nvGrpSpPr>
        <p:grpSpPr>
          <a:xfrm>
            <a:off x="310896" y="1243584"/>
            <a:ext cx="8513064" cy="1865376"/>
            <a:chOff x="310896" y="1243584"/>
            <a:chExt cx="8513064" cy="1865376"/>
          </a:xfrm>
        </p:grpSpPr>
        <p:sp>
          <p:nvSpPr>
            <p:cNvPr id="26" name="Rectangle 25"/>
            <p:cNvSpPr/>
            <p:nvPr/>
          </p:nvSpPr>
          <p:spPr>
            <a:xfrm>
              <a:off x="1371600" y="2798064"/>
              <a:ext cx="5669280" cy="10972"/>
            </a:xfrm>
            <a:prstGeom prst="rect">
              <a:avLst/>
            </a:prstGeom>
            <a:solidFill>
              <a:srgbClr val="6B6B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7" name="Rectangle 26"/>
            <p:cNvSpPr/>
            <p:nvPr/>
          </p:nvSpPr>
          <p:spPr>
            <a:xfrm>
              <a:off x="1838553" y="2798064"/>
              <a:ext cx="10972" cy="73152"/>
            </a:xfrm>
            <a:prstGeom prst="rect">
              <a:avLst/>
            </a:prstGeom>
            <a:solidFill>
              <a:srgbClr val="6B6B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8" name="TextBox 27"/>
            <p:cNvSpPr txBox="1"/>
            <p:nvPr/>
          </p:nvSpPr>
          <p:spPr>
            <a:xfrm>
              <a:off x="1478280" y="2889504"/>
              <a:ext cx="731520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900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783433" y="2798064"/>
              <a:ext cx="10972" cy="73152"/>
            </a:xfrm>
            <a:prstGeom prst="rect">
              <a:avLst/>
            </a:prstGeom>
            <a:solidFill>
              <a:srgbClr val="6B6B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0" name="TextBox 29"/>
            <p:cNvSpPr txBox="1"/>
            <p:nvPr/>
          </p:nvSpPr>
          <p:spPr>
            <a:xfrm>
              <a:off x="2423160" y="2889504"/>
              <a:ext cx="731520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1,000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3728313" y="2798064"/>
              <a:ext cx="10972" cy="73152"/>
            </a:xfrm>
            <a:prstGeom prst="rect">
              <a:avLst/>
            </a:prstGeom>
            <a:solidFill>
              <a:srgbClr val="6B6B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2" name="TextBox 31"/>
            <p:cNvSpPr txBox="1"/>
            <p:nvPr/>
          </p:nvSpPr>
          <p:spPr>
            <a:xfrm>
              <a:off x="3368040" y="2889504"/>
              <a:ext cx="731520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1,100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4673193" y="2798064"/>
              <a:ext cx="10972" cy="73152"/>
            </a:xfrm>
            <a:prstGeom prst="rect">
              <a:avLst/>
            </a:prstGeom>
            <a:solidFill>
              <a:srgbClr val="6B6B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4" name="TextBox 33"/>
            <p:cNvSpPr txBox="1"/>
            <p:nvPr/>
          </p:nvSpPr>
          <p:spPr>
            <a:xfrm>
              <a:off x="4312920" y="2889504"/>
              <a:ext cx="731520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1,200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5618073" y="2798064"/>
              <a:ext cx="10972" cy="73152"/>
            </a:xfrm>
            <a:prstGeom prst="rect">
              <a:avLst/>
            </a:prstGeom>
            <a:solidFill>
              <a:srgbClr val="6B6B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6" name="TextBox 35"/>
            <p:cNvSpPr txBox="1"/>
            <p:nvPr/>
          </p:nvSpPr>
          <p:spPr>
            <a:xfrm>
              <a:off x="5257800" y="2889504"/>
              <a:ext cx="731520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1,300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6562953" y="2798064"/>
              <a:ext cx="10972" cy="73152"/>
            </a:xfrm>
            <a:prstGeom prst="rect">
              <a:avLst/>
            </a:prstGeom>
            <a:solidFill>
              <a:srgbClr val="6B6B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8" name="TextBox 37"/>
            <p:cNvSpPr txBox="1"/>
            <p:nvPr/>
          </p:nvSpPr>
          <p:spPr>
            <a:xfrm>
              <a:off x="6202680" y="2889504"/>
              <a:ext cx="731520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1,400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10896" y="1655064"/>
              <a:ext cx="100584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300" b="1">
                  <a:solidFill>
                    <a:srgbClr val="424242"/>
                  </a:solidFill>
                  <a:latin typeface="Source Code Pro"/>
                </a:rPr>
                <a:t>Control</a:t>
              </a:r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1658112" y="1664208"/>
              <a:ext cx="4151376" cy="256032"/>
            </a:xfrm>
            <a:prstGeom prst="roundRect">
              <a:avLst>
                <a:gd name="adj" fmla="val 42857"/>
              </a:avLst>
            </a:prstGeom>
            <a:solidFill>
              <a:srgbClr val="F5F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1" name="Oval 40"/>
            <p:cNvSpPr/>
            <p:nvPr/>
          </p:nvSpPr>
          <p:spPr>
            <a:xfrm>
              <a:off x="3831336" y="1700784"/>
              <a:ext cx="182880" cy="18288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42424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Oval 41"/>
            <p:cNvSpPr/>
            <p:nvPr/>
          </p:nvSpPr>
          <p:spPr>
            <a:xfrm>
              <a:off x="2508504" y="1700784"/>
              <a:ext cx="182880" cy="18288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42424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Oval 42"/>
            <p:cNvSpPr/>
            <p:nvPr/>
          </p:nvSpPr>
          <p:spPr>
            <a:xfrm>
              <a:off x="4965192" y="1700784"/>
              <a:ext cx="182880" cy="18288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42424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Oval 43"/>
            <p:cNvSpPr/>
            <p:nvPr/>
          </p:nvSpPr>
          <p:spPr>
            <a:xfrm>
              <a:off x="3169919" y="1700784"/>
              <a:ext cx="182880" cy="18288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42424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Oval 44"/>
            <p:cNvSpPr/>
            <p:nvPr/>
          </p:nvSpPr>
          <p:spPr>
            <a:xfrm>
              <a:off x="1658112" y="1700784"/>
              <a:ext cx="182880" cy="18288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42424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Oval 45"/>
            <p:cNvSpPr/>
            <p:nvPr/>
          </p:nvSpPr>
          <p:spPr>
            <a:xfrm>
              <a:off x="5626608" y="1700784"/>
              <a:ext cx="182880" cy="18288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42424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Oval 46"/>
            <p:cNvSpPr/>
            <p:nvPr/>
          </p:nvSpPr>
          <p:spPr>
            <a:xfrm>
              <a:off x="2886456" y="1700784"/>
              <a:ext cx="182880" cy="18288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42424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Oval 47"/>
            <p:cNvSpPr/>
            <p:nvPr/>
          </p:nvSpPr>
          <p:spPr>
            <a:xfrm>
              <a:off x="2319528" y="1700784"/>
              <a:ext cx="182880" cy="18288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42424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Oval 48"/>
            <p:cNvSpPr/>
            <p:nvPr/>
          </p:nvSpPr>
          <p:spPr>
            <a:xfrm>
              <a:off x="4398264" y="1700784"/>
              <a:ext cx="182880" cy="18288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42424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Oval 49"/>
            <p:cNvSpPr/>
            <p:nvPr/>
          </p:nvSpPr>
          <p:spPr>
            <a:xfrm>
              <a:off x="3642360" y="1700784"/>
              <a:ext cx="182880" cy="18288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42424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3578352" y="1572768"/>
              <a:ext cx="27432" cy="438912"/>
            </a:xfrm>
            <a:prstGeom prst="rect">
              <a:avLst/>
            </a:prstGeom>
            <a:solidFill>
              <a:srgbClr val="42424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2" name="TextBox 51"/>
            <p:cNvSpPr txBox="1"/>
            <p:nvPr/>
          </p:nvSpPr>
          <p:spPr>
            <a:xfrm>
              <a:off x="7269480" y="1655064"/>
              <a:ext cx="155448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300" b="1">
                  <a:solidFill>
                    <a:srgbClr val="424242"/>
                  </a:solidFill>
                  <a:latin typeface="Source Code Pro"/>
                </a:rPr>
                <a:t>Mean 1,085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10896" y="2203704"/>
              <a:ext cx="100584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300" b="1">
                  <a:solidFill>
                    <a:srgbClr val="E91D63"/>
                  </a:solidFill>
                  <a:latin typeface="Source Code Pro"/>
                </a:rPr>
                <a:t>Variation</a:t>
              </a:r>
            </a:p>
          </p:txBody>
        </p:sp>
        <p:sp>
          <p:nvSpPr>
            <p:cNvPr id="54" name="Rounded Rectangle 53"/>
            <p:cNvSpPr/>
            <p:nvPr/>
          </p:nvSpPr>
          <p:spPr>
            <a:xfrm>
              <a:off x="2036064" y="2212848"/>
              <a:ext cx="4812791" cy="256032"/>
            </a:xfrm>
            <a:prstGeom prst="roundRect">
              <a:avLst>
                <a:gd name="adj" fmla="val 42857"/>
              </a:avLst>
            </a:prstGeom>
            <a:solidFill>
              <a:srgbClr val="FDF1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5" name="Oval 54"/>
            <p:cNvSpPr/>
            <p:nvPr/>
          </p:nvSpPr>
          <p:spPr>
            <a:xfrm>
              <a:off x="4492752" y="2249424"/>
              <a:ext cx="182880" cy="182880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Oval 55"/>
            <p:cNvSpPr/>
            <p:nvPr/>
          </p:nvSpPr>
          <p:spPr>
            <a:xfrm>
              <a:off x="3075432" y="2249424"/>
              <a:ext cx="182880" cy="182880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Oval 56"/>
            <p:cNvSpPr/>
            <p:nvPr/>
          </p:nvSpPr>
          <p:spPr>
            <a:xfrm>
              <a:off x="5815584" y="2249424"/>
              <a:ext cx="182880" cy="182880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Oval 57"/>
            <p:cNvSpPr/>
            <p:nvPr/>
          </p:nvSpPr>
          <p:spPr>
            <a:xfrm>
              <a:off x="2602992" y="2249424"/>
              <a:ext cx="182880" cy="182880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Oval 58"/>
            <p:cNvSpPr/>
            <p:nvPr/>
          </p:nvSpPr>
          <p:spPr>
            <a:xfrm>
              <a:off x="6665976" y="2249424"/>
              <a:ext cx="182880" cy="182880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Oval 59"/>
            <p:cNvSpPr/>
            <p:nvPr/>
          </p:nvSpPr>
          <p:spPr>
            <a:xfrm>
              <a:off x="3453384" y="2249424"/>
              <a:ext cx="182880" cy="182880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Oval 60"/>
            <p:cNvSpPr/>
            <p:nvPr/>
          </p:nvSpPr>
          <p:spPr>
            <a:xfrm>
              <a:off x="4114800" y="2249424"/>
              <a:ext cx="182880" cy="182880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Oval 61"/>
            <p:cNvSpPr/>
            <p:nvPr/>
          </p:nvSpPr>
          <p:spPr>
            <a:xfrm>
              <a:off x="2036064" y="2249424"/>
              <a:ext cx="182880" cy="182880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Oval 62"/>
            <p:cNvSpPr/>
            <p:nvPr/>
          </p:nvSpPr>
          <p:spPr>
            <a:xfrm>
              <a:off x="5154168" y="2249424"/>
              <a:ext cx="182880" cy="182880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Oval 63"/>
            <p:cNvSpPr/>
            <p:nvPr/>
          </p:nvSpPr>
          <p:spPr>
            <a:xfrm>
              <a:off x="4681728" y="2249424"/>
              <a:ext cx="182880" cy="182880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4287012" y="2121408"/>
              <a:ext cx="27432" cy="438912"/>
            </a:xfrm>
            <a:prstGeom prst="rect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66" name="TextBox 65"/>
            <p:cNvSpPr txBox="1"/>
            <p:nvPr/>
          </p:nvSpPr>
          <p:spPr>
            <a:xfrm>
              <a:off x="7269480" y="2203704"/>
              <a:ext cx="155448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300" b="1">
                  <a:solidFill>
                    <a:srgbClr val="E91D63"/>
                  </a:solidFill>
                  <a:latin typeface="Source Code Pro"/>
                </a:rPr>
                <a:t>Mean 1,160</a:t>
              </a: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2127504" y="1481328"/>
              <a:ext cx="3590544" cy="10972"/>
            </a:xfrm>
            <a:prstGeom prst="rect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68" name="TextBox 67"/>
            <p:cNvSpPr txBox="1"/>
            <p:nvPr/>
          </p:nvSpPr>
          <p:spPr>
            <a:xfrm>
              <a:off x="2127504" y="1243584"/>
              <a:ext cx="3590544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1">
                  <a:solidFill>
                    <a:srgbClr val="E91D63"/>
                  </a:solidFill>
                  <a:latin typeface="Source Code Pro"/>
                </a:rPr>
                <a:t>Overlap</a:t>
              </a:r>
            </a:p>
          </p:txBody>
        </p:sp>
      </p:grpSp>
      <p:sp>
        <p:nvSpPr>
          <p:cNvPr id="69" name="TextBox 68"/>
          <p:cNvSpPr txBox="1"/>
          <p:nvPr/>
        </p:nvSpPr>
        <p:spPr>
          <a:xfrm>
            <a:off x="7269480" y="27432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E91D63"/>
                </a:solidFill>
                <a:latin typeface="Source Code Pro"/>
              </a:rPr>
              <a:t>+6.9%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10896" y="3401568"/>
            <a:ext cx="8522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Means 7% apart, ranges almost fully overlapping. Worth fifty more runs, not a conclusion.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Matters - You Can Show Your Working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822960" y="1426464"/>
          <a:ext cx="8010144" cy="210311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37360"/>
                <a:gridCol w="3108960"/>
                <a:gridCol w="3163824"/>
              </a:tblGrid>
              <a:tr h="420623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/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>Without a Sheet</a:t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>With a Sheet</a:t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The Decision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Whoever argues best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The mean across runs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The Evidence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One good screenshot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Every run, kept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A New Model Lands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Start the argument again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Re-run the same rows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Failure Mode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Confident untested habits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Over-reading ten noisy runs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7" name="Picture 26" descr="icon-scale-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20240"/>
            <a:ext cx="274320" cy="274320"/>
          </a:xfrm>
          <a:prstGeom prst="rect">
            <a:avLst/>
          </a:prstGeom>
        </p:spPr>
      </p:pic>
      <p:pic>
        <p:nvPicPr>
          <p:cNvPr id="28" name="Picture 27" descr="icon-archive-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340864"/>
            <a:ext cx="274320" cy="274320"/>
          </a:xfrm>
          <a:prstGeom prst="rect">
            <a:avLst/>
          </a:prstGeom>
        </p:spPr>
      </p:pic>
      <p:pic>
        <p:nvPicPr>
          <p:cNvPr id="29" name="Picture 28" descr="icon-refresh-cw-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761488"/>
            <a:ext cx="274320" cy="274320"/>
          </a:xfrm>
          <a:prstGeom prst="rect">
            <a:avLst/>
          </a:prstGeom>
        </p:spPr>
      </p:pic>
      <p:pic>
        <p:nvPicPr>
          <p:cNvPr id="30" name="Picture 29" descr="icon-triangle-alert-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182112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10896" y="3749039"/>
            <a:ext cx="8522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Not certainty. A record of what was tried that outlives whoever ran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the Sheet Runs Out of Road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" name="Spectrum"/>
          <p:cNvGrpSpPr/>
          <p:nvPr/>
        </p:nvGrpSpPr>
        <p:grpSpPr>
          <a:xfrm>
            <a:off x="310896" y="1426464"/>
            <a:ext cx="8522208" cy="694944"/>
            <a:chOff x="310896" y="1426464"/>
            <a:chExt cx="8522208" cy="694944"/>
          </a:xfrm>
        </p:grpSpPr>
        <p:sp>
          <p:nvSpPr>
            <p:cNvPr id="26" name="Rounded Rectangle 25"/>
            <p:cNvSpPr/>
            <p:nvPr/>
          </p:nvSpPr>
          <p:spPr>
            <a:xfrm>
              <a:off x="1005840" y="1664208"/>
              <a:ext cx="7132320" cy="14630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ECECF0"/>
                </a:gs>
                <a:gs pos="100000">
                  <a:srgbClr val="E91D63"/>
                </a:gs>
              </a:gsLst>
              <a:lin scaled="0" ang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7" name="Oval 26"/>
            <p:cNvSpPr/>
            <p:nvPr/>
          </p:nvSpPr>
          <p:spPr>
            <a:xfrm>
              <a:off x="310896" y="1426464"/>
              <a:ext cx="603504" cy="603504"/>
            </a:xfrm>
            <a:prstGeom prst="ellipse">
              <a:avLst/>
            </a:prstGeom>
            <a:solidFill>
              <a:srgbClr val="F5F5F7"/>
            </a:solidFill>
            <a:ln w="1270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8" name="Picture 27" descr="icon-sheet-i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7631" y="1553199"/>
              <a:ext cx="350032" cy="350032"/>
            </a:xfrm>
            <a:prstGeom prst="rect">
              <a:avLst/>
            </a:prstGeom>
          </p:spPr>
        </p:pic>
        <p:sp>
          <p:nvSpPr>
            <p:cNvPr id="29" name="Oval 28"/>
            <p:cNvSpPr/>
            <p:nvPr/>
          </p:nvSpPr>
          <p:spPr>
            <a:xfrm>
              <a:off x="8229600" y="1426464"/>
              <a:ext cx="603504" cy="603504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0" name="Picture 29" descr="icon-code-xml-p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56335" y="1553199"/>
              <a:ext cx="350032" cy="350032"/>
            </a:xfrm>
            <a:prstGeom prst="rect">
              <a:avLst/>
            </a:prstGeom>
          </p:spPr>
        </p:pic>
        <p:sp>
          <p:nvSpPr>
            <p:cNvPr id="31" name="TextBox 30"/>
            <p:cNvSpPr txBox="1"/>
            <p:nvPr/>
          </p:nvSpPr>
          <p:spPr>
            <a:xfrm>
              <a:off x="1005840" y="1883664"/>
              <a:ext cx="7132320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More Cases, More Often, Higher Stakes</a:t>
              </a:r>
            </a:p>
          </p:txBody>
        </p:sp>
      </p:grpSp>
      <p:grpSp>
        <p:nvGrpSpPr>
          <p:cNvPr id="5" name="A sheet is the right tool"/>
          <p:cNvGrpSpPr/>
          <p:nvPr/>
        </p:nvGrpSpPr>
        <p:grpSpPr>
          <a:xfrm>
            <a:off x="310896" y="2377440"/>
            <a:ext cx="4096512" cy="1517904"/>
            <a:chOff x="310896" y="2377440"/>
            <a:chExt cx="4096512" cy="1517904"/>
          </a:xfrm>
        </p:grpSpPr>
        <p:sp>
          <p:nvSpPr>
            <p:cNvPr id="32" name="TextBox 31"/>
            <p:cNvSpPr txBox="1"/>
            <p:nvPr/>
          </p:nvSpPr>
          <p:spPr>
            <a:xfrm>
              <a:off x="310896" y="2377440"/>
              <a:ext cx="4096512" cy="2743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A Sheet Is the Right Tool</a:t>
              </a:r>
            </a:p>
          </p:txBody>
        </p:sp>
        <p:sp>
          <p:nvSpPr>
            <p:cNvPr id="33" name="Oval 32"/>
            <p:cNvSpPr/>
            <p:nvPr/>
          </p:nvSpPr>
          <p:spPr>
            <a:xfrm>
              <a:off x="329184" y="2852928"/>
              <a:ext cx="109728" cy="109728"/>
            </a:xfrm>
            <a:prstGeom prst="ellipse">
              <a:avLst/>
            </a:prstGeom>
            <a:solidFill>
              <a:srgbClr val="42424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48640" y="2779776"/>
              <a:ext cx="384048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One Prompt, Tens of Runs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548640" y="3127248"/>
              <a:ext cx="3840480" cy="7315"/>
            </a:xfrm>
            <a:prstGeom prst="rect">
              <a:avLst/>
            </a:prstGeom>
            <a:solidFill>
              <a:srgbClr val="D8D8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6" name="Oval 35"/>
            <p:cNvSpPr/>
            <p:nvPr/>
          </p:nvSpPr>
          <p:spPr>
            <a:xfrm>
              <a:off x="329184" y="3273552"/>
              <a:ext cx="109728" cy="109728"/>
            </a:xfrm>
            <a:prstGeom prst="ellipse">
              <a:avLst/>
            </a:prstGeom>
            <a:solidFill>
              <a:srgbClr val="42424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48640" y="3200400"/>
              <a:ext cx="384048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A Judgement Only a Person Can Make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548640" y="3547872"/>
              <a:ext cx="3840480" cy="7315"/>
            </a:xfrm>
            <a:prstGeom prst="rect">
              <a:avLst/>
            </a:prstGeom>
            <a:solidFill>
              <a:srgbClr val="D8D8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9" name="Oval 38"/>
            <p:cNvSpPr/>
            <p:nvPr/>
          </p:nvSpPr>
          <p:spPr>
            <a:xfrm>
              <a:off x="329184" y="3694176"/>
              <a:ext cx="109728" cy="109728"/>
            </a:xfrm>
            <a:prstGeom prst="ellipse">
              <a:avLst/>
            </a:prstGeom>
            <a:solidFill>
              <a:srgbClr val="42424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48640" y="3621024"/>
              <a:ext cx="384048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Showing Your Working to a Team</a:t>
              </a:r>
            </a:p>
          </p:txBody>
        </p:sp>
      </p:grpSp>
      <p:grpSp>
        <p:nvGrpSpPr>
          <p:cNvPr id="6" name="Hand it to an engineer"/>
          <p:cNvGrpSpPr/>
          <p:nvPr/>
        </p:nvGrpSpPr>
        <p:grpSpPr>
          <a:xfrm>
            <a:off x="4736592" y="2377440"/>
            <a:ext cx="4096512" cy="1517904"/>
            <a:chOff x="4736592" y="2377440"/>
            <a:chExt cx="4096512" cy="1517904"/>
          </a:xfrm>
        </p:grpSpPr>
        <p:sp>
          <p:nvSpPr>
            <p:cNvPr id="41" name="TextBox 40"/>
            <p:cNvSpPr txBox="1"/>
            <p:nvPr/>
          </p:nvSpPr>
          <p:spPr>
            <a:xfrm>
              <a:off x="4736592" y="2377440"/>
              <a:ext cx="4096512" cy="2743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400" b="1">
                  <a:solidFill>
                    <a:srgbClr val="E91D63"/>
                  </a:solidFill>
                  <a:latin typeface="Source Code Pro"/>
                </a:rPr>
                <a:t>Hand It to an Engineer</a:t>
              </a:r>
            </a:p>
          </p:txBody>
        </p:sp>
        <p:sp>
          <p:nvSpPr>
            <p:cNvPr id="42" name="Oval 41"/>
            <p:cNvSpPr/>
            <p:nvPr/>
          </p:nvSpPr>
          <p:spPr>
            <a:xfrm>
              <a:off x="4754879" y="2852928"/>
              <a:ext cx="109728" cy="109728"/>
            </a:xfrm>
            <a:prstGeom prst="ellipse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974336" y="2779776"/>
              <a:ext cx="384048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Hundreds of Cases, Re-Run Often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4974336" y="3127248"/>
              <a:ext cx="3840480" cy="7315"/>
            </a:xfrm>
            <a:prstGeom prst="rect">
              <a:avLst/>
            </a:prstGeom>
            <a:solidFill>
              <a:srgbClr val="D8D8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5" name="Oval 44"/>
            <p:cNvSpPr/>
            <p:nvPr/>
          </p:nvSpPr>
          <p:spPr>
            <a:xfrm>
              <a:off x="4754879" y="3273552"/>
              <a:ext cx="109728" cy="109728"/>
            </a:xfrm>
            <a:prstGeom prst="ellipse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974336" y="3200400"/>
              <a:ext cx="384048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Every Model Upgrade Re-Checked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4974336" y="3547872"/>
              <a:ext cx="3840480" cy="7315"/>
            </a:xfrm>
            <a:prstGeom prst="rect">
              <a:avLst/>
            </a:prstGeom>
            <a:solidFill>
              <a:srgbClr val="D8D8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8" name="Oval 47"/>
            <p:cNvSpPr/>
            <p:nvPr/>
          </p:nvSpPr>
          <p:spPr>
            <a:xfrm>
              <a:off x="4754879" y="3694176"/>
              <a:ext cx="109728" cy="109728"/>
            </a:xfrm>
            <a:prstGeom prst="ellipse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4974336" y="3621024"/>
              <a:ext cx="384048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Scoring That Must Never Vary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0" y="0"/>
            <a:ext cx="9144000" cy="1572768"/>
          </a:xfrm>
          <a:prstGeom prst="rect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502920" y="0"/>
            <a:ext cx="8138160" cy="1572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Oswald"/>
              </a:rPr>
              <a:t>Let's See It in Action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1883664"/>
            <a:ext cx="8138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424242"/>
                </a:solidFill>
                <a:latin typeface="Source Code Pro"/>
              </a:rPr>
              <a:t>That is the instrument. Now we build one and run a real test in it.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02920" y="2450592"/>
            <a:ext cx="2542032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/>
          <p:cNvSpPr/>
          <p:nvPr/>
        </p:nvSpPr>
        <p:spPr>
          <a:xfrm>
            <a:off x="722376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722376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4088" y="3127248"/>
            <a:ext cx="2139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Build the Grid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4088" y="3511296"/>
            <a:ext cx="2139696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One Row per Run, One Column per Version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300983" y="2450592"/>
            <a:ext cx="2542032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3520439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3520439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502151" y="3127248"/>
            <a:ext cx="2139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Add One Variation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502151" y="3511296"/>
            <a:ext cx="2139696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Changed in the Template, Not the Row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099047" y="2450592"/>
            <a:ext cx="2542032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6318503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6318503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00215" y="3127248"/>
            <a:ext cx="2139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Run It Ten Times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00215" y="3511296"/>
            <a:ext cx="2139696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And Score Every Row the Same Way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