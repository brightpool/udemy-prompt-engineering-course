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Pre-Warming Chats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 short setup exchange gives later requests a shared working context.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Conversation Starts with a Compact Briefing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206240" cy="3218688"/>
          </a:xfrm>
          <a:prstGeom prst="roundRect">
            <a:avLst>
              <a:gd name="adj" fmla="val 167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We are launching a reporting feature.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8600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Audience: existing customers.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2496312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Source: the attached release notes.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27066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Launch Friday. Keep emails under 150 words.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2916936"/>
            <a:ext cx="3986783" cy="914400"/>
          </a:xfrm>
          <a:prstGeom prst="roundRect">
            <a:avLst>
              <a:gd name="adj" fmla="val 5000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792" y="303580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236976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Got it: reporting launch for existing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447288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customers, from the release notes, by Friday.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3904488"/>
            <a:ext cx="3913631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12064" y="399592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" y="4187952"/>
            <a:ext cx="254317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12064" y="419709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Now draft the announcement email.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1426464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A Good Brief Has Four Parts</a:t>
            </a:r>
          </a:p>
        </p:txBody>
      </p:sp>
      <p:grpSp>
        <p:nvGrpSpPr>
          <p:cNvPr id="4" name="Brief part: Goal"/>
          <p:cNvGrpSpPr/>
          <p:nvPr/>
        </p:nvGrpSpPr>
        <p:grpSpPr>
          <a:xfrm>
            <a:off x="4983480" y="1810512"/>
            <a:ext cx="3849624" cy="438912"/>
            <a:chOff x="4983480" y="1810512"/>
            <a:chExt cx="3849624" cy="438912"/>
          </a:xfrm>
        </p:grpSpPr>
        <p:sp>
          <p:nvSpPr>
            <p:cNvPr id="45" name="Oval 44"/>
            <p:cNvSpPr/>
            <p:nvPr/>
          </p:nvSpPr>
          <p:spPr>
            <a:xfrm>
              <a:off x="4983480" y="1828800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6" name="Picture 45" descr="target-E91D63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74005" y="1919325"/>
              <a:ext cx="221284" cy="221284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5513832" y="1810512"/>
              <a:ext cx="331927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Goal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513832" y="2029968"/>
              <a:ext cx="331927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 reporting feature launch</a:t>
              </a:r>
            </a:p>
          </p:txBody>
        </p:sp>
      </p:grpSp>
      <p:grpSp>
        <p:nvGrpSpPr>
          <p:cNvPr id="5" name="Brief part: Audience"/>
          <p:cNvGrpSpPr/>
          <p:nvPr/>
        </p:nvGrpSpPr>
        <p:grpSpPr>
          <a:xfrm>
            <a:off x="4983480" y="2377440"/>
            <a:ext cx="3849624" cy="438912"/>
            <a:chOff x="4983480" y="2377440"/>
            <a:chExt cx="3849624" cy="438912"/>
          </a:xfrm>
        </p:grpSpPr>
        <p:sp>
          <p:nvSpPr>
            <p:cNvPr id="49" name="Oval 48"/>
            <p:cNvSpPr/>
            <p:nvPr/>
          </p:nvSpPr>
          <p:spPr>
            <a:xfrm>
              <a:off x="4983480" y="2395728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0" name="Picture 49" descr="users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4005" y="2486253"/>
              <a:ext cx="221284" cy="221284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5513832" y="2377440"/>
              <a:ext cx="331927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Audience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513832" y="2596896"/>
              <a:ext cx="331927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Existing customers</a:t>
              </a:r>
            </a:p>
          </p:txBody>
        </p:sp>
      </p:grpSp>
      <p:grpSp>
        <p:nvGrpSpPr>
          <p:cNvPr id="6" name="Brief part: Source"/>
          <p:cNvGrpSpPr/>
          <p:nvPr/>
        </p:nvGrpSpPr>
        <p:grpSpPr>
          <a:xfrm>
            <a:off x="4983480" y="2944368"/>
            <a:ext cx="3849624" cy="438912"/>
            <a:chOff x="4983480" y="2944368"/>
            <a:chExt cx="3849624" cy="438912"/>
          </a:xfrm>
        </p:grpSpPr>
        <p:sp>
          <p:nvSpPr>
            <p:cNvPr id="53" name="Oval 52"/>
            <p:cNvSpPr/>
            <p:nvPr/>
          </p:nvSpPr>
          <p:spPr>
            <a:xfrm>
              <a:off x="4983480" y="2962656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4" name="Picture 53" descr="file-text-E91D6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74005" y="3053181"/>
              <a:ext cx="221284" cy="221284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5513832" y="2944368"/>
              <a:ext cx="331927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Source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513832" y="3163824"/>
              <a:ext cx="331927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release notes</a:t>
              </a:r>
            </a:p>
          </p:txBody>
        </p:sp>
      </p:grpSp>
      <p:grpSp>
        <p:nvGrpSpPr>
          <p:cNvPr id="7" name="Brief part: Constraints"/>
          <p:cNvGrpSpPr/>
          <p:nvPr/>
        </p:nvGrpSpPr>
        <p:grpSpPr>
          <a:xfrm>
            <a:off x="4983480" y="3511296"/>
            <a:ext cx="3849624" cy="438912"/>
            <a:chOff x="4983480" y="3511296"/>
            <a:chExt cx="3849624" cy="438912"/>
          </a:xfrm>
        </p:grpSpPr>
        <p:sp>
          <p:nvSpPr>
            <p:cNvPr id="57" name="Oval 56"/>
            <p:cNvSpPr/>
            <p:nvPr/>
          </p:nvSpPr>
          <p:spPr>
            <a:xfrm>
              <a:off x="4983480" y="3529584"/>
              <a:ext cx="402336" cy="40233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8" name="Picture 57" descr="ruler-E91D6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74005" y="3620109"/>
              <a:ext cx="221284" cy="221284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5513832" y="3511296"/>
              <a:ext cx="331927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Constraints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513832" y="3730752"/>
              <a:ext cx="331927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Friday, under 150 words</a:t>
              </a: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4983480" y="4151376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1D63"/>
                </a:solidFill>
                <a:latin typeface="Source Code Pro"/>
              </a:rPr>
              <a:t>Brief once. Later turns build on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The Current Request Sits on Top of Earlier Context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Stack: Latest Request"/>
          <p:cNvGrpSpPr/>
          <p:nvPr/>
        </p:nvGrpSpPr>
        <p:grpSpPr>
          <a:xfrm>
            <a:off x="310896" y="1426464"/>
            <a:ext cx="4480560" cy="548640"/>
            <a:chOff x="310896" y="1426464"/>
            <a:chExt cx="4480560" cy="548640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426464"/>
              <a:ext cx="4480560" cy="548640"/>
            </a:xfrm>
            <a:prstGeom prst="roundRect">
              <a:avLst>
                <a:gd name="adj" fmla="val 8333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Oval 26"/>
            <p:cNvSpPr/>
            <p:nvPr/>
          </p:nvSpPr>
          <p:spPr>
            <a:xfrm>
              <a:off x="402336" y="1508760"/>
              <a:ext cx="384048" cy="384048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message-square-FFFFF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746" y="1595170"/>
              <a:ext cx="211226" cy="211226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14400" y="1426464"/>
              <a:ext cx="192024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E91D63"/>
                  </a:solidFill>
                  <a:latin typeface="Source Code Pro"/>
                </a:rPr>
                <a:t>Latest Request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79776" y="1426464"/>
              <a:ext cx="1865376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This Turn's Task</a:t>
              </a:r>
            </a:p>
          </p:txBody>
        </p:sp>
      </p:grpSp>
      <p:grpSp>
        <p:nvGrpSpPr>
          <p:cNvPr id="5" name="Stack: Source Material"/>
          <p:cNvGrpSpPr/>
          <p:nvPr/>
        </p:nvGrpSpPr>
        <p:grpSpPr>
          <a:xfrm>
            <a:off x="310896" y="2048256"/>
            <a:ext cx="4480560" cy="548640"/>
            <a:chOff x="310896" y="2048256"/>
            <a:chExt cx="4480560" cy="548640"/>
          </a:xfrm>
        </p:grpSpPr>
        <p:sp>
          <p:nvSpPr>
            <p:cNvPr id="31" name="Rounded Rectangle 30"/>
            <p:cNvSpPr/>
            <p:nvPr/>
          </p:nvSpPr>
          <p:spPr>
            <a:xfrm>
              <a:off x="310896" y="2048256"/>
              <a:ext cx="4480560" cy="548640"/>
            </a:xfrm>
            <a:prstGeom prst="roundRect">
              <a:avLst>
                <a:gd name="adj" fmla="val 8333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Oval 31"/>
            <p:cNvSpPr/>
            <p:nvPr/>
          </p:nvSpPr>
          <p:spPr>
            <a:xfrm>
              <a:off x="402336" y="2130552"/>
              <a:ext cx="384048" cy="38404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3" name="Picture 32" descr="file-text-42424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746" y="2216962"/>
              <a:ext cx="211226" cy="211226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914400" y="2048256"/>
              <a:ext cx="192024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Source Material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779776" y="2048256"/>
              <a:ext cx="1865376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Facts It May Use</a:t>
              </a:r>
            </a:p>
          </p:txBody>
        </p:sp>
      </p:grpSp>
      <p:grpSp>
        <p:nvGrpSpPr>
          <p:cNvPr id="6" name="Stack: Audience"/>
          <p:cNvGrpSpPr/>
          <p:nvPr/>
        </p:nvGrpSpPr>
        <p:grpSpPr>
          <a:xfrm>
            <a:off x="310896" y="2670048"/>
            <a:ext cx="4480560" cy="548640"/>
            <a:chOff x="310896" y="2670048"/>
            <a:chExt cx="4480560" cy="548640"/>
          </a:xfrm>
        </p:grpSpPr>
        <p:sp>
          <p:nvSpPr>
            <p:cNvPr id="36" name="Rounded Rectangle 35"/>
            <p:cNvSpPr/>
            <p:nvPr/>
          </p:nvSpPr>
          <p:spPr>
            <a:xfrm>
              <a:off x="310896" y="2670048"/>
              <a:ext cx="4480560" cy="548640"/>
            </a:xfrm>
            <a:prstGeom prst="roundRect">
              <a:avLst>
                <a:gd name="adj" fmla="val 8333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Oval 36"/>
            <p:cNvSpPr/>
            <p:nvPr/>
          </p:nvSpPr>
          <p:spPr>
            <a:xfrm>
              <a:off x="402336" y="2752344"/>
              <a:ext cx="384048" cy="38404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users-42424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8746" y="2838754"/>
              <a:ext cx="211226" cy="211226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914400" y="2670048"/>
              <a:ext cx="192024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Audience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79776" y="2670048"/>
              <a:ext cx="1865376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Who It Serves</a:t>
              </a:r>
            </a:p>
          </p:txBody>
        </p:sp>
      </p:grpSp>
      <p:grpSp>
        <p:nvGrpSpPr>
          <p:cNvPr id="7" name="Stack: Stable Goal"/>
          <p:cNvGrpSpPr/>
          <p:nvPr/>
        </p:nvGrpSpPr>
        <p:grpSpPr>
          <a:xfrm>
            <a:off x="310896" y="3291839"/>
            <a:ext cx="4480560" cy="548640"/>
            <a:chOff x="310896" y="3291839"/>
            <a:chExt cx="4480560" cy="548640"/>
          </a:xfrm>
        </p:grpSpPr>
        <p:sp>
          <p:nvSpPr>
            <p:cNvPr id="41" name="Rounded Rectangle 40"/>
            <p:cNvSpPr/>
            <p:nvPr/>
          </p:nvSpPr>
          <p:spPr>
            <a:xfrm>
              <a:off x="310896" y="3291839"/>
              <a:ext cx="4480560" cy="548640"/>
            </a:xfrm>
            <a:prstGeom prst="roundRect">
              <a:avLst>
                <a:gd name="adj" fmla="val 8333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Oval 41"/>
            <p:cNvSpPr/>
            <p:nvPr/>
          </p:nvSpPr>
          <p:spPr>
            <a:xfrm>
              <a:off x="402336" y="3374135"/>
              <a:ext cx="384048" cy="38404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42" descr="target-42424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746" y="3460546"/>
              <a:ext cx="211226" cy="211226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914400" y="3291839"/>
              <a:ext cx="192024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Stable Goal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79776" y="3291839"/>
              <a:ext cx="1865376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What the Work Is For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310896" y="3895343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Turn 1: the brief. Turn 5: the latest request.</a:t>
            </a:r>
          </a:p>
        </p:txBody>
      </p:sp>
      <p:grpSp>
        <p:nvGrpSpPr>
          <p:cNvPr id="8" name="Bracket"/>
          <p:cNvGrpSpPr/>
          <p:nvPr/>
        </p:nvGrpSpPr>
        <p:grpSpPr>
          <a:xfrm>
            <a:off x="4901184" y="1426464"/>
            <a:ext cx="548640" cy="2414015"/>
            <a:chOff x="4901184" y="1426464"/>
            <a:chExt cx="548640" cy="2414015"/>
          </a:xfrm>
        </p:grpSpPr>
        <p:sp>
          <p:nvSpPr>
            <p:cNvPr id="47" name="Rectangle 46"/>
            <p:cNvSpPr/>
            <p:nvPr/>
          </p:nvSpPr>
          <p:spPr>
            <a:xfrm>
              <a:off x="4992624" y="1426464"/>
              <a:ext cx="18288" cy="2414015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Rectangle 47"/>
            <p:cNvSpPr/>
            <p:nvPr/>
          </p:nvSpPr>
          <p:spPr>
            <a:xfrm>
              <a:off x="4901184" y="1426464"/>
              <a:ext cx="109728" cy="18288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9" name="Rectangle 48"/>
            <p:cNvSpPr/>
            <p:nvPr/>
          </p:nvSpPr>
          <p:spPr>
            <a:xfrm>
              <a:off x="4901184" y="3822191"/>
              <a:ext cx="109728" cy="18288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0" name="Right Arrow 49"/>
            <p:cNvSpPr/>
            <p:nvPr/>
          </p:nvSpPr>
          <p:spPr>
            <a:xfrm>
              <a:off x="5084064" y="2578608"/>
              <a:ext cx="365760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5596128" y="1920240"/>
            <a:ext cx="3236976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1D63"/>
                </a:solidFill>
                <a:latin typeface="Source Code Pro"/>
              </a:rPr>
              <a:t>The Model Reads the Whole Stack, Every Turn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96128" y="2615184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It is not smarter. It just has a clearer history.</a:t>
            </a:r>
          </a:p>
        </p:txBody>
      </p:sp>
      <p:grpSp>
        <p:nvGrpSpPr>
          <p:cNvPr id="9" name="Tip: restate the brief"/>
          <p:cNvGrpSpPr/>
          <p:nvPr/>
        </p:nvGrpSpPr>
        <p:grpSpPr>
          <a:xfrm>
            <a:off x="310896" y="4242816"/>
            <a:ext cx="8522208" cy="365760"/>
            <a:chOff x="310896" y="4242816"/>
            <a:chExt cx="8522208" cy="365760"/>
          </a:xfrm>
        </p:grpSpPr>
        <p:sp>
          <p:nvSpPr>
            <p:cNvPr id="53" name="Oval 52"/>
            <p:cNvSpPr/>
            <p:nvPr/>
          </p:nvSpPr>
          <p:spPr>
            <a:xfrm>
              <a:off x="310896" y="4242816"/>
              <a:ext cx="365760" cy="36576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4" name="Picture 53" descr="circle-check-E91D63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3192" y="4325112"/>
              <a:ext cx="201168" cy="201168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786384" y="4242816"/>
              <a:ext cx="804672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Ask it to restate the brief, and fix errors before the real task.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Shared Context Improves Continuity Across Turns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Timeline: Cold Request"/>
          <p:cNvGrpSpPr/>
          <p:nvPr/>
        </p:nvGrpSpPr>
        <p:grpSpPr>
          <a:xfrm>
            <a:off x="310896" y="1389888"/>
            <a:ext cx="8522208" cy="859536"/>
            <a:chOff x="310896" y="1389888"/>
            <a:chExt cx="8522208" cy="859536"/>
          </a:xfrm>
        </p:grpSpPr>
        <p:sp>
          <p:nvSpPr>
            <p:cNvPr id="26" name="Oval 25"/>
            <p:cNvSpPr/>
            <p:nvPr/>
          </p:nvSpPr>
          <p:spPr>
            <a:xfrm>
              <a:off x="310896" y="1389888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zap-42424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847" y="1459839"/>
              <a:ext cx="170992" cy="170992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713232" y="1389888"/>
              <a:ext cx="36576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Cold Request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10896" y="1828800"/>
              <a:ext cx="1924812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TextBox 29"/>
            <p:cNvSpPr txBox="1"/>
            <p:nvPr/>
          </p:nvSpPr>
          <p:spPr>
            <a:xfrm>
              <a:off x="384048" y="1828800"/>
              <a:ext cx="1778507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One Giant Prompt</a:t>
              </a:r>
            </a:p>
          </p:txBody>
        </p:sp>
        <p:sp>
          <p:nvSpPr>
            <p:cNvPr id="31" name="Right Arrow 30"/>
            <p:cNvSpPr/>
            <p:nvPr/>
          </p:nvSpPr>
          <p:spPr>
            <a:xfrm>
              <a:off x="2290572" y="1984248"/>
              <a:ext cx="164592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2510027" y="1828800"/>
              <a:ext cx="1924812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TextBox 32"/>
            <p:cNvSpPr txBox="1"/>
            <p:nvPr/>
          </p:nvSpPr>
          <p:spPr>
            <a:xfrm>
              <a:off x="2583179" y="1828800"/>
              <a:ext cx="1778507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First Output</a:t>
              </a:r>
            </a:p>
          </p:txBody>
        </p:sp>
        <p:sp>
          <p:nvSpPr>
            <p:cNvPr id="34" name="Right Arrow 33"/>
            <p:cNvSpPr/>
            <p:nvPr/>
          </p:nvSpPr>
          <p:spPr>
            <a:xfrm>
              <a:off x="4489703" y="1984248"/>
              <a:ext cx="164592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709159" y="1828800"/>
              <a:ext cx="1924812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6" name="Picture 35" descr="triangle-alert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8888" y="1938528"/>
              <a:ext cx="201168" cy="201168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5056631" y="1828800"/>
              <a:ext cx="1504187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Fix Afterwards</a:t>
              </a:r>
            </a:p>
          </p:txBody>
        </p:sp>
        <p:sp>
          <p:nvSpPr>
            <p:cNvPr id="38" name="Right Arrow 37"/>
            <p:cNvSpPr/>
            <p:nvPr/>
          </p:nvSpPr>
          <p:spPr>
            <a:xfrm>
              <a:off x="6688835" y="1984248"/>
              <a:ext cx="164592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6908292" y="1828800"/>
              <a:ext cx="1924812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40" name="Picture 39" descr="refresh-ccw-42424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18020" y="1938528"/>
              <a:ext cx="201168" cy="201168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7255764" y="1828800"/>
              <a:ext cx="1504188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Start Over</a:t>
              </a:r>
            </a:p>
          </p:txBody>
        </p:sp>
      </p:grpSp>
      <p:grpSp>
        <p:nvGrpSpPr>
          <p:cNvPr id="5" name="Timeline: Prepared Conversation"/>
          <p:cNvGrpSpPr/>
          <p:nvPr/>
        </p:nvGrpSpPr>
        <p:grpSpPr>
          <a:xfrm>
            <a:off x="310896" y="2542032"/>
            <a:ext cx="8522207" cy="1261872"/>
            <a:chOff x="310896" y="2542032"/>
            <a:chExt cx="8522207" cy="1261872"/>
          </a:xfrm>
        </p:grpSpPr>
        <p:sp>
          <p:nvSpPr>
            <p:cNvPr id="42" name="Oval 41"/>
            <p:cNvSpPr/>
            <p:nvPr/>
          </p:nvSpPr>
          <p:spPr>
            <a:xfrm>
              <a:off x="310896" y="254203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42" descr="message-square-E91D6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0847" y="2611983"/>
              <a:ext cx="170992" cy="170992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713232" y="2542032"/>
              <a:ext cx="36576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Prepared Conversation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10896" y="2980944"/>
              <a:ext cx="1484985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TextBox 45"/>
            <p:cNvSpPr txBox="1"/>
            <p:nvPr/>
          </p:nvSpPr>
          <p:spPr>
            <a:xfrm>
              <a:off x="384048" y="2980944"/>
              <a:ext cx="1338681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Brief</a:t>
              </a:r>
            </a:p>
          </p:txBody>
        </p:sp>
        <p:sp>
          <p:nvSpPr>
            <p:cNvPr id="47" name="Right Arrow 46"/>
            <p:cNvSpPr/>
            <p:nvPr/>
          </p:nvSpPr>
          <p:spPr>
            <a:xfrm>
              <a:off x="1850745" y="3136391"/>
              <a:ext cx="164592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2070201" y="2980944"/>
              <a:ext cx="1484985" cy="420624"/>
            </a:xfrm>
            <a:prstGeom prst="roundRect">
              <a:avLst>
                <a:gd name="adj" fmla="val 21739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49" name="Picture 48" descr="circle-check-E91D63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79929" y="3090672"/>
              <a:ext cx="201168" cy="201168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2417673" y="2980944"/>
              <a:ext cx="1064361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Confirm</a:t>
              </a:r>
            </a:p>
          </p:txBody>
        </p:sp>
        <p:sp>
          <p:nvSpPr>
            <p:cNvPr id="51" name="Right Arrow 50"/>
            <p:cNvSpPr/>
            <p:nvPr/>
          </p:nvSpPr>
          <p:spPr>
            <a:xfrm>
              <a:off x="3610051" y="3136391"/>
              <a:ext cx="164592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829507" y="2980944"/>
              <a:ext cx="1484985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3" name="TextBox 52"/>
            <p:cNvSpPr txBox="1"/>
            <p:nvPr/>
          </p:nvSpPr>
          <p:spPr>
            <a:xfrm>
              <a:off x="3902659" y="2980944"/>
              <a:ext cx="1338681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Task 1</a:t>
              </a:r>
            </a:p>
          </p:txBody>
        </p:sp>
        <p:sp>
          <p:nvSpPr>
            <p:cNvPr id="54" name="Right Arrow 53"/>
            <p:cNvSpPr/>
            <p:nvPr/>
          </p:nvSpPr>
          <p:spPr>
            <a:xfrm>
              <a:off x="5369356" y="3136391"/>
              <a:ext cx="164592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5588812" y="2980944"/>
              <a:ext cx="1484985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6" name="TextBox 55"/>
            <p:cNvSpPr txBox="1"/>
            <p:nvPr/>
          </p:nvSpPr>
          <p:spPr>
            <a:xfrm>
              <a:off x="5661964" y="2980944"/>
              <a:ext cx="1338681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Task 2</a:t>
              </a:r>
            </a:p>
          </p:txBody>
        </p:sp>
        <p:sp>
          <p:nvSpPr>
            <p:cNvPr id="57" name="Right Arrow 56"/>
            <p:cNvSpPr/>
            <p:nvPr/>
          </p:nvSpPr>
          <p:spPr>
            <a:xfrm>
              <a:off x="7128662" y="3136391"/>
              <a:ext cx="164592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348118" y="2980944"/>
              <a:ext cx="1484985" cy="420624"/>
            </a:xfrm>
            <a:prstGeom prst="roundRect">
              <a:avLst>
                <a:gd name="adj" fmla="val 21739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9" name="TextBox 58"/>
            <p:cNvSpPr txBox="1"/>
            <p:nvPr/>
          </p:nvSpPr>
          <p:spPr>
            <a:xfrm>
              <a:off x="7421270" y="2980944"/>
              <a:ext cx="1338681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200" b="0">
                  <a:solidFill>
                    <a:srgbClr val="424242"/>
                  </a:solidFill>
                  <a:latin typeface="Source Code Pro"/>
                </a:rPr>
                <a:t>Task 3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829507" y="3511296"/>
              <a:ext cx="5003596" cy="2743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1" name="TextBox 60"/>
            <p:cNvSpPr txBox="1"/>
            <p:nvPr/>
          </p:nvSpPr>
          <p:spPr>
            <a:xfrm>
              <a:off x="3829507" y="3566160"/>
              <a:ext cx="500359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One Shared Brief, Reused</a:t>
              </a:r>
            </a:p>
          </p:txBody>
        </p:sp>
      </p:grpSp>
      <p:grpSp>
        <p:nvGrpSpPr>
          <p:cNvPr id="6" name="Failure mode"/>
          <p:cNvGrpSpPr/>
          <p:nvPr/>
        </p:nvGrpSpPr>
        <p:grpSpPr>
          <a:xfrm>
            <a:off x="310896" y="4059936"/>
            <a:ext cx="8522208" cy="365760"/>
            <a:chOff x="310896" y="4059936"/>
            <a:chExt cx="8522208" cy="365760"/>
          </a:xfrm>
        </p:grpSpPr>
        <p:sp>
          <p:nvSpPr>
            <p:cNvPr id="62" name="Oval 61"/>
            <p:cNvSpPr/>
            <p:nvPr/>
          </p:nvSpPr>
          <p:spPr>
            <a:xfrm>
              <a:off x="310896" y="4059936"/>
              <a:ext cx="365760" cy="36576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3" name="Picture 62" descr="triangle-alert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3192" y="4142232"/>
              <a:ext cx="201168" cy="201168"/>
            </a:xfrm>
            <a:prstGeom prst="rect">
              <a:avLst/>
            </a:prstGeom>
          </p:spPr>
        </p:pic>
        <p:sp>
          <p:nvSpPr>
            <p:cNvPr id="64" name="TextBox 63"/>
            <p:cNvSpPr txBox="1"/>
            <p:nvPr/>
          </p:nvSpPr>
          <p:spPr>
            <a:xfrm>
              <a:off x="786384" y="4059936"/>
              <a:ext cx="804672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Watch for stale or bloated history. When the brief changes, open a fresh chat.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Next, we prepare the chat before asking for the deliverable.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a Fresh Chat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Start Clean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Give a Compact Brief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Goal and Audience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Confirm the Context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Correct the Summary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Give the Real Task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Reuse the Shared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