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1a451a64324003" /><Relationship Type="http://schemas.openxmlformats.org/officeDocument/2006/relationships/extended-properties" Target="/docProps/app.xml" Id="R9ed4e2b4cd90412d" /><Relationship Type="http://schemas.openxmlformats.org/officeDocument/2006/relationships/officeDocument" Target="/ppt/presentation.xml" Id="R605cf8ea24fb4d9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4c6eae88feb4b38"/>
  </p:sldMasterIdLst>
  <p:notesMasterIdLst>
    <p:notesMasterId xmlns:r="http://schemas.openxmlformats.org/officeDocument/2006/relationships" r:id="R1210a416ed50488e"/>
  </p:notesMasterIdLst>
  <p:sldIdLst>
    <p:sldId xmlns:r="http://schemas.openxmlformats.org/officeDocument/2006/relationships" id="256" r:id="Rc69e07fb331e4ea7"/>
    <p:sldId xmlns:r="http://schemas.openxmlformats.org/officeDocument/2006/relationships" id="257" r:id="Rf99b908867004fef"/>
    <p:sldId xmlns:r="http://schemas.openxmlformats.org/officeDocument/2006/relationships" id="258" r:id="R78335c7b145245aa"/>
    <p:sldId xmlns:r="http://schemas.openxmlformats.org/officeDocument/2006/relationships" id="259" r:id="R200e5f68f27841ba"/>
    <p:sldId xmlns:r="http://schemas.openxmlformats.org/officeDocument/2006/relationships" id="260" r:id="R0dd137e71d41468c"/>
    <p:sldId xmlns:r="http://schemas.openxmlformats.org/officeDocument/2006/relationships" id="261" r:id="R5fd1ff4a52d646df"/>
  </p:sldIdLst>
  <p:sldSz cx="9144000" cy="5143500"/>
  <p:notesSz cx="6858000" cy="9144000"/>
  <p:embeddedFontLst>
    <p:embeddedFont>
      <p:font typeface="Source Code Pro"/>
      <p:regular xmlns:r="http://schemas.openxmlformats.org/officeDocument/2006/relationships" r:id="R08fe14a9308842a4"/>
      <p:bold xmlns:r="http://schemas.openxmlformats.org/officeDocument/2006/relationships" r:id="R5f9cc96ff0964f1a"/>
      <p:italic xmlns:r="http://schemas.openxmlformats.org/officeDocument/2006/relationships" r:id="R2a881cb0855e44bb"/>
      <p:boldItalic xmlns:r="http://schemas.openxmlformats.org/officeDocument/2006/relationships" r:id="Rc856436956f84044"/>
    </p:embeddedFont>
    <p:embeddedFont>
      <p:font typeface="Oswald"/>
      <p:regular xmlns:r="http://schemas.openxmlformats.org/officeDocument/2006/relationships" r:id="R5fba5bf5e75a44c3"/>
      <p:bold xmlns:r="http://schemas.openxmlformats.org/officeDocument/2006/relationships" r:id="Rf29e987bb8b64a3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a8124254fa6148a7" /><Relationship Type="http://schemas.openxmlformats.org/officeDocument/2006/relationships/slideMaster" Target="/ppt/slideMasters/slideMaster1.xml" Id="R74c6eae88feb4b38" /><Relationship Type="http://schemas.openxmlformats.org/officeDocument/2006/relationships/notesMaster" Target="/ppt/notesMasters/notesMaster1.xml" Id="R1210a416ed50488e" /><Relationship Type="http://schemas.openxmlformats.org/officeDocument/2006/relationships/presProps" Target="/ppt/presProps.xml" Id="Rf28b97c96e024297" /><Relationship Type="http://schemas.openxmlformats.org/officeDocument/2006/relationships/viewProps" Target="/ppt/viewProps.xml" Id="R7b99bc4073e14a49" /><Relationship Type="http://schemas.openxmlformats.org/officeDocument/2006/relationships/tableStyles" Target="/ppt/tableStyles.xml" Id="Rbb7b6bc28f8841a0" /><Relationship Type="http://schemas.openxmlformats.org/officeDocument/2006/relationships/font" Target="/ppt/fonts/font.dat" Id="R08fe14a9308842a4" /><Relationship Type="http://schemas.openxmlformats.org/officeDocument/2006/relationships/font" Target="/ppt/fonts/font2.dat" Id="R5f9cc96ff0964f1a" /><Relationship Type="http://schemas.openxmlformats.org/officeDocument/2006/relationships/font" Target="/ppt/fonts/font3.dat" Id="R2a881cb0855e44bb" /><Relationship Type="http://schemas.openxmlformats.org/officeDocument/2006/relationships/font" Target="/ppt/fonts/font4.dat" Id="Rc856436956f84044" /><Relationship Type="http://schemas.openxmlformats.org/officeDocument/2006/relationships/font" Target="/ppt/fonts/font5.dat" Id="R5fba5bf5e75a44c3" /><Relationship Type="http://schemas.openxmlformats.org/officeDocument/2006/relationships/font" Target="/ppt/fonts/font6.dat" Id="Rf29e987bb8b64a3c" /><Relationship Type="http://schemas.openxmlformats.org/officeDocument/2006/relationships/slide" Target="/ppt/slides/slide1.xml" Id="Rc69e07fb331e4ea7" /><Relationship Type="http://schemas.openxmlformats.org/officeDocument/2006/relationships/slide" Target="/ppt/slides/slide2.xml" Id="Rf99b908867004fef" /><Relationship Type="http://schemas.openxmlformats.org/officeDocument/2006/relationships/slide" Target="/ppt/slides/slide3.xml" Id="R78335c7b145245aa" /><Relationship Type="http://schemas.openxmlformats.org/officeDocument/2006/relationships/slide" Target="/ppt/slides/slide4.xml" Id="R200e5f68f27841ba" /><Relationship Type="http://schemas.openxmlformats.org/officeDocument/2006/relationships/slide" Target="/ppt/slides/slide5.xml" Id="R0dd137e71d41468c" /><Relationship Type="http://schemas.openxmlformats.org/officeDocument/2006/relationships/slide" Target="/ppt/slides/slide6.xml" Id="R5fd1ff4a52d646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9b6b2ea1e24c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bbdc7e725548d5" /><Relationship Type="http://schemas.openxmlformats.org/officeDocument/2006/relationships/notesMaster" Target="/ppt/notesMasters/notesMaster1.xml" Id="R734562dbf3a349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4fbd911a3844bd" /><Relationship Type="http://schemas.openxmlformats.org/officeDocument/2006/relationships/notesMaster" Target="/ppt/notesMasters/notesMaster1.xml" Id="Rdcb00a949d324d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404962d3ff4062" /><Relationship Type="http://schemas.openxmlformats.org/officeDocument/2006/relationships/notesMaster" Target="/ppt/notesMasters/notesMaster1.xml" Id="R2b4eb5f578724d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468a078d684055" /><Relationship Type="http://schemas.openxmlformats.org/officeDocument/2006/relationships/notesMaster" Target="/ppt/notesMasters/notesMaster1.xml" Id="Ra7315c151e7348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7942d6c96d4c54" /><Relationship Type="http://schemas.openxmlformats.org/officeDocument/2006/relationships/notesMaster" Target="/ppt/notesMasters/notesMaster1.xml" Id="R53a14d1419604d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c48f920eb042b2" /><Relationship Type="http://schemas.openxmlformats.org/officeDocument/2006/relationships/notesMaster" Target="/ppt/notesMasters/notesMaster1.xml" Id="Raf85f82985be4c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will use the gateway inside a small agent. The task is simple: answer a customer question about a product and delivery. We will give the model two Python functions, let it request them and inspect the evidence before trusting the final answer. This introduces the agent loop without needing a larger framework.</a:t>
            </a:r>
          </a:p>
          <a:p xmlns:a="http://schemas.openxmlformats.org/drawingml/2006/main">
            <a:r>
              <a:t/>
            </a:r>
          </a:p>
          <a:p xmlns:a="http://schemas.openxmlformats.org/drawingml/2006/main">
            <a:r>
              <a:t>Sources: https://openrouter.ai/docs/guides/features/tool-calling</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asks about the blue mug and delivery to the UK. Our sample product lookup returns a price of twelve pounds and stock of eight. The shipping lookup returns three pounds. The verified total is fifteen pounds. These are read-only Python functions over a small local dataset. They do not browse, charge a customer or place an order. Making the task small lets us explain exactly which decisions the model makes and which facts the application supplies.</a:t>
            </a:r>
          </a:p>
          <a:p xmlns:a="http://schemas.openxmlformats.org/drawingml/2006/main">
            <a:r>
              <a:t/>
            </a:r>
          </a:p>
          <a:p xmlns:a="http://schemas.openxmlformats.org/drawingml/2006/main">
            <a:r>
              <a:t>Sources: https://openrouter.ai/docs/guides/features/tool-calling</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tool definition tells the model what a function does and what arguments it accepts. When the model requests a tool, our application validates the name and arguments, executes the allowed function and returns its result with the original tool call ID. Then we ask the model again. It may request another tool or provide its answer. OpenRouter routes the model calls; our Python code runs this loop. We bound both model turns and tool calls so an unfinished task cannot continue indefinitely.</a:t>
            </a:r>
          </a:p>
          <a:p xmlns:a="http://schemas.openxmlformats.org/drawingml/2006/main">
            <a:r>
              <a:t/>
            </a:r>
          </a:p>
          <a:p xmlns:a="http://schemas.openxmlformats.org/drawingml/2006/main">
            <a:r>
              <a:t>Sources: https://openrouter.ai/docs/guides/features/tool-calling</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connection and the model call from the notebook. We use the OpenAI Python SDK with OpenRouter as the base URL and a separate OpenRouter key. MODEL is a selected model ID, messages is the conversation and TOOLS contains our function schemas. Before running, we check that the model advertises tool support and require an eligible provider to honour the parameters. The output cap is useful, but total task cost includes every turn and any extra tools. Keep the key private on the backend.</a:t>
            </a:r>
          </a:p>
          <a:p xmlns:a="http://schemas.openxmlformats.org/drawingml/2006/main">
            <a:r>
              <a:t/>
            </a:r>
          </a:p>
          <a:p xmlns:a="http://schemas.openxmlformats.org/drawingml/2006/main">
            <a:r>
              <a:t>Sources: https://openrouter.ai/docs/quickstart</a:t>
            </a:r>
          </a:p>
          <a:p xmlns:a="http://schemas.openxmlformats.org/drawingml/2006/main">
            <a:r>
              <a:t>https://openrouter.ai/docs/guides/features/tool-calling</a:t>
            </a:r>
          </a:p>
          <a:p xmlns:a="http://schemas.openxmlformats.org/drawingml/2006/main">
            <a:r>
              <a:t>https://openrouter.ai/models</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records each tool request and result. Its assertions check that both expected tools ran successfully and returned the expected sample data. We then read the final answer to verify the quoted stock, prices and total. A fluent answer is not evidence of correct execution. Keep a fixed function dispatcher, validate arguments and cap the loop. When you later add actions such as sending an email or placing an order, design the required permissions and user confirmation into your application.</a:t>
            </a:r>
          </a:p>
          <a:p xmlns:a="http://schemas.openxmlformats.org/drawingml/2006/main">
            <a:r>
              <a:t/>
            </a:r>
          </a:p>
          <a:p xmlns:a="http://schemas.openxmlformats.org/drawingml/2006/main">
            <a:r>
              <a:t>Sources: https://openrouter.ai/docs/guides/features/tool-calling</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loop finishes, settle the cost of all its generation IDs rather than counting only the last answer. The notebook then demonstrates an idempotent customer credit ledger. For a useful extension, switch to another tool-capable model and rerun the same task. Compare whether it chose the correct tools, produced the correct total and stayed within the turn limit. This shows how a gateway supports model choice while your application continues to own tool execution, evaluation and billing policy.</a:t>
            </a:r>
          </a:p>
          <a:p xmlns:a="http://schemas.openxmlformats.org/drawingml/2006/main">
            <a:r>
              <a:t/>
            </a:r>
          </a:p>
          <a:p xmlns:a="http://schemas.openxmlformats.org/drawingml/2006/main">
            <a:r>
              <a:t>Sources: https://openrouter.ai/docs/api/api-reference/generations/get-request-&amp;-usage-metadata-for-a-generation</a:t>
            </a:r>
          </a:p>
          <a:p xmlns:a="http://schemas.openxmlformats.org/drawingml/2006/main">
            <a:r>
              <a:t>https://openrouter.ai/docs/guides/features/tool-calling</a:t>
            </a:r>
          </a:p>
          <a:p xmlns:a="http://schemas.openxmlformats.org/drawingml/2006/main">
            <a:r>
              <a:t>https://colab.research.google.com/github/BrightPool/udemy-prompt-engineering-course/blob/main/model_gateways/openrouter_features_and_agent.ipynb</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ec308585a047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c4f85a5c6e4d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1a2faacfd645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0dd49545c14d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5d8fa8597d4f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e74d42017e434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16c972eca8e491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8d7596b60354b0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56996bb3bf1438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ce1310903ac43e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3c85f1049334b0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A15C65A5-BA3E-4C19-A24D-AB3E7A532164}"/>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2">
            <a:extLst xmlns:a="http://schemas.openxmlformats.org/drawingml/2006/main">
              <a:ext uri="{FF2B5EF4-FFF2-40B4-BE49-F238E27FC236}">
                <a16:creationId xmlns:a16="http://schemas.microsoft.com/office/drawing/2014/main" id="{162B3FEA-4A4D-4D17-83A0-396BF2B1BD61}"/>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2">
            <a:extLst xmlns:a="http://schemas.openxmlformats.org/drawingml/2006/main">
              <a:ext uri="{FF2B5EF4-FFF2-40B4-BE49-F238E27FC236}">
                <a16:creationId xmlns:a16="http://schemas.microsoft.com/office/drawing/2014/main" id="{234833DA-804B-409E-8D51-C0D186420F8F}"/>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2867F6C9-9A7E-428B-BA66-EC013935E421}"/>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25EF01C0-89D0-47BF-9204-50B0CC57610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2">
            <a:extLst xmlns:a="http://schemas.openxmlformats.org/drawingml/2006/main">
              <a:ext uri="{FF2B5EF4-FFF2-40B4-BE49-F238E27FC236}">
                <a16:creationId xmlns:a16="http://schemas.microsoft.com/office/drawing/2014/main" id="{34E2A308-C6EE-49E1-AB5C-F25412E21F4B}"/>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2" name="Google Shape;17;p3"/>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3">
            <a:extLst xmlns:a="http://schemas.openxmlformats.org/drawingml/2006/main">
              <a:ext uri="{FF2B5EF4-FFF2-40B4-BE49-F238E27FC236}">
                <a16:creationId xmlns:a16="http://schemas.microsoft.com/office/drawing/2014/main" id="{87F5BB49-83F9-40BF-8CBD-BB5C118AA62B}"/>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E0FBCDC4-D440-4354-92B3-0AFCA2582357}"/>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D064FA41-A104-4071-ACC3-7295F3847D0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3">
            <a:extLst xmlns:a="http://schemas.openxmlformats.org/drawingml/2006/main">
              <a:ext uri="{FF2B5EF4-FFF2-40B4-BE49-F238E27FC236}">
                <a16:creationId xmlns:a16="http://schemas.microsoft.com/office/drawing/2014/main" id="{29193AED-2D89-4DB1-98AC-ADB7A91F006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FC7A2C27-6D1D-489C-A591-E9B495DF3AC0}"/>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4" name="Google Shape;24;p4">
            <a:extLst xmlns:a="http://schemas.openxmlformats.org/drawingml/2006/main">
              <a:ext uri="{FF2B5EF4-FFF2-40B4-BE49-F238E27FC236}">
                <a16:creationId xmlns:a16="http://schemas.microsoft.com/office/drawing/2014/main" id="{FEACC9D7-2F32-44A2-983E-A933466D1D93}"/>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E2255720-CA3E-4F6A-8F60-3F0C076CA84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4">
            <a:extLst xmlns:a="http://schemas.openxmlformats.org/drawingml/2006/main">
              <a:ext uri="{FF2B5EF4-FFF2-40B4-BE49-F238E27FC236}">
                <a16:creationId xmlns:a16="http://schemas.microsoft.com/office/drawing/2014/main" id="{DE39FBD4-C470-4E3E-ABDC-2BF5A09BF19E}"/>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34" name="Google Shape;28;p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9" name="Google Shape;29;p5">
            <a:extLst xmlns:a="http://schemas.openxmlformats.org/drawingml/2006/main">
              <a:ext uri="{FF2B5EF4-FFF2-40B4-BE49-F238E27FC236}">
                <a16:creationId xmlns:a16="http://schemas.microsoft.com/office/drawing/2014/main" id="{132130CE-2097-4985-9D04-CE9FE2EB56C2}"/>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70BF43CA-9E2C-4737-A329-542ACC33D103}"/>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EA7441F0-B26C-4851-B0E3-DD34C864DE14}"/>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E1B664A4-9F83-41F1-8FEE-6E2F4704C19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3" name="Google Shape;33;p5">
            <a:extLst xmlns:a="http://schemas.openxmlformats.org/drawingml/2006/main">
              <a:ext uri="{FF2B5EF4-FFF2-40B4-BE49-F238E27FC236}">
                <a16:creationId xmlns:a16="http://schemas.microsoft.com/office/drawing/2014/main" id="{77D36C6A-956F-4EE3-B089-A03334B4706C}"/>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B2115EE3-0FBA-42E8-AAE9-8FAA49EA9CA0}"/>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4DA8BA-2579-4B17-86D2-2377595AB65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7" name="Google Shape;37;p6">
            <a:extLst xmlns:a="http://schemas.openxmlformats.org/drawingml/2006/main">
              <a:ext uri="{FF2B5EF4-FFF2-40B4-BE49-F238E27FC236}">
                <a16:creationId xmlns:a16="http://schemas.microsoft.com/office/drawing/2014/main" id="{8E75BA9B-22D7-4328-B806-F7424082D56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4" name="Google Shape;39;p7"/>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0" name="Google Shape;40;p7">
            <a:extLst xmlns:a="http://schemas.openxmlformats.org/drawingml/2006/main">
              <a:ext uri="{FF2B5EF4-FFF2-40B4-BE49-F238E27FC236}">
                <a16:creationId xmlns:a16="http://schemas.microsoft.com/office/drawing/2014/main" id="{4C217D8A-AC2D-4B54-83E9-3D6C4C0AD635}"/>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1" name="Google Shape;41;p7">
            <a:extLst xmlns:a="http://schemas.openxmlformats.org/drawingml/2006/main">
              <a:ext uri="{FF2B5EF4-FFF2-40B4-BE49-F238E27FC236}">
                <a16:creationId xmlns:a16="http://schemas.microsoft.com/office/drawing/2014/main" id="{890BB6E8-1EE1-42DE-9DB0-0E383EA2F172}"/>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89CEDB3F-FF14-4A00-93E0-FD38D7E6E00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7">
            <a:extLst xmlns:a="http://schemas.openxmlformats.org/drawingml/2006/main">
              <a:ext uri="{FF2B5EF4-FFF2-40B4-BE49-F238E27FC236}">
                <a16:creationId xmlns:a16="http://schemas.microsoft.com/office/drawing/2014/main" id="{14B8E6E3-1424-4D08-B136-D30297CE6E7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5" name="Google Shape;45;p8">
            <a:extLst xmlns:a="http://schemas.openxmlformats.org/drawingml/2006/main">
              <a:ext uri="{FF2B5EF4-FFF2-40B4-BE49-F238E27FC236}">
                <a16:creationId xmlns:a16="http://schemas.microsoft.com/office/drawing/2014/main" id="{67D977A5-FE94-47E4-8708-42CE6E97C4BC}"/>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3314E0F4-F567-42C3-B700-213B5DBE7B7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7" name="Google Shape;47;p8">
            <a:extLst xmlns:a="http://schemas.openxmlformats.org/drawingml/2006/main">
              <a:ext uri="{FF2B5EF4-FFF2-40B4-BE49-F238E27FC236}">
                <a16:creationId xmlns:a16="http://schemas.microsoft.com/office/drawing/2014/main" id="{9F3DEB48-73EC-4225-936B-24A97F157CD7}"/>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49" name="Google Shape;49;p9">
            <a:extLst xmlns:a="http://schemas.openxmlformats.org/drawingml/2006/main">
              <a:ext uri="{FF2B5EF4-FFF2-40B4-BE49-F238E27FC236}">
                <a16:creationId xmlns:a16="http://schemas.microsoft.com/office/drawing/2014/main" id="{89D28E0C-12C6-4D5F-A473-69444EA13D0D}"/>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57" name="Google Shape;50;p9"/>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1" name="Google Shape;51;p9">
            <a:extLst xmlns:a="http://schemas.openxmlformats.org/drawingml/2006/main">
              <a:ext uri="{FF2B5EF4-FFF2-40B4-BE49-F238E27FC236}">
                <a16:creationId xmlns:a16="http://schemas.microsoft.com/office/drawing/2014/main" id="{045F566A-9953-4DEB-A230-DD3C4C456540}"/>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2" name="Google Shape;52;p9">
            <a:extLst xmlns:a="http://schemas.openxmlformats.org/drawingml/2006/main">
              <a:ext uri="{FF2B5EF4-FFF2-40B4-BE49-F238E27FC236}">
                <a16:creationId xmlns:a16="http://schemas.microsoft.com/office/drawing/2014/main" id="{2CAA97E2-8CD0-4FAB-9BA6-B5CDDD60B902}"/>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3" name="Google Shape;53;p9">
            <a:extLst xmlns:a="http://schemas.openxmlformats.org/drawingml/2006/main">
              <a:ext uri="{FF2B5EF4-FFF2-40B4-BE49-F238E27FC236}">
                <a16:creationId xmlns:a16="http://schemas.microsoft.com/office/drawing/2014/main" id="{0737440D-71F9-4E69-B241-E788AE3B5C58}"/>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4" name="Google Shape;54;p9">
            <a:extLst xmlns:a="http://schemas.openxmlformats.org/drawingml/2006/main">
              <a:ext uri="{FF2B5EF4-FFF2-40B4-BE49-F238E27FC236}">
                <a16:creationId xmlns:a16="http://schemas.microsoft.com/office/drawing/2014/main" id="{7A96C8F0-0E51-486E-815A-19A3ACBE602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5" name="Google Shape;55;p9">
            <a:extLst xmlns:a="http://schemas.openxmlformats.org/drawingml/2006/main">
              <a:ext uri="{FF2B5EF4-FFF2-40B4-BE49-F238E27FC236}">
                <a16:creationId xmlns:a16="http://schemas.microsoft.com/office/drawing/2014/main" id="{BB1FEA99-CCB7-4242-AF94-E9A8ABE41BB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7" name="Google Shape;57;p10">
            <a:extLst xmlns:a="http://schemas.openxmlformats.org/drawingml/2006/main">
              <a:ext uri="{FF2B5EF4-FFF2-40B4-BE49-F238E27FC236}">
                <a16:creationId xmlns:a16="http://schemas.microsoft.com/office/drawing/2014/main" id="{EEFFB2D3-E10E-4F44-9D47-4D07AB405507}"/>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58" name="Google Shape;58;p10">
            <a:extLst xmlns:a="http://schemas.openxmlformats.org/drawingml/2006/main">
              <a:ext uri="{FF2B5EF4-FFF2-40B4-BE49-F238E27FC236}">
                <a16:creationId xmlns:a16="http://schemas.microsoft.com/office/drawing/2014/main" id="{731DFC24-1225-48D1-88B7-4ED94BABED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9" name="Google Shape;59;p10">
            <a:extLst xmlns:a="http://schemas.openxmlformats.org/drawingml/2006/main">
              <a:ext uri="{FF2B5EF4-FFF2-40B4-BE49-F238E27FC236}">
                <a16:creationId xmlns:a16="http://schemas.microsoft.com/office/drawing/2014/main" id="{0BD02C9A-E0E7-4B33-8090-CF2492FB7A5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6" name="Google Shape;61;p11"/>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2" name="Google Shape;62;p11">
            <a:extLst xmlns:a="http://schemas.openxmlformats.org/drawingml/2006/main">
              <a:ext uri="{FF2B5EF4-FFF2-40B4-BE49-F238E27FC236}">
                <a16:creationId xmlns:a16="http://schemas.microsoft.com/office/drawing/2014/main" id="{0D3E28AA-4572-4669-BF8D-0C56703C2D23}"/>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3" name="Google Shape;63;p11">
            <a:extLst xmlns:a="http://schemas.openxmlformats.org/drawingml/2006/main">
              <a:ext uri="{FF2B5EF4-FFF2-40B4-BE49-F238E27FC236}">
                <a16:creationId xmlns:a16="http://schemas.microsoft.com/office/drawing/2014/main" id="{FE724C34-E08E-438C-9D35-390142F9DF6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4" name="Google Shape;64;p11">
            <a:extLst xmlns:a="http://schemas.openxmlformats.org/drawingml/2006/main">
              <a:ext uri="{FF2B5EF4-FFF2-40B4-BE49-F238E27FC236}">
                <a16:creationId xmlns:a16="http://schemas.microsoft.com/office/drawing/2014/main" id="{1947FE49-609E-49C2-82D5-88C736ACCDF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5" name="Google Shape;65;p11">
            <a:extLst xmlns:a="http://schemas.openxmlformats.org/drawingml/2006/main">
              <a:ext uri="{FF2B5EF4-FFF2-40B4-BE49-F238E27FC236}">
                <a16:creationId xmlns:a16="http://schemas.microsoft.com/office/drawing/2014/main" id="{A5CFF65F-8638-4606-9F7D-83E86FAE650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67" name="Google Shape;67;p12">
            <a:extLst xmlns:a="http://schemas.openxmlformats.org/drawingml/2006/main">
              <a:ext uri="{FF2B5EF4-FFF2-40B4-BE49-F238E27FC236}">
                <a16:creationId xmlns:a16="http://schemas.microsoft.com/office/drawing/2014/main" id="{4E16050B-BAF7-4B3D-B74F-F9329013CDC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12">
            <a:extLst xmlns:a="http://schemas.openxmlformats.org/drawingml/2006/main">
              <a:ext uri="{FF2B5EF4-FFF2-40B4-BE49-F238E27FC236}">
                <a16:creationId xmlns:a16="http://schemas.microsoft.com/office/drawing/2014/main" id="{95D56AC4-ACBA-4795-9E44-041A80891127}"/>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f31788f5f74ada" /><Relationship Type="http://schemas.openxmlformats.org/officeDocument/2006/relationships/slideLayout" Target="/ppt/slideLayouts/slideLayout1.xml" Id="Rd0111076a9bc4d96" /><Relationship Type="http://schemas.openxmlformats.org/officeDocument/2006/relationships/slideLayout" Target="/ppt/slideLayouts/slideLayout2.xml" Id="R314d18e0637345dc" /><Relationship Type="http://schemas.openxmlformats.org/officeDocument/2006/relationships/slideLayout" Target="/ppt/slideLayouts/slideLayout3.xml" Id="R280e4013f65941af" /><Relationship Type="http://schemas.openxmlformats.org/officeDocument/2006/relationships/slideLayout" Target="/ppt/slideLayouts/slideLayout4.xml" Id="Rfd6091aa53814aa0" /><Relationship Type="http://schemas.openxmlformats.org/officeDocument/2006/relationships/slideLayout" Target="/ppt/slideLayouts/slideLayout5.xml" Id="R31deb34402fc4593" /><Relationship Type="http://schemas.openxmlformats.org/officeDocument/2006/relationships/slideLayout" Target="/ppt/slideLayouts/slideLayout6.xml" Id="Rac470b689b0f45b9" /><Relationship Type="http://schemas.openxmlformats.org/officeDocument/2006/relationships/slideLayout" Target="/ppt/slideLayouts/slideLayout7.xml" Id="R98acbfd949f94f34" /><Relationship Type="http://schemas.openxmlformats.org/officeDocument/2006/relationships/slideLayout" Target="/ppt/slideLayouts/slideLayout8.xml" Id="Rdbc858097df94394" /><Relationship Type="http://schemas.openxmlformats.org/officeDocument/2006/relationships/slideLayout" Target="/ppt/slideLayouts/slideLayout9.xml" Id="R6f0fe89156ce4f7e" /><Relationship Type="http://schemas.openxmlformats.org/officeDocument/2006/relationships/slideLayout" Target="/ppt/slideLayouts/slideLayout10.xml" Id="R784405f959514329" /><Relationship Type="http://schemas.openxmlformats.org/officeDocument/2006/relationships/slideLayout" Target="/ppt/slideLayouts/slideLayout11.xml" Id="R91fa629e890747f6"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6AEE4BAA-DDA3-435C-82AA-F6D62676843D}"/>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D59A5760-54C6-4A36-A307-1E14C60105C2}"/>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A769D37C-C6BF-4187-ACD0-66A7C0CAE53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0111076a9bc4d96"/>
    <p:sldLayoutId xmlns:r="http://schemas.openxmlformats.org/officeDocument/2006/relationships" id="2147483650" r:id="R314d18e0637345dc"/>
    <p:sldLayoutId xmlns:r="http://schemas.openxmlformats.org/officeDocument/2006/relationships" id="2147483651" r:id="R280e4013f65941af"/>
    <p:sldLayoutId xmlns:r="http://schemas.openxmlformats.org/officeDocument/2006/relationships" id="2147483652" r:id="Rfd6091aa53814aa0"/>
    <p:sldLayoutId xmlns:r="http://schemas.openxmlformats.org/officeDocument/2006/relationships" id="2147483653" r:id="R31deb34402fc4593"/>
    <p:sldLayoutId xmlns:r="http://schemas.openxmlformats.org/officeDocument/2006/relationships" id="2147483654" r:id="Rac470b689b0f45b9"/>
    <p:sldLayoutId xmlns:r="http://schemas.openxmlformats.org/officeDocument/2006/relationships" id="2147483655" r:id="R98acbfd949f94f34"/>
    <p:sldLayoutId xmlns:r="http://schemas.openxmlformats.org/officeDocument/2006/relationships" id="2147483656" r:id="Rdbc858097df94394"/>
    <p:sldLayoutId xmlns:r="http://schemas.openxmlformats.org/officeDocument/2006/relationships" id="2147483657" r:id="R6f0fe89156ce4f7e"/>
    <p:sldLayoutId xmlns:r="http://schemas.openxmlformats.org/officeDocument/2006/relationships" id="2147483658" r:id="R784405f959514329"/>
    <p:sldLayoutId xmlns:r="http://schemas.openxmlformats.org/officeDocument/2006/relationships" id="2147483659" r:id="R91fa629e890747f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8e778625c541a0" /><Relationship Type="http://schemas.openxmlformats.org/officeDocument/2006/relationships/notesSlide" Target="/ppt/notesSlides/notesSlide1.xml" Id="R1bf624e7190d4c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cee62ce672047d0" /><Relationship Type="http://schemas.openxmlformats.org/officeDocument/2006/relationships/hyperlink" Target="https://openrouter.ai/docs/guides/features/tool-calling" TargetMode="External" Id="Rf9b7759cba5f4606" /><Relationship Type="http://schemas.openxmlformats.org/officeDocument/2006/relationships/notesSlide" Target="/ppt/notesSlides/notesSlide2.xml" Id="R150846fe04a84f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63660918063443d" /><Relationship Type="http://schemas.openxmlformats.org/officeDocument/2006/relationships/hyperlink" Target="https://openrouter.ai/docs/guides/features/tool-calling" TargetMode="External" Id="Re94b1755ac2d454f" /><Relationship Type="http://schemas.openxmlformats.org/officeDocument/2006/relationships/notesSlide" Target="/ppt/notesSlides/notesSlide3.xml" Id="R9de0ef85827a42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72dd7f7810f44c0" /><Relationship Type="http://schemas.openxmlformats.org/officeDocument/2006/relationships/hyperlink" Target="https://openrouter.ai/models" TargetMode="External" Id="R472db920ae1e4f88" /><Relationship Type="http://schemas.openxmlformats.org/officeDocument/2006/relationships/notesSlide" Target="/ppt/notesSlides/notesSlide4.xml" Id="R16e924f4cf2f4f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2f5fbeab95f4076" /><Relationship Type="http://schemas.openxmlformats.org/officeDocument/2006/relationships/hyperlink" Target="https://openrouter.ai/docs/guides/features/tool-calling" TargetMode="External" Id="R8a07b0fefeab41ac" /><Relationship Type="http://schemas.openxmlformats.org/officeDocument/2006/relationships/notesSlide" Target="/ppt/notesSlides/notesSlide5.xml" Id="R1d93cc037ca74a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91db1025fc04719" /><Relationship Type="http://schemas.openxmlformats.org/officeDocument/2006/relationships/hyperlink" Target="https://colab.research.google.com/github/BrightPool/udemy-prompt-engineering-course/blob/main/model_gateways/openrouter_features_and_agent.ipynb" TargetMode="External" Id="R45a7ed219952433f" /><Relationship Type="http://schemas.openxmlformats.org/officeDocument/2006/relationships/notesSlide" Target="/ppt/notesSlides/notesSlide6.xml" Id="R2da859db7a43456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3" name="Google Shape;73;p13">
            <a:extLst xmlns:a="http://schemas.openxmlformats.org/drawingml/2006/main">
              <a:ext uri="{FF2B5EF4-FFF2-40B4-BE49-F238E27FC236}">
                <a16:creationId xmlns:a16="http://schemas.microsoft.com/office/drawing/2014/main" id="{7982C514-8AB3-4261-93C2-640D33BC938C}"/>
              </a:ext>
            </a:extLst>
          </p:cNvPr>
          <p:cNvSpPr>
            <a:spLocks xmlns:a="http://schemas.openxmlformats.org/drawingml/2006/main" noGrp="1"/>
          </p:cNvSpPr>
          <p:nvPr>
            <p:ph type="ctrTitle" idx="0"/>
          </p:nvPr>
        </p:nvSpPr>
        <p:spPr>
          <a:xfrm xmlns:a="http://schemas.openxmlformats.org/drawingml/2006/main">
            <a:off x="409575" y="990600"/>
            <a:ext cx="8324850" cy="1876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05000"/>
              </a:lnSpc>
              <a:spcBef>
                <a:spcPts val="0"/>
              </a:spcBef>
              <a:spcAft>
                <a:spcPts val="0"/>
              </a:spcAft>
              <a:buSzPts val="6000"/>
              <a:buNone/>
              <a:defRPr sz="4350">
                <a:solidFill>
                  <a:srgbClr val="FFFFFF"/>
                </a:solidFill>
                <a:latin typeface="Oswald"/>
                <a:ea typeface="Oswald"/>
                <a:cs typeface="Oswald"/>
              </a:defRPr>
            </a:pPr>
            <a:r>
              <a:rPr sz="4350">
                <a:solidFill>
                  <a:srgbClr val="FFFFFF"/>
                </a:solidFill>
                <a:latin typeface="Oswald"/>
                <a:ea typeface="Oswald"/>
                <a:cs typeface="Oswald"/>
              </a:rPr>
              <a:t>Building a Small Agent</a:t>
            </a:r>
            <a:endParaRPr/>
          </a:p>
          <a:p xmlns:a="http://schemas.openxmlformats.org/drawingml/2006/main">
            <a:pPr marL="0" lvl="0" indent="0" algn="ctr">
              <a:lnSpc>
                <a:spcPct val="105000"/>
              </a:lnSpc>
              <a:spcBef>
                <a:spcPts val="0"/>
              </a:spcBef>
              <a:spcAft>
                <a:spcPts val="0"/>
              </a:spcAft>
              <a:buSzPts val="6000"/>
              <a:buNone/>
              <a:defRPr sz="4350">
                <a:solidFill>
                  <a:srgbClr val="FFFFFF"/>
                </a:solidFill>
                <a:latin typeface="Oswald"/>
                <a:ea typeface="Oswald"/>
                <a:cs typeface="Oswald"/>
              </a:defRPr>
            </a:pPr>
            <a:r>
              <a:rPr sz="4350">
                <a:solidFill>
                  <a:srgbClr val="FFFFFF"/>
                </a:solidFill>
                <a:latin typeface="Oswald"/>
                <a:ea typeface="Oswald"/>
                <a:cs typeface="Oswald"/>
              </a:rPr>
              <a:t>with OpenRouter</a:t>
            </a:r>
            <a:endParaRPr/>
          </a:p>
        </p:txBody>
      </p:sp>
      <p:sp>
        <p:nvSpPr>
          <p:cNvPr id="74" name="Google Shape;74;p13">
            <a:extLst xmlns:a="http://schemas.openxmlformats.org/drawingml/2006/main">
              <a:ext uri="{FF2B5EF4-FFF2-40B4-BE49-F238E27FC236}">
                <a16:creationId xmlns:a16="http://schemas.microsoft.com/office/drawing/2014/main" id="{12B90116-F8DA-452D-90BF-CC4EE554EF95}"/>
              </a:ext>
            </a:extLst>
          </p:cNvPr>
          <p:cNvSpPr>
            <a:spLocks xmlns:a="http://schemas.openxmlformats.org/drawingml/2006/main" noGrp="1"/>
          </p:cNvSpPr>
          <p:nvPr>
            <p:ph type="subTitle" idx="1"/>
          </p:nvPr>
        </p:nvSpPr>
        <p:spPr>
          <a:xfrm xmlns:a="http://schemas.openxmlformats.org/drawingml/2006/main">
            <a:off x="571500" y="3476625"/>
            <a:ext cx="8001000" cy="790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20000"/>
              </a:lnSpc>
              <a:spcBef>
                <a:spcPts val="0"/>
              </a:spcBef>
              <a:spcAft>
                <a:spcPts val="0"/>
              </a:spcAft>
              <a:buSzPts val="3600"/>
              <a:buNone/>
              <a:defRPr sz="1725">
                <a:solidFill>
                  <a:srgbClr val="424242"/>
                </a:solidFill>
                <a:latin typeface="Source Code Pro"/>
                <a:ea typeface="Source Code Pro"/>
                <a:cs typeface="Source Code Pro"/>
              </a:defRPr>
            </a:pPr>
            <a:r>
              <a:rPr sz="1725">
                <a:solidFill>
                  <a:srgbClr val="424242"/>
                </a:solidFill>
                <a:latin typeface="Source Code Pro"/>
                <a:ea typeface="Source Code Pro"/>
                <a:cs typeface="Source Code Pro"/>
              </a:rPr>
              <a:t>A model chooses tools. Python does the work.</a:t>
            </a:r>
            <a:endParaRPr/>
          </a:p>
          <a:p xmlns:a="http://schemas.openxmlformats.org/drawingml/2006/main">
            <a:pPr marL="0" lvl="0" indent="0" algn="ctr">
              <a:lnSpc>
                <a:spcPct val="120000"/>
              </a:lnSpc>
              <a:spcBef>
                <a:spcPts val="0"/>
              </a:spcBef>
              <a:spcAft>
                <a:spcPts val="0"/>
              </a:spcAft>
              <a:buSzPts val="3600"/>
              <a:buNone/>
              <a:defRPr sz="1725">
                <a:solidFill>
                  <a:srgbClr val="424242"/>
                </a:solidFill>
                <a:latin typeface="Source Code Pro"/>
                <a:ea typeface="Source Code Pro"/>
                <a:cs typeface="Source Code Pro"/>
              </a:defRPr>
            </a:pPr>
            <a:r>
              <a:rPr sz="1725">
                <a:solidFill>
                  <a:srgbClr val="424242"/>
                </a:solidFill>
                <a:latin typeface="Source Code Pro"/>
                <a:ea typeface="Source Code Pro"/>
                <a:cs typeface="Source Code Pro"/>
              </a:rPr>
              <a:t>Part 10 · Going Deeper</a:t>
            </a:r>
            <a:endParaRPr/>
          </a:p>
        </p:txBody>
      </p:sp>
    </p:spTree>
    <p:extLst>
      <p:ext uri="{BB962C8B-B14F-4D97-AF65-F5344CB8AC3E}">
        <p14:creationId xmlns:p14="http://schemas.microsoft.com/office/powerpoint/2010/main" val="202610016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Give the Agent a Task and Two Tools</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Is the blue mug in stock? What is the total">
            <a:extLst xmlns:a="http://schemas.openxmlformats.org/drawingml/2006/main">
              <a:ext uri="{FF2B5EF4-FFF2-40B4-BE49-F238E27FC236}">
                <a16:creationId xmlns:a16="http://schemas.microsoft.com/office/drawing/2014/main" id="{015F0F02-BB6C-4099-B81D-39D39A2D6FC5}"/>
              </a:ext>
            </a:extLst>
          </p:cNvPr>
          <p:cNvSpPr>
            <a:spLocks xmlns:a="http://schemas.openxmlformats.org/drawingml/2006/main" noGrp="1"/>
          </p:cNvSpPr>
          <p:nvPr/>
        </p:nvSpPr>
        <p:spPr>
          <a:xfrm xmlns:a="http://schemas.openxmlformats.org/drawingml/2006/main">
            <a:off x="400050" y="1524000"/>
            <a:ext cx="8343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00" b="0">
                <a:solidFill>
                  <a:srgbClr val="424242"/>
                </a:solidFill>
                <a:latin typeface="Source Code Pro"/>
                <a:ea typeface="Source Code Pro"/>
                <a:cs typeface="Source Code Pro"/>
              </a:defRPr>
            </a:pPr>
            <a:r>
              <a:rPr sz="1800" b="0">
                <a:solidFill>
                  <a:srgbClr val="424242"/>
                </a:solidFill>
                <a:latin typeface="Source Code Pro"/>
                <a:ea typeface="Source Code Pro"/>
                <a:cs typeface="Source Code Pro"/>
              </a:rPr>
              <a:t>“Is the blue mug in stock? What is the total</a:t>
            </a:r>
          </a:p>
          <a:p xmlns:a="http://schemas.openxmlformats.org/drawingml/2006/main">
            <a:pPr algn="l">
              <a:lnSpc>
                <a:spcPct val="120000"/>
              </a:lnSpc>
              <a:buNone/>
              <a:defRPr sz="1800" b="0">
                <a:solidFill>
                  <a:srgbClr val="424242"/>
                </a:solidFill>
                <a:latin typeface="Source Code Pro"/>
                <a:ea typeface="Source Code Pro"/>
                <a:cs typeface="Source Code Pro"/>
              </a:defRPr>
            </a:pPr>
            <a:r>
              <a:rPr sz="1800" b="0">
                <a:solidFill>
                  <a:srgbClr val="424242"/>
                </a:solidFill>
                <a:latin typeface="Source Code Pro"/>
                <a:ea typeface="Source Code Pro"/>
                <a:cs typeface="Source Code Pro"/>
              </a:rPr>
              <a:t>price including delivery to the UK?”</a:t>
            </a:r>
          </a:p>
        </p:txBody>
      </p:sp>
      <p:sp>
        <p:nvSpPr>
          <p:cNvPr id="185" name="lookup_product(sku)">
            <a:extLst xmlns:a="http://schemas.openxmlformats.org/drawingml/2006/main">
              <a:ext uri="{FF2B5EF4-FFF2-40B4-BE49-F238E27FC236}">
                <a16:creationId xmlns:a16="http://schemas.microsoft.com/office/drawing/2014/main" id="{A0E95F04-D6DA-48A4-B969-4BEE87FBCEFA}"/>
              </a:ext>
            </a:extLst>
          </p:cNvPr>
          <p:cNvSpPr>
            <a:spLocks xmlns:a="http://schemas.openxmlformats.org/drawingml/2006/main" noGrp="1"/>
          </p:cNvSpPr>
          <p:nvPr/>
        </p:nvSpPr>
        <p:spPr>
          <a:xfrm xmlns:a="http://schemas.openxmlformats.org/drawingml/2006/main">
            <a:off x="400050" y="2705100"/>
            <a:ext cx="417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lookup_product(sku)</a:t>
            </a:r>
          </a:p>
        </p:txBody>
      </p:sp>
      <p:sp>
        <p:nvSpPr>
          <p:cNvPr id="186" name="shipping_quote(country)">
            <a:extLst xmlns:a="http://schemas.openxmlformats.org/drawingml/2006/main">
              <a:ext uri="{FF2B5EF4-FFF2-40B4-BE49-F238E27FC236}">
                <a16:creationId xmlns:a16="http://schemas.microsoft.com/office/drawing/2014/main" id="{2DF2C9EE-26A0-48A7-BBF1-60D88C2BC060}"/>
              </a:ext>
            </a:extLst>
          </p:cNvPr>
          <p:cNvSpPr>
            <a:spLocks xmlns:a="http://schemas.openxmlformats.org/drawingml/2006/main" noGrp="1"/>
          </p:cNvSpPr>
          <p:nvPr/>
        </p:nvSpPr>
        <p:spPr>
          <a:xfrm xmlns:a="http://schemas.openxmlformats.org/drawingml/2006/main">
            <a:off x="4972050" y="2705100"/>
            <a:ext cx="3857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shipping_quote(country)</a:t>
            </a:r>
          </a:p>
        </p:txBody>
      </p:sp>
      <p:sp>
        <p:nvSpPr>
          <p:cNvPr id="187" name="Blue mug: £12">
            <a:extLst xmlns:a="http://schemas.openxmlformats.org/drawingml/2006/main">
              <a:ext uri="{FF2B5EF4-FFF2-40B4-BE49-F238E27FC236}">
                <a16:creationId xmlns:a16="http://schemas.microsoft.com/office/drawing/2014/main" id="{FA7B229A-17F6-42D7-8013-A878DF98A2E3}"/>
              </a:ext>
            </a:extLst>
          </p:cNvPr>
          <p:cNvSpPr>
            <a:spLocks xmlns:a="http://schemas.openxmlformats.org/drawingml/2006/main" noGrp="1"/>
          </p:cNvSpPr>
          <p:nvPr/>
        </p:nvSpPr>
        <p:spPr>
          <a:xfrm xmlns:a="http://schemas.openxmlformats.org/drawingml/2006/main">
            <a:off x="400050" y="3209925"/>
            <a:ext cx="4171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Blue mug: £12</a:t>
            </a:r>
          </a:p>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Stock: 8</a:t>
            </a:r>
          </a:p>
        </p:txBody>
      </p:sp>
      <p:sp>
        <p:nvSpPr>
          <p:cNvPr id="188" name="UK delivery: £3">
            <a:extLst xmlns:a="http://schemas.openxmlformats.org/drawingml/2006/main">
              <a:ext uri="{FF2B5EF4-FFF2-40B4-BE49-F238E27FC236}">
                <a16:creationId xmlns:a16="http://schemas.microsoft.com/office/drawing/2014/main" id="{FB10ACEE-F200-481C-9F1E-D5AFBAFA7F01}"/>
              </a:ext>
            </a:extLst>
          </p:cNvPr>
          <p:cNvSpPr>
            <a:spLocks xmlns:a="http://schemas.openxmlformats.org/drawingml/2006/main" noGrp="1"/>
          </p:cNvSpPr>
          <p:nvPr/>
        </p:nvSpPr>
        <p:spPr>
          <a:xfrm xmlns:a="http://schemas.openxmlformats.org/drawingml/2006/main">
            <a:off x="4972050" y="3209925"/>
            <a:ext cx="3857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UK delivery: £3</a:t>
            </a:r>
          </a:p>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Verified total: £15</a:t>
            </a:r>
          </a:p>
        </p:txBody>
      </p:sp>
      <p:sp>
        <p:nvSpPr>
          <p:cNvPr id="189" name="Sample data. Read-only tools. No order is placed.">
            <a:extLst xmlns:a="http://schemas.openxmlformats.org/drawingml/2006/main">
              <a:ext uri="{FF2B5EF4-FFF2-40B4-BE49-F238E27FC236}">
                <a16:creationId xmlns:a16="http://schemas.microsoft.com/office/drawing/2014/main" id="{36AA1FE6-BD51-4870-85FB-1553B06F6679}"/>
              </a:ext>
            </a:extLst>
          </p:cNvPr>
          <p:cNvSpPr>
            <a:spLocks xmlns:a="http://schemas.openxmlformats.org/drawingml/2006/main" noGrp="1"/>
          </p:cNvSpPr>
          <p:nvPr/>
        </p:nvSpPr>
        <p:spPr>
          <a:xfrm xmlns:a="http://schemas.openxmlformats.org/drawingml/2006/main">
            <a:off x="400050" y="4238625"/>
            <a:ext cx="834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1">
                <a:solidFill>
                  <a:srgbClr val="424242"/>
                </a:solidFill>
                <a:latin typeface="Source Code Pro"/>
                <a:ea typeface="Source Code Pro"/>
                <a:cs typeface="Source Code Pro"/>
              </a:defRPr>
            </a:pPr>
            <a:r>
              <a:rPr sz="1425" b="1">
                <a:solidFill>
                  <a:srgbClr val="424242"/>
                </a:solidFill>
                <a:latin typeface="Source Code Pro"/>
                <a:ea typeface="Source Code Pro"/>
                <a:cs typeface="Source Code Pro"/>
              </a:rPr>
              <a:t>Sample data. Read-only tools. No order is placed.</a:t>
            </a:r>
          </a:p>
        </p:txBody>
      </p:sp>
      <p:sp>
        <p:nvSpPr>
          <p:cNvPr id="190" name="OpenRouter client tool calling">
            <a:extLst xmlns:a="http://schemas.openxmlformats.org/drawingml/2006/main">
              <a:ext uri="{FF2B5EF4-FFF2-40B4-BE49-F238E27FC236}">
                <a16:creationId xmlns:a16="http://schemas.microsoft.com/office/drawing/2014/main" id="{1DF6E4CD-8896-4B53-8D9C-25E11297198E}"/>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f9b7759cba5f4606"/>
              </a:rPr>
              <a:t>OpenRouter client tool calling</a:t>
            </a:r>
          </a:p>
        </p:txBody>
      </p:sp>
    </p:spTree>
    <p:extLst>
      <p:ext uri="{BB962C8B-B14F-4D97-AF65-F5344CB8AC3E}">
        <p14:creationId xmlns:p14="http://schemas.microsoft.com/office/powerpoint/2010/main" val="202610016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The Application Runs the Agent Loop</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1  Ask the model">
            <a:extLst xmlns:a="http://schemas.openxmlformats.org/drawingml/2006/main">
              <a:ext uri="{FF2B5EF4-FFF2-40B4-BE49-F238E27FC236}">
                <a16:creationId xmlns:a16="http://schemas.microsoft.com/office/drawing/2014/main" id="{E5E089CF-615D-4C50-BB55-E638A2FA146F}"/>
              </a:ext>
            </a:extLst>
          </p:cNvPr>
          <p:cNvSpPr>
            <a:spLocks xmlns:a="http://schemas.openxmlformats.org/drawingml/2006/main" noGrp="1"/>
          </p:cNvSpPr>
          <p:nvPr/>
        </p:nvSpPr>
        <p:spPr>
          <a:xfrm xmlns:a="http://schemas.openxmlformats.org/drawingml/2006/main">
            <a:off x="400050" y="153352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1  Ask the model</a:t>
            </a:r>
          </a:p>
        </p:txBody>
      </p:sp>
      <p:sp>
        <p:nvSpPr>
          <p:cNvPr id="185" name="Send the conversation and tool definitions.">
            <a:extLst xmlns:a="http://schemas.openxmlformats.org/drawingml/2006/main">
              <a:ext uri="{FF2B5EF4-FFF2-40B4-BE49-F238E27FC236}">
                <a16:creationId xmlns:a16="http://schemas.microsoft.com/office/drawing/2014/main" id="{3DD4CFE4-0408-4014-B863-1C9AB69F73D1}"/>
              </a:ext>
            </a:extLst>
          </p:cNvPr>
          <p:cNvSpPr>
            <a:spLocks xmlns:a="http://schemas.openxmlformats.org/drawingml/2006/main" noGrp="1"/>
          </p:cNvSpPr>
          <p:nvPr/>
        </p:nvSpPr>
        <p:spPr>
          <a:xfrm xmlns:a="http://schemas.openxmlformats.org/drawingml/2006/main">
            <a:off x="400050" y="1962150"/>
            <a:ext cx="8343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Send the conversation and tool definitions.</a:t>
            </a:r>
          </a:p>
        </p:txBody>
      </p:sp>
      <p:sp>
        <p:nvSpPr>
          <p:cNvPr id="186" name="2  Execute the requested tools">
            <a:extLst xmlns:a="http://schemas.openxmlformats.org/drawingml/2006/main">
              <a:ext uri="{FF2B5EF4-FFF2-40B4-BE49-F238E27FC236}">
                <a16:creationId xmlns:a16="http://schemas.microsoft.com/office/drawing/2014/main" id="{DFF41C0E-6FEA-41A3-AA99-71CD7F98F8C1}"/>
              </a:ext>
            </a:extLst>
          </p:cNvPr>
          <p:cNvSpPr>
            <a:spLocks xmlns:a="http://schemas.openxmlformats.org/drawingml/2006/main" noGrp="1"/>
          </p:cNvSpPr>
          <p:nvPr/>
        </p:nvSpPr>
        <p:spPr>
          <a:xfrm xmlns:a="http://schemas.openxmlformats.org/drawingml/2006/main">
            <a:off x="400050" y="2495550"/>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2  Execute the requested tools</a:t>
            </a:r>
          </a:p>
        </p:txBody>
      </p:sp>
      <p:sp>
        <p:nvSpPr>
          <p:cNvPr id="187" name="Validate arguments. Call the allowed Python function.">
            <a:extLst xmlns:a="http://schemas.openxmlformats.org/drawingml/2006/main">
              <a:ext uri="{FF2B5EF4-FFF2-40B4-BE49-F238E27FC236}">
                <a16:creationId xmlns:a16="http://schemas.microsoft.com/office/drawing/2014/main" id="{BC9E4D85-3ACE-4101-AD75-4BB79EFD9E40}"/>
              </a:ext>
            </a:extLst>
          </p:cNvPr>
          <p:cNvSpPr>
            <a:spLocks xmlns:a="http://schemas.openxmlformats.org/drawingml/2006/main" noGrp="1"/>
          </p:cNvSpPr>
          <p:nvPr/>
        </p:nvSpPr>
        <p:spPr>
          <a:xfrm xmlns:a="http://schemas.openxmlformats.org/drawingml/2006/main">
            <a:off x="400050" y="2924175"/>
            <a:ext cx="8343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Validate arguments. Call the allowed Python function.</a:t>
            </a:r>
          </a:p>
        </p:txBody>
      </p:sp>
      <p:sp>
        <p:nvSpPr>
          <p:cNvPr id="188" name="3  Return results and continue">
            <a:extLst xmlns:a="http://schemas.openxmlformats.org/drawingml/2006/main">
              <a:ext uri="{FF2B5EF4-FFF2-40B4-BE49-F238E27FC236}">
                <a16:creationId xmlns:a16="http://schemas.microsoft.com/office/drawing/2014/main" id="{991755F1-9007-484D-A69C-B30EDD7CAD01}"/>
              </a:ext>
            </a:extLst>
          </p:cNvPr>
          <p:cNvSpPr>
            <a:spLocks xmlns:a="http://schemas.openxmlformats.org/drawingml/2006/main" noGrp="1"/>
          </p:cNvSpPr>
          <p:nvPr/>
        </p:nvSpPr>
        <p:spPr>
          <a:xfrm xmlns:a="http://schemas.openxmlformats.org/drawingml/2006/main">
            <a:off x="400050" y="345757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3  Return results and continue</a:t>
            </a:r>
          </a:p>
        </p:txBody>
      </p:sp>
      <p:sp>
        <p:nvSpPr>
          <p:cNvPr id="189" name="Reply with the matching tool_call_id, then ask again.">
            <a:extLst xmlns:a="http://schemas.openxmlformats.org/drawingml/2006/main">
              <a:ext uri="{FF2B5EF4-FFF2-40B4-BE49-F238E27FC236}">
                <a16:creationId xmlns:a16="http://schemas.microsoft.com/office/drawing/2014/main" id="{094B47ED-0A36-49AB-AFDD-BE3CDA3C5389}"/>
              </a:ext>
            </a:extLst>
          </p:cNvPr>
          <p:cNvSpPr>
            <a:spLocks xmlns:a="http://schemas.openxmlformats.org/drawingml/2006/main" noGrp="1"/>
          </p:cNvSpPr>
          <p:nvPr/>
        </p:nvSpPr>
        <p:spPr>
          <a:xfrm xmlns:a="http://schemas.openxmlformats.org/drawingml/2006/main">
            <a:off x="400050" y="3886200"/>
            <a:ext cx="8343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Reply with the matching tool_call_id, then ask again.</a:t>
            </a:r>
          </a:p>
        </p:txBody>
      </p:sp>
      <p:sp>
        <p:nvSpPr>
          <p:cNvPr id="190" name="Stop when the model answers, or when the turn limit is reached">
            <a:extLst xmlns:a="http://schemas.openxmlformats.org/drawingml/2006/main">
              <a:ext uri="{FF2B5EF4-FFF2-40B4-BE49-F238E27FC236}">
                <a16:creationId xmlns:a16="http://schemas.microsoft.com/office/drawing/2014/main" id="{A263A880-E8C1-4BEE-A163-986DCFF69D9D}"/>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e94b1755ac2d454f"/>
              </a:rPr>
              <a:t>Stop when the model answers, or when the turn limit is reached</a:t>
            </a:r>
          </a:p>
        </p:txBody>
      </p:sp>
    </p:spTree>
    <p:extLst>
      <p:ext uri="{BB962C8B-B14F-4D97-AF65-F5344CB8AC3E}">
        <p14:creationId xmlns:p14="http://schemas.microsoft.com/office/powerpoint/2010/main" val="20261001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Use a Tool-Capable Model Through OpenRouter</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The same Python SDK, with the gateway endpoint.">
            <a:extLst xmlns:a="http://schemas.openxmlformats.org/drawingml/2006/main">
              <a:ext uri="{FF2B5EF4-FFF2-40B4-BE49-F238E27FC236}">
                <a16:creationId xmlns:a16="http://schemas.microsoft.com/office/drawing/2014/main" id="{B65598A0-2BCA-41E4-A7A3-3447D9A99C81}"/>
              </a:ext>
            </a:extLst>
          </p:cNvPr>
          <p:cNvSpPr>
            <a:spLocks xmlns:a="http://schemas.openxmlformats.org/drawingml/2006/main" noGrp="1"/>
          </p:cNvSpPr>
          <p:nvPr/>
        </p:nvSpPr>
        <p:spPr>
          <a:xfrm xmlns:a="http://schemas.openxmlformats.org/drawingml/2006/main">
            <a:off x="400050" y="1514475"/>
            <a:ext cx="8343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The same Python SDK, with the gateway endpoint.</a:t>
            </a:r>
          </a:p>
        </p:txBody>
      </p:sp>
      <p:sp>
        <p:nvSpPr>
          <p:cNvPr id="185" name="client = OpenAI(">
            <a:extLst xmlns:a="http://schemas.openxmlformats.org/drawingml/2006/main">
              <a:ext uri="{FF2B5EF4-FFF2-40B4-BE49-F238E27FC236}">
                <a16:creationId xmlns:a16="http://schemas.microsoft.com/office/drawing/2014/main" id="{8093C566-4779-45B5-B483-7B88489A7A3D}"/>
              </a:ext>
            </a:extLst>
          </p:cNvPr>
          <p:cNvSpPr>
            <a:spLocks xmlns:a="http://schemas.openxmlformats.org/drawingml/2006/main" noGrp="1"/>
          </p:cNvSpPr>
          <p:nvPr/>
        </p:nvSpPr>
        <p:spPr>
          <a:xfrm xmlns:a="http://schemas.openxmlformats.org/drawingml/2006/main">
            <a:off x="400050" y="2095500"/>
            <a:ext cx="8343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client = OpenAI(</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base_url="https://openrouter.ai/api/v1",</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api_key=os.environ["OPENROUTER_API_KEY"],</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a:t>
            </a:r>
          </a:p>
          <a:p xmlns:a="http://schemas.openxmlformats.org/drawingml/2006/main">
            <a:r>
              <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response = client.chat.completions.create(</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model=MODEL,</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messages=messages, tools=TOOLS,</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max_tokens=300,</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a:t>
            </a:r>
          </a:p>
        </p:txBody>
      </p:sp>
      <p:sp>
        <p:nvSpPr>
          <p:cNvPr id="186" name="Check tools support in the live model catalogue first">
            <a:extLst xmlns:a="http://schemas.openxmlformats.org/drawingml/2006/main">
              <a:ext uri="{FF2B5EF4-FFF2-40B4-BE49-F238E27FC236}">
                <a16:creationId xmlns:a16="http://schemas.microsoft.com/office/drawing/2014/main" id="{A38192BA-C7F1-4EF9-B080-D89C57354CDA}"/>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472db920ae1e4f88"/>
              </a:rPr>
              <a:t>Check tools support in the live model catalogue first</a:t>
            </a:r>
          </a:p>
        </p:txBody>
      </p:sp>
    </p:spTree>
    <p:extLst>
      <p:ext uri="{BB962C8B-B14F-4D97-AF65-F5344CB8AC3E}">
        <p14:creationId xmlns:p14="http://schemas.microsoft.com/office/powerpoint/2010/main" val="20261001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Verify the Work Before Trusting the Answer</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Inspect the tool trace">
            <a:extLst xmlns:a="http://schemas.openxmlformats.org/drawingml/2006/main">
              <a:ext uri="{FF2B5EF4-FFF2-40B4-BE49-F238E27FC236}">
                <a16:creationId xmlns:a16="http://schemas.microsoft.com/office/drawing/2014/main" id="{077DFA7D-A7C2-480C-9B62-D10130079FC8}"/>
              </a:ext>
            </a:extLst>
          </p:cNvPr>
          <p:cNvSpPr>
            <a:spLocks xmlns:a="http://schemas.openxmlformats.org/drawingml/2006/main" noGrp="1"/>
          </p:cNvSpPr>
          <p:nvPr/>
        </p:nvSpPr>
        <p:spPr>
          <a:xfrm xmlns:a="http://schemas.openxmlformats.org/drawingml/2006/main">
            <a:off x="400050" y="1581150"/>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Inspect the tool trace</a:t>
            </a:r>
          </a:p>
        </p:txBody>
      </p:sp>
      <p:sp>
        <p:nvSpPr>
          <p:cNvPr id="185" name="Did it fetch the correct product and delivery country?">
            <a:extLst xmlns:a="http://schemas.openxmlformats.org/drawingml/2006/main">
              <a:ext uri="{FF2B5EF4-FFF2-40B4-BE49-F238E27FC236}">
                <a16:creationId xmlns:a16="http://schemas.microsoft.com/office/drawing/2014/main" id="{28C501BD-A5F7-424F-AC30-F32CD06D81B0}"/>
              </a:ext>
            </a:extLst>
          </p:cNvPr>
          <p:cNvSpPr>
            <a:spLocks xmlns:a="http://schemas.openxmlformats.org/drawingml/2006/main" noGrp="1"/>
          </p:cNvSpPr>
          <p:nvPr/>
        </p:nvSpPr>
        <p:spPr>
          <a:xfrm xmlns:a="http://schemas.openxmlformats.org/drawingml/2006/main">
            <a:off x="400050" y="2076450"/>
            <a:ext cx="83439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Did it fetch the correct product and delivery country?</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Were the returned values used in the final answer?</a:t>
            </a:r>
          </a:p>
        </p:txBody>
      </p:sp>
      <p:sp>
        <p:nvSpPr>
          <p:cNvPr id="186" name="Keep execution under your control">
            <a:extLst xmlns:a="http://schemas.openxmlformats.org/drawingml/2006/main">
              <a:ext uri="{FF2B5EF4-FFF2-40B4-BE49-F238E27FC236}">
                <a16:creationId xmlns:a16="http://schemas.microsoft.com/office/drawing/2014/main" id="{2A1B9ADD-A4A0-400C-A15C-26B83D7BA9F7}"/>
              </a:ext>
            </a:extLst>
          </p:cNvPr>
          <p:cNvSpPr>
            <a:spLocks xmlns:a="http://schemas.openxmlformats.org/drawingml/2006/main" noGrp="1"/>
          </p:cNvSpPr>
          <p:nvPr/>
        </p:nvSpPr>
        <p:spPr>
          <a:xfrm xmlns:a="http://schemas.openxmlformats.org/drawingml/2006/main">
            <a:off x="400050" y="313372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Keep execution under your control</a:t>
            </a:r>
          </a:p>
        </p:txBody>
      </p:sp>
      <p:sp>
        <p:nvSpPr>
          <p:cNvPr id="187" name="Allowlisted functions + validated arguments.">
            <a:extLst xmlns:a="http://schemas.openxmlformats.org/drawingml/2006/main">
              <a:ext uri="{FF2B5EF4-FFF2-40B4-BE49-F238E27FC236}">
                <a16:creationId xmlns:a16="http://schemas.microsoft.com/office/drawing/2014/main" id="{23377548-2DA5-422B-948A-ABD94EC7D18C}"/>
              </a:ext>
            </a:extLst>
          </p:cNvPr>
          <p:cNvSpPr>
            <a:spLocks xmlns:a="http://schemas.openxmlformats.org/drawingml/2006/main" noGrp="1"/>
          </p:cNvSpPr>
          <p:nvPr/>
        </p:nvSpPr>
        <p:spPr>
          <a:xfrm xmlns:a="http://schemas.openxmlformats.org/drawingml/2006/main">
            <a:off x="400050" y="3638550"/>
            <a:ext cx="8343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Allowlisted functions + validated arguments.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 maximum of four model turns in our example.</a:t>
            </a:r>
          </a:p>
        </p:txBody>
      </p:sp>
      <p:sp>
        <p:nvSpPr>
          <p:cNvPr id="188" name="The model requests an action; your application decides how to execute it">
            <a:extLst xmlns:a="http://schemas.openxmlformats.org/drawingml/2006/main">
              <a:ext uri="{FF2B5EF4-FFF2-40B4-BE49-F238E27FC236}">
                <a16:creationId xmlns:a16="http://schemas.microsoft.com/office/drawing/2014/main" id="{54377B1C-5A91-49B8-A6ED-6D11C9BF3BA6}"/>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8a07b0fefeab41ac"/>
              </a:rPr>
              <a:t>The model requests an action; your application decides how to execute it</a:t>
            </a:r>
          </a:p>
        </p:txBody>
      </p:sp>
    </p:spTree>
    <p:extLst>
      <p:ext uri="{BB962C8B-B14F-4D97-AF65-F5344CB8AC3E}">
        <p14:creationId xmlns:p14="http://schemas.microsoft.com/office/powerpoint/2010/main" val="20261001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Measure the Whole Task, Then Change the Model</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Count every turn">
            <a:extLst xmlns:a="http://schemas.openxmlformats.org/drawingml/2006/main">
              <a:ext uri="{FF2B5EF4-FFF2-40B4-BE49-F238E27FC236}">
                <a16:creationId xmlns:a16="http://schemas.microsoft.com/office/drawing/2014/main" id="{7344BD27-89F5-4960-9C57-5472F771DEF0}"/>
              </a:ext>
            </a:extLst>
          </p:cNvPr>
          <p:cNvSpPr>
            <a:spLocks xmlns:a="http://schemas.openxmlformats.org/drawingml/2006/main" noGrp="1"/>
          </p:cNvSpPr>
          <p:nvPr/>
        </p:nvSpPr>
        <p:spPr>
          <a:xfrm xmlns:a="http://schemas.openxmlformats.org/drawingml/2006/main">
            <a:off x="400050" y="155257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Count every turn</a:t>
            </a:r>
          </a:p>
        </p:txBody>
      </p:sp>
      <p:sp>
        <p:nvSpPr>
          <p:cNvPr id="185" name="Sum settled generation costs across the entire agent.">
            <a:extLst xmlns:a="http://schemas.openxmlformats.org/drawingml/2006/main">
              <a:ext uri="{FF2B5EF4-FFF2-40B4-BE49-F238E27FC236}">
                <a16:creationId xmlns:a16="http://schemas.microsoft.com/office/drawing/2014/main" id="{0C15C411-DD5F-4952-B31F-7BADB091FCA9}"/>
              </a:ext>
            </a:extLst>
          </p:cNvPr>
          <p:cNvSpPr>
            <a:spLocks xmlns:a="http://schemas.openxmlformats.org/drawingml/2006/main" noGrp="1"/>
          </p:cNvSpPr>
          <p:nvPr/>
        </p:nvSpPr>
        <p:spPr>
          <a:xfrm xmlns:a="http://schemas.openxmlformats.org/drawingml/2006/main">
            <a:off x="400050" y="2038350"/>
            <a:ext cx="8343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Sum settled generation costs across the entire agent.</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Tool-request turns belong in the usage ledger too.</a:t>
            </a:r>
          </a:p>
        </p:txBody>
      </p:sp>
      <p:sp>
        <p:nvSpPr>
          <p:cNvPr id="186" name="Compare with another capable model">
            <a:extLst xmlns:a="http://schemas.openxmlformats.org/drawingml/2006/main">
              <a:ext uri="{FF2B5EF4-FFF2-40B4-BE49-F238E27FC236}">
                <a16:creationId xmlns:a16="http://schemas.microsoft.com/office/drawing/2014/main" id="{40A68512-5728-4A3F-8CAC-869B92CD59F4}"/>
              </a:ext>
            </a:extLst>
          </p:cNvPr>
          <p:cNvSpPr>
            <a:spLocks xmlns:a="http://schemas.openxmlformats.org/drawingml/2006/main" noGrp="1"/>
          </p:cNvSpPr>
          <p:nvPr/>
        </p:nvSpPr>
        <p:spPr>
          <a:xfrm xmlns:a="http://schemas.openxmlformats.org/drawingml/2006/main">
            <a:off x="400050" y="317182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Compare with another capable model</a:t>
            </a:r>
          </a:p>
        </p:txBody>
      </p:sp>
      <p:sp>
        <p:nvSpPr>
          <p:cNvPr id="187" name="Keep the tools and task. Change the model ID.">
            <a:extLst xmlns:a="http://schemas.openxmlformats.org/drawingml/2006/main">
              <a:ext uri="{FF2B5EF4-FFF2-40B4-BE49-F238E27FC236}">
                <a16:creationId xmlns:a16="http://schemas.microsoft.com/office/drawing/2014/main" id="{1C3F0189-4271-49EC-8ECF-CD498CB75EFA}"/>
              </a:ext>
            </a:extLst>
          </p:cNvPr>
          <p:cNvSpPr>
            <a:spLocks xmlns:a="http://schemas.openxmlformats.org/drawingml/2006/main" noGrp="1"/>
          </p:cNvSpPr>
          <p:nvPr/>
        </p:nvSpPr>
        <p:spPr>
          <a:xfrm xmlns:a="http://schemas.openxmlformats.org/drawingml/2006/main">
            <a:off x="400050" y="3686175"/>
            <a:ext cx="834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Keep the tools and task. Change the model ID.</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Check the tool evidence, answer and cost again.</a:t>
            </a:r>
          </a:p>
        </p:txBody>
      </p:sp>
      <p:sp>
        <p:nvSpPr>
          <p:cNvPr id="188" name="Run “Build a small agent” in the companion Python notebook">
            <a:extLst xmlns:a="http://schemas.openxmlformats.org/drawingml/2006/main">
              <a:ext uri="{FF2B5EF4-FFF2-40B4-BE49-F238E27FC236}">
                <a16:creationId xmlns:a16="http://schemas.microsoft.com/office/drawing/2014/main" id="{67D8732F-024C-4CCE-A34D-7C9530612991}"/>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45a7ed219952433f"/>
              </a:rPr>
              <a:t>Run “Build a small agent” in the companion Python notebook</a:t>
            </a:r>
          </a:p>
        </p:txBody>
      </p:sp>
    </p:spTree>
    <p:extLst>
      <p:ext uri="{BB962C8B-B14F-4D97-AF65-F5344CB8AC3E}">
        <p14:creationId xmlns:p14="http://schemas.microsoft.com/office/powerpoint/2010/main" val="2026100165"/>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2026-10-01T13:05:42.5170000Z</dcterms:created>
  <dcterms:modified xsi:type="dcterms:W3CDTF">2026-10-01T13:05:42.5170000Z</dcterms:modified>
</coreProperties>
</file>