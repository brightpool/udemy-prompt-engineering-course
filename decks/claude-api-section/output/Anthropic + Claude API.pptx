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202a9414d64e56" /><Relationship Type="http://schemas.openxmlformats.org/officeDocument/2006/relationships/extended-properties" Target="/docProps/app.xml" Id="R2e8612e4f97a42bc" /><Relationship Type="http://schemas.openxmlformats.org/officeDocument/2006/relationships/officeDocument" Target="/ppt/presentation.xml" Id="Rd123e0af0e914d2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3557f650e89460b"/>
  </p:sldMasterIdLst>
  <p:notesMasterIdLst>
    <p:notesMasterId xmlns:r="http://schemas.openxmlformats.org/officeDocument/2006/relationships" r:id="R0658aa9f6f954dd0"/>
  </p:notesMasterIdLst>
  <p:sldIdLst>
    <p:sldId xmlns:r="http://schemas.openxmlformats.org/officeDocument/2006/relationships" id="256" r:id="Rb18bda61ae294348"/>
    <p:sldId xmlns:r="http://schemas.openxmlformats.org/officeDocument/2006/relationships" id="257" r:id="R52b2b7d9974b4ecb"/>
    <p:sldId xmlns:r="http://schemas.openxmlformats.org/officeDocument/2006/relationships" id="258" r:id="Rcfa57304e4b94e70"/>
    <p:sldId xmlns:r="http://schemas.openxmlformats.org/officeDocument/2006/relationships" id="259" r:id="R4034dadded704279"/>
    <p:sldId xmlns:r="http://schemas.openxmlformats.org/officeDocument/2006/relationships" id="260" r:id="Re7520e3c0e50483c"/>
    <p:sldId xmlns:r="http://schemas.openxmlformats.org/officeDocument/2006/relationships" id="261" r:id="R69671c6dc3644ef9"/>
    <p:sldId xmlns:r="http://schemas.openxmlformats.org/officeDocument/2006/relationships" id="262" r:id="Rcd14e8c40a234fdf"/>
    <p:sldId xmlns:r="http://schemas.openxmlformats.org/officeDocument/2006/relationships" id="263" r:id="Ra6726b5092804c5f"/>
    <p:sldId xmlns:r="http://schemas.openxmlformats.org/officeDocument/2006/relationships" id="264" r:id="R7881ddf3876c4eca"/>
    <p:sldId xmlns:r="http://schemas.openxmlformats.org/officeDocument/2006/relationships" id="265" r:id="Rb4e67a24481e48de"/>
    <p:sldId xmlns:r="http://schemas.openxmlformats.org/officeDocument/2006/relationships" id="266" r:id="R9fc0c7dcf0fc44bf"/>
    <p:sldId xmlns:r="http://schemas.openxmlformats.org/officeDocument/2006/relationships" id="267" r:id="Ra28448568ade4363"/>
  </p:sldIdLst>
  <p:sldSz cx="9144000" cy="5143500"/>
  <p:notesSz cx="6858000" cy="9144000"/>
  <p:embeddedFontLst>
    <p:embeddedFont>
      <p:font typeface="Source Code Pro"/>
      <p:regular xmlns:r="http://schemas.openxmlformats.org/officeDocument/2006/relationships" r:id="R3ffc2abcfdea498a"/>
      <p:bold xmlns:r="http://schemas.openxmlformats.org/officeDocument/2006/relationships" r:id="Rd8001f80649d406e"/>
      <p:italic xmlns:r="http://schemas.openxmlformats.org/officeDocument/2006/relationships" r:id="Re691c453e769482c"/>
      <p:boldItalic xmlns:r="http://schemas.openxmlformats.org/officeDocument/2006/relationships" r:id="Rcf4a3c8a81b34829"/>
    </p:embeddedFont>
    <p:embeddedFont>
      <p:font typeface="Oswald"/>
      <p:regular xmlns:r="http://schemas.openxmlformats.org/officeDocument/2006/relationships" r:id="Rf81c7b86d8b04bbc"/>
      <p:bold xmlns:r="http://schemas.openxmlformats.org/officeDocument/2006/relationships" r:id="R002f2c549824486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23cdf30ad32d4f8b" /><Relationship Type="http://schemas.openxmlformats.org/officeDocument/2006/relationships/slideMaster" Target="/ppt/slideMasters/slideMaster1.xml" Id="Rc3557f650e89460b" /><Relationship Type="http://schemas.openxmlformats.org/officeDocument/2006/relationships/notesMaster" Target="/ppt/notesMasters/notesMaster1.xml" Id="R0658aa9f6f954dd0" /><Relationship Type="http://schemas.openxmlformats.org/officeDocument/2006/relationships/presProps" Target="/ppt/presProps.xml" Id="Ra312564be86145e7" /><Relationship Type="http://schemas.openxmlformats.org/officeDocument/2006/relationships/viewProps" Target="/ppt/viewProps.xml" Id="Ra2a465fd0ff9407b" /><Relationship Type="http://schemas.openxmlformats.org/officeDocument/2006/relationships/tableStyles" Target="/ppt/tableStyles.xml" Id="Rc5cf0c66acd54981" /><Relationship Type="http://schemas.openxmlformats.org/officeDocument/2006/relationships/font" Target="/ppt/fonts/font.dat" Id="R3ffc2abcfdea498a" /><Relationship Type="http://schemas.openxmlformats.org/officeDocument/2006/relationships/font" Target="/ppt/fonts/font2.dat" Id="Rd8001f80649d406e" /><Relationship Type="http://schemas.openxmlformats.org/officeDocument/2006/relationships/font" Target="/ppt/fonts/font3.dat" Id="Re691c453e769482c" /><Relationship Type="http://schemas.openxmlformats.org/officeDocument/2006/relationships/font" Target="/ppt/fonts/font4.dat" Id="Rcf4a3c8a81b34829" /><Relationship Type="http://schemas.openxmlformats.org/officeDocument/2006/relationships/font" Target="/ppt/fonts/font5.dat" Id="Rf81c7b86d8b04bbc" /><Relationship Type="http://schemas.openxmlformats.org/officeDocument/2006/relationships/font" Target="/ppt/fonts/font6.dat" Id="R002f2c5498244862" /><Relationship Type="http://schemas.openxmlformats.org/officeDocument/2006/relationships/slide" Target="/ppt/slides/slide1.xml" Id="Rb18bda61ae294348" /><Relationship Type="http://schemas.openxmlformats.org/officeDocument/2006/relationships/slide" Target="/ppt/slides/slide2.xml" Id="R52b2b7d9974b4ecb" /><Relationship Type="http://schemas.openxmlformats.org/officeDocument/2006/relationships/slide" Target="/ppt/slides/slide3.xml" Id="Rcfa57304e4b94e70" /><Relationship Type="http://schemas.openxmlformats.org/officeDocument/2006/relationships/slide" Target="/ppt/slides/slide4.xml" Id="R4034dadded704279" /><Relationship Type="http://schemas.openxmlformats.org/officeDocument/2006/relationships/slide" Target="/ppt/slides/slide5.xml" Id="Re7520e3c0e50483c" /><Relationship Type="http://schemas.openxmlformats.org/officeDocument/2006/relationships/slide" Target="/ppt/slides/slide6.xml" Id="R69671c6dc3644ef9" /><Relationship Type="http://schemas.openxmlformats.org/officeDocument/2006/relationships/slide" Target="/ppt/slides/slide7.xml" Id="Rcd14e8c40a234fdf" /><Relationship Type="http://schemas.openxmlformats.org/officeDocument/2006/relationships/slide" Target="/ppt/slides/slide8.xml" Id="Ra6726b5092804c5f" /><Relationship Type="http://schemas.openxmlformats.org/officeDocument/2006/relationships/slide" Target="/ppt/slides/slide9.xml" Id="R7881ddf3876c4eca" /><Relationship Type="http://schemas.openxmlformats.org/officeDocument/2006/relationships/slide" Target="/ppt/slides/slide10.xml" Id="Rb4e67a24481e48de" /><Relationship Type="http://schemas.openxmlformats.org/officeDocument/2006/relationships/slide" Target="/ppt/slides/slide11.xml" Id="R9fc0c7dcf0fc44bf" /><Relationship Type="http://schemas.openxmlformats.org/officeDocument/2006/relationships/slide" Target="/ppt/slides/slide12.xml" Id="Ra28448568ade43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d3ca22e04141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18ea1ce4174367" /><Relationship Type="http://schemas.openxmlformats.org/officeDocument/2006/relationships/notesMaster" Target="/ppt/notesMasters/notesMaster1.xml" Id="Rea2f69a0a60d4a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edde4efe654500" /><Relationship Type="http://schemas.openxmlformats.org/officeDocument/2006/relationships/notesMaster" Target="/ppt/notesMasters/notesMaster1.xml" Id="R94ef3b61dd834d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065760223d4680" /><Relationship Type="http://schemas.openxmlformats.org/officeDocument/2006/relationships/notesMaster" Target="/ppt/notesMasters/notesMaster1.xml" Id="R4d173566b81943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358b370d964768" /><Relationship Type="http://schemas.openxmlformats.org/officeDocument/2006/relationships/notesMaster" Target="/ppt/notesMasters/notesMaster1.xml" Id="Rf5535ca1888447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7963be50144dc2" /><Relationship Type="http://schemas.openxmlformats.org/officeDocument/2006/relationships/notesMaster" Target="/ppt/notesMasters/notesMaster1.xml" Id="R001a2d52a0d34e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96f075f77343c8" /><Relationship Type="http://schemas.openxmlformats.org/officeDocument/2006/relationships/notesMaster" Target="/ppt/notesMasters/notesMaster1.xml" Id="R835996bd3c9f49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4fa48b9efe4892" /><Relationship Type="http://schemas.openxmlformats.org/officeDocument/2006/relationships/notesMaster" Target="/ppt/notesMasters/notesMaster1.xml" Id="Rdc1e63d3d1164f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99bccdd4434b00" /><Relationship Type="http://schemas.openxmlformats.org/officeDocument/2006/relationships/notesMaster" Target="/ppt/notesMasters/notesMaster1.xml" Id="Rc9f3768a59ab4e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5ef4678924474d" /><Relationship Type="http://schemas.openxmlformats.org/officeDocument/2006/relationships/notesMaster" Target="/ppt/notesMasters/notesMaster1.xml" Id="R404d788c09a840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285183396e4be0" /><Relationship Type="http://schemas.openxmlformats.org/officeDocument/2006/relationships/notesMaster" Target="/ppt/notesMasters/notesMaster1.xml" Id="R39e9aa270f9645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4dbeead8e34264" /><Relationship Type="http://schemas.openxmlformats.org/officeDocument/2006/relationships/notesMaster" Target="/ppt/notesMasters/notesMaster1.xml" Id="R1b8b80e3e42847b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4e8dc3ea0a4bae" /><Relationship Type="http://schemas.openxmlformats.org/officeDocument/2006/relationships/notesMaster" Target="/ppt/notesMasters/notesMaster1.xml" Id="R1128e37e5bf549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already know the broad pattern: provide instructions and inputs, choose a model, then inspect the output. In this compact section we will apply that knowledge to Anthropic and Claude. We will use the native Python API, build a small agent with tools, explain computer use and compare providers using our own task. The three companion notebooks cover the walkthrough, prompting and tools, and an optional computer-use exercise.</a:t>
            </a:r>
          </a:p>
          <a:p xmlns:a="http://schemas.openxmlformats.org/drawingml/2006/main">
            <a:r>
              <a:t/>
            </a:r>
          </a:p>
          <a:p xmlns:a="http://schemas.openxmlformats.org/drawingml/2006/main">
            <a:r>
              <a:t>Sources:</a:t>
            </a:r>
          </a:p>
          <a:p xmlns:a="http://schemas.openxmlformats.org/drawingml/2006/main">
            <a:r>
              <a:t>https://platform.claude.com/</a:t>
            </a:r>
          </a:p>
          <a:p xmlns:a="http://schemas.openxmlformats.org/drawingml/2006/main">
            <a:r>
              <a:t>https://platform.claude.com/docs/en/build-with-claude/working-with-messages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Install the anthropic Python SDK and supply an Anthropic API key through the environment or a hidden notebook prompt. MODEL is an available model ID discovered during setup. Claude Messages requires max_tokens. Initial guidance goes in system and the user task goes in messages. The response contains typed content blocks. Our helper selects text blocks and checks that the turn ended normally. The core notebook starts with a small Haiku example to keep this introductory demonstration short and inexpensive. API usage has its own billing.</a:t>
            </a:r>
          </a:p>
          <a:p xmlns:a="http://schemas.openxmlformats.org/drawingml/2006/main">
            <a:r>
              <a:t/>
            </a:r>
          </a:p>
          <a:p xmlns:a="http://schemas.openxmlformats.org/drawingml/2006/main">
            <a:r>
              <a:t>Sources:</a:t>
            </a:r>
          </a:p>
          <a:p xmlns:a="http://schemas.openxmlformats.org/drawingml/2006/main">
            <a:r>
              <a:t>https://platform.claude.com/docs/en/build-with-claude/working-with-messages</a:t>
            </a:r>
          </a:p>
          <a:p xmlns:a="http://schemas.openxmlformats.org/drawingml/2006/main">
            <a:r>
              <a:t>https://platform.claude.com/</a:t>
            </a:r>
          </a:p>
          <a:p xmlns:a="http://schemas.openxmlformats.org/drawingml/2006/main">
            <a:r>
              <a:t>https://platform.claude.com/docs/en/about-claude/pricing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familiar concepts carry across providers, but the native request bodies differ. These rows compare the introductory OpenAI Responses and Claude Messages patterns. OpenAI input can hold conversation messages and other items. Claude returns content blocks, which may include text, tool use or other block types. Claude Messages expects prior content for a continued conversation, whereas Responses also offers response-ID linking. Newer Claude models can support system messages later in a conversation with additional rules. Managed Agents products are separate interfaces. Keep the provider-specific details inside an adapter when your application supports both.</a:t>
            </a:r>
          </a:p>
          <a:p xmlns:a="http://schemas.openxmlformats.org/drawingml/2006/main">
            <a:r>
              <a:t/>
            </a:r>
          </a:p>
          <a:p xmlns:a="http://schemas.openxmlformats.org/drawingml/2006/main">
            <a:r>
              <a:t>Sources:</a:t>
            </a:r>
          </a:p>
          <a:p xmlns:a="http://schemas.openxmlformats.org/drawingml/2006/main">
            <a:r>
              <a:t>https://platform.claude.com/docs/en/build-with-claude/working-with-messages</a:t>
            </a:r>
          </a:p>
          <a:p xmlns:a="http://schemas.openxmlformats.org/drawingml/2006/main">
            <a:r>
              <a:t>https://developers.openai.com/api/docs/guides/migrate-to-responses</a:t>
            </a:r>
          </a:p>
          <a:p xmlns:a="http://schemas.openxmlformats.org/drawingml/2006/main">
            <a:r>
              <a:t>https://developers.openai.com/api/docs/guides/conversation-state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principles we learned earlier still apply. Claude prompting guidance emphasises clear instructions and useful examples. XML tags can make sections such as reviews or documents easy to distinguish from instructions. They are an organisational technique, not a guarantee of better results or protection against untrusted content. In our notebook, we ask for a short reason rather than an unrestricted explanation. Carry the intent of a good OpenAI prompt across, then test its wording with the selected Claude model. Supported controls can differ across models, so the examples omit sampling settings that some newer models reject.</a:t>
            </a:r>
          </a:p>
          <a:p xmlns:a="http://schemas.openxmlformats.org/drawingml/2006/main">
            <a:r>
              <a:t/>
            </a:r>
          </a:p>
          <a:p xmlns:a="http://schemas.openxmlformats.org/drawingml/2006/main">
            <a:r>
              <a:t>Sources:</a:t>
            </a:r>
          </a:p>
          <a:p xmlns:a="http://schemas.openxmlformats.org/drawingml/2006/main">
            <a:r>
              <a:t>https://platform.claude.com/docs/en/build-with-claude/prompt-engineering/overview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providers support several familiar capabilities, but configuration differs. Claude provides streaming helpers and structured outputs using output_config.format. Its supported image and PDF inputs use typed content blocks. The walkthrough also includes token counting and an optional cache example. Cache hits reuse an eligible input prefix, rather than the final answer. Feature availability and minimum cache lengths vary by model. The compact recording should show streaming and structured JSON, with the other demonstrations available as optional follow-along material.</a:t>
            </a:r>
          </a:p>
          <a:p xmlns:a="http://schemas.openxmlformats.org/drawingml/2006/main">
            <a:r>
              <a:t/>
            </a:r>
          </a:p>
          <a:p xmlns:a="http://schemas.openxmlformats.org/drawingml/2006/main">
            <a:r>
              <a:t>Sources:</a:t>
            </a:r>
          </a:p>
          <a:p xmlns:a="http://schemas.openxmlformats.org/drawingml/2006/main">
            <a:r>
              <a:t>https://platform.claude.com/docs/en/build-with-claude/structured-outputs</a:t>
            </a:r>
          </a:p>
          <a:p xmlns:a="http://schemas.openxmlformats.org/drawingml/2006/main">
            <a:r>
              <a:t>https://platform.claude.com/docs/en/build-with-claude/streaming</a:t>
            </a:r>
          </a:p>
          <a:p xmlns:a="http://schemas.openxmlformats.org/drawingml/2006/main">
            <a:r>
              <a:t>https://platform.claude.com/docs/en/build-with-claude/vision</a:t>
            </a:r>
          </a:p>
          <a:p xmlns:a="http://schemas.openxmlformats.org/drawingml/2006/main">
            <a:r>
              <a:t>https://platform.claude.com/docs/en/build-with-claude/prompt-caching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Client tools follow the same general loop as OpenAI function calling: describe a function, let the model request it, execute it in your application and return the result. Claude uses tool_use blocks and tool_result blocks. Preserve the complete assistant response, then put all matching tool results first in the next user message. OpenAI Responses uses different function-call and function-call-output item shapes. The model does not execute our Python functions. The application owns validation, execution and the turn limit.</a:t>
            </a:r>
          </a:p>
          <a:p xmlns:a="http://schemas.openxmlformats.org/drawingml/2006/main">
            <a:r>
              <a:t/>
            </a:r>
          </a:p>
          <a:p xmlns:a="http://schemas.openxmlformats.org/drawingml/2006/main">
            <a:r>
              <a:t>Sources:</a:t>
            </a:r>
          </a:p>
          <a:p xmlns:a="http://schemas.openxmlformats.org/drawingml/2006/main">
            <a:r>
              <a:t>https://platform.claude.com/docs/en/agents-and-tools/tool-use/handle-tool-calls</a:t>
            </a:r>
          </a:p>
          <a:p xmlns:a="http://schemas.openxmlformats.org/drawingml/2006/main">
            <a:r>
              <a:t>https://developers.openai.com/api/docs/guides/migrate-to-responses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small customer-support task is identical to the earlier gateway example so we can compare behaviour. Two read-only Python functions supply the product and delivery facts. The notebook defines native Claude tool schemas, validates arguments and runs a bounded loop. Its checks confirm that both expected tools ran and returned the sample data. Then read the final answer to check that it includes the correct stock and the fifteen-pound total. We record usage for every model turn, including tool requests. No order is placed.</a:t>
            </a:r>
          </a:p>
          <a:p xmlns:a="http://schemas.openxmlformats.org/drawingml/2006/main">
            <a:r>
              <a:t/>
            </a:r>
          </a:p>
          <a:p xmlns:a="http://schemas.openxmlformats.org/drawingml/2006/main">
            <a:r>
              <a:t>Sources:</a:t>
            </a:r>
          </a:p>
          <a:p xmlns:a="http://schemas.openxmlformats.org/drawingml/2006/main">
            <a:r>
              <a:t>https://platform.claude.com/docs/en/agents-and-tools/tool-use/handle-tool-calls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Execution ownership matters when comparing providers. A custom client function runs in our application. Computer-use actions also run in an environment we control. Supported Claude server tools, such as web search and hosted code execution, run on Anthropic infrastructure. OpenAI also provides hosted tools, but their names, request formats and environments differ. The features notebook includes optional search and code-execution examples with separate model settings. A tool appearing in both providers does not make the configurations interchangeable.</a:t>
            </a:r>
          </a:p>
          <a:p xmlns:a="http://schemas.openxmlformats.org/drawingml/2006/main">
            <a:r>
              <a:t/>
            </a:r>
          </a:p>
          <a:p xmlns:a="http://schemas.openxmlformats.org/drawingml/2006/main">
            <a:r>
              <a:t>Sources:</a:t>
            </a:r>
          </a:p>
          <a:p xmlns:a="http://schemas.openxmlformats.org/drawingml/2006/main">
            <a:r>
              <a:t>https://platform.claude.com/docs/en/agents-and-tools/tool-use/web-search-tool</a:t>
            </a:r>
          </a:p>
          <a:p xmlns:a="http://schemas.openxmlformats.org/drawingml/2006/main">
            <a:r>
              <a:t>https://platform.claude.com/docs/en/agents-and-tools/tool-use/code-execution-tool</a:t>
            </a:r>
          </a:p>
          <a:p xmlns:a="http://schemas.openxmlformats.org/drawingml/2006/main">
            <a:r>
              <a:t>https://platform.claude.com/docs/en/agents-and-tools/tool-use/computer-use-tool</a:t>
            </a:r>
          </a:p>
          <a:p xmlns:a="http://schemas.openxmlformats.org/drawingml/2006/main">
            <a:r>
              <a:t>https://developers.openai.com/api/docs/guides/tools-code-interpreter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Computer use remains available through Claude’s API. The current computer_toolset_20260801 exposes member tools such as screenshot, left_click and type. Claude returns tool_use blocks with toolset_name set to computer. Your application executes every call in order and returns matching tool_result blocks with that same toolset name. The current toolset requires no beta header on supported models. Older models may require older tool versions. Check the compatibility table before choosing a model. The companion notebook uses the current toolset and disables members its teaching adapter does not implement.</a:t>
            </a:r>
          </a:p>
          <a:p xmlns:a="http://schemas.openxmlformats.org/drawingml/2006/main">
            <a:r>
              <a:t/>
            </a:r>
          </a:p>
          <a:p xmlns:a="http://schemas.openxmlformats.org/drawingml/2006/main">
            <a:r>
              <a:t>Sources:</a:t>
            </a:r>
          </a:p>
          <a:p xmlns:a="http://schemas.openxmlformats.org/drawingml/2006/main">
            <a:r>
              <a:t>https://platform.claude.com/docs/en/agents-and-tools/tool-use/computer-use-tool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optional exercise uses a small local form and synthetic details. It launches a fresh headless browser context, blocks external page traffic and exposes a limited set of screenshot, mouse and keyboard operations. The task is to fill the fields and click Preview. The application checks the final field values rather than trusting the model’s claim that it finished. RUN_DEMO is false by default. Students can first inspect a simulated tool batch and offline validation checks. Enabling the live demo requires an available compatible model, API billing and the browser dependency installation.</a:t>
            </a:r>
          </a:p>
          <a:p xmlns:a="http://schemas.openxmlformats.org/drawingml/2006/main">
            <a:r>
              <a:t/>
            </a:r>
          </a:p>
          <a:p xmlns:a="http://schemas.openxmlformats.org/drawingml/2006/main">
            <a:r>
              <a:t>Sources:</a:t>
            </a:r>
          </a:p>
          <a:p xmlns:a="http://schemas.openxmlformats.org/drawingml/2006/main">
            <a:r>
              <a:t>https://platform.claude.com/docs/en/agents-and-tools/tool-use/computer-use-tool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same task and acceptance criteria when comparing models. Our walkthrough includes a small optional classification evaluation using both native APIs and the same result schema. It records task correctness, latency and usage, without claiming that three examples establish a universal winner. For an agent, evaluate the tool trace and total task cost across all turns. Check required context, modalities and tools before selecting a model. Tokenizers differ, so equal token counts do not imply equal work or dollar cost. Avoid fixed benchmark, context-length or pricing claims in this evergreen introduction. Use the live provider guides for current limits.</a:t>
            </a:r>
          </a:p>
          <a:p xmlns:a="http://schemas.openxmlformats.org/drawingml/2006/main">
            <a:r>
              <a:t/>
            </a:r>
          </a:p>
          <a:p xmlns:a="http://schemas.openxmlformats.org/drawingml/2006/main">
            <a:r>
              <a:t>Sources:</a:t>
            </a:r>
          </a:p>
          <a:p xmlns:a="http://schemas.openxmlformats.org/drawingml/2006/main">
            <a:r>
              <a:t>https://platform.claude.com/docs/en/about-claude/models/overview</a:t>
            </a:r>
          </a:p>
          <a:p xmlns:a="http://schemas.openxmlformats.org/drawingml/2006/main">
            <a:r>
              <a:t>https://platform.claude.com/docs/en/about-claude/pricing</a:t>
            </a:r>
          </a:p>
          <a:p xmlns:a="http://schemas.openxmlformats.org/drawingml/2006/main">
            <a:r>
              <a:t>https://platform.claude.com/docs/en/build-with-claude/token-counting</a:t>
            </a:r>
          </a:p>
          <a:p xmlns:a="http://schemas.openxmlformats.org/drawingml/2006/main">
            <a:r>
              <a:t>https://developers.openai.com/api/docs/guides/migrate-to-responses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Developers must be tool agnostic and willing to change their choice when evidence shows that another model, tool or context strategy performs better for the task. Tool agnostic means keeping those choices open and testable. It does not mean every API feature is interchangeable. Put provider-specific SDK calls and schemas inside adapters, keep your business logic and acceptance tests separate, and check capabilities before switching. A gateway or framework can help, but still evaluate its feature support. Choose using your task’s quality requirements, tools, latency and cost.</a:t>
            </a:r>
          </a:p>
          <a:p xmlns:a="http://schemas.openxmlformats.org/drawingml/2006/main">
            <a:r>
              <a:t/>
            </a:r>
          </a:p>
          <a:p xmlns:a="http://schemas.openxmlformats.org/drawingml/2006/main">
            <a:r>
              <a:t>Sources:</a:t>
            </a:r>
          </a:p>
          <a:p xmlns:a="http://schemas.openxmlformats.org/drawingml/2006/main">
            <a:r>
              <a:t>https://platform.claude.com/docs/en/about-claude/models/overview</a:t>
            </a:r>
          </a:p>
          <a:p xmlns:a="http://schemas.openxmlformats.org/drawingml/2006/main">
            <a:r>
              <a:t>https://developers.openai.com/api/docs/guides/migrate-to-responses</a:t>
            </a:r>
          </a:p>
          <a:p xmlns:a="http://schemas.openxmlformats.org/drawingml/2006/main">
            <a:r>
              <a:t>https://openrouter.ai/docs/quickstart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83c01f714345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198e74842f41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68cb4edb1549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903d195ea4f4c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b258f7c48c436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4c921f6cf3a485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d52890be9364a6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c7d0beb02044a6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feeb084bec6492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29730fd788f468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48342217ea94a1a"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24157C9D-CC74-4782-A398-A76CC4B2FA0D}"/>
              </a:ext>
            </a:extLst>
          </p:cNvPr>
          <p:cNvSpPr>
            <a:spLocks xmlns:a="http://schemas.openxmlformats.org/drawingml/2006/main" noGrp="1"/>
          </p:cNvSpPr>
          <p:nvPr/>
        </p:nvSpPr>
        <p:spPr>
          <a:xfrm xmlns:a="http://schemas.openxmlformats.org/drawingml/2006/main" rot="10800000">
            <a:off x="4226100" y="2933550"/>
            <a:ext cx="691800" cy="388500"/>
          </a:xfrm>
          <a:prstGeom xmlns:a="http://schemas.openxmlformats.org/drawingml/2006/main" prst="triangle">
            <a:avLst>
              <a:gd name="adj" fmla="val 50000"/>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1" name="Google Shape;11;p2">
            <a:extLst xmlns:a="http://schemas.openxmlformats.org/drawingml/2006/main">
              <a:ext uri="{FF2B5EF4-FFF2-40B4-BE49-F238E27FC236}">
                <a16:creationId xmlns:a16="http://schemas.microsoft.com/office/drawing/2014/main" id="{5F40FFE4-4CD8-4D8A-B29F-53815E4E315F}"/>
              </a:ext>
            </a:extLst>
          </p:cNvPr>
          <p:cNvSpPr>
            <a:spLocks xmlns:a="http://schemas.openxmlformats.org/drawingml/2006/main" noGrp="1"/>
          </p:cNvSpPr>
          <p:nvPr/>
        </p:nvSpPr>
        <p:spPr>
          <a:xfrm xmlns:a="http://schemas.openxmlformats.org/drawingml/2006/main">
            <a:off x="-25" y="0"/>
            <a:ext cx="9144000" cy="3124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2" name="Google Shape;12;p2">
            <a:extLst xmlns:a="http://schemas.openxmlformats.org/drawingml/2006/main">
              <a:ext uri="{FF2B5EF4-FFF2-40B4-BE49-F238E27FC236}">
                <a16:creationId xmlns:a16="http://schemas.microsoft.com/office/drawing/2014/main" id="{EE721652-0EE2-4786-A639-B0F2FAB7EEF1}"/>
              </a:ext>
            </a:extLst>
          </p:cNvPr>
          <p:cNvSpPr>
            <a:spLocks xmlns:a="http://schemas.openxmlformats.org/drawingml/2006/main" noGrp="1"/>
          </p:cNvSpPr>
          <p:nvPr>
            <p:ph type="ctrTitle" idx="0"/>
          </p:nvPr>
        </p:nvSpPr>
        <p:spPr>
          <a:xfrm xmlns:a="http://schemas.openxmlformats.org/drawingml/2006/main">
            <a:off x="411175" y="644300"/>
            <a:ext cx="8282400" cy="210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6000"/>
              <a:buNone/>
              <a:defRPr sz="6000">
                <a:solidFill>
                  <a:schemeClr val="lt1"/>
                </a:solidFill>
              </a:defRPr>
            </a:lvl1pPr>
            <a:lvl2pPr algn="ctr">
              <a:lnSpc>
                <a:spcPct val="100000"/>
              </a:lnSpc>
              <a:spcBef>
                <a:spcPts val="0"/>
              </a:spcBef>
              <a:spcAft>
                <a:spcPts val="0"/>
              </a:spcAft>
              <a:buClr>
                <a:schemeClr val="lt1"/>
              </a:buClr>
              <a:buSzPts val="6000"/>
              <a:buNone/>
              <a:defRPr sz="6000">
                <a:solidFill>
                  <a:schemeClr val="lt1"/>
                </a:solidFill>
              </a:defRPr>
            </a:lvl2pPr>
            <a:lvl3pPr algn="ctr">
              <a:lnSpc>
                <a:spcPct val="100000"/>
              </a:lnSpc>
              <a:spcBef>
                <a:spcPts val="0"/>
              </a:spcBef>
              <a:spcAft>
                <a:spcPts val="0"/>
              </a:spcAft>
              <a:buClr>
                <a:schemeClr val="lt1"/>
              </a:buClr>
              <a:buSzPts val="6000"/>
              <a:buNone/>
              <a:defRPr sz="6000">
                <a:solidFill>
                  <a:schemeClr val="lt1"/>
                </a:solidFill>
              </a:defRPr>
            </a:lvl3pPr>
            <a:lvl4pPr algn="ctr">
              <a:lnSpc>
                <a:spcPct val="100000"/>
              </a:lnSpc>
              <a:spcBef>
                <a:spcPts val="0"/>
              </a:spcBef>
              <a:spcAft>
                <a:spcPts val="0"/>
              </a:spcAft>
              <a:buClr>
                <a:schemeClr val="lt1"/>
              </a:buClr>
              <a:buSzPts val="6000"/>
              <a:buNone/>
              <a:defRPr sz="6000">
                <a:solidFill>
                  <a:schemeClr val="lt1"/>
                </a:solidFill>
              </a:defRPr>
            </a:lvl4pPr>
            <a:lvl5pPr algn="ctr">
              <a:lnSpc>
                <a:spcPct val="100000"/>
              </a:lnSpc>
              <a:spcBef>
                <a:spcPts val="0"/>
              </a:spcBef>
              <a:spcAft>
                <a:spcPts val="0"/>
              </a:spcAft>
              <a:buClr>
                <a:schemeClr val="lt1"/>
              </a:buClr>
              <a:buSzPts val="6000"/>
              <a:buNone/>
              <a:defRPr sz="6000">
                <a:solidFill>
                  <a:schemeClr val="lt1"/>
                </a:solidFill>
              </a:defRPr>
            </a:lvl5pPr>
            <a:lvl6pPr algn="ctr">
              <a:lnSpc>
                <a:spcPct val="100000"/>
              </a:lnSpc>
              <a:spcBef>
                <a:spcPts val="0"/>
              </a:spcBef>
              <a:spcAft>
                <a:spcPts val="0"/>
              </a:spcAft>
              <a:buClr>
                <a:schemeClr val="lt1"/>
              </a:buClr>
              <a:buSzPts val="6000"/>
              <a:buNone/>
              <a:defRPr sz="6000">
                <a:solidFill>
                  <a:schemeClr val="lt1"/>
                </a:solidFill>
              </a:defRPr>
            </a:lvl6pPr>
            <a:lvl7pPr algn="ctr">
              <a:lnSpc>
                <a:spcPct val="100000"/>
              </a:lnSpc>
              <a:spcBef>
                <a:spcPts val="0"/>
              </a:spcBef>
              <a:spcAft>
                <a:spcPts val="0"/>
              </a:spcAft>
              <a:buClr>
                <a:schemeClr val="lt1"/>
              </a:buClr>
              <a:buSzPts val="6000"/>
              <a:buNone/>
              <a:defRPr sz="6000">
                <a:solidFill>
                  <a:schemeClr val="lt1"/>
                </a:solidFill>
              </a:defRPr>
            </a:lvl7pPr>
            <a:lvl8pPr algn="ctr">
              <a:lnSpc>
                <a:spcPct val="100000"/>
              </a:lnSpc>
              <a:spcBef>
                <a:spcPts val="0"/>
              </a:spcBef>
              <a:spcAft>
                <a:spcPts val="0"/>
              </a:spcAft>
              <a:buClr>
                <a:schemeClr val="lt1"/>
              </a:buClr>
              <a:buSzPts val="6000"/>
              <a:buNone/>
              <a:defRPr sz="6000">
                <a:solidFill>
                  <a:schemeClr val="lt1"/>
                </a:solidFill>
              </a:defRPr>
            </a:lvl8pPr>
            <a:lvl9pPr algn="ctr">
              <a:lnSpc>
                <a:spcPct val="100000"/>
              </a:lnSpc>
              <a:spcBef>
                <a:spcPts val="0"/>
              </a:spcBef>
              <a:spcAft>
                <a:spcPts val="0"/>
              </a:spcAft>
              <a:buClr>
                <a:schemeClr val="lt1"/>
              </a:buClr>
              <a:buSzPts val="6000"/>
              <a:buNone/>
              <a:defRPr sz="6000">
                <a:solidFill>
                  <a:schemeClr val="lt1"/>
                </a:solidFill>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8291F2EA-2FB5-421A-A0BA-42BC5A48B349}"/>
              </a:ext>
            </a:extLst>
          </p:cNvPr>
          <p:cNvSpPr>
            <a:spLocks xmlns:a="http://schemas.openxmlformats.org/drawingml/2006/main" noGrp="1"/>
          </p:cNvSpPr>
          <p:nvPr>
            <p:ph type="subTitle" idx="1"/>
          </p:nvPr>
        </p:nvSpPr>
        <p:spPr>
          <a:xfrm xmlns:a="http://schemas.openxmlformats.org/drawingml/2006/main">
            <a:off x="411175" y="3398250"/>
            <a:ext cx="8282400" cy="126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Font typeface="Oswald"/>
              <a:buNone/>
              <a:defRPr sz="3600">
                <a:latin typeface="Oswald"/>
                <a:ea typeface="Oswald"/>
                <a:cs typeface="Oswald"/>
              </a:defRPr>
            </a:lvl1pPr>
            <a:lvl2pPr algn="ctr">
              <a:lnSpc>
                <a:spcPct val="100000"/>
              </a:lnSpc>
              <a:spcBef>
                <a:spcPts val="0"/>
              </a:spcBef>
              <a:spcAft>
                <a:spcPts val="0"/>
              </a:spcAft>
              <a:buSzPts val="3600"/>
              <a:buFont typeface="Oswald"/>
              <a:buNone/>
              <a:defRPr sz="3600">
                <a:latin typeface="Oswald"/>
                <a:ea typeface="Oswald"/>
                <a:cs typeface="Oswald"/>
              </a:defRPr>
            </a:lvl2pPr>
            <a:lvl3pPr algn="ctr">
              <a:lnSpc>
                <a:spcPct val="100000"/>
              </a:lnSpc>
              <a:spcBef>
                <a:spcPts val="0"/>
              </a:spcBef>
              <a:spcAft>
                <a:spcPts val="0"/>
              </a:spcAft>
              <a:buSzPts val="3600"/>
              <a:buFont typeface="Oswald"/>
              <a:buNone/>
              <a:defRPr sz="3600">
                <a:latin typeface="Oswald"/>
                <a:ea typeface="Oswald"/>
                <a:cs typeface="Oswald"/>
              </a:defRPr>
            </a:lvl3pPr>
            <a:lvl4pPr algn="ctr">
              <a:lnSpc>
                <a:spcPct val="100000"/>
              </a:lnSpc>
              <a:spcBef>
                <a:spcPts val="0"/>
              </a:spcBef>
              <a:spcAft>
                <a:spcPts val="0"/>
              </a:spcAft>
              <a:buSzPts val="3600"/>
              <a:buFont typeface="Oswald"/>
              <a:buNone/>
              <a:defRPr sz="3600">
                <a:latin typeface="Oswald"/>
                <a:ea typeface="Oswald"/>
                <a:cs typeface="Oswald"/>
              </a:defRPr>
            </a:lvl4pPr>
            <a:lvl5pPr algn="ctr">
              <a:lnSpc>
                <a:spcPct val="100000"/>
              </a:lnSpc>
              <a:spcBef>
                <a:spcPts val="0"/>
              </a:spcBef>
              <a:spcAft>
                <a:spcPts val="0"/>
              </a:spcAft>
              <a:buSzPts val="3600"/>
              <a:buFont typeface="Oswald"/>
              <a:buNone/>
              <a:defRPr sz="3600">
                <a:latin typeface="Oswald"/>
                <a:ea typeface="Oswald"/>
                <a:cs typeface="Oswald"/>
              </a:defRPr>
            </a:lvl5pPr>
            <a:lvl6pPr algn="ctr">
              <a:lnSpc>
                <a:spcPct val="100000"/>
              </a:lnSpc>
              <a:spcBef>
                <a:spcPts val="0"/>
              </a:spcBef>
              <a:spcAft>
                <a:spcPts val="0"/>
              </a:spcAft>
              <a:buSzPts val="3600"/>
              <a:buFont typeface="Oswald"/>
              <a:buNone/>
              <a:defRPr sz="3600">
                <a:latin typeface="Oswald"/>
                <a:ea typeface="Oswald"/>
                <a:cs typeface="Oswald"/>
              </a:defRPr>
            </a:lvl6pPr>
            <a:lvl7pPr algn="ctr">
              <a:lnSpc>
                <a:spcPct val="100000"/>
              </a:lnSpc>
              <a:spcBef>
                <a:spcPts val="0"/>
              </a:spcBef>
              <a:spcAft>
                <a:spcPts val="0"/>
              </a:spcAft>
              <a:buSzPts val="3600"/>
              <a:buFont typeface="Oswald"/>
              <a:buNone/>
              <a:defRPr sz="3600">
                <a:latin typeface="Oswald"/>
                <a:ea typeface="Oswald"/>
                <a:cs typeface="Oswald"/>
              </a:defRPr>
            </a:lvl7pPr>
            <a:lvl8pPr algn="ctr">
              <a:lnSpc>
                <a:spcPct val="100000"/>
              </a:lnSpc>
              <a:spcBef>
                <a:spcPts val="0"/>
              </a:spcBef>
              <a:spcAft>
                <a:spcPts val="0"/>
              </a:spcAft>
              <a:buSzPts val="3600"/>
              <a:buFont typeface="Oswald"/>
              <a:buNone/>
              <a:defRPr sz="3600">
                <a:latin typeface="Oswald"/>
                <a:ea typeface="Oswald"/>
                <a:cs typeface="Oswald"/>
              </a:defRPr>
            </a:lvl8pPr>
            <a:lvl9pPr algn="ctr">
              <a:lnSpc>
                <a:spcPct val="100000"/>
              </a:lnSpc>
              <a:spcBef>
                <a:spcPts val="0"/>
              </a:spcBef>
              <a:spcAft>
                <a:spcPts val="0"/>
              </a:spcAft>
              <a:buSzPts val="3600"/>
              <a:buFont typeface="Oswald"/>
              <a:buNone/>
              <a:defRPr sz="3600">
                <a:latin typeface="Oswald"/>
                <a:ea typeface="Oswald"/>
                <a:cs typeface="Oswald"/>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EB7E5C52-60D7-4A72-9C19-0E2CDA7443D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5" name="Google Shape;15;p2">
            <a:extLst xmlns:a="http://schemas.openxmlformats.org/drawingml/2006/main">
              <a:ext uri="{FF2B5EF4-FFF2-40B4-BE49-F238E27FC236}">
                <a16:creationId xmlns:a16="http://schemas.microsoft.com/office/drawing/2014/main" id="{4AFE4940-1F6B-445D-92C7-4D4FFF006702}"/>
              </a:ext>
            </a:extLst>
          </p:cNvPr>
          <p:cNvSpPr>
            <a:spLocks xmlns:a="http://schemas.openxmlformats.org/drawingml/2006/main" noGrp="1"/>
          </p:cNvSpPr>
          <p:nvPr/>
        </p:nvSpPr>
        <p:spPr>
          <a:xfrm xmlns:a="http://schemas.openxmlformats.org/drawingml/2006/main">
            <a:off x="411175" y="79900"/>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0" i="0" u="none" cap="none">
                <a:solidFill>
                  <a:schemeClr val="lt1"/>
                </a:solidFill>
                <a:latin typeface="Source Code Pro"/>
                <a:ea typeface="Source Code Pro"/>
                <a:cs typeface="Source Code Pro"/>
              </a:rPr>
              <a:t>Complete Prompt Engineering for Generative AI (2026)</a:t>
            </a:r>
            <a:endParaRPr sz="1100" b="0" i="0" u="none" cap="none">
              <a:solidFill>
                <a:schemeClr val="lt1"/>
              </a:solidFill>
              <a:latin typeface="Source Code Pro"/>
              <a:ea typeface="Source Code Pro"/>
              <a:cs typeface="Source Code Pro"/>
            </a:endParaRPr>
          </a:p>
        </p:txBody>
      </p:sp>
    </p:spTree>
  </p:cSld>
</p:sldLayout>
</file>

<file path=ppt/slideLayouts/slideLayout2.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cxnSp>
        <p:nvCxnSpPr>
          <p:cNvPr id="23" name="Google Shape;17;p3"/>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18" name="Google Shape;18;p3">
            <a:extLst xmlns:a="http://schemas.openxmlformats.org/drawingml/2006/main">
              <a:ext uri="{FF2B5EF4-FFF2-40B4-BE49-F238E27FC236}">
                <a16:creationId xmlns:a16="http://schemas.microsoft.com/office/drawing/2014/main" id="{CA32B3A2-83F2-4759-9E14-8AE160D07737}"/>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9C3F73EE-41CD-432F-A3F3-9CC477D96D8D}"/>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0674DC3C-9835-437B-8A42-513A69FE89F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1" name="Google Shape;21;p3">
            <a:extLst xmlns:a="http://schemas.openxmlformats.org/drawingml/2006/main">
              <a:ext uri="{FF2B5EF4-FFF2-40B4-BE49-F238E27FC236}">
                <a16:creationId xmlns:a16="http://schemas.microsoft.com/office/drawing/2014/main" id="{2AAA9F8D-39A8-4721-84C6-79EF0742577F}"/>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3" name="Google Shape;23;p4">
            <a:extLst xmlns:a="http://schemas.openxmlformats.org/drawingml/2006/main">
              <a:ext uri="{FF2B5EF4-FFF2-40B4-BE49-F238E27FC236}">
                <a16:creationId xmlns:a16="http://schemas.microsoft.com/office/drawing/2014/main" id="{450436FB-F414-4E1E-B8F3-5E9D6034BDC0}"/>
              </a:ext>
            </a:extLst>
          </p:cNvPr>
          <p:cNvSpPr>
            <a:spLocks xmlns:a="http://schemas.openxmlformats.org/drawingml/2006/main" noGrp="1"/>
          </p:cNvSpPr>
          <p:nvPr/>
        </p:nvSpPr>
        <p:spPr>
          <a:xfrm xmlns:a="http://schemas.openxmlformats.org/drawingml/2006/main">
            <a:off x="0" y="1567350"/>
            <a:ext cx="9144000" cy="2008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24" name="Google Shape;24;p4">
            <a:extLst xmlns:a="http://schemas.openxmlformats.org/drawingml/2006/main">
              <a:ext uri="{FF2B5EF4-FFF2-40B4-BE49-F238E27FC236}">
                <a16:creationId xmlns:a16="http://schemas.microsoft.com/office/drawing/2014/main" id="{627CC317-AA90-4195-B317-17CD67FFA2FE}"/>
              </a:ext>
            </a:extLst>
          </p:cNvPr>
          <p:cNvSpPr>
            <a:spLocks xmlns:a="http://schemas.openxmlformats.org/drawingml/2006/main" noGrp="1"/>
          </p:cNvSpPr>
          <p:nvPr>
            <p:ph type="title" idx="0"/>
          </p:nvPr>
        </p:nvSpPr>
        <p:spPr>
          <a:xfrm xmlns:a="http://schemas.openxmlformats.org/drawingml/2006/main">
            <a:off x="430800" y="1889700"/>
            <a:ext cx="8282400" cy="15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Clr>
                <a:schemeClr val="lt1"/>
              </a:buClr>
              <a:buSzPts val="3600"/>
              <a:buNone/>
              <a:defRPr sz="3600">
                <a:solidFill>
                  <a:schemeClr val="lt1"/>
                </a:solidFill>
              </a:defRPr>
            </a:lvl1pPr>
            <a:lvl2pPr algn="ctr">
              <a:lnSpc>
                <a:spcPct val="100000"/>
              </a:lnSpc>
              <a:spcBef>
                <a:spcPts val="0"/>
              </a:spcBef>
              <a:spcAft>
                <a:spcPts val="0"/>
              </a:spcAft>
              <a:buClr>
                <a:schemeClr val="lt1"/>
              </a:buClr>
              <a:buSzPts val="3600"/>
              <a:buNone/>
              <a:defRPr sz="3600">
                <a:solidFill>
                  <a:schemeClr val="lt1"/>
                </a:solidFill>
              </a:defRPr>
            </a:lvl2pPr>
            <a:lvl3pPr algn="ctr">
              <a:lnSpc>
                <a:spcPct val="100000"/>
              </a:lnSpc>
              <a:spcBef>
                <a:spcPts val="0"/>
              </a:spcBef>
              <a:spcAft>
                <a:spcPts val="0"/>
              </a:spcAft>
              <a:buClr>
                <a:schemeClr val="lt1"/>
              </a:buClr>
              <a:buSzPts val="3600"/>
              <a:buNone/>
              <a:defRPr sz="3600">
                <a:solidFill>
                  <a:schemeClr val="lt1"/>
                </a:solidFill>
              </a:defRPr>
            </a:lvl3pPr>
            <a:lvl4pPr algn="ctr">
              <a:lnSpc>
                <a:spcPct val="100000"/>
              </a:lnSpc>
              <a:spcBef>
                <a:spcPts val="0"/>
              </a:spcBef>
              <a:spcAft>
                <a:spcPts val="0"/>
              </a:spcAft>
              <a:buClr>
                <a:schemeClr val="lt1"/>
              </a:buClr>
              <a:buSzPts val="3600"/>
              <a:buNone/>
              <a:defRPr sz="3600">
                <a:solidFill>
                  <a:schemeClr val="lt1"/>
                </a:solidFill>
              </a:defRPr>
            </a:lvl4pPr>
            <a:lvl5pPr algn="ctr">
              <a:lnSpc>
                <a:spcPct val="100000"/>
              </a:lnSpc>
              <a:spcBef>
                <a:spcPts val="0"/>
              </a:spcBef>
              <a:spcAft>
                <a:spcPts val="0"/>
              </a:spcAft>
              <a:buClr>
                <a:schemeClr val="lt1"/>
              </a:buClr>
              <a:buSzPts val="3600"/>
              <a:buNone/>
              <a:defRPr sz="3600">
                <a:solidFill>
                  <a:schemeClr val="lt1"/>
                </a:solidFill>
              </a:defRPr>
            </a:lvl5pPr>
            <a:lvl6pPr algn="ctr">
              <a:lnSpc>
                <a:spcPct val="100000"/>
              </a:lnSpc>
              <a:spcBef>
                <a:spcPts val="0"/>
              </a:spcBef>
              <a:spcAft>
                <a:spcPts val="0"/>
              </a:spcAft>
              <a:buClr>
                <a:schemeClr val="lt1"/>
              </a:buClr>
              <a:buSzPts val="3600"/>
              <a:buNone/>
              <a:defRPr sz="3600">
                <a:solidFill>
                  <a:schemeClr val="lt1"/>
                </a:solidFill>
              </a:defRPr>
            </a:lvl6pPr>
            <a:lvl7pPr algn="ctr">
              <a:lnSpc>
                <a:spcPct val="100000"/>
              </a:lnSpc>
              <a:spcBef>
                <a:spcPts val="0"/>
              </a:spcBef>
              <a:spcAft>
                <a:spcPts val="0"/>
              </a:spcAft>
              <a:buClr>
                <a:schemeClr val="lt1"/>
              </a:buClr>
              <a:buSzPts val="3600"/>
              <a:buNone/>
              <a:defRPr sz="3600">
                <a:solidFill>
                  <a:schemeClr val="lt1"/>
                </a:solidFill>
              </a:defRPr>
            </a:lvl7pPr>
            <a:lvl8pPr algn="ctr">
              <a:lnSpc>
                <a:spcPct val="100000"/>
              </a:lnSpc>
              <a:spcBef>
                <a:spcPts val="0"/>
              </a:spcBef>
              <a:spcAft>
                <a:spcPts val="0"/>
              </a:spcAft>
              <a:buClr>
                <a:schemeClr val="lt1"/>
              </a:buClr>
              <a:buSzPts val="3600"/>
              <a:buNone/>
              <a:defRPr sz="3600">
                <a:solidFill>
                  <a:schemeClr val="lt1"/>
                </a:solidFill>
              </a:defRPr>
            </a:lvl8pPr>
            <a:lvl9pPr algn="ctr">
              <a:lnSpc>
                <a:spcPct val="100000"/>
              </a:lnSpc>
              <a:spcBef>
                <a:spcPts val="0"/>
              </a:spcBef>
              <a:spcAft>
                <a:spcPts val="0"/>
              </a:spcAft>
              <a:buClr>
                <a:schemeClr val="lt1"/>
              </a:buClr>
              <a:buSzPts val="3600"/>
              <a:buNone/>
              <a:defRPr sz="3600">
                <a:solidFill>
                  <a:schemeClr val="lt1"/>
                </a:solidFill>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29D05FE9-16DD-49EA-9E54-CA9CBA2E43E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6" name="Google Shape;26;p4">
            <a:extLst xmlns:a="http://schemas.openxmlformats.org/drawingml/2006/main">
              <a:ext uri="{FF2B5EF4-FFF2-40B4-BE49-F238E27FC236}">
                <a16:creationId xmlns:a16="http://schemas.microsoft.com/office/drawing/2014/main" id="{09B85B54-99F7-4CD1-84DA-14D82429AC8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cxnSp>
        <p:nvCxnSpPr>
          <p:cNvPr id="35" name="Google Shape;28;p5"/>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29" name="Google Shape;29;p5">
            <a:extLst xmlns:a="http://schemas.openxmlformats.org/drawingml/2006/main">
              <a:ext uri="{FF2B5EF4-FFF2-40B4-BE49-F238E27FC236}">
                <a16:creationId xmlns:a16="http://schemas.microsoft.com/office/drawing/2014/main" id="{B62D533D-CB4F-4932-8CCE-7B9752EABFDC}"/>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4FC2D6AE-03F3-4D80-8FD9-178DEEBF7559}"/>
              </a:ext>
            </a:extLst>
          </p:cNvPr>
          <p:cNvSpPr>
            <a:spLocks xmlns:a="http://schemas.openxmlformats.org/drawingml/2006/main" noGrp="1"/>
          </p:cNvSpPr>
          <p:nvPr>
            <p:ph type="body" idx="1"/>
          </p:nvPr>
        </p:nvSpPr>
        <p:spPr>
          <a:xfrm xmlns:a="http://schemas.openxmlformats.org/drawingml/2006/main">
            <a:off x="3117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F3B3E6D5-57EB-450F-80A4-439D823CFB3F}"/>
              </a:ext>
            </a:extLst>
          </p:cNvPr>
          <p:cNvSpPr>
            <a:spLocks xmlns:a="http://schemas.openxmlformats.org/drawingml/2006/main" noGrp="1"/>
          </p:cNvSpPr>
          <p:nvPr>
            <p:ph type="body" idx="2"/>
          </p:nvPr>
        </p:nvSpPr>
        <p:spPr>
          <a:xfrm xmlns:a="http://schemas.openxmlformats.org/drawingml/2006/main">
            <a:off x="48324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E30D1649-445C-46EB-AC95-BB67BF5D1BB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3" name="Google Shape;33;p5">
            <a:extLst xmlns:a="http://schemas.openxmlformats.org/drawingml/2006/main">
              <a:ext uri="{FF2B5EF4-FFF2-40B4-BE49-F238E27FC236}">
                <a16:creationId xmlns:a16="http://schemas.microsoft.com/office/drawing/2014/main" id="{01F0D6F2-CDFF-4907-BB11-91B6BC32E368}"/>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5" name="Google Shape;35;p6">
            <a:extLst xmlns:a="http://schemas.openxmlformats.org/drawingml/2006/main">
              <a:ext uri="{FF2B5EF4-FFF2-40B4-BE49-F238E27FC236}">
                <a16:creationId xmlns:a16="http://schemas.microsoft.com/office/drawing/2014/main" id="{FF053B0B-0F06-4365-8AA3-CB136FEB0A31}"/>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F864F1CB-68B9-4FBB-AE61-C31DABAD561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7" name="Google Shape;37;p6">
            <a:extLst xmlns:a="http://schemas.openxmlformats.org/drawingml/2006/main">
              <a:ext uri="{FF2B5EF4-FFF2-40B4-BE49-F238E27FC236}">
                <a16:creationId xmlns:a16="http://schemas.microsoft.com/office/drawing/2014/main" id="{A42C25FC-1A84-45AE-AAB7-021162EA6132}"/>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cxnSp>
        <p:nvCxnSpPr>
          <p:cNvPr id="45" name="Google Shape;39;p7"/>
          <p:cNvCxnSpPr/>
          <p:nvPr/>
        </p:nvCxnSpPr>
        <p:spPr>
          <a:xfrm xmlns:a="http://schemas.openxmlformats.org/drawingml/2006/main">
            <a:off x="418675" y="145778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40" name="Google Shape;40;p7">
            <a:extLst xmlns:a="http://schemas.openxmlformats.org/drawingml/2006/main">
              <a:ext uri="{FF2B5EF4-FFF2-40B4-BE49-F238E27FC236}">
                <a16:creationId xmlns:a16="http://schemas.microsoft.com/office/drawing/2014/main" id="{E8CE15C9-6A0A-41C4-8348-668F78DAD0A2}"/>
              </a:ext>
            </a:extLst>
          </p:cNvPr>
          <p:cNvSpPr>
            <a:spLocks xmlns:a="http://schemas.openxmlformats.org/drawingml/2006/main" noGrp="1"/>
          </p:cNvSpPr>
          <p:nvPr>
            <p:ph type="title" idx="0"/>
          </p:nvPr>
        </p:nvSpPr>
        <p:spPr>
          <a:xfrm xmlns:a="http://schemas.openxmlformats.org/drawingml/2006/main">
            <a:off x="311700" y="6318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41" name="Google Shape;41;p7">
            <a:extLst xmlns:a="http://schemas.openxmlformats.org/drawingml/2006/main">
              <a:ext uri="{FF2B5EF4-FFF2-40B4-BE49-F238E27FC236}">
                <a16:creationId xmlns:a16="http://schemas.microsoft.com/office/drawing/2014/main" id="{3769537B-17D7-46CE-8AB9-1FAEB39AC9A5}"/>
              </a:ext>
            </a:extLst>
          </p:cNvPr>
          <p:cNvSpPr>
            <a:spLocks xmlns:a="http://schemas.openxmlformats.org/drawingml/2006/main" noGrp="1"/>
          </p:cNvSpPr>
          <p:nvPr>
            <p:ph type="body" idx="1"/>
          </p:nvPr>
        </p:nvSpPr>
        <p:spPr>
          <a:xfrm xmlns:a="http://schemas.openxmlformats.org/drawingml/2006/main">
            <a:off x="311700" y="1618204"/>
            <a:ext cx="2808000" cy="295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6E1CD1CA-9D40-4F0D-9289-8534C08A10D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3" name="Google Shape;43;p7">
            <a:extLst xmlns:a="http://schemas.openxmlformats.org/drawingml/2006/main">
              <a:ext uri="{FF2B5EF4-FFF2-40B4-BE49-F238E27FC236}">
                <a16:creationId xmlns:a16="http://schemas.microsoft.com/office/drawing/2014/main" id="{8FC503F9-B9A6-4C28-9825-466AB45075B1}"/>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7.xml><?xml version="1.0" encoding="utf-8"?>
<p:sldLayout xmlns:p="http://schemas.openxmlformats.org/presentationml/2006/main" matchingName="Main point">
  <p:cSld name="MAIN_POINT">
    <p:bg>
      <p:bgPr>
        <a:solidFill xmlns:a="http://schemas.openxmlformats.org/drawingml/2006/main">
          <a:schemeClr val="lt2"/>
        </a:solidFill>
      </p:bgPr>
    </p:bg>
    <p:spTree>
      <p:nvGrpSpPr>
        <p:cNvPr id="1" name=""/>
        <p:cNvGrpSpPr/>
        <p:nvPr/>
      </p:nvGrpSpPr>
      <p:grpSpPr>
        <a:xfrm xmlns:a="http://schemas.openxmlformats.org/drawingml/2006/main"/>
      </p:grpSpPr>
      <p:sp>
        <p:nvSpPr>
          <p:cNvPr id="45" name="Google Shape;45;p8">
            <a:extLst xmlns:a="http://schemas.openxmlformats.org/drawingml/2006/main">
              <a:ext uri="{FF2B5EF4-FFF2-40B4-BE49-F238E27FC236}">
                <a16:creationId xmlns:a16="http://schemas.microsoft.com/office/drawing/2014/main" id="{14217C4E-E932-4AE9-A23A-BA4F5AC143B3}"/>
              </a:ext>
            </a:extLst>
          </p:cNvPr>
          <p:cNvSpPr>
            <a:spLocks xmlns:a="http://schemas.openxmlformats.org/drawingml/2006/main" noGrp="1"/>
          </p:cNvSpPr>
          <p:nvPr>
            <p:ph type="title" idx="0"/>
          </p:nvPr>
        </p:nvSpPr>
        <p:spPr>
          <a:xfrm xmlns:a="http://schemas.openxmlformats.org/drawingml/2006/main">
            <a:off x="490250" y="528900"/>
            <a:ext cx="5678100" cy="40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Clr>
                <a:schemeClr val="lt1"/>
              </a:buClr>
              <a:buSzPts val="5400"/>
              <a:buNone/>
              <a:defRPr sz="5400">
                <a:solidFill>
                  <a:schemeClr val="lt1"/>
                </a:solidFill>
              </a:defRPr>
            </a:lvl1pPr>
            <a:lvl2pPr algn="l">
              <a:lnSpc>
                <a:spcPct val="100000"/>
              </a:lnSpc>
              <a:spcBef>
                <a:spcPts val="0"/>
              </a:spcBef>
              <a:spcAft>
                <a:spcPts val="0"/>
              </a:spcAft>
              <a:buClr>
                <a:schemeClr val="lt1"/>
              </a:buClr>
              <a:buSzPts val="5400"/>
              <a:buNone/>
              <a:defRPr sz="5400">
                <a:solidFill>
                  <a:schemeClr val="lt1"/>
                </a:solidFill>
              </a:defRPr>
            </a:lvl2pPr>
            <a:lvl3pPr algn="l">
              <a:lnSpc>
                <a:spcPct val="100000"/>
              </a:lnSpc>
              <a:spcBef>
                <a:spcPts val="0"/>
              </a:spcBef>
              <a:spcAft>
                <a:spcPts val="0"/>
              </a:spcAft>
              <a:buClr>
                <a:schemeClr val="lt1"/>
              </a:buClr>
              <a:buSzPts val="5400"/>
              <a:buNone/>
              <a:defRPr sz="5400">
                <a:solidFill>
                  <a:schemeClr val="lt1"/>
                </a:solidFill>
              </a:defRPr>
            </a:lvl3pPr>
            <a:lvl4pPr algn="l">
              <a:lnSpc>
                <a:spcPct val="100000"/>
              </a:lnSpc>
              <a:spcBef>
                <a:spcPts val="0"/>
              </a:spcBef>
              <a:spcAft>
                <a:spcPts val="0"/>
              </a:spcAft>
              <a:buClr>
                <a:schemeClr val="lt1"/>
              </a:buClr>
              <a:buSzPts val="5400"/>
              <a:buNone/>
              <a:defRPr sz="5400">
                <a:solidFill>
                  <a:schemeClr val="lt1"/>
                </a:solidFill>
              </a:defRPr>
            </a:lvl4pPr>
            <a:lvl5pPr algn="l">
              <a:lnSpc>
                <a:spcPct val="100000"/>
              </a:lnSpc>
              <a:spcBef>
                <a:spcPts val="0"/>
              </a:spcBef>
              <a:spcAft>
                <a:spcPts val="0"/>
              </a:spcAft>
              <a:buClr>
                <a:schemeClr val="lt1"/>
              </a:buClr>
              <a:buSzPts val="5400"/>
              <a:buNone/>
              <a:defRPr sz="5400">
                <a:solidFill>
                  <a:schemeClr val="lt1"/>
                </a:solidFill>
              </a:defRPr>
            </a:lvl5pPr>
            <a:lvl6pPr algn="l">
              <a:lnSpc>
                <a:spcPct val="100000"/>
              </a:lnSpc>
              <a:spcBef>
                <a:spcPts val="0"/>
              </a:spcBef>
              <a:spcAft>
                <a:spcPts val="0"/>
              </a:spcAft>
              <a:buClr>
                <a:schemeClr val="lt1"/>
              </a:buClr>
              <a:buSzPts val="5400"/>
              <a:buNone/>
              <a:defRPr sz="5400">
                <a:solidFill>
                  <a:schemeClr val="lt1"/>
                </a:solidFill>
              </a:defRPr>
            </a:lvl6pPr>
            <a:lvl7pPr algn="l">
              <a:lnSpc>
                <a:spcPct val="100000"/>
              </a:lnSpc>
              <a:spcBef>
                <a:spcPts val="0"/>
              </a:spcBef>
              <a:spcAft>
                <a:spcPts val="0"/>
              </a:spcAft>
              <a:buClr>
                <a:schemeClr val="lt1"/>
              </a:buClr>
              <a:buSzPts val="5400"/>
              <a:buNone/>
              <a:defRPr sz="5400">
                <a:solidFill>
                  <a:schemeClr val="lt1"/>
                </a:solidFill>
              </a:defRPr>
            </a:lvl7pPr>
            <a:lvl8pPr algn="l">
              <a:lnSpc>
                <a:spcPct val="100000"/>
              </a:lnSpc>
              <a:spcBef>
                <a:spcPts val="0"/>
              </a:spcBef>
              <a:spcAft>
                <a:spcPts val="0"/>
              </a:spcAft>
              <a:buClr>
                <a:schemeClr val="lt1"/>
              </a:buClr>
              <a:buSzPts val="5400"/>
              <a:buNone/>
              <a:defRPr sz="5400">
                <a:solidFill>
                  <a:schemeClr val="lt1"/>
                </a:solidFill>
              </a:defRPr>
            </a:lvl8pPr>
            <a:lvl9pPr algn="l">
              <a:lnSpc>
                <a:spcPct val="100000"/>
              </a:lnSpc>
              <a:spcBef>
                <a:spcPts val="0"/>
              </a:spcBef>
              <a:spcAft>
                <a:spcPts val="0"/>
              </a:spcAft>
              <a:buClr>
                <a:schemeClr val="lt1"/>
              </a:buClr>
              <a:buSzPts val="5400"/>
              <a:buNone/>
              <a:defRPr sz="5400">
                <a:solidFill>
                  <a:schemeClr val="lt1"/>
                </a:solidFill>
              </a:defRPr>
            </a:lvl9pPr>
          </a:lstStyle>
          <a:p xmlns:a="http://schemas.openxmlformats.org/drawingml/2006/main"/>
        </p:txBody>
      </p:sp>
      <p:sp>
        <p:nvSpPr>
          <p:cNvPr id="46" name="Google Shape;46;p8">
            <a:extLst xmlns:a="http://schemas.openxmlformats.org/drawingml/2006/main">
              <a:ext uri="{FF2B5EF4-FFF2-40B4-BE49-F238E27FC236}">
                <a16:creationId xmlns:a16="http://schemas.microsoft.com/office/drawing/2014/main" id="{0723FFED-FF18-44FB-A2DA-B3A425675EF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7" name="Google Shape;47;p8">
            <a:extLst xmlns:a="http://schemas.openxmlformats.org/drawingml/2006/main">
              <a:ext uri="{FF2B5EF4-FFF2-40B4-BE49-F238E27FC236}">
                <a16:creationId xmlns:a16="http://schemas.microsoft.com/office/drawing/2014/main" id="{144D9744-9E60-4724-937F-E98292DC779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lt1"/>
                </a:solidFill>
                <a:latin typeface="Source Code Pro"/>
                <a:ea typeface="Source Code Pro"/>
                <a:cs typeface="Source Code Pro"/>
              </a:rPr>
              <a:t>Complete Prompt Engineering for Generative AI (2026)</a:t>
            </a:r>
            <a:endParaRPr sz="900" b="0" i="0" u="none" cap="none">
              <a:solidFill>
                <a:schemeClr val="lt1"/>
              </a:solidFill>
              <a:latin typeface="Source Code Pro"/>
              <a:ea typeface="Source Code Pro"/>
              <a:cs typeface="Source Code Pro"/>
            </a:endParaRPr>
          </a:p>
        </p:txBody>
      </p:sp>
    </p:spTree>
  </p:cSld>
</p:sldLayout>
</file>

<file path=ppt/slideLayouts/slideLayout8.xml><?xml version="1.0" encoding="utf-8"?>
<p:sldLayout xmlns:p="http://schemas.openxmlformats.org/presentationml/2006/main" matchingName="Section title and description">
  <p:cSld name="SECTION_TITLE_AND_DESCRIPTION">
    <p:bg>
      <p:bgPr>
        <a:solidFill xmlns:a="http://schemas.openxmlformats.org/drawingml/2006/main">
          <a:schemeClr val="dk1"/>
        </a:solidFill>
      </p:bgPr>
    </p:bg>
    <p:spTree>
      <p:nvGrpSpPr>
        <p:cNvPr id="1" name=""/>
        <p:cNvGrpSpPr/>
        <p:nvPr/>
      </p:nvGrpSpPr>
      <p:grpSpPr>
        <a:xfrm xmlns:a="http://schemas.openxmlformats.org/drawingml/2006/main"/>
      </p:grpSpPr>
      <p:sp>
        <p:nvSpPr>
          <p:cNvPr id="49" name="Google Shape;49;p9">
            <a:extLst xmlns:a="http://schemas.openxmlformats.org/drawingml/2006/main">
              <a:ext uri="{FF2B5EF4-FFF2-40B4-BE49-F238E27FC236}">
                <a16:creationId xmlns:a16="http://schemas.microsoft.com/office/drawing/2014/main" id="{E00D6951-625C-491F-B81F-08D5865D8E8D}"/>
              </a:ext>
            </a:extLst>
          </p:cNvPr>
          <p:cNvSpPr>
            <a:spLocks xmlns:a="http://schemas.openxmlformats.org/drawingml/2006/main" noGrp="1"/>
          </p:cNvSpPr>
          <p:nvPr/>
        </p:nvSpPr>
        <p:spPr>
          <a:xfrm xmlns:a="http://schemas.openxmlformats.org/drawingml/2006/main">
            <a:off x="4572000" y="175"/>
            <a:ext cx="4572000" cy="51435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cxnSp>
        <p:nvCxnSpPr>
          <p:cNvPr id="59" name="Google Shape;50;p9"/>
          <p:cNvCxnSpPr/>
          <p:nvPr/>
        </p:nvCxnSpPr>
        <p:spPr>
          <a:xfrm xmlns:a="http://schemas.openxmlformats.org/drawingml/2006/main">
            <a:off x="5029675" y="4495500"/>
            <a:ext cx="577200" cy="0"/>
          </a:xfrm>
          <a:prstGeom xmlns:a="http://schemas.openxmlformats.org/drawingml/2006/main" prst="straightConnector1">
            <a:avLst/>
          </a:prstGeom>
          <a:ln xmlns:a="http://schemas.openxmlformats.org/drawingml/2006/main" w="19050" cap="flat">
            <a:solidFill>
              <a:schemeClr val="dk1"/>
            </a:solidFill>
            <a:prstDash val="lgDash"/>
            <a:round/>
            <a:headEnd type="none" w="sm" len="sm"/>
            <a:tailEnd type="none" w="sm" len="sm"/>
          </a:ln>
        </p:spPr>
      </p:cxnSp>
      <p:sp>
        <p:nvSpPr>
          <p:cNvPr id="51" name="Google Shape;51;p9">
            <a:extLst xmlns:a="http://schemas.openxmlformats.org/drawingml/2006/main">
              <a:ext uri="{FF2B5EF4-FFF2-40B4-BE49-F238E27FC236}">
                <a16:creationId xmlns:a16="http://schemas.microsoft.com/office/drawing/2014/main" id="{BA373FA4-D518-40B9-B625-D3BEF3C35DDC}"/>
              </a:ext>
            </a:extLst>
          </p:cNvPr>
          <p:cNvSpPr>
            <a:spLocks xmlns:a="http://schemas.openxmlformats.org/drawingml/2006/main" noGrp="1"/>
          </p:cNvSpPr>
          <p:nvPr>
            <p:ph type="title" idx="0"/>
          </p:nvPr>
        </p:nvSpPr>
        <p:spPr>
          <a:xfrm xmlns:a="http://schemas.openxmlformats.org/drawingml/2006/main">
            <a:off x="265500" y="1078750"/>
            <a:ext cx="4045200" cy="178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4600"/>
              <a:buNone/>
              <a:defRPr sz="4600">
                <a:solidFill>
                  <a:schemeClr val="lt1"/>
                </a:solidFill>
              </a:defRPr>
            </a:lvl1pPr>
            <a:lvl2pPr algn="ctr">
              <a:lnSpc>
                <a:spcPct val="100000"/>
              </a:lnSpc>
              <a:spcBef>
                <a:spcPts val="0"/>
              </a:spcBef>
              <a:spcAft>
                <a:spcPts val="0"/>
              </a:spcAft>
              <a:buClr>
                <a:schemeClr val="lt1"/>
              </a:buClr>
              <a:buSzPts val="4600"/>
              <a:buNone/>
              <a:defRPr sz="4600">
                <a:solidFill>
                  <a:schemeClr val="lt1"/>
                </a:solidFill>
              </a:defRPr>
            </a:lvl2pPr>
            <a:lvl3pPr algn="ctr">
              <a:lnSpc>
                <a:spcPct val="100000"/>
              </a:lnSpc>
              <a:spcBef>
                <a:spcPts val="0"/>
              </a:spcBef>
              <a:spcAft>
                <a:spcPts val="0"/>
              </a:spcAft>
              <a:buClr>
                <a:schemeClr val="lt1"/>
              </a:buClr>
              <a:buSzPts val="4600"/>
              <a:buNone/>
              <a:defRPr sz="4600">
                <a:solidFill>
                  <a:schemeClr val="lt1"/>
                </a:solidFill>
              </a:defRPr>
            </a:lvl3pPr>
            <a:lvl4pPr algn="ctr">
              <a:lnSpc>
                <a:spcPct val="100000"/>
              </a:lnSpc>
              <a:spcBef>
                <a:spcPts val="0"/>
              </a:spcBef>
              <a:spcAft>
                <a:spcPts val="0"/>
              </a:spcAft>
              <a:buClr>
                <a:schemeClr val="lt1"/>
              </a:buClr>
              <a:buSzPts val="4600"/>
              <a:buNone/>
              <a:defRPr sz="4600">
                <a:solidFill>
                  <a:schemeClr val="lt1"/>
                </a:solidFill>
              </a:defRPr>
            </a:lvl4pPr>
            <a:lvl5pPr algn="ctr">
              <a:lnSpc>
                <a:spcPct val="100000"/>
              </a:lnSpc>
              <a:spcBef>
                <a:spcPts val="0"/>
              </a:spcBef>
              <a:spcAft>
                <a:spcPts val="0"/>
              </a:spcAft>
              <a:buClr>
                <a:schemeClr val="lt1"/>
              </a:buClr>
              <a:buSzPts val="4600"/>
              <a:buNone/>
              <a:defRPr sz="4600">
                <a:solidFill>
                  <a:schemeClr val="lt1"/>
                </a:solidFill>
              </a:defRPr>
            </a:lvl5pPr>
            <a:lvl6pPr algn="ctr">
              <a:lnSpc>
                <a:spcPct val="100000"/>
              </a:lnSpc>
              <a:spcBef>
                <a:spcPts val="0"/>
              </a:spcBef>
              <a:spcAft>
                <a:spcPts val="0"/>
              </a:spcAft>
              <a:buClr>
                <a:schemeClr val="lt1"/>
              </a:buClr>
              <a:buSzPts val="4600"/>
              <a:buNone/>
              <a:defRPr sz="4600">
                <a:solidFill>
                  <a:schemeClr val="lt1"/>
                </a:solidFill>
              </a:defRPr>
            </a:lvl6pPr>
            <a:lvl7pPr algn="ctr">
              <a:lnSpc>
                <a:spcPct val="100000"/>
              </a:lnSpc>
              <a:spcBef>
                <a:spcPts val="0"/>
              </a:spcBef>
              <a:spcAft>
                <a:spcPts val="0"/>
              </a:spcAft>
              <a:buClr>
                <a:schemeClr val="lt1"/>
              </a:buClr>
              <a:buSzPts val="4600"/>
              <a:buNone/>
              <a:defRPr sz="4600">
                <a:solidFill>
                  <a:schemeClr val="lt1"/>
                </a:solidFill>
              </a:defRPr>
            </a:lvl7pPr>
            <a:lvl8pPr algn="ctr">
              <a:lnSpc>
                <a:spcPct val="100000"/>
              </a:lnSpc>
              <a:spcBef>
                <a:spcPts val="0"/>
              </a:spcBef>
              <a:spcAft>
                <a:spcPts val="0"/>
              </a:spcAft>
              <a:buClr>
                <a:schemeClr val="lt1"/>
              </a:buClr>
              <a:buSzPts val="4600"/>
              <a:buNone/>
              <a:defRPr sz="4600">
                <a:solidFill>
                  <a:schemeClr val="lt1"/>
                </a:solidFill>
              </a:defRPr>
            </a:lvl8pPr>
            <a:lvl9pPr algn="ctr">
              <a:lnSpc>
                <a:spcPct val="100000"/>
              </a:lnSpc>
              <a:spcBef>
                <a:spcPts val="0"/>
              </a:spcBef>
              <a:spcAft>
                <a:spcPts val="0"/>
              </a:spcAft>
              <a:buClr>
                <a:schemeClr val="lt1"/>
              </a:buClr>
              <a:buSzPts val="4600"/>
              <a:buNone/>
              <a:defRPr sz="4600">
                <a:solidFill>
                  <a:schemeClr val="lt1"/>
                </a:solidFill>
              </a:defRPr>
            </a:lvl9pPr>
          </a:lstStyle>
          <a:p xmlns:a="http://schemas.openxmlformats.org/drawingml/2006/main"/>
        </p:txBody>
      </p:sp>
      <p:sp>
        <p:nvSpPr>
          <p:cNvPr id="52" name="Google Shape;52;p9">
            <a:extLst xmlns:a="http://schemas.openxmlformats.org/drawingml/2006/main">
              <a:ext uri="{FF2B5EF4-FFF2-40B4-BE49-F238E27FC236}">
                <a16:creationId xmlns:a16="http://schemas.microsoft.com/office/drawing/2014/main" id="{7AFFDF82-CD0B-4B9F-B2B0-841F6EF85459}"/>
              </a:ext>
            </a:extLst>
          </p:cNvPr>
          <p:cNvSpPr>
            <a:spLocks xmlns:a="http://schemas.openxmlformats.org/drawingml/2006/main" noGrp="1"/>
          </p:cNvSpPr>
          <p:nvPr>
            <p:ph type="subTitle" idx="1"/>
          </p:nvPr>
        </p:nvSpPr>
        <p:spPr>
          <a:xfrm xmlns:a="http://schemas.openxmlformats.org/drawingml/2006/main">
            <a:off x="265500" y="2921401"/>
            <a:ext cx="4045200" cy="134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Clr>
                <a:schemeClr val="lt1"/>
              </a:buClr>
              <a:buSzPts val="1900"/>
              <a:buNone/>
              <a:defRPr sz="1900">
                <a:solidFill>
                  <a:schemeClr val="lt1"/>
                </a:solidFill>
              </a:defRPr>
            </a:lvl1pPr>
            <a:lvl2pPr algn="ctr">
              <a:lnSpc>
                <a:spcPct val="100000"/>
              </a:lnSpc>
              <a:spcBef>
                <a:spcPts val="0"/>
              </a:spcBef>
              <a:spcAft>
                <a:spcPts val="0"/>
              </a:spcAft>
              <a:buClr>
                <a:schemeClr val="lt1"/>
              </a:buClr>
              <a:buSzPts val="1900"/>
              <a:buNone/>
              <a:defRPr sz="1900">
                <a:solidFill>
                  <a:schemeClr val="lt1"/>
                </a:solidFill>
              </a:defRPr>
            </a:lvl2pPr>
            <a:lvl3pPr algn="ctr">
              <a:lnSpc>
                <a:spcPct val="100000"/>
              </a:lnSpc>
              <a:spcBef>
                <a:spcPts val="0"/>
              </a:spcBef>
              <a:spcAft>
                <a:spcPts val="0"/>
              </a:spcAft>
              <a:buClr>
                <a:schemeClr val="lt1"/>
              </a:buClr>
              <a:buSzPts val="1900"/>
              <a:buNone/>
              <a:defRPr sz="1900">
                <a:solidFill>
                  <a:schemeClr val="lt1"/>
                </a:solidFill>
              </a:defRPr>
            </a:lvl3pPr>
            <a:lvl4pPr algn="ctr">
              <a:lnSpc>
                <a:spcPct val="100000"/>
              </a:lnSpc>
              <a:spcBef>
                <a:spcPts val="0"/>
              </a:spcBef>
              <a:spcAft>
                <a:spcPts val="0"/>
              </a:spcAft>
              <a:buClr>
                <a:schemeClr val="lt1"/>
              </a:buClr>
              <a:buSzPts val="1900"/>
              <a:buNone/>
              <a:defRPr sz="1900">
                <a:solidFill>
                  <a:schemeClr val="lt1"/>
                </a:solidFill>
              </a:defRPr>
            </a:lvl4pPr>
            <a:lvl5pPr algn="ctr">
              <a:lnSpc>
                <a:spcPct val="100000"/>
              </a:lnSpc>
              <a:spcBef>
                <a:spcPts val="0"/>
              </a:spcBef>
              <a:spcAft>
                <a:spcPts val="0"/>
              </a:spcAft>
              <a:buClr>
                <a:schemeClr val="lt1"/>
              </a:buClr>
              <a:buSzPts val="1900"/>
              <a:buNone/>
              <a:defRPr sz="1900">
                <a:solidFill>
                  <a:schemeClr val="lt1"/>
                </a:solidFill>
              </a:defRPr>
            </a:lvl5pPr>
            <a:lvl6pPr algn="ctr">
              <a:lnSpc>
                <a:spcPct val="100000"/>
              </a:lnSpc>
              <a:spcBef>
                <a:spcPts val="0"/>
              </a:spcBef>
              <a:spcAft>
                <a:spcPts val="0"/>
              </a:spcAft>
              <a:buClr>
                <a:schemeClr val="lt1"/>
              </a:buClr>
              <a:buSzPts val="1900"/>
              <a:buNone/>
              <a:defRPr sz="1900">
                <a:solidFill>
                  <a:schemeClr val="lt1"/>
                </a:solidFill>
              </a:defRPr>
            </a:lvl6pPr>
            <a:lvl7pPr algn="ctr">
              <a:lnSpc>
                <a:spcPct val="100000"/>
              </a:lnSpc>
              <a:spcBef>
                <a:spcPts val="0"/>
              </a:spcBef>
              <a:spcAft>
                <a:spcPts val="0"/>
              </a:spcAft>
              <a:buClr>
                <a:schemeClr val="lt1"/>
              </a:buClr>
              <a:buSzPts val="1900"/>
              <a:buNone/>
              <a:defRPr sz="1900">
                <a:solidFill>
                  <a:schemeClr val="lt1"/>
                </a:solidFill>
              </a:defRPr>
            </a:lvl7pPr>
            <a:lvl8pPr algn="ctr">
              <a:lnSpc>
                <a:spcPct val="100000"/>
              </a:lnSpc>
              <a:spcBef>
                <a:spcPts val="0"/>
              </a:spcBef>
              <a:spcAft>
                <a:spcPts val="0"/>
              </a:spcAft>
              <a:buClr>
                <a:schemeClr val="lt1"/>
              </a:buClr>
              <a:buSzPts val="1900"/>
              <a:buNone/>
              <a:defRPr sz="1900">
                <a:solidFill>
                  <a:schemeClr val="lt1"/>
                </a:solidFill>
              </a:defRPr>
            </a:lvl8pPr>
            <a:lvl9pPr algn="ctr">
              <a:lnSpc>
                <a:spcPct val="100000"/>
              </a:lnSpc>
              <a:spcBef>
                <a:spcPts val="0"/>
              </a:spcBef>
              <a:spcAft>
                <a:spcPts val="0"/>
              </a:spcAft>
              <a:buClr>
                <a:schemeClr val="lt1"/>
              </a:buClr>
              <a:buSzPts val="1900"/>
              <a:buNone/>
              <a:defRPr sz="1900">
                <a:solidFill>
                  <a:schemeClr val="lt1"/>
                </a:solidFill>
              </a:defRPr>
            </a:lvl9pPr>
          </a:lstStyle>
          <a:p xmlns:a="http://schemas.openxmlformats.org/drawingml/2006/main"/>
        </p:txBody>
      </p:sp>
      <p:sp>
        <p:nvSpPr>
          <p:cNvPr id="53" name="Google Shape;53;p9">
            <a:extLst xmlns:a="http://schemas.openxmlformats.org/drawingml/2006/main">
              <a:ext uri="{FF2B5EF4-FFF2-40B4-BE49-F238E27FC236}">
                <a16:creationId xmlns:a16="http://schemas.microsoft.com/office/drawing/2014/main" id="{4521E96E-60D4-4E57-9C39-731FAF10D629}"/>
              </a:ext>
            </a:extLst>
          </p:cNvPr>
          <p:cNvSpPr>
            <a:spLocks xmlns:a="http://schemas.openxmlformats.org/drawingml/2006/main" noGrp="1"/>
          </p:cNvSpPr>
          <p:nvPr>
            <p:ph type="body" idx="2"/>
          </p:nvPr>
        </p:nvSpPr>
        <p:spPr>
          <a:xfrm xmlns:a="http://schemas.openxmlformats.org/drawingml/2006/main">
            <a:off x="4939500" y="724200"/>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54" name="Google Shape;54;p9">
            <a:extLst xmlns:a="http://schemas.openxmlformats.org/drawingml/2006/main">
              <a:ext uri="{FF2B5EF4-FFF2-40B4-BE49-F238E27FC236}">
                <a16:creationId xmlns:a16="http://schemas.microsoft.com/office/drawing/2014/main" id="{02690A87-9F9E-41E4-A605-A68070FE36E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5" name="Google Shape;55;p9">
            <a:extLst xmlns:a="http://schemas.openxmlformats.org/drawingml/2006/main">
              <a:ext uri="{FF2B5EF4-FFF2-40B4-BE49-F238E27FC236}">
                <a16:creationId xmlns:a16="http://schemas.microsoft.com/office/drawing/2014/main" id="{95DC1989-5DEC-4BC9-94CD-15D6E6D00E3B}"/>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57" name="Google Shape;57;p10">
            <a:extLst xmlns:a="http://schemas.openxmlformats.org/drawingml/2006/main">
              <a:ext uri="{FF2B5EF4-FFF2-40B4-BE49-F238E27FC236}">
                <a16:creationId xmlns:a16="http://schemas.microsoft.com/office/drawing/2014/main" id="{194371D6-4DF4-4B0A-B536-824687484D2B}"/>
              </a:ext>
            </a:extLst>
          </p:cNvPr>
          <p:cNvSpPr>
            <a:spLocks xmlns:a="http://schemas.openxmlformats.org/drawingml/2006/main" noGrp="1"/>
          </p:cNvSpPr>
          <p:nvPr>
            <p:ph type="body" idx="1"/>
          </p:nvPr>
        </p:nvSpPr>
        <p:spPr>
          <a:xfrm xmlns:a="http://schemas.openxmlformats.org/drawingml/2006/main">
            <a:off x="311700" y="406472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2100"/>
              <a:buFont typeface="Oswald"/>
              <a:buNone/>
              <a:defRPr sz="2100">
                <a:latin typeface="Oswald"/>
                <a:ea typeface="Oswald"/>
                <a:cs typeface="Oswald"/>
              </a:defRPr>
            </a:lvl1pPr>
          </a:lstStyle>
          <a:p xmlns:a="http://schemas.openxmlformats.org/drawingml/2006/main"/>
        </p:txBody>
      </p:sp>
      <p:sp>
        <p:nvSpPr>
          <p:cNvPr id="58" name="Google Shape;58;p10">
            <a:extLst xmlns:a="http://schemas.openxmlformats.org/drawingml/2006/main">
              <a:ext uri="{FF2B5EF4-FFF2-40B4-BE49-F238E27FC236}">
                <a16:creationId xmlns:a16="http://schemas.microsoft.com/office/drawing/2014/main" id="{82A3B39D-CA3F-4050-BE6C-54112484D60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9" name="Google Shape;59;p10">
            <a:extLst xmlns:a="http://schemas.openxmlformats.org/drawingml/2006/main">
              <a:ext uri="{FF2B5EF4-FFF2-40B4-BE49-F238E27FC236}">
                <a16:creationId xmlns:a16="http://schemas.microsoft.com/office/drawing/2014/main" id="{C3B28407-893C-4535-91CA-CFA68A8A2FC4}"/>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cxnSp>
        <p:nvCxnSpPr>
          <p:cNvPr id="67" name="Google Shape;61;p11"/>
          <p:cNvCxnSpPr/>
          <p:nvPr/>
        </p:nvCxnSpPr>
        <p:spPr>
          <a:xfrm xmlns:a="http://schemas.openxmlformats.org/drawingml/2006/main">
            <a:off x="413275" y="2988275"/>
            <a:ext cx="910500" cy="0"/>
          </a:xfrm>
          <a:prstGeom xmlns:a="http://schemas.openxmlformats.org/drawingml/2006/main" prst="straightConnector1">
            <a:avLst/>
          </a:prstGeom>
          <a:ln xmlns:a="http://schemas.openxmlformats.org/drawingml/2006/main" w="28575" cap="flat">
            <a:solidFill>
              <a:schemeClr val="dk1"/>
            </a:solidFill>
            <a:prstDash val="lgDash"/>
            <a:round/>
            <a:headEnd type="none" w="sm" len="sm"/>
            <a:tailEnd type="none" w="sm" len="sm"/>
          </a:ln>
        </p:spPr>
      </p:cxnSp>
      <p:sp>
        <p:nvSpPr>
          <p:cNvPr id="62" name="Google Shape;62;p11">
            <a:extLst xmlns:a="http://schemas.openxmlformats.org/drawingml/2006/main">
              <a:ext uri="{FF2B5EF4-FFF2-40B4-BE49-F238E27FC236}">
                <a16:creationId xmlns:a16="http://schemas.microsoft.com/office/drawing/2014/main" id="{9467DE9D-E512-45BA-B771-00902112928B}"/>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12000"/>
              <a:buNone/>
              <a:defRPr sz="12000"/>
            </a:lvl1pPr>
            <a:lvl2pPr algn="l">
              <a:lnSpc>
                <a:spcPct val="100000"/>
              </a:lnSpc>
              <a:spcBef>
                <a:spcPts val="0"/>
              </a:spcBef>
              <a:spcAft>
                <a:spcPts val="0"/>
              </a:spcAft>
              <a:buSzPts val="12000"/>
              <a:buNone/>
              <a:defRPr sz="12000"/>
            </a:lvl2pPr>
            <a:lvl3pPr algn="l">
              <a:lnSpc>
                <a:spcPct val="100000"/>
              </a:lnSpc>
              <a:spcBef>
                <a:spcPts val="0"/>
              </a:spcBef>
              <a:spcAft>
                <a:spcPts val="0"/>
              </a:spcAft>
              <a:buSzPts val="12000"/>
              <a:buNone/>
              <a:defRPr sz="12000"/>
            </a:lvl3pPr>
            <a:lvl4pPr algn="l">
              <a:lnSpc>
                <a:spcPct val="100000"/>
              </a:lnSpc>
              <a:spcBef>
                <a:spcPts val="0"/>
              </a:spcBef>
              <a:spcAft>
                <a:spcPts val="0"/>
              </a:spcAft>
              <a:buSzPts val="12000"/>
              <a:buNone/>
              <a:defRPr sz="12000"/>
            </a:lvl4pPr>
            <a:lvl5pPr algn="l">
              <a:lnSpc>
                <a:spcPct val="100000"/>
              </a:lnSpc>
              <a:spcBef>
                <a:spcPts val="0"/>
              </a:spcBef>
              <a:spcAft>
                <a:spcPts val="0"/>
              </a:spcAft>
              <a:buSzPts val="12000"/>
              <a:buNone/>
              <a:defRPr sz="12000"/>
            </a:lvl5pPr>
            <a:lvl6pPr algn="l">
              <a:lnSpc>
                <a:spcPct val="100000"/>
              </a:lnSpc>
              <a:spcBef>
                <a:spcPts val="0"/>
              </a:spcBef>
              <a:spcAft>
                <a:spcPts val="0"/>
              </a:spcAft>
              <a:buSzPts val="12000"/>
              <a:buNone/>
              <a:defRPr sz="12000"/>
            </a:lvl6pPr>
            <a:lvl7pPr algn="l">
              <a:lnSpc>
                <a:spcPct val="100000"/>
              </a:lnSpc>
              <a:spcBef>
                <a:spcPts val="0"/>
              </a:spcBef>
              <a:spcAft>
                <a:spcPts val="0"/>
              </a:spcAft>
              <a:buSzPts val="12000"/>
              <a:buNone/>
              <a:defRPr sz="12000"/>
            </a:lvl7pPr>
            <a:lvl8pPr algn="l">
              <a:lnSpc>
                <a:spcPct val="100000"/>
              </a:lnSpc>
              <a:spcBef>
                <a:spcPts val="0"/>
              </a:spcBef>
              <a:spcAft>
                <a:spcPts val="0"/>
              </a:spcAft>
              <a:buSzPts val="12000"/>
              <a:buNone/>
              <a:defRPr sz="12000"/>
            </a:lvl8pPr>
            <a:lvl9pPr algn="l">
              <a:lnSpc>
                <a:spcPct val="100000"/>
              </a:lnSpc>
              <a:spcBef>
                <a:spcPts val="0"/>
              </a:spcBef>
              <a:spcAft>
                <a:spcPts val="0"/>
              </a:spcAft>
              <a:buSzPts val="12000"/>
              <a:buNone/>
              <a:defRPr sz="12000"/>
            </a:lvl9pPr>
          </a:lstStyle>
          <a:p xmlns:a="http://schemas.openxmlformats.org/drawingml/2006/main">
            <a:r>
              <a:t>xx%</a:t>
            </a:r>
          </a:p>
        </p:txBody>
      </p:sp>
      <p:sp>
        <p:nvSpPr>
          <p:cNvPr id="63" name="Google Shape;63;p11">
            <a:extLst xmlns:a="http://schemas.openxmlformats.org/drawingml/2006/main">
              <a:ext uri="{FF2B5EF4-FFF2-40B4-BE49-F238E27FC236}">
                <a16:creationId xmlns:a16="http://schemas.microsoft.com/office/drawing/2014/main" id="{C4469540-D88A-4647-984A-6233C256049D}"/>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64" name="Google Shape;64;p11">
            <a:extLst xmlns:a="http://schemas.openxmlformats.org/drawingml/2006/main">
              <a:ext uri="{FF2B5EF4-FFF2-40B4-BE49-F238E27FC236}">
                <a16:creationId xmlns:a16="http://schemas.microsoft.com/office/drawing/2014/main" id="{A8C940C6-73CA-4B23-9018-D7D47A0E20A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5" name="Google Shape;65;p11">
            <a:extLst xmlns:a="http://schemas.openxmlformats.org/drawingml/2006/main">
              <a:ext uri="{FF2B5EF4-FFF2-40B4-BE49-F238E27FC236}">
                <a16:creationId xmlns:a16="http://schemas.microsoft.com/office/drawing/2014/main" id="{24953636-D2C7-45B7-8C46-434C244C8A8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67" name="Google Shape;67;p12">
            <a:extLst xmlns:a="http://schemas.openxmlformats.org/drawingml/2006/main">
              <a:ext uri="{FF2B5EF4-FFF2-40B4-BE49-F238E27FC236}">
                <a16:creationId xmlns:a16="http://schemas.microsoft.com/office/drawing/2014/main" id="{27BF57BB-8DD4-40FB-97F2-D4A6E115498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8" name="Google Shape;68;p12">
            <a:extLst xmlns:a="http://schemas.openxmlformats.org/drawingml/2006/main">
              <a:ext uri="{FF2B5EF4-FFF2-40B4-BE49-F238E27FC236}">
                <a16:creationId xmlns:a16="http://schemas.microsoft.com/office/drawing/2014/main" id="{797A6165-26C4-458E-9280-0F48DAD2C946}"/>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591837ff054fc1" /><Relationship Type="http://schemas.openxmlformats.org/officeDocument/2006/relationships/slideLayout" Target="/ppt/slideLayouts/slideLayout1.xml" Id="R61495448132c44a1" /><Relationship Type="http://schemas.openxmlformats.org/officeDocument/2006/relationships/slideLayout" Target="/ppt/slideLayouts/slideLayout2.xml" Id="Rb23f69a08aef420f" /><Relationship Type="http://schemas.openxmlformats.org/officeDocument/2006/relationships/slideLayout" Target="/ppt/slideLayouts/slideLayout3.xml" Id="Rb88fffd97b3246af" /><Relationship Type="http://schemas.openxmlformats.org/officeDocument/2006/relationships/slideLayout" Target="/ppt/slideLayouts/slideLayout4.xml" Id="Rb11c7996127741b2" /><Relationship Type="http://schemas.openxmlformats.org/officeDocument/2006/relationships/slideLayout" Target="/ppt/slideLayouts/slideLayout5.xml" Id="R925f4996bc8d470a" /><Relationship Type="http://schemas.openxmlformats.org/officeDocument/2006/relationships/slideLayout" Target="/ppt/slideLayouts/slideLayout6.xml" Id="Rafe5cd52b4244fc3" /><Relationship Type="http://schemas.openxmlformats.org/officeDocument/2006/relationships/slideLayout" Target="/ppt/slideLayouts/slideLayout7.xml" Id="Rafe54554b02e4230" /><Relationship Type="http://schemas.openxmlformats.org/officeDocument/2006/relationships/slideLayout" Target="/ppt/slideLayouts/slideLayout8.xml" Id="Rbf1b0b4c2d9748bc" /><Relationship Type="http://schemas.openxmlformats.org/officeDocument/2006/relationships/slideLayout" Target="/ppt/slideLayouts/slideLayout9.xml" Id="R89d036584dca438b" /><Relationship Type="http://schemas.openxmlformats.org/officeDocument/2006/relationships/slideLayout" Target="/ppt/slideLayouts/slideLayout10.xml" Id="R556b426a1a8445aa" /><Relationship Type="http://schemas.openxmlformats.org/officeDocument/2006/relationships/slideLayout" Target="/ppt/slideLayouts/slideLayout11.xml" Id="Rb437eb09ba2848e8" /></Relationships>
</file>

<file path=ppt/slideMasters/slideMaster1.xml><?xml version="1.0" encoding="utf-8"?>
<p:sldMaster xmlns:p="http://schemas.openxmlformats.org/presentationml/2006/main">
  <p:cSld name="modern-writer">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C6045D72-D32C-4A87-890B-68EDB1513BB5}"/>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1pPr>
            <a:lvl2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2pPr>
            <a:lvl3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3pPr>
            <a:lvl4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4pPr>
            <a:lvl5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5pPr>
            <a:lvl6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6pPr>
            <a:lvl7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7pPr>
            <a:lvl8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8pPr>
            <a:lvl9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15F26F73-C3CA-46B4-ADE7-3D2800DE8292}"/>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Source Code Pro"/>
              <a:buChar char="●"/>
              <a:defRPr sz="1800" b="0" i="0" u="none" cap="none">
                <a:solidFill>
                  <a:schemeClr val="dk2"/>
                </a:solidFill>
                <a:latin typeface="Source Code Pro"/>
                <a:ea typeface="Source Code Pro"/>
                <a:cs typeface="Source Code Pro"/>
              </a:defRPr>
            </a:lvl1pPr>
            <a:lvl2pPr marL="914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2pPr>
            <a:lvl3pPr marL="1371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3pPr>
            <a:lvl4pPr marL="1828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4pPr>
            <a:lvl5pPr marL="22860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5pPr>
            <a:lvl6pPr marL="27432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6pPr>
            <a:lvl7pPr marL="3200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7pPr>
            <a:lvl8pPr marL="3657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8pPr>
            <a:lvl9pPr marL="4114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3AA1AE3A-A737-485F-9904-BC46651B39C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1495448132c44a1"/>
    <p:sldLayoutId xmlns:r="http://schemas.openxmlformats.org/officeDocument/2006/relationships" id="2147483650" r:id="Rb23f69a08aef420f"/>
    <p:sldLayoutId xmlns:r="http://schemas.openxmlformats.org/officeDocument/2006/relationships" id="2147483651" r:id="Rb88fffd97b3246af"/>
    <p:sldLayoutId xmlns:r="http://schemas.openxmlformats.org/officeDocument/2006/relationships" id="2147483652" r:id="Rb11c7996127741b2"/>
    <p:sldLayoutId xmlns:r="http://schemas.openxmlformats.org/officeDocument/2006/relationships" id="2147483653" r:id="R925f4996bc8d470a"/>
    <p:sldLayoutId xmlns:r="http://schemas.openxmlformats.org/officeDocument/2006/relationships" id="2147483654" r:id="Rafe5cd52b4244fc3"/>
    <p:sldLayoutId xmlns:r="http://schemas.openxmlformats.org/officeDocument/2006/relationships" id="2147483655" r:id="Rafe54554b02e4230"/>
    <p:sldLayoutId xmlns:r="http://schemas.openxmlformats.org/officeDocument/2006/relationships" id="2147483656" r:id="Rbf1b0b4c2d9748bc"/>
    <p:sldLayoutId xmlns:r="http://schemas.openxmlformats.org/officeDocument/2006/relationships" id="2147483657" r:id="R89d036584dca438b"/>
    <p:sldLayoutId xmlns:r="http://schemas.openxmlformats.org/officeDocument/2006/relationships" id="2147483658" r:id="R556b426a1a8445aa"/>
    <p:sldLayoutId xmlns:r="http://schemas.openxmlformats.org/officeDocument/2006/relationships" id="2147483659" r:id="Rb437eb09ba2848e8"/>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041c23abb148e8" /><Relationship Type="http://schemas.openxmlformats.org/officeDocument/2006/relationships/notesSlide" Target="/ppt/notesSlides/notesSlide1.xml" Id="R50405742551d47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26e226ba14a41ea" /><Relationship Type="http://schemas.openxmlformats.org/officeDocument/2006/relationships/hyperlink" Target="https://colab.research.google.com/github/BrightPool/udemy-prompt-engineering-course/blob/main/anthropic_features_and_functionality/anthropic_features_and_functionality.ipynb" TargetMode="External" Id="R9b730cc2d27f4404" /><Relationship Type="http://schemas.openxmlformats.org/officeDocument/2006/relationships/notesSlide" Target="/ppt/notesSlides/notesSlide2.xml" Id="R73d90d3fbceb47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fe4bc00eb9f4723" /><Relationship Type="http://schemas.openxmlformats.org/officeDocument/2006/relationships/hyperlink" Target="https://platform.claude.com/docs/en/build-with-claude/working-with-messages" TargetMode="External" Id="Rff5e824e4ffe49c9" /><Relationship Type="http://schemas.openxmlformats.org/officeDocument/2006/relationships/notesSlide" Target="/ppt/notesSlides/notesSlide3.xml" Id="R912375bd653743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934bc9728aa49f2" /><Relationship Type="http://schemas.openxmlformats.org/officeDocument/2006/relationships/hyperlink" Target="https://platform.claude.com/docs/en/build-with-claude/prompt-engineering/overview" TargetMode="External" Id="R628c2b9cc6e0403c" /><Relationship Type="http://schemas.openxmlformats.org/officeDocument/2006/relationships/notesSlide" Target="/ppt/notesSlides/notesSlide4.xml" Id="R692084426dcd44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b24431953ad4ea7" /><Relationship Type="http://schemas.openxmlformats.org/officeDocument/2006/relationships/hyperlink" Target="https://colab.research.google.com/github/BrightPool/udemy-prompt-engineering-course/blob/main/anthropic_features_and_functionality/anthropic_features_and_functionality.ipynb" TargetMode="External" Id="Rbd9da408eabe4345" /><Relationship Type="http://schemas.openxmlformats.org/officeDocument/2006/relationships/notesSlide" Target="/ppt/notesSlides/notesSlide5.xml" Id="Rc41bc0cf45eb42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115384c33f44679" /><Relationship Type="http://schemas.openxmlformats.org/officeDocument/2006/relationships/hyperlink" Target="https://platform.claude.com/docs/en/agents-and-tools/tool-use/handle-tool-calls" TargetMode="External" Id="Rbd9c0caaf96b483c" /><Relationship Type="http://schemas.openxmlformats.org/officeDocument/2006/relationships/notesSlide" Target="/ppt/notesSlides/notesSlide6.xml" Id="R591edf62b6ba45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d1f4e12b5874628" /><Relationship Type="http://schemas.openxmlformats.org/officeDocument/2006/relationships/hyperlink" Target="https://colab.research.google.com/github/BrightPool/udemy-prompt-engineering-course/blob/main/anthropic_features_and_functionality/claude_prompting_and_tools.ipynb" TargetMode="External" Id="Rdc8701db863e470e" /><Relationship Type="http://schemas.openxmlformats.org/officeDocument/2006/relationships/notesSlide" Target="/ppt/notesSlides/notesSlide7.xml" Id="Ra5eaaa749d114c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2e3de7168b34f6f" /><Relationship Type="http://schemas.openxmlformats.org/officeDocument/2006/relationships/hyperlink" Target="https://platform.claude.com/docs/en/agents-and-tools/tool-use/code-execution-tool" TargetMode="External" Id="Rf872ab5a1bf4470b" /><Relationship Type="http://schemas.openxmlformats.org/officeDocument/2006/relationships/notesSlide" Target="/ppt/notesSlides/notesSlide8.xml" Id="R96fb5fa992f243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949bf55b0f014b35" /><Relationship Type="http://schemas.openxmlformats.org/officeDocument/2006/relationships/hyperlink" Target="https://platform.claude.com/docs/en/agents-and-tools/tool-use/computer-use-tool" TargetMode="External" Id="Rc77b13ad89c449f8" /><Relationship Type="http://schemas.openxmlformats.org/officeDocument/2006/relationships/notesSlide" Target="/ppt/notesSlides/notesSlide9.xml" Id="Rfdbf6621eb0445e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1446066df014276" /><Relationship Type="http://schemas.openxmlformats.org/officeDocument/2006/relationships/hyperlink" Target="https://colab.research.google.com/github/BrightPool/udemy-prompt-engineering-course/blob/main/anthropic_features_and_functionality/claude_computer_use.ipynb" TargetMode="External" Id="R62ea1723cb7340dc" /><Relationship Type="http://schemas.openxmlformats.org/officeDocument/2006/relationships/notesSlide" Target="/ppt/notesSlides/notesSlide10.xml" Id="Ra3bfddd243df484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45160ae703914a11" /><Relationship Type="http://schemas.openxmlformats.org/officeDocument/2006/relationships/hyperlink" Target="https://platform.claude.com/docs/en/about-claude/models/overview" TargetMode="External" Id="R8e47521cadc94f31" /><Relationship Type="http://schemas.openxmlformats.org/officeDocument/2006/relationships/notesSlide" Target="/ppt/notesSlides/notesSlide11.xml" Id="R8fa529218e1e4b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c73412f20db4e4a" /><Relationship Type="http://schemas.openxmlformats.org/officeDocument/2006/relationships/hyperlink" Target="https://colab.research.google.com/github/BrightPool/udemy-prompt-engineering-course/blob/main/anthropic_features_and_functionality/anthropic_features_and_functionality.ipynb" TargetMode="External" Id="R79524c99111d4e41" /><Relationship Type="http://schemas.openxmlformats.org/officeDocument/2006/relationships/notesSlide" Target="/ppt/notesSlides/notesSlide12.xml" Id="Rad58ea8c87ea4e9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3" name="Google Shape;73;p13">
            <a:extLst xmlns:a="http://schemas.openxmlformats.org/drawingml/2006/main">
              <a:ext uri="{FF2B5EF4-FFF2-40B4-BE49-F238E27FC236}">
                <a16:creationId xmlns:a16="http://schemas.microsoft.com/office/drawing/2014/main" id="{5207FB51-034D-49F6-98B6-CDDD86C98754}"/>
              </a:ext>
            </a:extLst>
          </p:cNvPr>
          <p:cNvSpPr>
            <a:spLocks xmlns:a="http://schemas.openxmlformats.org/drawingml/2006/main" noGrp="1"/>
          </p:cNvSpPr>
          <p:nvPr>
            <p:ph type="ctrTitle" idx="0"/>
          </p:nvPr>
        </p:nvSpPr>
        <p:spPr>
          <a:xfrm xmlns:a="http://schemas.openxmlformats.org/drawingml/2006/main">
            <a:off x="409575" y="990600"/>
            <a:ext cx="8324850" cy="1876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lnSpc>
                <a:spcPct val="105000"/>
              </a:lnSpc>
              <a:spcBef>
                <a:spcPts val="0"/>
              </a:spcBef>
              <a:spcAft>
                <a:spcPts val="0"/>
              </a:spcAft>
              <a:buSzPts val="6000"/>
              <a:buNone/>
              <a:defRPr sz="4350">
                <a:solidFill>
                  <a:srgbClr val="FFFFFF"/>
                </a:solidFill>
                <a:latin typeface="Oswald"/>
                <a:ea typeface="Oswald"/>
                <a:cs typeface="Oswald"/>
              </a:defRPr>
            </a:pPr>
            <a:r>
              <a:rPr sz="4350">
                <a:solidFill>
                  <a:srgbClr val="FFFFFF"/>
                </a:solidFill>
                <a:latin typeface="Oswald"/>
                <a:ea typeface="Oswald"/>
                <a:cs typeface="Oswald"/>
              </a:rPr>
              <a:t>Anthropic + Claude</a:t>
            </a:r>
            <a:endParaRPr/>
          </a:p>
          <a:p xmlns:a="http://schemas.openxmlformats.org/drawingml/2006/main">
            <a:pPr marL="0" lvl="0" indent="0" algn="ctr">
              <a:lnSpc>
                <a:spcPct val="105000"/>
              </a:lnSpc>
              <a:spcBef>
                <a:spcPts val="0"/>
              </a:spcBef>
              <a:spcAft>
                <a:spcPts val="0"/>
              </a:spcAft>
              <a:buSzPts val="6000"/>
              <a:buNone/>
              <a:defRPr sz="4350">
                <a:solidFill>
                  <a:srgbClr val="FFFFFF"/>
                </a:solidFill>
                <a:latin typeface="Oswald"/>
                <a:ea typeface="Oswald"/>
                <a:cs typeface="Oswald"/>
              </a:defRPr>
            </a:pPr>
            <a:r>
              <a:rPr sz="4350">
                <a:solidFill>
                  <a:srgbClr val="FFFFFF"/>
                </a:solidFill>
                <a:latin typeface="Oswald"/>
                <a:ea typeface="Oswald"/>
                <a:cs typeface="Oswald"/>
              </a:rPr>
              <a:t>The API in Python</a:t>
            </a:r>
            <a:endParaRPr/>
          </a:p>
        </p:txBody>
      </p:sp>
      <p:sp>
        <p:nvSpPr>
          <p:cNvPr id="74" name="Google Shape;74;p13">
            <a:extLst xmlns:a="http://schemas.openxmlformats.org/drawingml/2006/main">
              <a:ext uri="{FF2B5EF4-FFF2-40B4-BE49-F238E27FC236}">
                <a16:creationId xmlns:a16="http://schemas.microsoft.com/office/drawing/2014/main" id="{616E53EA-B64D-4AA9-B03D-AE18B586C5C5}"/>
              </a:ext>
            </a:extLst>
          </p:cNvPr>
          <p:cNvSpPr>
            <a:spLocks xmlns:a="http://schemas.openxmlformats.org/drawingml/2006/main" noGrp="1"/>
          </p:cNvSpPr>
          <p:nvPr>
            <p:ph type="subTitle" idx="1"/>
          </p:nvPr>
        </p:nvSpPr>
        <p:spPr>
          <a:xfrm xmlns:a="http://schemas.openxmlformats.org/drawingml/2006/main">
            <a:off x="571500" y="3476625"/>
            <a:ext cx="8001000" cy="790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lnSpc>
                <a:spcPct val="120000"/>
              </a:lnSpc>
              <a:spcBef>
                <a:spcPts val="0"/>
              </a:spcBef>
              <a:spcAft>
                <a:spcPts val="0"/>
              </a:spcAft>
              <a:buSzPts val="3600"/>
              <a:buNone/>
              <a:defRPr sz="1725">
                <a:solidFill>
                  <a:srgbClr val="424242"/>
                </a:solidFill>
                <a:latin typeface="Source Code Pro"/>
                <a:ea typeface="Source Code Pro"/>
                <a:cs typeface="Source Code Pro"/>
              </a:defRPr>
            </a:pPr>
            <a:r>
              <a:rPr sz="1725">
                <a:solidFill>
                  <a:srgbClr val="424242"/>
                </a:solidFill>
                <a:latin typeface="Source Code Pro"/>
                <a:ea typeface="Source Code Pro"/>
                <a:cs typeface="Source Code Pro"/>
              </a:rPr>
              <a:t>Familiar concepts. Different API details.</a:t>
            </a:r>
            <a:endParaRPr/>
          </a:p>
          <a:p xmlns:a="http://schemas.openxmlformats.org/drawingml/2006/main">
            <a:pPr marL="0" lvl="0" indent="0" algn="ctr">
              <a:lnSpc>
                <a:spcPct val="120000"/>
              </a:lnSpc>
              <a:spcBef>
                <a:spcPts val="0"/>
              </a:spcBef>
              <a:spcAft>
                <a:spcPts val="0"/>
              </a:spcAft>
              <a:buSzPts val="3600"/>
              <a:buNone/>
              <a:defRPr sz="1725">
                <a:solidFill>
                  <a:srgbClr val="424242"/>
                </a:solidFill>
                <a:latin typeface="Source Code Pro"/>
                <a:ea typeface="Source Code Pro"/>
                <a:cs typeface="Source Code Pro"/>
              </a:defRPr>
            </a:pPr>
            <a:r>
              <a:rPr sz="1725">
                <a:solidFill>
                  <a:srgbClr val="424242"/>
                </a:solidFill>
                <a:latin typeface="Source Code Pro"/>
                <a:ea typeface="Source Code Pro"/>
                <a:cs typeface="Source Code Pro"/>
              </a:rPr>
              <a:t>Part 7 · Prompting in the API</a:t>
            </a:r>
            <a:endParaRPr/>
          </a:p>
        </p:txBody>
      </p:sp>
    </p:spTree>
    <p:extLst>
      <p:ext uri="{BB962C8B-B14F-4D97-AF65-F5344CB8AC3E}">
        <p14:creationId xmlns:p14="http://schemas.microsoft.com/office/powerpoint/2010/main" val="202610020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Anthropic API Basics</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client = anthropic.Anthropic()">
            <a:extLst xmlns:a="http://schemas.openxmlformats.org/drawingml/2006/main">
              <a:ext uri="{FF2B5EF4-FFF2-40B4-BE49-F238E27FC236}">
                <a16:creationId xmlns:a16="http://schemas.microsoft.com/office/drawing/2014/main" id="{E482719B-4B38-4FC7-A48C-4A200D707128}"/>
              </a:ext>
            </a:extLst>
          </p:cNvPr>
          <p:cNvSpPr>
            <a:spLocks xmlns:a="http://schemas.openxmlformats.org/drawingml/2006/main" noGrp="1"/>
          </p:cNvSpPr>
          <p:nvPr/>
        </p:nvSpPr>
        <p:spPr>
          <a:xfrm xmlns:a="http://schemas.openxmlformats.org/drawingml/2006/main">
            <a:off x="400050" y="1524000"/>
            <a:ext cx="83439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client = anthropic.Anthropic()</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response = client.messages.create(</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    model=MODEL,</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    max_tokens=400,</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    system="Explain clearly for a beginner.",</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    messages=[{"role": "user", "content": "What is a gateway?"}],</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a:t>
            </a:r>
          </a:p>
        </p:txBody>
      </p:sp>
      <p:sp>
        <p:nvSpPr>
          <p:cNvPr id="185" name="One request, typed content blocks">
            <a:extLst xmlns:a="http://schemas.openxmlformats.org/drawingml/2006/main">
              <a:ext uri="{FF2B5EF4-FFF2-40B4-BE49-F238E27FC236}">
                <a16:creationId xmlns:a16="http://schemas.microsoft.com/office/drawing/2014/main" id="{562E3105-CCD7-4C78-A6D4-04A97E063992}"/>
              </a:ext>
            </a:extLst>
          </p:cNvPr>
          <p:cNvSpPr>
            <a:spLocks xmlns:a="http://schemas.openxmlformats.org/drawingml/2006/main" noGrp="1"/>
          </p:cNvSpPr>
          <p:nvPr/>
        </p:nvSpPr>
        <p:spPr>
          <a:xfrm xmlns:a="http://schemas.openxmlformats.org/drawingml/2006/main">
            <a:off x="400050" y="3571875"/>
            <a:ext cx="834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One request, typed content blocks</a:t>
            </a:r>
          </a:p>
        </p:txBody>
      </p:sp>
      <p:sp>
        <p:nvSpPr>
          <p:cNvPr id="186" name="Use an Anthropic key. Select text blocks.">
            <a:extLst xmlns:a="http://schemas.openxmlformats.org/drawingml/2006/main">
              <a:ext uri="{FF2B5EF4-FFF2-40B4-BE49-F238E27FC236}">
                <a16:creationId xmlns:a16="http://schemas.microsoft.com/office/drawing/2014/main" id="{17284C66-C9F9-4197-B9C4-CD5C792C6429}"/>
              </a:ext>
            </a:extLst>
          </p:cNvPr>
          <p:cNvSpPr>
            <a:spLocks xmlns:a="http://schemas.openxmlformats.org/drawingml/2006/main" noGrp="1"/>
          </p:cNvSpPr>
          <p:nvPr/>
        </p:nvSpPr>
        <p:spPr>
          <a:xfrm xmlns:a="http://schemas.openxmlformats.org/drawingml/2006/main">
            <a:off x="400050" y="4029075"/>
            <a:ext cx="8343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Use an Anthropic key. Select text blocks.</a:t>
            </a:r>
          </a:p>
          <a:p xmlns:a="http://schemas.openxmlformats.org/drawingml/2006/main">
            <a:pPr algn="l">
              <a:lnSpc>
                <a:spcPct val="120000"/>
              </a:lnSpc>
              <a:buNone/>
              <a:defRPr sz="1425" b="0">
                <a:solidFill>
                  <a:srgbClr val="424242"/>
                </a:solidFill>
                <a:latin typeface="Source Code Pro"/>
                <a:ea typeface="Source Code Pro"/>
                <a:cs typeface="Source Code Pro"/>
              </a:defRPr>
            </a:pPr>
            <a:r>
              <a:rPr sz="1425" b="0">
                <a:solidFill>
                  <a:srgbClr val="424242"/>
                </a:solidFill>
                <a:latin typeface="Source Code Pro"/>
                <a:ea typeface="Source Code Pro"/>
                <a:cs typeface="Source Code Pro"/>
              </a:rPr>
              <a:t>Inspect stop_reason and usage before continuing.</a:t>
            </a:r>
          </a:p>
        </p:txBody>
      </p:sp>
      <p:sp>
        <p:nvSpPr>
          <p:cNvPr id="187" name="Open the Claude features notebook in Google Colab">
            <a:extLst xmlns:a="http://schemas.openxmlformats.org/drawingml/2006/main">
              <a:ext uri="{FF2B5EF4-FFF2-40B4-BE49-F238E27FC236}">
                <a16:creationId xmlns:a16="http://schemas.microsoft.com/office/drawing/2014/main" id="{0857B86D-58BF-4CE7-B054-1A826D4690BB}"/>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9b730cc2d27f4404"/>
              </a:rPr>
              <a:t>Open the Claude features notebook in Google Colab</a:t>
            </a:r>
          </a:p>
        </p:txBody>
      </p:sp>
    </p:spTree>
    <p:extLst>
      <p:ext uri="{BB962C8B-B14F-4D97-AF65-F5344CB8AC3E}">
        <p14:creationId xmlns:p14="http://schemas.microsoft.com/office/powerpoint/2010/main" val="202610020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OpenAI Responses and Claude Messages</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graphicFrame>
        <p:nvGraphicFramePr>
          <p:cNvPr id="189" name=""/>
          <p:cNvGraphicFramePr/>
          <p:nvPr/>
        </p:nvGraphicFramePr>
        <p:xfrm>
          <a:off xmlns:a="http://schemas.openxmlformats.org/drawingml/2006/main" x="400050" y="1476375"/>
          <a:ext xmlns:a="http://schemas.openxmlformats.org/drawingml/2006/main" cx="8343900" cy="2762250"/>
        </p:xfrm>
        <a:graphic xmlns:a="http://schemas.openxmlformats.org/drawingml/2006/main">
          <a:graphicData uri="http://schemas.openxmlformats.org/drawingml/2006/table">
            <a:tbl>
              <a:tblPr firstRow="0" bandRow="0"/>
              <a:tblGrid>
                <a:gridCol w="1828800"/>
                <a:gridCol w="3257550"/>
                <a:gridCol w="3257550"/>
              </a:tblGrid>
              <a:tr h="460375">
                <a:tc>
                  <a:txBody>
                    <a:bodyPr wrap="square" lIns="114300" tIns="76200" rIns="95250" bIns="76200">
                      <a:noAutofit/>
                    </a:bodyPr>
                    <a:lstStyle/>
                    <a:p>
                      <a:pPr>
                        <a:lnSpc>
                          <a:spcPct val="112000"/>
                        </a:lnSpc>
                        <a:buNone/>
                      </a:pPr>
                      <a:r>
                        <a:rPr sz="1200" b="1">
                          <a:solidFill>
                            <a:srgbClr val="FFFFFF"/>
                          </a:solidFill>
                          <a:latin typeface="Source Code Pro"/>
                          <a:ea typeface="Source Code Pro"/>
                          <a:cs typeface="Source Code Pro"/>
                        </a:rPr>
                        <a:t>Concept</a:t>
                      </a:r>
                    </a:p>
                  </a:txBody>
                  <a:tcPr marL="91440" marR="91440" marT="45720" marB="45720" anchor="ctr">
                    <a:solidFill>
                      <a:srgbClr val="E91D63"/>
                    </a:solidFill>
                  </a:tcPr>
                </a:tc>
                <a:tc>
                  <a:txBody>
                    <a:bodyPr wrap="square" lIns="114300" tIns="76200" rIns="95250" bIns="76200">
                      <a:noAutofit/>
                    </a:bodyPr>
                    <a:lstStyle/>
                    <a:p>
                      <a:pPr>
                        <a:lnSpc>
                          <a:spcPct val="112000"/>
                        </a:lnSpc>
                        <a:buNone/>
                      </a:pPr>
                      <a:r>
                        <a:rPr sz="1200" b="1">
                          <a:solidFill>
                            <a:srgbClr val="FFFFFF"/>
                          </a:solidFill>
                          <a:latin typeface="Source Code Pro"/>
                          <a:ea typeface="Source Code Pro"/>
                          <a:cs typeface="Source Code Pro"/>
                        </a:rPr>
                        <a:t>OpenAI Responses</a:t>
                      </a:r>
                    </a:p>
                  </a:txBody>
                  <a:tcPr marL="91440" marR="91440" marT="45720" marB="45720" anchor="ctr">
                    <a:solidFill>
                      <a:srgbClr val="E91D63"/>
                    </a:solidFill>
                  </a:tcPr>
                </a:tc>
                <a:tc>
                  <a:txBody>
                    <a:bodyPr wrap="square" lIns="114300" tIns="76200" rIns="95250" bIns="76200">
                      <a:noAutofit/>
                    </a:bodyPr>
                    <a:lstStyle/>
                    <a:p>
                      <a:pPr>
                        <a:lnSpc>
                          <a:spcPct val="112000"/>
                        </a:lnSpc>
                        <a:buNone/>
                      </a:pPr>
                      <a:r>
                        <a:rPr sz="1200" b="1">
                          <a:solidFill>
                            <a:srgbClr val="FFFFFF"/>
                          </a:solidFill>
                          <a:latin typeface="Source Code Pro"/>
                          <a:ea typeface="Source Code Pro"/>
                          <a:cs typeface="Source Code Pro"/>
                        </a:rPr>
                        <a:t>Claude Messages</a:t>
                      </a:r>
                    </a:p>
                  </a:txBody>
                  <a:tcPr marL="91440" marR="91440" marT="45720" marB="45720" anchor="ctr">
                    <a:solidFill>
                      <a:srgbClr val="E91D63"/>
                    </a:solidFill>
                  </a:tcPr>
                </a:tc>
              </a:tr>
              <a:tr h="460375">
                <a:tc>
                  <a:txBody>
                    <a:bodyPr wrap="square" lIns="114300" tIns="76200" rIns="95250" bIns="76200">
                      <a:noAutofit/>
                    </a:bodyPr>
                    <a:lstStyle/>
                    <a:p>
                      <a:pPr>
                        <a:lnSpc>
                          <a:spcPct val="112000"/>
                        </a:lnSpc>
                        <a:buNone/>
                      </a:pPr>
                      <a:r>
                        <a:rPr sz="1200" b="0">
                          <a:solidFill>
                            <a:srgbClr val="424242"/>
                          </a:solidFill>
                          <a:latin typeface="Source Code Pro"/>
                          <a:ea typeface="Source Code Pro"/>
                          <a:cs typeface="Source Code Pro"/>
                        </a:rPr>
                        <a:t>Call</a:t>
                      </a:r>
                    </a:p>
                  </a:txBody>
                  <a:tcPr marL="91440" marR="91440" marT="45720" marB="45720" anchor="ctr">
                    <a:solidFill>
                      <a:srgbClr val="FFFFFF"/>
                    </a:solidFill>
                  </a:tcPr>
                </a:tc>
                <a:tc>
                  <a:txBody>
                    <a:bodyPr wrap="square" lIns="114300" tIns="76200" rIns="95250" bIns="76200">
                      <a:noAutofit/>
                    </a:bodyPr>
                    <a:lstStyle/>
                    <a:p>
                      <a:pPr>
                        <a:lnSpc>
                          <a:spcPct val="112000"/>
                        </a:lnSpc>
                        <a:buNone/>
                      </a:pPr>
                      <a:r>
                        <a:rPr sz="1200" b="0">
                          <a:solidFill>
                            <a:srgbClr val="424242"/>
                          </a:solidFill>
                          <a:latin typeface="Source Code Pro"/>
                          <a:ea typeface="Source Code Pro"/>
                          <a:cs typeface="Source Code Pro"/>
                        </a:rPr>
                        <a:t>responses.create()</a:t>
                      </a:r>
                    </a:p>
                  </a:txBody>
                  <a:tcPr marL="91440" marR="91440" marT="45720" marB="45720" anchor="ctr">
                    <a:solidFill>
                      <a:srgbClr val="FFFFFF"/>
                    </a:solidFill>
                  </a:tcPr>
                </a:tc>
                <a:tc>
                  <a:txBody>
                    <a:bodyPr wrap="square" lIns="114300" tIns="76200" rIns="95250" bIns="76200">
                      <a:noAutofit/>
                    </a:bodyPr>
                    <a:lstStyle/>
                    <a:p>
                      <a:pPr>
                        <a:lnSpc>
                          <a:spcPct val="112000"/>
                        </a:lnSpc>
                        <a:buNone/>
                      </a:pPr>
                      <a:r>
                        <a:rPr sz="1200" b="0">
                          <a:solidFill>
                            <a:srgbClr val="424242"/>
                          </a:solidFill>
                          <a:latin typeface="Source Code Pro"/>
                          <a:ea typeface="Source Code Pro"/>
                          <a:cs typeface="Source Code Pro"/>
                        </a:rPr>
                        <a:t>messages.create()</a:t>
                      </a:r>
                    </a:p>
                  </a:txBody>
                  <a:tcPr marL="91440" marR="91440" marT="45720" marB="45720" anchor="ctr">
                    <a:solidFill>
                      <a:srgbClr val="FFFFFF"/>
                    </a:solidFill>
                  </a:tcPr>
                </a:tc>
              </a:tr>
              <a:tr h="460375">
                <a:tc>
                  <a:txBody>
                    <a:bodyPr wrap="square" lIns="114300" tIns="76200" rIns="95250" bIns="76200">
                      <a:noAutofit/>
                    </a:bodyPr>
                    <a:lstStyle/>
                    <a:p>
                      <a:pPr>
                        <a:lnSpc>
                          <a:spcPct val="112000"/>
                        </a:lnSpc>
                        <a:buNone/>
                      </a:pPr>
                      <a:r>
                        <a:rPr sz="1200" b="0">
                          <a:solidFill>
                            <a:srgbClr val="424242"/>
                          </a:solidFill>
                          <a:latin typeface="Source Code Pro"/>
                          <a:ea typeface="Source Code Pro"/>
                          <a:cs typeface="Source Code Pro"/>
                        </a:rPr>
                        <a:t>Initial guidance</a:t>
                      </a:r>
                    </a:p>
                  </a:txBody>
                  <a:tcPr marL="91440" marR="91440" marT="45720" marB="45720" anchor="ctr">
                    <a:solidFill>
                      <a:srgbClr val="FFFFFF"/>
                    </a:solidFill>
                  </a:tcPr>
                </a:tc>
                <a:tc>
                  <a:txBody>
                    <a:bodyPr wrap="square" lIns="114300" tIns="76200" rIns="95250" bIns="76200">
                      <a:noAutofit/>
                    </a:bodyPr>
                    <a:lstStyle/>
                    <a:p>
                      <a:pPr>
                        <a:lnSpc>
                          <a:spcPct val="112000"/>
                        </a:lnSpc>
                        <a:buNone/>
                      </a:pPr>
                      <a:r>
                        <a:rPr sz="1200" b="0">
                          <a:solidFill>
                            <a:srgbClr val="424242"/>
                          </a:solidFill>
                          <a:latin typeface="Source Code Pro"/>
                          <a:ea typeface="Source Code Pro"/>
                          <a:cs typeface="Source Code Pro"/>
                        </a:rPr>
                        <a:t>instructions</a:t>
                      </a:r>
                    </a:p>
                  </a:txBody>
                  <a:tcPr marL="91440" marR="91440" marT="45720" marB="45720" anchor="ctr">
                    <a:solidFill>
                      <a:srgbClr val="FFFFFF"/>
                    </a:solidFill>
                  </a:tcPr>
                </a:tc>
                <a:tc>
                  <a:txBody>
                    <a:bodyPr wrap="square" lIns="114300" tIns="76200" rIns="95250" bIns="76200">
                      <a:noAutofit/>
                    </a:bodyPr>
                    <a:lstStyle/>
                    <a:p>
                      <a:pPr>
                        <a:lnSpc>
                          <a:spcPct val="112000"/>
                        </a:lnSpc>
                        <a:buNone/>
                      </a:pPr>
                      <a:r>
                        <a:rPr sz="1200" b="0">
                          <a:solidFill>
                            <a:srgbClr val="424242"/>
                          </a:solidFill>
                          <a:latin typeface="Source Code Pro"/>
                          <a:ea typeface="Source Code Pro"/>
                          <a:cs typeface="Source Code Pro"/>
                        </a:rPr>
                        <a:t>system</a:t>
                      </a:r>
                    </a:p>
                  </a:txBody>
                  <a:tcPr marL="91440" marR="91440" marT="45720" marB="45720" anchor="ctr">
                    <a:solidFill>
                      <a:srgbClr val="FFFFFF"/>
                    </a:solidFill>
                  </a:tcPr>
                </a:tc>
              </a:tr>
              <a:tr h="460375">
                <a:tc>
                  <a:txBody>
                    <a:bodyPr wrap="square" lIns="114300" tIns="76200" rIns="95250" bIns="76200">
                      <a:noAutofit/>
                    </a:bodyPr>
                    <a:lstStyle/>
                    <a:p>
                      <a:pPr>
                        <a:lnSpc>
                          <a:spcPct val="112000"/>
                        </a:lnSpc>
                        <a:buNone/>
                      </a:pPr>
                      <a:r>
                        <a:rPr sz="1200" b="0">
                          <a:solidFill>
                            <a:srgbClr val="424242"/>
                          </a:solidFill>
                          <a:latin typeface="Source Code Pro"/>
                          <a:ea typeface="Source Code Pro"/>
                          <a:cs typeface="Source Code Pro"/>
                        </a:rPr>
                        <a:t>Task / history</a:t>
                      </a:r>
                    </a:p>
                  </a:txBody>
                  <a:tcPr marL="91440" marR="91440" marT="45720" marB="45720" anchor="ctr">
                    <a:solidFill>
                      <a:srgbClr val="FFFFFF"/>
                    </a:solidFill>
                  </a:tcPr>
                </a:tc>
                <a:tc>
                  <a:txBody>
                    <a:bodyPr wrap="square" lIns="114300" tIns="76200" rIns="95250" bIns="76200">
                      <a:noAutofit/>
                    </a:bodyPr>
                    <a:lstStyle/>
                    <a:p>
                      <a:pPr>
                        <a:lnSpc>
                          <a:spcPct val="112000"/>
                        </a:lnSpc>
                        <a:buNone/>
                      </a:pPr>
                      <a:r>
                        <a:rPr sz="1200" b="0">
                          <a:solidFill>
                            <a:srgbClr val="424242"/>
                          </a:solidFill>
                          <a:latin typeface="Source Code Pro"/>
                          <a:ea typeface="Source Code Pro"/>
                          <a:cs typeface="Source Code Pro"/>
                        </a:rPr>
                        <a:t>input</a:t>
                      </a:r>
                    </a:p>
                  </a:txBody>
                  <a:tcPr marL="91440" marR="91440" marT="45720" marB="45720" anchor="ctr">
                    <a:solidFill>
                      <a:srgbClr val="FFFFFF"/>
                    </a:solidFill>
                  </a:tcPr>
                </a:tc>
                <a:tc>
                  <a:txBody>
                    <a:bodyPr wrap="square" lIns="114300" tIns="76200" rIns="95250" bIns="76200">
                      <a:noAutofit/>
                    </a:bodyPr>
                    <a:lstStyle/>
                    <a:p>
                      <a:pPr>
                        <a:lnSpc>
                          <a:spcPct val="112000"/>
                        </a:lnSpc>
                        <a:buNone/>
                      </a:pPr>
                      <a:r>
                        <a:rPr sz="1200" b="0">
                          <a:solidFill>
                            <a:srgbClr val="424242"/>
                          </a:solidFill>
                          <a:latin typeface="Source Code Pro"/>
                          <a:ea typeface="Source Code Pro"/>
                          <a:cs typeface="Source Code Pro"/>
                        </a:rPr>
                        <a:t>messages</a:t>
                      </a:r>
                    </a:p>
                  </a:txBody>
                  <a:tcPr marL="91440" marR="91440" marT="45720" marB="45720" anchor="ctr">
                    <a:solidFill>
                      <a:srgbClr val="FFFFFF"/>
                    </a:solidFill>
                  </a:tcPr>
                </a:tc>
              </a:tr>
              <a:tr h="460375">
                <a:tc>
                  <a:txBody>
                    <a:bodyPr wrap="square" lIns="114300" tIns="76200" rIns="95250" bIns="76200">
                      <a:noAutofit/>
                    </a:bodyPr>
                    <a:lstStyle/>
                    <a:p>
                      <a:pPr>
                        <a:lnSpc>
                          <a:spcPct val="112000"/>
                        </a:lnSpc>
                        <a:buNone/>
                      </a:pPr>
                      <a:r>
                        <a:rPr sz="1200" b="0">
                          <a:solidFill>
                            <a:srgbClr val="424242"/>
                          </a:solidFill>
                          <a:latin typeface="Source Code Pro"/>
                          <a:ea typeface="Source Code Pro"/>
                          <a:cs typeface="Source Code Pro"/>
                        </a:rPr>
                        <a:t>Text output</a:t>
                      </a:r>
                    </a:p>
                  </a:txBody>
                  <a:tcPr marL="91440" marR="91440" marT="45720" marB="45720" anchor="ctr">
                    <a:solidFill>
                      <a:srgbClr val="FFFFFF"/>
                    </a:solidFill>
                  </a:tcPr>
                </a:tc>
                <a:tc>
                  <a:txBody>
                    <a:bodyPr wrap="square" lIns="114300" tIns="76200" rIns="95250" bIns="76200">
                      <a:noAutofit/>
                    </a:bodyPr>
                    <a:lstStyle/>
                    <a:p>
                      <a:pPr>
                        <a:lnSpc>
                          <a:spcPct val="112000"/>
                        </a:lnSpc>
                        <a:buNone/>
                      </a:pPr>
                      <a:r>
                        <a:rPr sz="1200" b="0">
                          <a:solidFill>
                            <a:srgbClr val="424242"/>
                          </a:solidFill>
                          <a:latin typeface="Source Code Pro"/>
                          <a:ea typeface="Source Code Pro"/>
                          <a:cs typeface="Source Code Pro"/>
                        </a:rPr>
                        <a:t>output_text helper</a:t>
                      </a:r>
                    </a:p>
                  </a:txBody>
                  <a:tcPr marL="91440" marR="91440" marT="45720" marB="45720" anchor="ctr">
                    <a:solidFill>
                      <a:srgbClr val="FFFFFF"/>
                    </a:solidFill>
                  </a:tcPr>
                </a:tc>
                <a:tc>
                  <a:txBody>
                    <a:bodyPr wrap="square" lIns="114300" tIns="76200" rIns="95250" bIns="76200">
                      <a:noAutofit/>
                    </a:bodyPr>
                    <a:lstStyle/>
                    <a:p>
                      <a:pPr>
                        <a:lnSpc>
                          <a:spcPct val="112000"/>
                        </a:lnSpc>
                        <a:buNone/>
                      </a:pPr>
                      <a:r>
                        <a:rPr sz="1200" b="0">
                          <a:solidFill>
                            <a:srgbClr val="424242"/>
                          </a:solidFill>
                          <a:latin typeface="Source Code Pro"/>
                          <a:ea typeface="Source Code Pro"/>
                          <a:cs typeface="Source Code Pro"/>
                        </a:rPr>
                        <a:t>content text blocks</a:t>
                      </a:r>
                    </a:p>
                  </a:txBody>
                  <a:tcPr marL="91440" marR="91440" marT="45720" marB="45720" anchor="ctr">
                    <a:solidFill>
                      <a:srgbClr val="FFFFFF"/>
                    </a:solidFill>
                  </a:tcPr>
                </a:tc>
              </a:tr>
              <a:tr h="460375">
                <a:tc>
                  <a:txBody>
                    <a:bodyPr wrap="square" lIns="114300" tIns="76200" rIns="95250" bIns="76200">
                      <a:noAutofit/>
                    </a:bodyPr>
                    <a:lstStyle/>
                    <a:p>
                      <a:pPr>
                        <a:lnSpc>
                          <a:spcPct val="112000"/>
                        </a:lnSpc>
                        <a:buNone/>
                      </a:pPr>
                      <a:r>
                        <a:rPr sz="1200" b="0">
                          <a:solidFill>
                            <a:srgbClr val="424242"/>
                          </a:solidFill>
                          <a:latin typeface="Source Code Pro"/>
                          <a:ea typeface="Source Code Pro"/>
                          <a:cs typeface="Source Code Pro"/>
                        </a:rPr>
                        <a:t>Next turn</a:t>
                      </a:r>
                    </a:p>
                  </a:txBody>
                  <a:tcPr marL="91440" marR="91440" marT="45720" marB="45720" anchor="ctr">
                    <a:solidFill>
                      <a:srgbClr val="FFFFFF"/>
                    </a:solidFill>
                  </a:tcPr>
                </a:tc>
                <a:tc>
                  <a:txBody>
                    <a:bodyPr wrap="square" lIns="114300" tIns="76200" rIns="95250" bIns="76200">
                      <a:noAutofit/>
                    </a:bodyPr>
                    <a:lstStyle/>
                    <a:p>
                      <a:pPr>
                        <a:lnSpc>
                          <a:spcPct val="112000"/>
                        </a:lnSpc>
                        <a:buNone/>
                      </a:pPr>
                      <a:r>
                        <a:rPr sz="1200" b="0">
                          <a:solidFill>
                            <a:srgbClr val="424242"/>
                          </a:solidFill>
                          <a:latin typeface="Source Code Pro"/>
                          <a:ea typeface="Source Code Pro"/>
                          <a:cs typeface="Source Code Pro"/>
                        </a:rPr>
                        <a:t>History or response ID</a:t>
                      </a:r>
                    </a:p>
                  </a:txBody>
                  <a:tcPr marL="91440" marR="91440" marT="45720" marB="45720" anchor="ctr">
                    <a:solidFill>
                      <a:srgbClr val="FFFFFF"/>
                    </a:solidFill>
                  </a:tcPr>
                </a:tc>
                <a:tc>
                  <a:txBody>
                    <a:bodyPr wrap="square" lIns="114300" tIns="76200" rIns="95250" bIns="76200">
                      <a:noAutofit/>
                    </a:bodyPr>
                    <a:lstStyle/>
                    <a:p>
                      <a:pPr>
                        <a:lnSpc>
                          <a:spcPct val="112000"/>
                        </a:lnSpc>
                        <a:buNone/>
                      </a:pPr>
                      <a:r>
                        <a:rPr sz="1200" b="0">
                          <a:solidFill>
                            <a:srgbClr val="424242"/>
                          </a:solidFill>
                          <a:latin typeface="Source Code Pro"/>
                          <a:ea typeface="Source Code Pro"/>
                          <a:cs typeface="Source Code Pro"/>
                        </a:rPr>
                        <a:t>Send prior content</a:t>
                      </a:r>
                    </a:p>
                  </a:txBody>
                  <a:tcPr marL="91440" marR="91440" marT="45720" marB="45720" anchor="ctr">
                    <a:solidFill>
                      <a:srgbClr val="FFFFFF"/>
                    </a:solidFill>
                  </a:tcPr>
                </a:tc>
              </a:tr>
            </a:tbl>
          </a:graphicData>
        </a:graphic>
      </p:graphicFrame>
      <p:sp>
        <p:nvSpPr>
          <p:cNvPr id="185" name="Shared workflow. Provider-specific request and response shapes.">
            <a:extLst xmlns:a="http://schemas.openxmlformats.org/drawingml/2006/main">
              <a:ext uri="{FF2B5EF4-FFF2-40B4-BE49-F238E27FC236}">
                <a16:creationId xmlns:a16="http://schemas.microsoft.com/office/drawing/2014/main" id="{469CD029-EAB2-4F78-BC13-6043C88E73A9}"/>
              </a:ext>
            </a:extLst>
          </p:cNvPr>
          <p:cNvSpPr>
            <a:spLocks xmlns:a="http://schemas.openxmlformats.org/drawingml/2006/main" noGrp="1"/>
          </p:cNvSpPr>
          <p:nvPr/>
        </p:nvSpPr>
        <p:spPr>
          <a:xfrm xmlns:a="http://schemas.openxmlformats.org/drawingml/2006/main">
            <a:off x="400050" y="4286250"/>
            <a:ext cx="834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424242"/>
                </a:solidFill>
                <a:latin typeface="Source Code Pro"/>
                <a:ea typeface="Source Code Pro"/>
                <a:cs typeface="Source Code Pro"/>
              </a:defRPr>
            </a:pPr>
            <a:r>
              <a:rPr sz="1275" b="0">
                <a:solidFill>
                  <a:srgbClr val="424242"/>
                </a:solidFill>
                <a:latin typeface="Source Code Pro"/>
                <a:ea typeface="Source Code Pro"/>
                <a:cs typeface="Source Code Pro"/>
              </a:rPr>
              <a:t>Shared workflow. Provider-specific request and response shapes.</a:t>
            </a:r>
          </a:p>
        </p:txBody>
      </p:sp>
      <p:sp>
        <p:nvSpPr>
          <p:cNvPr id="186" name="Claude Messages guide">
            <a:extLst xmlns:a="http://schemas.openxmlformats.org/drawingml/2006/main">
              <a:ext uri="{FF2B5EF4-FFF2-40B4-BE49-F238E27FC236}">
                <a16:creationId xmlns:a16="http://schemas.microsoft.com/office/drawing/2014/main" id="{2FB6355D-9D3B-4C29-955C-FD17D855E3F3}"/>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ff5e824e4ffe49c9"/>
              </a:rPr>
              <a:t>Claude Messages guide</a:t>
            </a:r>
          </a:p>
        </p:txBody>
      </p:sp>
    </p:spTree>
    <p:extLst>
      <p:ext uri="{BB962C8B-B14F-4D97-AF65-F5344CB8AC3E}">
        <p14:creationId xmlns:p14="http://schemas.microsoft.com/office/powerpoint/2010/main" val="20261002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Prompting Claude</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Clarity still matters">
            <a:extLst xmlns:a="http://schemas.openxmlformats.org/drawingml/2006/main">
              <a:ext uri="{FF2B5EF4-FFF2-40B4-BE49-F238E27FC236}">
                <a16:creationId xmlns:a16="http://schemas.microsoft.com/office/drawing/2014/main" id="{9A0C4761-646A-40A0-9362-A719DD0EE210}"/>
              </a:ext>
            </a:extLst>
          </p:cNvPr>
          <p:cNvSpPr>
            <a:spLocks xmlns:a="http://schemas.openxmlformats.org/drawingml/2006/main" noGrp="1"/>
          </p:cNvSpPr>
          <p:nvPr/>
        </p:nvSpPr>
        <p:spPr>
          <a:xfrm xmlns:a="http://schemas.openxmlformats.org/drawingml/2006/main">
            <a:off x="400050" y="1504950"/>
            <a:ext cx="834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Clarity still matters</a:t>
            </a:r>
          </a:p>
        </p:txBody>
      </p:sp>
      <p:sp>
        <p:nvSpPr>
          <p:cNvPr id="185" name="State the task, desired format and success criteria.">
            <a:extLst xmlns:a="http://schemas.openxmlformats.org/drawingml/2006/main">
              <a:ext uri="{FF2B5EF4-FFF2-40B4-BE49-F238E27FC236}">
                <a16:creationId xmlns:a16="http://schemas.microsoft.com/office/drawing/2014/main" id="{55278180-451B-41B2-BB3D-F1F5B9E30B1E}"/>
              </a:ext>
            </a:extLst>
          </p:cNvPr>
          <p:cNvSpPr>
            <a:spLocks xmlns:a="http://schemas.openxmlformats.org/drawingml/2006/main" noGrp="1"/>
          </p:cNvSpPr>
          <p:nvPr/>
        </p:nvSpPr>
        <p:spPr>
          <a:xfrm xmlns:a="http://schemas.openxmlformats.org/drawingml/2006/main">
            <a:off x="400050" y="1971675"/>
            <a:ext cx="8343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State the task, desired format and success criteria.</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Add useful examples when the task needs them.</a:t>
            </a:r>
          </a:p>
        </p:txBody>
      </p:sp>
      <p:sp>
        <p:nvSpPr>
          <p:cNvPr id="186" name="Explicit boundaries for supplied data">
            <a:extLst xmlns:a="http://schemas.openxmlformats.org/drawingml/2006/main">
              <a:ext uri="{FF2B5EF4-FFF2-40B4-BE49-F238E27FC236}">
                <a16:creationId xmlns:a16="http://schemas.microsoft.com/office/drawing/2014/main" id="{DDB14786-71D8-46F3-9513-6F99B263F173}"/>
              </a:ext>
            </a:extLst>
          </p:cNvPr>
          <p:cNvSpPr>
            <a:spLocks xmlns:a="http://schemas.openxmlformats.org/drawingml/2006/main" noGrp="1"/>
          </p:cNvSpPr>
          <p:nvPr/>
        </p:nvSpPr>
        <p:spPr>
          <a:xfrm xmlns:a="http://schemas.openxmlformats.org/drawingml/2006/main">
            <a:off x="400050" y="2905125"/>
            <a:ext cx="834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Explicit boundaries for supplied data</a:t>
            </a:r>
          </a:p>
        </p:txBody>
      </p:sp>
      <p:sp>
        <p:nvSpPr>
          <p:cNvPr id="187" name="&lt;review&gt;">
            <a:extLst xmlns:a="http://schemas.openxmlformats.org/drawingml/2006/main">
              <a:ext uri="{FF2B5EF4-FFF2-40B4-BE49-F238E27FC236}">
                <a16:creationId xmlns:a16="http://schemas.microsoft.com/office/drawing/2014/main" id="{EAF495C1-0E92-4891-96E1-869F88A4690E}"/>
              </a:ext>
            </a:extLst>
          </p:cNvPr>
          <p:cNvSpPr>
            <a:spLocks xmlns:a="http://schemas.openxmlformats.org/drawingml/2006/main" noGrp="1"/>
          </p:cNvSpPr>
          <p:nvPr/>
        </p:nvSpPr>
        <p:spPr>
          <a:xfrm xmlns:a="http://schemas.openxmlformats.org/drawingml/2006/main">
            <a:off x="400050" y="3333750"/>
            <a:ext cx="83439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&lt;review&gt;</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The handle was broken and delivery was late.</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&lt;/review&gt;</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Classify sentiment. Return the label and a short reason.</a:t>
            </a:r>
          </a:p>
        </p:txBody>
      </p:sp>
      <p:sp>
        <p:nvSpPr>
          <p:cNvPr id="188" name="Claude prompting guidance">
            <a:extLst xmlns:a="http://schemas.openxmlformats.org/drawingml/2006/main">
              <a:ext uri="{FF2B5EF4-FFF2-40B4-BE49-F238E27FC236}">
                <a16:creationId xmlns:a16="http://schemas.microsoft.com/office/drawing/2014/main" id="{7C12BFAF-CEAD-474F-A72D-362DE7CFD733}"/>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628c2b9cc6e0403c"/>
              </a:rPr>
              <a:t>Claude prompting guidance</a:t>
            </a:r>
          </a:p>
        </p:txBody>
      </p:sp>
    </p:spTree>
    <p:extLst>
      <p:ext uri="{BB962C8B-B14F-4D97-AF65-F5344CB8AC3E}">
        <p14:creationId xmlns:p14="http://schemas.microsoft.com/office/powerpoint/2010/main" val="202610020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Familiar Features, Native Configuration</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Streaming">
            <a:extLst xmlns:a="http://schemas.openxmlformats.org/drawingml/2006/main">
              <a:ext uri="{FF2B5EF4-FFF2-40B4-BE49-F238E27FC236}">
                <a16:creationId xmlns:a16="http://schemas.microsoft.com/office/drawing/2014/main" id="{2C36C48E-3C40-4915-B28B-73BDC6D9F574}"/>
              </a:ext>
            </a:extLst>
          </p:cNvPr>
          <p:cNvSpPr>
            <a:spLocks xmlns:a="http://schemas.openxmlformats.org/drawingml/2006/main" noGrp="1"/>
          </p:cNvSpPr>
          <p:nvPr/>
        </p:nvSpPr>
        <p:spPr>
          <a:xfrm xmlns:a="http://schemas.openxmlformats.org/drawingml/2006/main">
            <a:off x="400050" y="1524000"/>
            <a:ext cx="3943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Streaming</a:t>
            </a:r>
          </a:p>
        </p:txBody>
      </p:sp>
      <p:sp>
        <p:nvSpPr>
          <p:cNvPr id="185" name="Structured JSON">
            <a:extLst xmlns:a="http://schemas.openxmlformats.org/drawingml/2006/main">
              <a:ext uri="{FF2B5EF4-FFF2-40B4-BE49-F238E27FC236}">
                <a16:creationId xmlns:a16="http://schemas.microsoft.com/office/drawing/2014/main" id="{3367215C-F128-4DF0-86BF-275B7C019DE7}"/>
              </a:ext>
            </a:extLst>
          </p:cNvPr>
          <p:cNvSpPr>
            <a:spLocks xmlns:a="http://schemas.openxmlformats.org/drawingml/2006/main" noGrp="1"/>
          </p:cNvSpPr>
          <p:nvPr/>
        </p:nvSpPr>
        <p:spPr>
          <a:xfrm xmlns:a="http://schemas.openxmlformats.org/drawingml/2006/main">
            <a:off x="4972050" y="1524000"/>
            <a:ext cx="3848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Structured JSON</a:t>
            </a:r>
          </a:p>
        </p:txBody>
      </p:sp>
      <p:sp>
        <p:nvSpPr>
          <p:cNvPr id="186" name="Read text as it arrives.">
            <a:extLst xmlns:a="http://schemas.openxmlformats.org/drawingml/2006/main">
              <a:ext uri="{FF2B5EF4-FFF2-40B4-BE49-F238E27FC236}">
                <a16:creationId xmlns:a16="http://schemas.microsoft.com/office/drawing/2014/main" id="{9328E47F-3010-4BBB-A22E-A3A81B2FE21E}"/>
              </a:ext>
            </a:extLst>
          </p:cNvPr>
          <p:cNvSpPr>
            <a:spLocks xmlns:a="http://schemas.openxmlformats.org/drawingml/2006/main" noGrp="1"/>
          </p:cNvSpPr>
          <p:nvPr/>
        </p:nvSpPr>
        <p:spPr>
          <a:xfrm xmlns:a="http://schemas.openxmlformats.org/drawingml/2006/main">
            <a:off x="400050" y="1990725"/>
            <a:ext cx="3943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Read text as it arrives.</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Capture the final usage.</a:t>
            </a:r>
          </a:p>
        </p:txBody>
      </p:sp>
      <p:sp>
        <p:nvSpPr>
          <p:cNvPr id="187" name="Declare a JSON schema.">
            <a:extLst xmlns:a="http://schemas.openxmlformats.org/drawingml/2006/main">
              <a:ext uri="{FF2B5EF4-FFF2-40B4-BE49-F238E27FC236}">
                <a16:creationId xmlns:a16="http://schemas.microsoft.com/office/drawing/2014/main" id="{89C33106-1DAE-4BC5-87E3-2C74DB83E175}"/>
              </a:ext>
            </a:extLst>
          </p:cNvPr>
          <p:cNvSpPr>
            <a:spLocks xmlns:a="http://schemas.openxmlformats.org/drawingml/2006/main" noGrp="1"/>
          </p:cNvSpPr>
          <p:nvPr/>
        </p:nvSpPr>
        <p:spPr>
          <a:xfrm xmlns:a="http://schemas.openxmlformats.org/drawingml/2006/main">
            <a:off x="4972050" y="1990725"/>
            <a:ext cx="38481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Declare a JSON schema.</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Validate the result.</a:t>
            </a:r>
          </a:p>
        </p:txBody>
      </p:sp>
      <p:sp>
        <p:nvSpPr>
          <p:cNvPr id="188" name="Files and images">
            <a:extLst xmlns:a="http://schemas.openxmlformats.org/drawingml/2006/main">
              <a:ext uri="{FF2B5EF4-FFF2-40B4-BE49-F238E27FC236}">
                <a16:creationId xmlns:a16="http://schemas.microsoft.com/office/drawing/2014/main" id="{A61CEDC6-C4B5-45E1-9EAE-7D811A523B3E}"/>
              </a:ext>
            </a:extLst>
          </p:cNvPr>
          <p:cNvSpPr>
            <a:spLocks xmlns:a="http://schemas.openxmlformats.org/drawingml/2006/main" noGrp="1"/>
          </p:cNvSpPr>
          <p:nvPr/>
        </p:nvSpPr>
        <p:spPr>
          <a:xfrm xmlns:a="http://schemas.openxmlformats.org/drawingml/2006/main">
            <a:off x="400050" y="3095625"/>
            <a:ext cx="3943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Files and images</a:t>
            </a:r>
          </a:p>
        </p:txBody>
      </p:sp>
      <p:sp>
        <p:nvSpPr>
          <p:cNvPr id="189" name="Usage and caching">
            <a:extLst xmlns:a="http://schemas.openxmlformats.org/drawingml/2006/main">
              <a:ext uri="{FF2B5EF4-FFF2-40B4-BE49-F238E27FC236}">
                <a16:creationId xmlns:a16="http://schemas.microsoft.com/office/drawing/2014/main" id="{B9916605-6631-4B25-814C-3B20C6B80557}"/>
              </a:ext>
            </a:extLst>
          </p:cNvPr>
          <p:cNvSpPr>
            <a:spLocks xmlns:a="http://schemas.openxmlformats.org/drawingml/2006/main" noGrp="1"/>
          </p:cNvSpPr>
          <p:nvPr/>
        </p:nvSpPr>
        <p:spPr>
          <a:xfrm xmlns:a="http://schemas.openxmlformats.org/drawingml/2006/main">
            <a:off x="4972050" y="3095625"/>
            <a:ext cx="3848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Usage and caching</a:t>
            </a:r>
          </a:p>
        </p:txBody>
      </p:sp>
      <p:sp>
        <p:nvSpPr>
          <p:cNvPr id="190" name="Send supported image">
            <a:extLst xmlns:a="http://schemas.openxmlformats.org/drawingml/2006/main">
              <a:ext uri="{FF2B5EF4-FFF2-40B4-BE49-F238E27FC236}">
                <a16:creationId xmlns:a16="http://schemas.microsoft.com/office/drawing/2014/main" id="{1C919D4C-77F2-48D2-A613-C6EAED21760B}"/>
              </a:ext>
            </a:extLst>
          </p:cNvPr>
          <p:cNvSpPr>
            <a:spLocks xmlns:a="http://schemas.openxmlformats.org/drawingml/2006/main" noGrp="1"/>
          </p:cNvSpPr>
          <p:nvPr/>
        </p:nvSpPr>
        <p:spPr>
          <a:xfrm xmlns:a="http://schemas.openxmlformats.org/drawingml/2006/main">
            <a:off x="400050" y="3562350"/>
            <a:ext cx="3943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Send supported image</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and document blocks.</a:t>
            </a:r>
          </a:p>
        </p:txBody>
      </p:sp>
      <p:sp>
        <p:nvSpPr>
          <p:cNvPr id="191" name="Inspect token usage.">
            <a:extLst xmlns:a="http://schemas.openxmlformats.org/drawingml/2006/main">
              <a:ext uri="{FF2B5EF4-FFF2-40B4-BE49-F238E27FC236}">
                <a16:creationId xmlns:a16="http://schemas.microsoft.com/office/drawing/2014/main" id="{3C53F5AF-C949-4D74-8639-044F83331B7E}"/>
              </a:ext>
            </a:extLst>
          </p:cNvPr>
          <p:cNvSpPr>
            <a:spLocks xmlns:a="http://schemas.openxmlformats.org/drawingml/2006/main" noGrp="1"/>
          </p:cNvSpPr>
          <p:nvPr/>
        </p:nvSpPr>
        <p:spPr>
          <a:xfrm xmlns:a="http://schemas.openxmlformats.org/drawingml/2006/main">
            <a:off x="4972050" y="3562350"/>
            <a:ext cx="38481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Inspect token usage.</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Check actual cache hits.</a:t>
            </a:r>
          </a:p>
        </p:txBody>
      </p:sp>
      <p:sp>
        <p:nvSpPr>
          <p:cNvPr id="192" name="Core and optional examples in the features notebook">
            <a:extLst xmlns:a="http://schemas.openxmlformats.org/drawingml/2006/main">
              <a:ext uri="{FF2B5EF4-FFF2-40B4-BE49-F238E27FC236}">
                <a16:creationId xmlns:a16="http://schemas.microsoft.com/office/drawing/2014/main" id="{809DB3F6-ECAA-493D-8A63-5FAF8D249A66}"/>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bd9da408eabe4345"/>
              </a:rPr>
              <a:t>Core and optional examples in the features notebook</a:t>
            </a:r>
          </a:p>
        </p:txBody>
      </p:sp>
    </p:spTree>
    <p:extLst>
      <p:ext uri="{BB962C8B-B14F-4D97-AF65-F5344CB8AC3E}">
        <p14:creationId xmlns:p14="http://schemas.microsoft.com/office/powerpoint/2010/main" val="202610020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Client Tools: The Model Requests, Python Runs</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1  Claude returns tool_use">
            <a:extLst xmlns:a="http://schemas.openxmlformats.org/drawingml/2006/main">
              <a:ext uri="{FF2B5EF4-FFF2-40B4-BE49-F238E27FC236}">
                <a16:creationId xmlns:a16="http://schemas.microsoft.com/office/drawing/2014/main" id="{0A50DD25-298C-46BF-8266-032326AC49C6}"/>
              </a:ext>
            </a:extLst>
          </p:cNvPr>
          <p:cNvSpPr>
            <a:spLocks xmlns:a="http://schemas.openxmlformats.org/drawingml/2006/main" noGrp="1"/>
          </p:cNvSpPr>
          <p:nvPr/>
        </p:nvSpPr>
        <p:spPr>
          <a:xfrm xmlns:a="http://schemas.openxmlformats.org/drawingml/2006/main">
            <a:off x="400050" y="1514475"/>
            <a:ext cx="834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1  Claude returns tool_use</a:t>
            </a:r>
          </a:p>
        </p:txBody>
      </p:sp>
      <p:sp>
        <p:nvSpPr>
          <p:cNvPr id="185" name="A tool name, input arguments and call ID.">
            <a:extLst xmlns:a="http://schemas.openxmlformats.org/drawingml/2006/main">
              <a:ext uri="{FF2B5EF4-FFF2-40B4-BE49-F238E27FC236}">
                <a16:creationId xmlns:a16="http://schemas.microsoft.com/office/drawing/2014/main" id="{4E182F2D-2939-4072-9E0C-AC79EBC8BF93}"/>
              </a:ext>
            </a:extLst>
          </p:cNvPr>
          <p:cNvSpPr>
            <a:spLocks xmlns:a="http://schemas.openxmlformats.org/drawingml/2006/main" noGrp="1"/>
          </p:cNvSpPr>
          <p:nvPr/>
        </p:nvSpPr>
        <p:spPr>
          <a:xfrm xmlns:a="http://schemas.openxmlformats.org/drawingml/2006/main">
            <a:off x="400050" y="1933575"/>
            <a:ext cx="8343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A tool name, input arguments and call ID.</a:t>
            </a:r>
          </a:p>
        </p:txBody>
      </p:sp>
      <p:sp>
        <p:nvSpPr>
          <p:cNvPr id="186" name="2  Your app executes the function">
            <a:extLst xmlns:a="http://schemas.openxmlformats.org/drawingml/2006/main">
              <a:ext uri="{FF2B5EF4-FFF2-40B4-BE49-F238E27FC236}">
                <a16:creationId xmlns:a16="http://schemas.microsoft.com/office/drawing/2014/main" id="{E0E4B1EC-E2B2-49F0-A4A6-19F0DE9013E1}"/>
              </a:ext>
            </a:extLst>
          </p:cNvPr>
          <p:cNvSpPr>
            <a:spLocks xmlns:a="http://schemas.openxmlformats.org/drawingml/2006/main" noGrp="1"/>
          </p:cNvSpPr>
          <p:nvPr/>
        </p:nvSpPr>
        <p:spPr>
          <a:xfrm xmlns:a="http://schemas.openxmlformats.org/drawingml/2006/main">
            <a:off x="400050" y="2533650"/>
            <a:ext cx="834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2  Your app executes the function</a:t>
            </a:r>
          </a:p>
        </p:txBody>
      </p:sp>
      <p:sp>
        <p:nvSpPr>
          <p:cNvPr id="187" name="Validate the request and run an allowed tool.">
            <a:extLst xmlns:a="http://schemas.openxmlformats.org/drawingml/2006/main">
              <a:ext uri="{FF2B5EF4-FFF2-40B4-BE49-F238E27FC236}">
                <a16:creationId xmlns:a16="http://schemas.microsoft.com/office/drawing/2014/main" id="{CA980B52-F79C-4BA0-B3C3-28B376A21F96}"/>
              </a:ext>
            </a:extLst>
          </p:cNvPr>
          <p:cNvSpPr>
            <a:spLocks xmlns:a="http://schemas.openxmlformats.org/drawingml/2006/main" noGrp="1"/>
          </p:cNvSpPr>
          <p:nvPr/>
        </p:nvSpPr>
        <p:spPr>
          <a:xfrm xmlns:a="http://schemas.openxmlformats.org/drawingml/2006/main">
            <a:off x="400050" y="2952750"/>
            <a:ext cx="8343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Validate the request and run an allowed tool.</a:t>
            </a:r>
          </a:p>
        </p:txBody>
      </p:sp>
      <p:sp>
        <p:nvSpPr>
          <p:cNvPr id="188" name="3  Return tool_result and continue">
            <a:extLst xmlns:a="http://schemas.openxmlformats.org/drawingml/2006/main">
              <a:ext uri="{FF2B5EF4-FFF2-40B4-BE49-F238E27FC236}">
                <a16:creationId xmlns:a16="http://schemas.microsoft.com/office/drawing/2014/main" id="{6F6BEC26-6AA2-4057-93A8-511393C38FBE}"/>
              </a:ext>
            </a:extLst>
          </p:cNvPr>
          <p:cNvSpPr>
            <a:spLocks xmlns:a="http://schemas.openxmlformats.org/drawingml/2006/main" noGrp="1"/>
          </p:cNvSpPr>
          <p:nvPr/>
        </p:nvSpPr>
        <p:spPr>
          <a:xfrm xmlns:a="http://schemas.openxmlformats.org/drawingml/2006/main">
            <a:off x="400050" y="3552825"/>
            <a:ext cx="834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3  Return tool_result and continue</a:t>
            </a:r>
          </a:p>
        </p:txBody>
      </p:sp>
      <p:sp>
        <p:nvSpPr>
          <p:cNvPr id="189" name="Match tool_use_id in the next user message.">
            <a:extLst xmlns:a="http://schemas.openxmlformats.org/drawingml/2006/main">
              <a:ext uri="{FF2B5EF4-FFF2-40B4-BE49-F238E27FC236}">
                <a16:creationId xmlns:a16="http://schemas.microsoft.com/office/drawing/2014/main" id="{DF172896-EBA1-4C6F-96DE-EE0A6240B1E2}"/>
              </a:ext>
            </a:extLst>
          </p:cNvPr>
          <p:cNvSpPr>
            <a:spLocks xmlns:a="http://schemas.openxmlformats.org/drawingml/2006/main" noGrp="1"/>
          </p:cNvSpPr>
          <p:nvPr/>
        </p:nvSpPr>
        <p:spPr>
          <a:xfrm xmlns:a="http://schemas.openxmlformats.org/drawingml/2006/main">
            <a:off x="400050" y="3971925"/>
            <a:ext cx="8343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Match tool_use_id in the next user message.</a:t>
            </a:r>
          </a:p>
        </p:txBody>
      </p:sp>
      <p:sp>
        <p:nvSpPr>
          <p:cNvPr id="190" name="Native Claude tool-call lifecycle">
            <a:extLst xmlns:a="http://schemas.openxmlformats.org/drawingml/2006/main">
              <a:ext uri="{FF2B5EF4-FFF2-40B4-BE49-F238E27FC236}">
                <a16:creationId xmlns:a16="http://schemas.microsoft.com/office/drawing/2014/main" id="{11BD7FCB-474C-4B74-ABA1-F3CC416EAFD4}"/>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bd9c0caaf96b483c"/>
              </a:rPr>
              <a:t>Native Claude tool-call lifecycle</a:t>
            </a:r>
          </a:p>
        </p:txBody>
      </p:sp>
    </p:spTree>
    <p:extLst>
      <p:ext uri="{BB962C8B-B14F-4D97-AF65-F5344CB8AC3E}">
        <p14:creationId xmlns:p14="http://schemas.microsoft.com/office/powerpoint/2010/main" val="202610020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A Small Claude Agent with Two Tools</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Is the blue mug in stock? What is the total">
            <a:extLst xmlns:a="http://schemas.openxmlformats.org/drawingml/2006/main">
              <a:ext uri="{FF2B5EF4-FFF2-40B4-BE49-F238E27FC236}">
                <a16:creationId xmlns:a16="http://schemas.microsoft.com/office/drawing/2014/main" id="{35BA25E2-D436-43C8-BE6A-4987B28EDF81}"/>
              </a:ext>
            </a:extLst>
          </p:cNvPr>
          <p:cNvSpPr>
            <a:spLocks xmlns:a="http://schemas.openxmlformats.org/drawingml/2006/main" noGrp="1"/>
          </p:cNvSpPr>
          <p:nvPr/>
        </p:nvSpPr>
        <p:spPr>
          <a:xfrm xmlns:a="http://schemas.openxmlformats.org/drawingml/2006/main">
            <a:off x="400050" y="1524000"/>
            <a:ext cx="8343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800" b="0">
                <a:solidFill>
                  <a:srgbClr val="424242"/>
                </a:solidFill>
                <a:latin typeface="Source Code Pro"/>
                <a:ea typeface="Source Code Pro"/>
                <a:cs typeface="Source Code Pro"/>
              </a:defRPr>
            </a:pPr>
            <a:r>
              <a:rPr sz="1800" b="0">
                <a:solidFill>
                  <a:srgbClr val="424242"/>
                </a:solidFill>
                <a:latin typeface="Source Code Pro"/>
                <a:ea typeface="Source Code Pro"/>
                <a:cs typeface="Source Code Pro"/>
              </a:rPr>
              <a:t>“Is the blue mug in stock? What is the total</a:t>
            </a:r>
          </a:p>
          <a:p xmlns:a="http://schemas.openxmlformats.org/drawingml/2006/main">
            <a:pPr algn="l">
              <a:lnSpc>
                <a:spcPct val="120000"/>
              </a:lnSpc>
              <a:buNone/>
              <a:defRPr sz="1800" b="0">
                <a:solidFill>
                  <a:srgbClr val="424242"/>
                </a:solidFill>
                <a:latin typeface="Source Code Pro"/>
                <a:ea typeface="Source Code Pro"/>
                <a:cs typeface="Source Code Pro"/>
              </a:defRPr>
            </a:pPr>
            <a:r>
              <a:rPr sz="1800" b="0">
                <a:solidFill>
                  <a:srgbClr val="424242"/>
                </a:solidFill>
                <a:latin typeface="Source Code Pro"/>
                <a:ea typeface="Source Code Pro"/>
                <a:cs typeface="Source Code Pro"/>
              </a:rPr>
              <a:t>price including delivery to the UK?”</a:t>
            </a:r>
          </a:p>
        </p:txBody>
      </p:sp>
      <p:sp>
        <p:nvSpPr>
          <p:cNvPr id="185" name="lookup_product(sku)">
            <a:extLst xmlns:a="http://schemas.openxmlformats.org/drawingml/2006/main">
              <a:ext uri="{FF2B5EF4-FFF2-40B4-BE49-F238E27FC236}">
                <a16:creationId xmlns:a16="http://schemas.microsoft.com/office/drawing/2014/main" id="{706CD64A-A63E-464A-B8E6-43CFBDD99016}"/>
              </a:ext>
            </a:extLst>
          </p:cNvPr>
          <p:cNvSpPr>
            <a:spLocks xmlns:a="http://schemas.openxmlformats.org/drawingml/2006/main" noGrp="1"/>
          </p:cNvSpPr>
          <p:nvPr/>
        </p:nvSpPr>
        <p:spPr>
          <a:xfrm xmlns:a="http://schemas.openxmlformats.org/drawingml/2006/main">
            <a:off x="400050" y="27813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lookup_product(sku)</a:t>
            </a:r>
          </a:p>
        </p:txBody>
      </p:sp>
      <p:sp>
        <p:nvSpPr>
          <p:cNvPr id="186" name="shipping_quote(country)">
            <a:extLst xmlns:a="http://schemas.openxmlformats.org/drawingml/2006/main">
              <a:ext uri="{FF2B5EF4-FFF2-40B4-BE49-F238E27FC236}">
                <a16:creationId xmlns:a16="http://schemas.microsoft.com/office/drawing/2014/main" id="{C59F97CC-A2C6-4ECA-8BA8-AE24B0AE8920}"/>
              </a:ext>
            </a:extLst>
          </p:cNvPr>
          <p:cNvSpPr>
            <a:spLocks xmlns:a="http://schemas.openxmlformats.org/drawingml/2006/main" noGrp="1"/>
          </p:cNvSpPr>
          <p:nvPr/>
        </p:nvSpPr>
        <p:spPr>
          <a:xfrm xmlns:a="http://schemas.openxmlformats.org/drawingml/2006/main">
            <a:off x="4972050" y="2781300"/>
            <a:ext cx="3848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shipping_quote(country)</a:t>
            </a:r>
          </a:p>
        </p:txBody>
      </p:sp>
      <p:sp>
        <p:nvSpPr>
          <p:cNvPr id="187" name="Blue mug: £12">
            <a:extLst xmlns:a="http://schemas.openxmlformats.org/drawingml/2006/main">
              <a:ext uri="{FF2B5EF4-FFF2-40B4-BE49-F238E27FC236}">
                <a16:creationId xmlns:a16="http://schemas.microsoft.com/office/drawing/2014/main" id="{002CD9DD-5539-4218-8816-BC21CBE895FD}"/>
              </a:ext>
            </a:extLst>
          </p:cNvPr>
          <p:cNvSpPr>
            <a:spLocks xmlns:a="http://schemas.openxmlformats.org/drawingml/2006/main" noGrp="1"/>
          </p:cNvSpPr>
          <p:nvPr/>
        </p:nvSpPr>
        <p:spPr>
          <a:xfrm xmlns:a="http://schemas.openxmlformats.org/drawingml/2006/main">
            <a:off x="400050" y="32575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725" b="0">
                <a:solidFill>
                  <a:srgbClr val="424242"/>
                </a:solidFill>
                <a:latin typeface="Source Code Pro"/>
                <a:ea typeface="Source Code Pro"/>
                <a:cs typeface="Source Code Pro"/>
              </a:defRPr>
            </a:pPr>
            <a:r>
              <a:rPr sz="1725" b="0">
                <a:solidFill>
                  <a:srgbClr val="424242"/>
                </a:solidFill>
                <a:latin typeface="Source Code Pro"/>
                <a:ea typeface="Source Code Pro"/>
                <a:cs typeface="Source Code Pro"/>
              </a:rPr>
              <a:t>Blue mug: £12</a:t>
            </a:r>
          </a:p>
          <a:p xmlns:a="http://schemas.openxmlformats.org/drawingml/2006/main">
            <a:pPr algn="l">
              <a:lnSpc>
                <a:spcPct val="120000"/>
              </a:lnSpc>
              <a:buNone/>
              <a:defRPr sz="1725" b="0">
                <a:solidFill>
                  <a:srgbClr val="424242"/>
                </a:solidFill>
                <a:latin typeface="Source Code Pro"/>
                <a:ea typeface="Source Code Pro"/>
                <a:cs typeface="Source Code Pro"/>
              </a:defRPr>
            </a:pPr>
            <a:r>
              <a:rPr sz="1725" b="0">
                <a:solidFill>
                  <a:srgbClr val="424242"/>
                </a:solidFill>
                <a:latin typeface="Source Code Pro"/>
                <a:ea typeface="Source Code Pro"/>
                <a:cs typeface="Source Code Pro"/>
              </a:rPr>
              <a:t>Stock: 8</a:t>
            </a:r>
          </a:p>
        </p:txBody>
      </p:sp>
      <p:sp>
        <p:nvSpPr>
          <p:cNvPr id="188" name="UK delivery: £3">
            <a:extLst xmlns:a="http://schemas.openxmlformats.org/drawingml/2006/main">
              <a:ext uri="{FF2B5EF4-FFF2-40B4-BE49-F238E27FC236}">
                <a16:creationId xmlns:a16="http://schemas.microsoft.com/office/drawing/2014/main" id="{BA30ED6E-8A1D-4836-A874-63FD38F24587}"/>
              </a:ext>
            </a:extLst>
          </p:cNvPr>
          <p:cNvSpPr>
            <a:spLocks xmlns:a="http://schemas.openxmlformats.org/drawingml/2006/main" noGrp="1"/>
          </p:cNvSpPr>
          <p:nvPr/>
        </p:nvSpPr>
        <p:spPr>
          <a:xfrm xmlns:a="http://schemas.openxmlformats.org/drawingml/2006/main">
            <a:off x="4972050" y="3257550"/>
            <a:ext cx="3848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725" b="0">
                <a:solidFill>
                  <a:srgbClr val="424242"/>
                </a:solidFill>
                <a:latin typeface="Source Code Pro"/>
                <a:ea typeface="Source Code Pro"/>
                <a:cs typeface="Source Code Pro"/>
              </a:defRPr>
            </a:pPr>
            <a:r>
              <a:rPr sz="1725" b="0">
                <a:solidFill>
                  <a:srgbClr val="424242"/>
                </a:solidFill>
                <a:latin typeface="Source Code Pro"/>
                <a:ea typeface="Source Code Pro"/>
                <a:cs typeface="Source Code Pro"/>
              </a:rPr>
              <a:t>UK delivery: £3</a:t>
            </a:r>
          </a:p>
          <a:p xmlns:a="http://schemas.openxmlformats.org/drawingml/2006/main">
            <a:pPr algn="l">
              <a:lnSpc>
                <a:spcPct val="120000"/>
              </a:lnSpc>
              <a:buNone/>
              <a:defRPr sz="1725" b="0">
                <a:solidFill>
                  <a:srgbClr val="424242"/>
                </a:solidFill>
                <a:latin typeface="Source Code Pro"/>
                <a:ea typeface="Source Code Pro"/>
                <a:cs typeface="Source Code Pro"/>
              </a:defRPr>
            </a:pPr>
            <a:r>
              <a:rPr sz="1725" b="0">
                <a:solidFill>
                  <a:srgbClr val="424242"/>
                </a:solidFill>
                <a:latin typeface="Source Code Pro"/>
                <a:ea typeface="Source Code Pro"/>
                <a:cs typeface="Source Code Pro"/>
              </a:rPr>
              <a:t>Verified total: £15</a:t>
            </a:r>
          </a:p>
        </p:txBody>
      </p:sp>
      <p:sp>
        <p:nvSpPr>
          <p:cNvPr id="189" name="Read-only sample data. Inspect the trace and final answer.">
            <a:extLst xmlns:a="http://schemas.openxmlformats.org/drawingml/2006/main">
              <a:ext uri="{FF2B5EF4-FFF2-40B4-BE49-F238E27FC236}">
                <a16:creationId xmlns:a16="http://schemas.microsoft.com/office/drawing/2014/main" id="{D680EBF4-807D-4998-8104-EC77AF56190A}"/>
              </a:ext>
            </a:extLst>
          </p:cNvPr>
          <p:cNvSpPr>
            <a:spLocks xmlns:a="http://schemas.openxmlformats.org/drawingml/2006/main" noGrp="1"/>
          </p:cNvSpPr>
          <p:nvPr/>
        </p:nvSpPr>
        <p:spPr>
          <a:xfrm xmlns:a="http://schemas.openxmlformats.org/drawingml/2006/main">
            <a:off x="400050" y="4257675"/>
            <a:ext cx="834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Read-only sample data. Inspect the trace and final answer.</a:t>
            </a:r>
          </a:p>
        </p:txBody>
      </p:sp>
      <p:sp>
        <p:nvSpPr>
          <p:cNvPr id="190" name="Open the prompting and tools notebook in Google Colab">
            <a:extLst xmlns:a="http://schemas.openxmlformats.org/drawingml/2006/main">
              <a:ext uri="{FF2B5EF4-FFF2-40B4-BE49-F238E27FC236}">
                <a16:creationId xmlns:a16="http://schemas.microsoft.com/office/drawing/2014/main" id="{42089C7E-AB1B-4C14-A155-110429A4E860}"/>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dc8701db863e470e"/>
              </a:rPr>
              <a:t>Open the prompting and tools notebook in Google Colab</a:t>
            </a:r>
          </a:p>
        </p:txBody>
      </p:sp>
    </p:spTree>
    <p:extLst>
      <p:ext uri="{BB962C8B-B14F-4D97-AF65-F5344CB8AC3E}">
        <p14:creationId xmlns:p14="http://schemas.microsoft.com/office/powerpoint/2010/main" val="202610020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Client Tools and Hosted Tools</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Your application executes">
            <a:extLst xmlns:a="http://schemas.openxmlformats.org/drawingml/2006/main">
              <a:ext uri="{FF2B5EF4-FFF2-40B4-BE49-F238E27FC236}">
                <a16:creationId xmlns:a16="http://schemas.microsoft.com/office/drawing/2014/main" id="{23FCB467-C73B-4A57-9DE8-7659BFA364B0}"/>
              </a:ext>
            </a:extLst>
          </p:cNvPr>
          <p:cNvSpPr>
            <a:spLocks xmlns:a="http://schemas.openxmlformats.org/drawingml/2006/main" noGrp="1"/>
          </p:cNvSpPr>
          <p:nvPr/>
        </p:nvSpPr>
        <p:spPr>
          <a:xfrm xmlns:a="http://schemas.openxmlformats.org/drawingml/2006/main">
            <a:off x="400050" y="15621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Your application executes</a:t>
            </a:r>
          </a:p>
        </p:txBody>
      </p:sp>
      <p:sp>
        <p:nvSpPr>
          <p:cNvPr id="185" name="Anthropic executes">
            <a:extLst xmlns:a="http://schemas.openxmlformats.org/drawingml/2006/main">
              <a:ext uri="{FF2B5EF4-FFF2-40B4-BE49-F238E27FC236}">
                <a16:creationId xmlns:a16="http://schemas.microsoft.com/office/drawing/2014/main" id="{2EA314F1-0F7B-4B73-8750-6083C17E124F}"/>
              </a:ext>
            </a:extLst>
          </p:cNvPr>
          <p:cNvSpPr>
            <a:spLocks xmlns:a="http://schemas.openxmlformats.org/drawingml/2006/main" noGrp="1"/>
          </p:cNvSpPr>
          <p:nvPr/>
        </p:nvSpPr>
        <p:spPr>
          <a:xfrm xmlns:a="http://schemas.openxmlformats.org/drawingml/2006/main">
            <a:off x="4972050" y="1562100"/>
            <a:ext cx="3848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Anthropic executes</a:t>
            </a:r>
          </a:p>
        </p:txBody>
      </p:sp>
      <p:sp>
        <p:nvSpPr>
          <p:cNvPr id="186" name="Custom Python functions">
            <a:extLst xmlns:a="http://schemas.openxmlformats.org/drawingml/2006/main">
              <a:ext uri="{FF2B5EF4-FFF2-40B4-BE49-F238E27FC236}">
                <a16:creationId xmlns:a16="http://schemas.microsoft.com/office/drawing/2014/main" id="{330FBF26-A5A3-4C3C-B7E0-90F29FB7E521}"/>
              </a:ext>
            </a:extLst>
          </p:cNvPr>
          <p:cNvSpPr>
            <a:spLocks xmlns:a="http://schemas.openxmlformats.org/drawingml/2006/main" noGrp="1"/>
          </p:cNvSpPr>
          <p:nvPr/>
        </p:nvSpPr>
        <p:spPr>
          <a:xfrm xmlns:a="http://schemas.openxmlformats.org/drawingml/2006/main">
            <a:off x="400050" y="2057400"/>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Custom Python functions</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Computer-use actions</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Tools in your environment</a:t>
            </a:r>
          </a:p>
        </p:txBody>
      </p:sp>
      <p:sp>
        <p:nvSpPr>
          <p:cNvPr id="187" name="Supported web search">
            <a:extLst xmlns:a="http://schemas.openxmlformats.org/drawingml/2006/main">
              <a:ext uri="{FF2B5EF4-FFF2-40B4-BE49-F238E27FC236}">
                <a16:creationId xmlns:a16="http://schemas.microsoft.com/office/drawing/2014/main" id="{84F0B2C9-3E2E-40F6-80A8-AB7FBE5B6C21}"/>
              </a:ext>
            </a:extLst>
          </p:cNvPr>
          <p:cNvSpPr>
            <a:spLocks xmlns:a="http://schemas.openxmlformats.org/drawingml/2006/main" noGrp="1"/>
          </p:cNvSpPr>
          <p:nvPr/>
        </p:nvSpPr>
        <p:spPr>
          <a:xfrm xmlns:a="http://schemas.openxmlformats.org/drawingml/2006/main">
            <a:off x="4972050" y="2057400"/>
            <a:ext cx="3848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Supported web search</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Hosted code execution</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Other server tools</a:t>
            </a:r>
          </a:p>
        </p:txBody>
      </p:sp>
      <p:sp>
        <p:nvSpPr>
          <p:cNvPr id="188" name="Similar tool categories can have different schemas,">
            <a:extLst xmlns:a="http://schemas.openxmlformats.org/drawingml/2006/main">
              <a:ext uri="{FF2B5EF4-FFF2-40B4-BE49-F238E27FC236}">
                <a16:creationId xmlns:a16="http://schemas.microsoft.com/office/drawing/2014/main" id="{B9B4B7CD-CFF5-430F-9DC7-11DD5F8CE8F4}"/>
              </a:ext>
            </a:extLst>
          </p:cNvPr>
          <p:cNvSpPr>
            <a:spLocks xmlns:a="http://schemas.openxmlformats.org/drawingml/2006/main" noGrp="1"/>
          </p:cNvSpPr>
          <p:nvPr/>
        </p:nvSpPr>
        <p:spPr>
          <a:xfrm xmlns:a="http://schemas.openxmlformats.org/drawingml/2006/main">
            <a:off x="400050" y="3619500"/>
            <a:ext cx="83439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Similar tool categories can have different schemas,</a:t>
            </a:r>
          </a:p>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execution environments and supported models.</a:t>
            </a:r>
          </a:p>
        </p:txBody>
      </p:sp>
      <p:sp>
        <p:nvSpPr>
          <p:cNvPr id="189" name="Claude hosted code execution">
            <a:extLst xmlns:a="http://schemas.openxmlformats.org/drawingml/2006/main">
              <a:ext uri="{FF2B5EF4-FFF2-40B4-BE49-F238E27FC236}">
                <a16:creationId xmlns:a16="http://schemas.microsoft.com/office/drawing/2014/main" id="{9BEDA949-B28D-4449-8A38-595AF8073E59}"/>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f872ab5a1bf4470b"/>
              </a:rPr>
              <a:t>Claude hosted code execution</a:t>
            </a:r>
          </a:p>
        </p:txBody>
      </p:sp>
    </p:spTree>
    <p:extLst>
      <p:ext uri="{BB962C8B-B14F-4D97-AF65-F5344CB8AC3E}">
        <p14:creationId xmlns:p14="http://schemas.microsoft.com/office/powerpoint/2010/main" val="20261002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Claude Computer Use via the API</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Claude reads screenshots and requests">
            <a:extLst xmlns:a="http://schemas.openxmlformats.org/drawingml/2006/main">
              <a:ext uri="{FF2B5EF4-FFF2-40B4-BE49-F238E27FC236}">
                <a16:creationId xmlns:a16="http://schemas.microsoft.com/office/drawing/2014/main" id="{8982873E-786A-48D3-9D0D-4B6777A68667}"/>
              </a:ext>
            </a:extLst>
          </p:cNvPr>
          <p:cNvSpPr>
            <a:spLocks xmlns:a="http://schemas.openxmlformats.org/drawingml/2006/main" noGrp="1"/>
          </p:cNvSpPr>
          <p:nvPr/>
        </p:nvSpPr>
        <p:spPr>
          <a:xfrm xmlns:a="http://schemas.openxmlformats.org/drawingml/2006/main">
            <a:off x="400050" y="1514475"/>
            <a:ext cx="8343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950" b="0">
                <a:solidFill>
                  <a:srgbClr val="424242"/>
                </a:solidFill>
                <a:latin typeface="Source Code Pro"/>
                <a:ea typeface="Source Code Pro"/>
                <a:cs typeface="Source Code Pro"/>
              </a:defRPr>
            </a:pPr>
            <a:r>
              <a:rPr sz="1950" b="0">
                <a:solidFill>
                  <a:srgbClr val="424242"/>
                </a:solidFill>
                <a:latin typeface="Source Code Pro"/>
                <a:ea typeface="Source Code Pro"/>
                <a:cs typeface="Source Code Pro"/>
              </a:rPr>
              <a:t>Claude reads screenshots and requests</a:t>
            </a:r>
          </a:p>
          <a:p xmlns:a="http://schemas.openxmlformats.org/drawingml/2006/main">
            <a:pPr algn="l">
              <a:lnSpc>
                <a:spcPct val="120000"/>
              </a:lnSpc>
              <a:buNone/>
              <a:defRPr sz="1950" b="0">
                <a:solidFill>
                  <a:srgbClr val="424242"/>
                </a:solidFill>
                <a:latin typeface="Source Code Pro"/>
                <a:ea typeface="Source Code Pro"/>
                <a:cs typeface="Source Code Pro"/>
              </a:defRPr>
            </a:pPr>
            <a:r>
              <a:rPr sz="1950" b="0">
                <a:solidFill>
                  <a:srgbClr val="424242"/>
                </a:solidFill>
                <a:latin typeface="Source Code Pro"/>
                <a:ea typeface="Source Code Pro"/>
                <a:cs typeface="Source Code Pro"/>
              </a:rPr>
              <a:t>mouse or keyboard actions.</a:t>
            </a:r>
          </a:p>
        </p:txBody>
      </p:sp>
      <p:sp>
        <p:nvSpPr>
          <p:cNvPr id="185" name="The same agent loop, with a display">
            <a:extLst xmlns:a="http://schemas.openxmlformats.org/drawingml/2006/main">
              <a:ext uri="{FF2B5EF4-FFF2-40B4-BE49-F238E27FC236}">
                <a16:creationId xmlns:a16="http://schemas.microsoft.com/office/drawing/2014/main" id="{B3AFD8B3-1F90-477A-848C-81C686C1F0EC}"/>
              </a:ext>
            </a:extLst>
          </p:cNvPr>
          <p:cNvSpPr>
            <a:spLocks xmlns:a="http://schemas.openxmlformats.org/drawingml/2006/main" noGrp="1"/>
          </p:cNvSpPr>
          <p:nvPr/>
        </p:nvSpPr>
        <p:spPr>
          <a:xfrm xmlns:a="http://schemas.openxmlformats.org/drawingml/2006/main">
            <a:off x="400050" y="2800350"/>
            <a:ext cx="834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The same agent loop, with a display</a:t>
            </a:r>
          </a:p>
        </p:txBody>
      </p:sp>
      <p:sp>
        <p:nvSpPr>
          <p:cNvPr id="186" name="Your environment supplies the screenshot.">
            <a:extLst xmlns:a="http://schemas.openxmlformats.org/drawingml/2006/main">
              <a:ext uri="{FF2B5EF4-FFF2-40B4-BE49-F238E27FC236}">
                <a16:creationId xmlns:a16="http://schemas.microsoft.com/office/drawing/2014/main" id="{200C34AD-4909-4B9F-B04C-0789583AF4CB}"/>
              </a:ext>
            </a:extLst>
          </p:cNvPr>
          <p:cNvSpPr>
            <a:spLocks xmlns:a="http://schemas.openxmlformats.org/drawingml/2006/main" noGrp="1"/>
          </p:cNvSpPr>
          <p:nvPr/>
        </p:nvSpPr>
        <p:spPr>
          <a:xfrm xmlns:a="http://schemas.openxmlformats.org/drawingml/2006/main">
            <a:off x="400050" y="3286125"/>
            <a:ext cx="8343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Your environment supplies the screenshot.</a:t>
            </a:r>
          </a:p>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Your adapter executes member tool calls in order.</a:t>
            </a:r>
          </a:p>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Results return with matching IDs and toolset_name.</a:t>
            </a:r>
          </a:p>
        </p:txBody>
      </p:sp>
      <p:sp>
        <p:nvSpPr>
          <p:cNvPr id="187" name="Current toolset: computer_toolset_20260801">
            <a:extLst xmlns:a="http://schemas.openxmlformats.org/drawingml/2006/main">
              <a:ext uri="{FF2B5EF4-FFF2-40B4-BE49-F238E27FC236}">
                <a16:creationId xmlns:a16="http://schemas.microsoft.com/office/drawing/2014/main" id="{43F8A2E5-FB95-4A3A-A43F-9583BCFB237C}"/>
              </a:ext>
            </a:extLst>
          </p:cNvPr>
          <p:cNvSpPr>
            <a:spLocks xmlns:a="http://schemas.openxmlformats.org/drawingml/2006/main" noGrp="1"/>
          </p:cNvSpPr>
          <p:nvPr/>
        </p:nvSpPr>
        <p:spPr>
          <a:xfrm xmlns:a="http://schemas.openxmlformats.org/drawingml/2006/main">
            <a:off x="400050" y="4295775"/>
            <a:ext cx="834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1">
                <a:solidFill>
                  <a:srgbClr val="424242"/>
                </a:solidFill>
                <a:latin typeface="Source Code Pro"/>
                <a:ea typeface="Source Code Pro"/>
                <a:cs typeface="Source Code Pro"/>
              </a:defRPr>
            </a:pPr>
            <a:r>
              <a:rPr sz="1350" b="1">
                <a:solidFill>
                  <a:srgbClr val="424242"/>
                </a:solidFill>
                <a:latin typeface="Source Code Pro"/>
                <a:ea typeface="Source Code Pro"/>
                <a:cs typeface="Source Code Pro"/>
              </a:rPr>
              <a:t>Current toolset: computer_toolset_20260801</a:t>
            </a:r>
          </a:p>
        </p:txBody>
      </p:sp>
      <p:sp>
        <p:nvSpPr>
          <p:cNvPr id="188" name="Computer-use guide and model compatibility">
            <a:extLst xmlns:a="http://schemas.openxmlformats.org/drawingml/2006/main">
              <a:ext uri="{FF2B5EF4-FFF2-40B4-BE49-F238E27FC236}">
                <a16:creationId xmlns:a16="http://schemas.microsoft.com/office/drawing/2014/main" id="{F47B17D0-F94E-4C6F-B67C-8FCD688DED57}"/>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c77b13ad89c449f8"/>
              </a:rPr>
              <a:t>Computer-use guide and model compatibility</a:t>
            </a:r>
          </a:p>
        </p:txBody>
      </p:sp>
    </p:spTree>
    <p:extLst>
      <p:ext uri="{BB962C8B-B14F-4D97-AF65-F5344CB8AC3E}">
        <p14:creationId xmlns:p14="http://schemas.microsoft.com/office/powerpoint/2010/main" val="202610020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An Isolated Computer-Use Exercise</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A local sample form">
            <a:extLst xmlns:a="http://schemas.openxmlformats.org/drawingml/2006/main">
              <a:ext uri="{FF2B5EF4-FFF2-40B4-BE49-F238E27FC236}">
                <a16:creationId xmlns:a16="http://schemas.microsoft.com/office/drawing/2014/main" id="{5DF11831-9CF5-4F1B-95A7-91392174A60E}"/>
              </a:ext>
            </a:extLst>
          </p:cNvPr>
          <p:cNvSpPr>
            <a:spLocks xmlns:a="http://schemas.openxmlformats.org/drawingml/2006/main" noGrp="1"/>
          </p:cNvSpPr>
          <p:nvPr/>
        </p:nvSpPr>
        <p:spPr>
          <a:xfrm xmlns:a="http://schemas.openxmlformats.org/drawingml/2006/main">
            <a:off x="400050" y="1543050"/>
            <a:ext cx="834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A local sample form</a:t>
            </a:r>
          </a:p>
        </p:txBody>
      </p:sp>
      <p:sp>
        <p:nvSpPr>
          <p:cNvPr id="185" name="Fill a name and email, then click Preview.">
            <a:extLst xmlns:a="http://schemas.openxmlformats.org/drawingml/2006/main">
              <a:ext uri="{FF2B5EF4-FFF2-40B4-BE49-F238E27FC236}">
                <a16:creationId xmlns:a16="http://schemas.microsoft.com/office/drawing/2014/main" id="{C2F9C765-3814-45BB-B14B-330B4AAC7DF8}"/>
              </a:ext>
            </a:extLst>
          </p:cNvPr>
          <p:cNvSpPr>
            <a:spLocks xmlns:a="http://schemas.openxmlformats.org/drawingml/2006/main" noGrp="1"/>
          </p:cNvSpPr>
          <p:nvPr/>
        </p:nvSpPr>
        <p:spPr>
          <a:xfrm xmlns:a="http://schemas.openxmlformats.org/drawingml/2006/main">
            <a:off x="400050" y="2028825"/>
            <a:ext cx="8343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725" b="0">
                <a:solidFill>
                  <a:srgbClr val="424242"/>
                </a:solidFill>
                <a:latin typeface="Source Code Pro"/>
                <a:ea typeface="Source Code Pro"/>
                <a:cs typeface="Source Code Pro"/>
              </a:defRPr>
            </a:pPr>
            <a:r>
              <a:rPr sz="1725" b="0">
                <a:solidFill>
                  <a:srgbClr val="424242"/>
                </a:solidFill>
                <a:latin typeface="Source Code Pro"/>
                <a:ea typeface="Source Code Pro"/>
                <a:cs typeface="Source Code Pro"/>
              </a:rPr>
              <a:t>Fill a name and email, then click Preview.</a:t>
            </a:r>
          </a:p>
          <a:p xmlns:a="http://schemas.openxmlformats.org/drawingml/2006/main">
            <a:pPr algn="l">
              <a:lnSpc>
                <a:spcPct val="120000"/>
              </a:lnSpc>
              <a:buNone/>
              <a:defRPr sz="1725" b="0">
                <a:solidFill>
                  <a:srgbClr val="424242"/>
                </a:solidFill>
                <a:latin typeface="Source Code Pro"/>
                <a:ea typeface="Source Code Pro"/>
                <a:cs typeface="Source Code Pro"/>
              </a:defRPr>
            </a:pPr>
            <a:r>
              <a:rPr sz="1725" b="0">
                <a:solidFill>
                  <a:srgbClr val="424242"/>
                </a:solidFill>
                <a:latin typeface="Source Code Pro"/>
                <a:ea typeface="Source Code Pro"/>
                <a:cs typeface="Source Code Pro"/>
              </a:rPr>
              <a:t>Use synthetic details in a fresh environment.</a:t>
            </a:r>
          </a:p>
        </p:txBody>
      </p:sp>
      <p:sp>
        <p:nvSpPr>
          <p:cNvPr id="186" name="Inspect the outcome">
            <a:extLst xmlns:a="http://schemas.openxmlformats.org/drawingml/2006/main">
              <a:ext uri="{FF2B5EF4-FFF2-40B4-BE49-F238E27FC236}">
                <a16:creationId xmlns:a16="http://schemas.microsoft.com/office/drawing/2014/main" id="{D5DD2E16-A091-4760-B9B7-CD413586D2AD}"/>
              </a:ext>
            </a:extLst>
          </p:cNvPr>
          <p:cNvSpPr>
            <a:spLocks xmlns:a="http://schemas.openxmlformats.org/drawingml/2006/main" noGrp="1"/>
          </p:cNvSpPr>
          <p:nvPr/>
        </p:nvSpPr>
        <p:spPr>
          <a:xfrm xmlns:a="http://schemas.openxmlformats.org/drawingml/2006/main">
            <a:off x="400050" y="3143250"/>
            <a:ext cx="834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Inspect the outcome</a:t>
            </a:r>
          </a:p>
        </p:txBody>
      </p:sp>
      <p:sp>
        <p:nvSpPr>
          <p:cNvPr id="187" name="Compare the actual form values with the task.">
            <a:extLst xmlns:a="http://schemas.openxmlformats.org/drawingml/2006/main">
              <a:ext uri="{FF2B5EF4-FFF2-40B4-BE49-F238E27FC236}">
                <a16:creationId xmlns:a16="http://schemas.microsoft.com/office/drawing/2014/main" id="{8DE8D80B-C08B-43FD-AE48-3E934EA9074C}"/>
              </a:ext>
            </a:extLst>
          </p:cNvPr>
          <p:cNvSpPr>
            <a:spLocks xmlns:a="http://schemas.openxmlformats.org/drawingml/2006/main" noGrp="1"/>
          </p:cNvSpPr>
          <p:nvPr/>
        </p:nvSpPr>
        <p:spPr>
          <a:xfrm xmlns:a="http://schemas.openxmlformats.org/drawingml/2006/main">
            <a:off x="400050" y="3629025"/>
            <a:ext cx="8343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Compare the actual form values with the task.</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Keep action limits and allowed operations explicit.</a:t>
            </a:r>
          </a:p>
        </p:txBody>
      </p:sp>
      <p:sp>
        <p:nvSpPr>
          <p:cNvPr id="188" name="The notebook starts with offline examples. Live demo is optional.">
            <a:extLst xmlns:a="http://schemas.openxmlformats.org/drawingml/2006/main">
              <a:ext uri="{FF2B5EF4-FFF2-40B4-BE49-F238E27FC236}">
                <a16:creationId xmlns:a16="http://schemas.microsoft.com/office/drawing/2014/main" id="{042F751D-F8A1-43BD-8D0B-D7B98B493597}"/>
              </a:ext>
            </a:extLst>
          </p:cNvPr>
          <p:cNvSpPr>
            <a:spLocks xmlns:a="http://schemas.openxmlformats.org/drawingml/2006/main" noGrp="1"/>
          </p:cNvSpPr>
          <p:nvPr/>
        </p:nvSpPr>
        <p:spPr>
          <a:xfrm xmlns:a="http://schemas.openxmlformats.org/drawingml/2006/main">
            <a:off x="400050" y="4286250"/>
            <a:ext cx="834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424242"/>
                </a:solidFill>
                <a:latin typeface="Source Code Pro"/>
                <a:ea typeface="Source Code Pro"/>
                <a:cs typeface="Source Code Pro"/>
              </a:defRPr>
            </a:pPr>
            <a:r>
              <a:rPr sz="1275" b="0">
                <a:solidFill>
                  <a:srgbClr val="424242"/>
                </a:solidFill>
                <a:latin typeface="Source Code Pro"/>
                <a:ea typeface="Source Code Pro"/>
                <a:cs typeface="Source Code Pro"/>
              </a:rPr>
              <a:t>The notebook starts with offline examples. Live demo is optional.</a:t>
            </a:r>
          </a:p>
        </p:txBody>
      </p:sp>
      <p:sp>
        <p:nvSpPr>
          <p:cNvPr id="189" name="Open the computer-use notebook in Google Colab">
            <a:extLst xmlns:a="http://schemas.openxmlformats.org/drawingml/2006/main">
              <a:ext uri="{FF2B5EF4-FFF2-40B4-BE49-F238E27FC236}">
                <a16:creationId xmlns:a16="http://schemas.microsoft.com/office/drawing/2014/main" id="{7C1D3478-AB36-4BBE-B30C-C8CBB1D4104C}"/>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62ea1723cb7340dc"/>
              </a:rPr>
              <a:t>Open the computer-use notebook in Google Colab</a:t>
            </a:r>
          </a:p>
        </p:txBody>
      </p:sp>
    </p:spTree>
    <p:extLst>
      <p:ext uri="{BB962C8B-B14F-4D97-AF65-F5344CB8AC3E}">
        <p14:creationId xmlns:p14="http://schemas.microsoft.com/office/powerpoint/2010/main" val="202610020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A Fair Model and Provider Comparison</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Keep the task and criteria fixed">
            <a:extLst xmlns:a="http://schemas.openxmlformats.org/drawingml/2006/main">
              <a:ext uri="{FF2B5EF4-FFF2-40B4-BE49-F238E27FC236}">
                <a16:creationId xmlns:a16="http://schemas.microsoft.com/office/drawing/2014/main" id="{789DB5BB-254B-4910-BFA0-989F4ED9368F}"/>
              </a:ext>
            </a:extLst>
          </p:cNvPr>
          <p:cNvSpPr>
            <a:spLocks xmlns:a="http://schemas.openxmlformats.org/drawingml/2006/main" noGrp="1"/>
          </p:cNvSpPr>
          <p:nvPr/>
        </p:nvSpPr>
        <p:spPr>
          <a:xfrm xmlns:a="http://schemas.openxmlformats.org/drawingml/2006/main">
            <a:off x="400050" y="1514475"/>
            <a:ext cx="834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Keep the task and criteria fixed</a:t>
            </a:r>
          </a:p>
        </p:txBody>
      </p:sp>
      <p:sp>
        <p:nvSpPr>
          <p:cNvPr id="185" name="Use representative inputs and known expected results.">
            <a:extLst xmlns:a="http://schemas.openxmlformats.org/drawingml/2006/main">
              <a:ext uri="{FF2B5EF4-FFF2-40B4-BE49-F238E27FC236}">
                <a16:creationId xmlns:a16="http://schemas.microsoft.com/office/drawing/2014/main" id="{29BDC21B-4EFA-4EA7-9988-730A678FFC3D}"/>
              </a:ext>
            </a:extLst>
          </p:cNvPr>
          <p:cNvSpPr>
            <a:spLocks xmlns:a="http://schemas.openxmlformats.org/drawingml/2006/main" noGrp="1"/>
          </p:cNvSpPr>
          <p:nvPr/>
        </p:nvSpPr>
        <p:spPr>
          <a:xfrm xmlns:a="http://schemas.openxmlformats.org/drawingml/2006/main">
            <a:off x="400050" y="2000250"/>
            <a:ext cx="8343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Use representative inputs and known expected results.</a:t>
            </a:r>
          </a:p>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Check correctness, useful output and tool execution.</a:t>
            </a:r>
          </a:p>
        </p:txBody>
      </p:sp>
      <p:sp>
        <p:nvSpPr>
          <p:cNvPr id="186" name="Measure the whole workload">
            <a:extLst xmlns:a="http://schemas.openxmlformats.org/drawingml/2006/main">
              <a:ext uri="{FF2B5EF4-FFF2-40B4-BE49-F238E27FC236}">
                <a16:creationId xmlns:a16="http://schemas.microsoft.com/office/drawing/2014/main" id="{C4B40A70-C3F6-4835-B74B-D4A3B810AA57}"/>
              </a:ext>
            </a:extLst>
          </p:cNvPr>
          <p:cNvSpPr>
            <a:spLocks xmlns:a="http://schemas.openxmlformats.org/drawingml/2006/main" noGrp="1"/>
          </p:cNvSpPr>
          <p:nvPr/>
        </p:nvSpPr>
        <p:spPr>
          <a:xfrm xmlns:a="http://schemas.openxmlformats.org/drawingml/2006/main">
            <a:off x="400050" y="3086100"/>
            <a:ext cx="834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Measure the whole workload</a:t>
            </a:r>
          </a:p>
        </p:txBody>
      </p:sp>
      <p:sp>
        <p:nvSpPr>
          <p:cNvPr id="187" name="Compare latency and actual cost across all turns.">
            <a:extLst xmlns:a="http://schemas.openxmlformats.org/drawingml/2006/main">
              <a:ext uri="{FF2B5EF4-FFF2-40B4-BE49-F238E27FC236}">
                <a16:creationId xmlns:a16="http://schemas.microsoft.com/office/drawing/2014/main" id="{6F70D566-C601-46C1-9CA0-2FD55917C8EF}"/>
              </a:ext>
            </a:extLst>
          </p:cNvPr>
          <p:cNvSpPr>
            <a:spLocks xmlns:a="http://schemas.openxmlformats.org/drawingml/2006/main" noGrp="1"/>
          </p:cNvSpPr>
          <p:nvPr/>
        </p:nvSpPr>
        <p:spPr>
          <a:xfrm xmlns:a="http://schemas.openxmlformats.org/drawingml/2006/main">
            <a:off x="400050" y="3571875"/>
            <a:ext cx="83439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Compare latency and actual cost across all turns.</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Check context, modalities and required tools.</a:t>
            </a:r>
          </a:p>
        </p:txBody>
      </p:sp>
      <p:sp>
        <p:nvSpPr>
          <p:cNvPr id="188" name="Tokens and feature names do not establish cross-provider parity.">
            <a:extLst xmlns:a="http://schemas.openxmlformats.org/drawingml/2006/main">
              <a:ext uri="{FF2B5EF4-FFF2-40B4-BE49-F238E27FC236}">
                <a16:creationId xmlns:a16="http://schemas.microsoft.com/office/drawing/2014/main" id="{889ABB77-7C56-4E3B-9948-25E16F699647}"/>
              </a:ext>
            </a:extLst>
          </p:cNvPr>
          <p:cNvSpPr>
            <a:spLocks xmlns:a="http://schemas.openxmlformats.org/drawingml/2006/main" noGrp="1"/>
          </p:cNvSpPr>
          <p:nvPr/>
        </p:nvSpPr>
        <p:spPr>
          <a:xfrm xmlns:a="http://schemas.openxmlformats.org/drawingml/2006/main">
            <a:off x="400050" y="4286250"/>
            <a:ext cx="834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424242"/>
                </a:solidFill>
                <a:latin typeface="Source Code Pro"/>
                <a:ea typeface="Source Code Pro"/>
                <a:cs typeface="Source Code Pro"/>
              </a:defRPr>
            </a:pPr>
            <a:r>
              <a:rPr sz="1275" b="0">
                <a:solidFill>
                  <a:srgbClr val="424242"/>
                </a:solidFill>
                <a:latin typeface="Source Code Pro"/>
                <a:ea typeface="Source Code Pro"/>
                <a:cs typeface="Source Code Pro"/>
              </a:rPr>
              <a:t>Tokens and feature names do not establish cross-provider parity.</a:t>
            </a:r>
          </a:p>
        </p:txBody>
      </p:sp>
      <p:sp>
        <p:nvSpPr>
          <p:cNvPr id="189" name="Claude model capabilities">
            <a:extLst xmlns:a="http://schemas.openxmlformats.org/drawingml/2006/main">
              <a:ext uri="{FF2B5EF4-FFF2-40B4-BE49-F238E27FC236}">
                <a16:creationId xmlns:a16="http://schemas.microsoft.com/office/drawing/2014/main" id="{444F1F2B-2523-4FF4-AC6B-6B58D685A08C}"/>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8e47521cadc94f31"/>
              </a:rPr>
              <a:t>Claude model capabilities</a:t>
            </a:r>
          </a:p>
        </p:txBody>
      </p:sp>
    </p:spTree>
    <p:extLst>
      <p:ext uri="{BB962C8B-B14F-4D97-AF65-F5344CB8AC3E}">
        <p14:creationId xmlns:p14="http://schemas.microsoft.com/office/powerpoint/2010/main" val="202610021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Developers Must Stay Tool Agnostic</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Be willing to switch when another model, tool">
            <a:extLst xmlns:a="http://schemas.openxmlformats.org/drawingml/2006/main">
              <a:ext uri="{FF2B5EF4-FFF2-40B4-BE49-F238E27FC236}">
                <a16:creationId xmlns:a16="http://schemas.microsoft.com/office/drawing/2014/main" id="{FC4DA624-68EE-45F3-A59F-63FDD5E37458}"/>
              </a:ext>
            </a:extLst>
          </p:cNvPr>
          <p:cNvSpPr>
            <a:spLocks xmlns:a="http://schemas.openxmlformats.org/drawingml/2006/main" noGrp="1"/>
          </p:cNvSpPr>
          <p:nvPr/>
        </p:nvSpPr>
        <p:spPr>
          <a:xfrm xmlns:a="http://schemas.openxmlformats.org/drawingml/2006/main">
            <a:off x="400050" y="1524000"/>
            <a:ext cx="8343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025" b="1">
                <a:solidFill>
                  <a:srgbClr val="424242"/>
                </a:solidFill>
                <a:latin typeface="Source Code Pro"/>
                <a:ea typeface="Source Code Pro"/>
                <a:cs typeface="Source Code Pro"/>
              </a:defRPr>
            </a:pPr>
            <a:r>
              <a:rPr sz="2025" b="1">
                <a:solidFill>
                  <a:srgbClr val="424242"/>
                </a:solidFill>
                <a:latin typeface="Source Code Pro"/>
                <a:ea typeface="Source Code Pro"/>
                <a:cs typeface="Source Code Pro"/>
              </a:rPr>
              <a:t>Be willing to switch when another model, tool</a:t>
            </a:r>
          </a:p>
          <a:p xmlns:a="http://schemas.openxmlformats.org/drawingml/2006/main">
            <a:pPr algn="l">
              <a:lnSpc>
                <a:spcPct val="120000"/>
              </a:lnSpc>
              <a:buNone/>
              <a:defRPr sz="2025" b="1">
                <a:solidFill>
                  <a:srgbClr val="424242"/>
                </a:solidFill>
                <a:latin typeface="Source Code Pro"/>
                <a:ea typeface="Source Code Pro"/>
                <a:cs typeface="Source Code Pro"/>
              </a:defRPr>
            </a:pPr>
            <a:r>
              <a:rPr sz="2025" b="1">
                <a:solidFill>
                  <a:srgbClr val="424242"/>
                </a:solidFill>
                <a:latin typeface="Source Code Pro"/>
                <a:ea typeface="Source Code Pro"/>
                <a:cs typeface="Source Code Pro"/>
              </a:rPr>
              <a:t>or context strategy performs better for your task.</a:t>
            </a:r>
          </a:p>
        </p:txBody>
      </p:sp>
      <p:sp>
        <p:nvSpPr>
          <p:cNvPr id="185" name="Keep the application portable">
            <a:extLst xmlns:a="http://schemas.openxmlformats.org/drawingml/2006/main">
              <a:ext uri="{FF2B5EF4-FFF2-40B4-BE49-F238E27FC236}">
                <a16:creationId xmlns:a16="http://schemas.microsoft.com/office/drawing/2014/main" id="{9F2765AF-546D-44E5-BA3C-B5468D35A544}"/>
              </a:ext>
            </a:extLst>
          </p:cNvPr>
          <p:cNvSpPr>
            <a:spLocks xmlns:a="http://schemas.openxmlformats.org/drawingml/2006/main" noGrp="1"/>
          </p:cNvSpPr>
          <p:nvPr/>
        </p:nvSpPr>
        <p:spPr>
          <a:xfrm xmlns:a="http://schemas.openxmlformats.org/drawingml/2006/main">
            <a:off x="400050" y="2943225"/>
            <a:ext cx="834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Keep the application portable</a:t>
            </a:r>
          </a:p>
        </p:txBody>
      </p:sp>
      <p:sp>
        <p:nvSpPr>
          <p:cNvPr id="186" name="Separate provider adapters from business logic.">
            <a:extLst xmlns:a="http://schemas.openxmlformats.org/drawingml/2006/main">
              <a:ext uri="{FF2B5EF4-FFF2-40B4-BE49-F238E27FC236}">
                <a16:creationId xmlns:a16="http://schemas.microsoft.com/office/drawing/2014/main" id="{CB9C061B-9768-42FA-A5D2-BA19EE12AE2E}"/>
              </a:ext>
            </a:extLst>
          </p:cNvPr>
          <p:cNvSpPr>
            <a:spLocks xmlns:a="http://schemas.openxmlformats.org/drawingml/2006/main" noGrp="1"/>
          </p:cNvSpPr>
          <p:nvPr/>
        </p:nvSpPr>
        <p:spPr>
          <a:xfrm xmlns:a="http://schemas.openxmlformats.org/drawingml/2006/main">
            <a:off x="400050" y="3429000"/>
            <a:ext cx="83439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Separate provider adapters from business logic.</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Keep common tests and a stable result format.</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Recheck capabilities whenever you switch.</a:t>
            </a:r>
          </a:p>
        </p:txBody>
      </p:sp>
      <p:sp>
        <p:nvSpPr>
          <p:cNvPr id="187" name="Run the OpenAI / Claude comparison in the features notebook">
            <a:extLst xmlns:a="http://schemas.openxmlformats.org/drawingml/2006/main">
              <a:ext uri="{FF2B5EF4-FFF2-40B4-BE49-F238E27FC236}">
                <a16:creationId xmlns:a16="http://schemas.microsoft.com/office/drawing/2014/main" id="{63372E8E-EE20-4B20-9647-11B5D235D8A7}"/>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79524c99111d4e41"/>
              </a:rPr>
              <a:t>Run the OpenAI / Claude comparison in the features notebook</a:t>
            </a:r>
          </a:p>
        </p:txBody>
      </p:sp>
    </p:spTree>
    <p:extLst>
      <p:ext uri="{BB962C8B-B14F-4D97-AF65-F5344CB8AC3E}">
        <p14:creationId xmlns:p14="http://schemas.microsoft.com/office/powerpoint/2010/main" val="2026100211"/>
      </p:ext>
    </p:extLst>
  </p:cSld>
</p:sld>
</file>

<file path=ppt/theme/theme1.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2026-10-01T14:32:45.4710000Z</dcterms:created>
  <dcterms:modified xsi:type="dcterms:W3CDTF">2026-10-01T14:32:45.4710000Z</dcterms:modified>
</coreProperties>
</file>