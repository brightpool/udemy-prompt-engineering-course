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14"/>
    <p:sldId id="257" r:id="rId15"/>
    <p:sldId id="258" r:id="rId16"/>
    <p:sldId id="259" r:id="rId17"/>
    <p:sldId id="260" r:id="rId18"/>
    <p:sldId id="261" r:id="rId19"/>
    <p:sldId id="262" r:id="rId20"/>
    <p:sldId id="263" r:id="rId21"/>
    <p:sldId id="264" r:id="rId22"/>
    <p:sldId id="265" r:id="rId23"/>
    <p:sldId id="266" r:id="rId13"/>
  </p:sldIdLst>
  <p:sldSz cy="5143500" cx="9144000"/>
  <p:notesSz cx="6858000" cy="9144000"/>
  <p:embeddedFontLst>
    <p:embeddedFont>
      <p:font typeface="Source Code Pro"/>
      <p:regular r:id="rId24"/>
      <p:bold r:id="rId25"/>
      <p:italic r:id="rId26"/>
      <p:boldItalic r:id="rId27"/>
    </p:embeddedFont>
    <p:embeddedFont>
      <p:font typeface="Oswald"/>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673574E-313A-4E41-A38C-36F247BE0EA5}">
  <a:tblStyle styleId="{3673574E-313A-4E41-A38C-36F247BE0EA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09F496F-DB3D-4476-992D-8F9A65F795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13" Type="http://schemas.openxmlformats.org/officeDocument/2006/relationships/slide" Target="slides/slide1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font" Target="fonts/SourceCodePro-regular.fntdata"/><Relationship Id="rId25" Type="http://schemas.openxmlformats.org/officeDocument/2006/relationships/font" Target="fonts/SourceCodePro-bold.fntdata"/><Relationship Id="rId26" Type="http://schemas.openxmlformats.org/officeDocument/2006/relationships/font" Target="fonts/SourceCodePro-italic.fntdata"/><Relationship Id="rId27" Type="http://schemas.openxmlformats.org/officeDocument/2006/relationships/font" Target="fonts/SourceCodePro-boldItalic.fntdata"/><Relationship Id="rId28" Type="http://schemas.openxmlformats.org/officeDocument/2006/relationships/font" Target="fonts/Oswald-regular.fntdata"/><Relationship Id="rId29" Type="http://schemas.openxmlformats.org/officeDocument/2006/relationships/font" Target="fonts/Oswa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411175" y="644300"/>
            <a:ext cx="8282400" cy="21090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6000"/>
              <a:buNone/>
              <a:defRPr sz="6000">
                <a:solidFill>
                  <a:schemeClr val="lt1"/>
                </a:solidFill>
              </a:defRPr>
            </a:lvl1pPr>
            <a:lvl2pPr lvl="1" algn="ctr">
              <a:spcBef>
                <a:spcPts val="0"/>
              </a:spcBef>
              <a:spcAft>
                <a:spcPts val="0"/>
              </a:spcAft>
              <a:buClr>
                <a:schemeClr val="lt1"/>
              </a:buClr>
              <a:buSzPts val="6000"/>
              <a:buNone/>
              <a:defRPr sz="6000">
                <a:solidFill>
                  <a:schemeClr val="lt1"/>
                </a:solidFill>
              </a:defRPr>
            </a:lvl2pPr>
            <a:lvl3pPr lvl="2" algn="ctr">
              <a:spcBef>
                <a:spcPts val="0"/>
              </a:spcBef>
              <a:spcAft>
                <a:spcPts val="0"/>
              </a:spcAft>
              <a:buClr>
                <a:schemeClr val="lt1"/>
              </a:buClr>
              <a:buSzPts val="6000"/>
              <a:buNone/>
              <a:defRPr sz="6000">
                <a:solidFill>
                  <a:schemeClr val="lt1"/>
                </a:solidFill>
              </a:defRPr>
            </a:lvl3pPr>
            <a:lvl4pPr lvl="3" algn="ctr">
              <a:spcBef>
                <a:spcPts val="0"/>
              </a:spcBef>
              <a:spcAft>
                <a:spcPts val="0"/>
              </a:spcAft>
              <a:buClr>
                <a:schemeClr val="lt1"/>
              </a:buClr>
              <a:buSzPts val="6000"/>
              <a:buNone/>
              <a:defRPr sz="6000">
                <a:solidFill>
                  <a:schemeClr val="lt1"/>
                </a:solidFill>
              </a:defRPr>
            </a:lvl4pPr>
            <a:lvl5pPr lvl="4" algn="ctr">
              <a:spcBef>
                <a:spcPts val="0"/>
              </a:spcBef>
              <a:spcAft>
                <a:spcPts val="0"/>
              </a:spcAft>
              <a:buClr>
                <a:schemeClr val="lt1"/>
              </a:buClr>
              <a:buSzPts val="6000"/>
              <a:buNone/>
              <a:defRPr sz="6000">
                <a:solidFill>
                  <a:schemeClr val="lt1"/>
                </a:solidFill>
              </a:defRPr>
            </a:lvl5pPr>
            <a:lvl6pPr lvl="5" algn="ctr">
              <a:spcBef>
                <a:spcPts val="0"/>
              </a:spcBef>
              <a:spcAft>
                <a:spcPts val="0"/>
              </a:spcAft>
              <a:buClr>
                <a:schemeClr val="lt1"/>
              </a:buClr>
              <a:buSzPts val="6000"/>
              <a:buNone/>
              <a:defRPr sz="6000">
                <a:solidFill>
                  <a:schemeClr val="lt1"/>
                </a:solidFill>
              </a:defRPr>
            </a:lvl6pPr>
            <a:lvl7pPr lvl="6" algn="ctr">
              <a:spcBef>
                <a:spcPts val="0"/>
              </a:spcBef>
              <a:spcAft>
                <a:spcPts val="0"/>
              </a:spcAft>
              <a:buClr>
                <a:schemeClr val="lt1"/>
              </a:buClr>
              <a:buSzPts val="6000"/>
              <a:buNone/>
              <a:defRPr sz="6000">
                <a:solidFill>
                  <a:schemeClr val="lt1"/>
                </a:solidFill>
              </a:defRPr>
            </a:lvl7pPr>
            <a:lvl8pPr lvl="7" algn="ctr">
              <a:spcBef>
                <a:spcPts val="0"/>
              </a:spcBef>
              <a:spcAft>
                <a:spcPts val="0"/>
              </a:spcAft>
              <a:buClr>
                <a:schemeClr val="lt1"/>
              </a:buClr>
              <a:buSzPts val="6000"/>
              <a:buNone/>
              <a:defRPr sz="6000">
                <a:solidFill>
                  <a:schemeClr val="lt1"/>
                </a:solidFill>
              </a:defRPr>
            </a:lvl8pPr>
            <a:lvl9pPr lvl="8" algn="ctr">
              <a:spcBef>
                <a:spcPts val="0"/>
              </a:spcBef>
              <a:spcAft>
                <a:spcPts val="0"/>
              </a:spcAft>
              <a:buClr>
                <a:schemeClr val="lt1"/>
              </a:buClr>
              <a:buSzPts val="6000"/>
              <a:buNone/>
              <a:defRPr sz="6000">
                <a:solidFill>
                  <a:schemeClr val="lt1"/>
                </a:solidFill>
              </a:defRPr>
            </a:lvl9pPr>
          </a:lstStyle>
          <a:p/>
        </p:txBody>
      </p:sp>
      <p:sp>
        <p:nvSpPr>
          <p:cNvPr id="13" name="Google Shape;13;p2"/>
          <p:cNvSpPr txBox="1"/>
          <p:nvPr>
            <p:ph idx="1" type="subTitle"/>
          </p:nvPr>
        </p:nvSpPr>
        <p:spPr>
          <a:xfrm>
            <a:off x="411175" y="3398250"/>
            <a:ext cx="8282400" cy="12606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5" name="Google Shape;15;p2"/>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lt1"/>
                </a:solidFill>
                <a:latin typeface="Source Code Pro"/>
                <a:ea typeface="Source Code Pro"/>
                <a:cs typeface="Source Code Pro"/>
                <a:sym typeface="Source Code Pro"/>
              </a:rPr>
              <a:t>The Complete Prompt Engineering for AI Bootcamp</a:t>
            </a:r>
            <a:endParaRPr sz="11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430800" y="1889700"/>
            <a:ext cx="8282400" cy="15165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Clr>
                <a:schemeClr val="lt1"/>
              </a:buClr>
              <a:buSzPts val="3600"/>
              <a:buNone/>
              <a:defRPr sz="3600">
                <a:solidFill>
                  <a:schemeClr val="lt1"/>
                </a:solidFill>
              </a:defRPr>
            </a:lvl2pPr>
            <a:lvl3pPr lvl="2" algn="ctr">
              <a:spcBef>
                <a:spcPts val="0"/>
              </a:spcBef>
              <a:spcAft>
                <a:spcPts val="0"/>
              </a:spcAft>
              <a:buClr>
                <a:schemeClr val="lt1"/>
              </a:buClr>
              <a:buSzPts val="3600"/>
              <a:buNone/>
              <a:defRPr sz="3600">
                <a:solidFill>
                  <a:schemeClr val="lt1"/>
                </a:solidFill>
              </a:defRPr>
            </a:lvl3pPr>
            <a:lvl4pPr lvl="3" algn="ctr">
              <a:spcBef>
                <a:spcPts val="0"/>
              </a:spcBef>
              <a:spcAft>
                <a:spcPts val="0"/>
              </a:spcAft>
              <a:buClr>
                <a:schemeClr val="lt1"/>
              </a:buClr>
              <a:buSzPts val="3600"/>
              <a:buNone/>
              <a:defRPr sz="3600">
                <a:solidFill>
                  <a:schemeClr val="lt1"/>
                </a:solidFill>
              </a:defRPr>
            </a:lvl4pPr>
            <a:lvl5pPr lvl="4" algn="ctr">
              <a:spcBef>
                <a:spcPts val="0"/>
              </a:spcBef>
              <a:spcAft>
                <a:spcPts val="0"/>
              </a:spcAft>
              <a:buClr>
                <a:schemeClr val="lt1"/>
              </a:buClr>
              <a:buSzPts val="3600"/>
              <a:buNone/>
              <a:defRPr sz="3600">
                <a:solidFill>
                  <a:schemeClr val="lt1"/>
                </a:solidFill>
              </a:defRPr>
            </a:lvl5pPr>
            <a:lvl6pPr lvl="5" algn="ctr">
              <a:spcBef>
                <a:spcPts val="0"/>
              </a:spcBef>
              <a:spcAft>
                <a:spcPts val="0"/>
              </a:spcAft>
              <a:buClr>
                <a:schemeClr val="lt1"/>
              </a:buClr>
              <a:buSzPts val="3600"/>
              <a:buNone/>
              <a:defRPr sz="3600">
                <a:solidFill>
                  <a:schemeClr val="lt1"/>
                </a:solidFill>
              </a:defRPr>
            </a:lvl6pPr>
            <a:lvl7pPr lvl="6" algn="ctr">
              <a:spcBef>
                <a:spcPts val="0"/>
              </a:spcBef>
              <a:spcAft>
                <a:spcPts val="0"/>
              </a:spcAft>
              <a:buClr>
                <a:schemeClr val="lt1"/>
              </a:buClr>
              <a:buSzPts val="3600"/>
              <a:buNone/>
              <a:defRPr sz="3600">
                <a:solidFill>
                  <a:schemeClr val="lt1"/>
                </a:solidFill>
              </a:defRPr>
            </a:lvl7pPr>
            <a:lvl8pPr lvl="7" algn="ctr">
              <a:spcBef>
                <a:spcPts val="0"/>
              </a:spcBef>
              <a:spcAft>
                <a:spcPts val="0"/>
              </a:spcAft>
              <a:buClr>
                <a:schemeClr val="lt1"/>
              </a:buClr>
              <a:buSzPts val="3600"/>
              <a:buNone/>
              <a:defRPr sz="3600">
                <a:solidFill>
                  <a:schemeClr val="lt1"/>
                </a:solidFill>
              </a:defRPr>
            </a:lvl8pPr>
            <a:lvl9pPr lvl="8" algn="ctr">
              <a:spcBef>
                <a:spcPts val="0"/>
              </a:spcBef>
              <a:spcAft>
                <a:spcPts val="0"/>
              </a:spcAft>
              <a:buClr>
                <a:schemeClr val="lt1"/>
              </a:buClr>
              <a:buSzPts val="3600"/>
              <a:buNone/>
              <a:defRPr sz="3600">
                <a:solidFill>
                  <a:schemeClr val="lt1"/>
                </a:solidFill>
              </a:defRPr>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3" name="Google Shape;23;p4"/>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4"/>
          <p:cNvSpPr txBox="1"/>
          <p:nvPr>
            <p:ph idx="1" type="body"/>
          </p:nvPr>
        </p:nvSpPr>
        <p:spPr>
          <a:xfrm>
            <a:off x="311700" y="1468825"/>
            <a:ext cx="8520600" cy="30999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29" name="Google Shape;29;p5"/>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5"/>
          <p:cNvSpPr txBox="1"/>
          <p:nvPr>
            <p:ph idx="1" type="body"/>
          </p:nvPr>
        </p:nvSpPr>
        <p:spPr>
          <a:xfrm>
            <a:off x="3117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468825"/>
            <a:ext cx="3999900" cy="30999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4" name="Shape 34"/>
        <p:cNvGrpSpPr/>
        <p:nvPr/>
      </p:nvGrpSpPr>
      <p:grpSpPr>
        <a:xfrm>
          <a:off x="0" y="0"/>
          <a:ext cx="0" cy="0"/>
          <a:chOff x="0" y="0"/>
          <a:chExt cx="0" cy="0"/>
        </a:xfrm>
      </p:grpSpPr>
      <p:sp>
        <p:nvSpPr>
          <p:cNvPr id="35" name="Google Shape;35;p6"/>
          <p:cNvSpPr txBox="1"/>
          <p:nvPr>
            <p:ph type="title"/>
          </p:nvPr>
        </p:nvSpPr>
        <p:spPr>
          <a:xfrm>
            <a:off x="311700" y="372500"/>
            <a:ext cx="8520600" cy="7335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cxnSp>
        <p:nvCxnSpPr>
          <p:cNvPr id="39" name="Google Shape;39;p7"/>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40" name="Google Shape;40;p7"/>
          <p:cNvSpPr txBox="1"/>
          <p:nvPr>
            <p:ph type="title"/>
          </p:nvPr>
        </p:nvSpPr>
        <p:spPr>
          <a:xfrm>
            <a:off x="311700" y="6318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1" name="Google Shape;41;p7"/>
          <p:cNvSpPr txBox="1"/>
          <p:nvPr>
            <p:ph idx="1" type="body"/>
          </p:nvPr>
        </p:nvSpPr>
        <p:spPr>
          <a:xfrm>
            <a:off x="311700" y="1618204"/>
            <a:ext cx="2808000" cy="2950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2" name="Google Shape;4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sp>
        <p:nvSpPr>
          <p:cNvPr id="45" name="Google Shape;45;p8"/>
          <p:cNvSpPr txBox="1"/>
          <p:nvPr>
            <p:ph type="title"/>
          </p:nvPr>
        </p:nvSpPr>
        <p:spPr>
          <a:xfrm>
            <a:off x="490250" y="528900"/>
            <a:ext cx="5678100" cy="40857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None/>
              <a:defRPr sz="5400">
                <a:solidFill>
                  <a:schemeClr val="lt1"/>
                </a:solidFill>
              </a:defRPr>
            </a:lvl1pPr>
            <a:lvl2pPr lvl="1">
              <a:spcBef>
                <a:spcPts val="0"/>
              </a:spcBef>
              <a:spcAft>
                <a:spcPts val="0"/>
              </a:spcAft>
              <a:buClr>
                <a:schemeClr val="lt1"/>
              </a:buClr>
              <a:buSzPts val="5400"/>
              <a:buNone/>
              <a:defRPr sz="5400">
                <a:solidFill>
                  <a:schemeClr val="lt1"/>
                </a:solidFill>
              </a:defRPr>
            </a:lvl2pPr>
            <a:lvl3pPr lvl="2">
              <a:spcBef>
                <a:spcPts val="0"/>
              </a:spcBef>
              <a:spcAft>
                <a:spcPts val="0"/>
              </a:spcAft>
              <a:buClr>
                <a:schemeClr val="lt1"/>
              </a:buClr>
              <a:buSzPts val="5400"/>
              <a:buNone/>
              <a:defRPr sz="5400">
                <a:solidFill>
                  <a:schemeClr val="lt1"/>
                </a:solidFill>
              </a:defRPr>
            </a:lvl3pPr>
            <a:lvl4pPr lvl="3">
              <a:spcBef>
                <a:spcPts val="0"/>
              </a:spcBef>
              <a:spcAft>
                <a:spcPts val="0"/>
              </a:spcAft>
              <a:buClr>
                <a:schemeClr val="lt1"/>
              </a:buClr>
              <a:buSzPts val="5400"/>
              <a:buNone/>
              <a:defRPr sz="5400">
                <a:solidFill>
                  <a:schemeClr val="lt1"/>
                </a:solidFill>
              </a:defRPr>
            </a:lvl4pPr>
            <a:lvl5pPr lvl="4">
              <a:spcBef>
                <a:spcPts val="0"/>
              </a:spcBef>
              <a:spcAft>
                <a:spcPts val="0"/>
              </a:spcAft>
              <a:buClr>
                <a:schemeClr val="lt1"/>
              </a:buClr>
              <a:buSzPts val="5400"/>
              <a:buNone/>
              <a:defRPr sz="5400">
                <a:solidFill>
                  <a:schemeClr val="lt1"/>
                </a:solidFill>
              </a:defRPr>
            </a:lvl5pPr>
            <a:lvl6pPr lvl="5">
              <a:spcBef>
                <a:spcPts val="0"/>
              </a:spcBef>
              <a:spcAft>
                <a:spcPts val="0"/>
              </a:spcAft>
              <a:buClr>
                <a:schemeClr val="lt1"/>
              </a:buClr>
              <a:buSzPts val="5400"/>
              <a:buNone/>
              <a:defRPr sz="5400">
                <a:solidFill>
                  <a:schemeClr val="lt1"/>
                </a:solidFill>
              </a:defRPr>
            </a:lvl6pPr>
            <a:lvl7pPr lvl="6">
              <a:spcBef>
                <a:spcPts val="0"/>
              </a:spcBef>
              <a:spcAft>
                <a:spcPts val="0"/>
              </a:spcAft>
              <a:buClr>
                <a:schemeClr val="lt1"/>
              </a:buClr>
              <a:buSzPts val="5400"/>
              <a:buNone/>
              <a:defRPr sz="5400">
                <a:solidFill>
                  <a:schemeClr val="lt1"/>
                </a:solidFill>
              </a:defRPr>
            </a:lvl7pPr>
            <a:lvl8pPr lvl="7">
              <a:spcBef>
                <a:spcPts val="0"/>
              </a:spcBef>
              <a:spcAft>
                <a:spcPts val="0"/>
              </a:spcAft>
              <a:buClr>
                <a:schemeClr val="lt1"/>
              </a:buClr>
              <a:buSzPts val="5400"/>
              <a:buNone/>
              <a:defRPr sz="5400">
                <a:solidFill>
                  <a:schemeClr val="lt1"/>
                </a:solidFill>
              </a:defRPr>
            </a:lvl8pPr>
            <a:lvl9pPr lvl="8">
              <a:spcBef>
                <a:spcPts val="0"/>
              </a:spcBef>
              <a:spcAft>
                <a:spcPts val="0"/>
              </a:spcAft>
              <a:buClr>
                <a:schemeClr val="lt1"/>
              </a:buClr>
              <a:buSzPts val="5400"/>
              <a:buNone/>
              <a:defRPr sz="5400">
                <a:solidFill>
                  <a:schemeClr val="lt1"/>
                </a:solidFill>
              </a:defRPr>
            </a:lvl9pPr>
          </a:lstStyle>
          <a:p/>
        </p:txBody>
      </p:sp>
      <p:sp>
        <p:nvSpPr>
          <p:cNvPr id="46" name="Google Shape;4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lt1"/>
                </a:solidFill>
                <a:latin typeface="Source Code Pro"/>
                <a:ea typeface="Source Code Pro"/>
                <a:cs typeface="Source Code Pro"/>
                <a:sym typeface="Source Code Pro"/>
              </a:rPr>
              <a:t>The Complete Prompt Engineering for AI Bootcamp</a:t>
            </a:r>
            <a:endParaRPr sz="900">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48" name="Shape 48"/>
        <p:cNvGrpSpPr/>
        <p:nvPr/>
      </p:nvGrpSpPr>
      <p:grpSpPr>
        <a:xfrm>
          <a:off x="0" y="0"/>
          <a:ext cx="0" cy="0"/>
          <a:chOff x="0" y="0"/>
          <a:chExt cx="0" cy="0"/>
        </a:xfrm>
      </p:grpSpPr>
      <p:sp>
        <p:nvSpPr>
          <p:cNvPr id="49" name="Google Shape;49;p9"/>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51" name="Google Shape;51;p9"/>
          <p:cNvSpPr txBox="1"/>
          <p:nvPr>
            <p:ph type="title"/>
          </p:nvPr>
        </p:nvSpPr>
        <p:spPr>
          <a:xfrm>
            <a:off x="265500" y="1078750"/>
            <a:ext cx="4045200" cy="1789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4600"/>
              <a:buNone/>
              <a:defRPr sz="4600">
                <a:solidFill>
                  <a:schemeClr val="lt1"/>
                </a:solidFill>
              </a:defRPr>
            </a:lvl1pPr>
            <a:lvl2pPr lvl="1" algn="ctr">
              <a:spcBef>
                <a:spcPts val="0"/>
              </a:spcBef>
              <a:spcAft>
                <a:spcPts val="0"/>
              </a:spcAft>
              <a:buClr>
                <a:schemeClr val="lt1"/>
              </a:buClr>
              <a:buSzPts val="4600"/>
              <a:buNone/>
              <a:defRPr sz="4600">
                <a:solidFill>
                  <a:schemeClr val="lt1"/>
                </a:solidFill>
              </a:defRPr>
            </a:lvl2pPr>
            <a:lvl3pPr lvl="2" algn="ctr">
              <a:spcBef>
                <a:spcPts val="0"/>
              </a:spcBef>
              <a:spcAft>
                <a:spcPts val="0"/>
              </a:spcAft>
              <a:buClr>
                <a:schemeClr val="lt1"/>
              </a:buClr>
              <a:buSzPts val="4600"/>
              <a:buNone/>
              <a:defRPr sz="4600">
                <a:solidFill>
                  <a:schemeClr val="lt1"/>
                </a:solidFill>
              </a:defRPr>
            </a:lvl3pPr>
            <a:lvl4pPr lvl="3" algn="ctr">
              <a:spcBef>
                <a:spcPts val="0"/>
              </a:spcBef>
              <a:spcAft>
                <a:spcPts val="0"/>
              </a:spcAft>
              <a:buClr>
                <a:schemeClr val="lt1"/>
              </a:buClr>
              <a:buSzPts val="4600"/>
              <a:buNone/>
              <a:defRPr sz="4600">
                <a:solidFill>
                  <a:schemeClr val="lt1"/>
                </a:solidFill>
              </a:defRPr>
            </a:lvl4pPr>
            <a:lvl5pPr lvl="4" algn="ctr">
              <a:spcBef>
                <a:spcPts val="0"/>
              </a:spcBef>
              <a:spcAft>
                <a:spcPts val="0"/>
              </a:spcAft>
              <a:buClr>
                <a:schemeClr val="lt1"/>
              </a:buClr>
              <a:buSzPts val="4600"/>
              <a:buNone/>
              <a:defRPr sz="4600">
                <a:solidFill>
                  <a:schemeClr val="lt1"/>
                </a:solidFill>
              </a:defRPr>
            </a:lvl5pPr>
            <a:lvl6pPr lvl="5" algn="ctr">
              <a:spcBef>
                <a:spcPts val="0"/>
              </a:spcBef>
              <a:spcAft>
                <a:spcPts val="0"/>
              </a:spcAft>
              <a:buClr>
                <a:schemeClr val="lt1"/>
              </a:buClr>
              <a:buSzPts val="4600"/>
              <a:buNone/>
              <a:defRPr sz="4600">
                <a:solidFill>
                  <a:schemeClr val="lt1"/>
                </a:solidFill>
              </a:defRPr>
            </a:lvl6pPr>
            <a:lvl7pPr lvl="6" algn="ctr">
              <a:spcBef>
                <a:spcPts val="0"/>
              </a:spcBef>
              <a:spcAft>
                <a:spcPts val="0"/>
              </a:spcAft>
              <a:buClr>
                <a:schemeClr val="lt1"/>
              </a:buClr>
              <a:buSzPts val="4600"/>
              <a:buNone/>
              <a:defRPr sz="4600">
                <a:solidFill>
                  <a:schemeClr val="lt1"/>
                </a:solidFill>
              </a:defRPr>
            </a:lvl7pPr>
            <a:lvl8pPr lvl="7" algn="ctr">
              <a:spcBef>
                <a:spcPts val="0"/>
              </a:spcBef>
              <a:spcAft>
                <a:spcPts val="0"/>
              </a:spcAft>
              <a:buClr>
                <a:schemeClr val="lt1"/>
              </a:buClr>
              <a:buSzPts val="4600"/>
              <a:buNone/>
              <a:defRPr sz="4600">
                <a:solidFill>
                  <a:schemeClr val="lt1"/>
                </a:solidFill>
              </a:defRPr>
            </a:lvl8pPr>
            <a:lvl9pPr lvl="8" algn="ctr">
              <a:spcBef>
                <a:spcPts val="0"/>
              </a:spcBef>
              <a:spcAft>
                <a:spcPts val="0"/>
              </a:spcAft>
              <a:buClr>
                <a:schemeClr val="lt1"/>
              </a:buClr>
              <a:buSzPts val="4600"/>
              <a:buNone/>
              <a:defRPr sz="4600">
                <a:solidFill>
                  <a:schemeClr val="lt1"/>
                </a:solidFill>
              </a:defRPr>
            </a:lvl9pPr>
          </a:lstStyle>
          <a:p/>
        </p:txBody>
      </p:sp>
      <p:sp>
        <p:nvSpPr>
          <p:cNvPr id="52" name="Google Shape;5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54" name="Google Shape;5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6" name="Shape 56"/>
        <p:cNvGrpSpPr/>
        <p:nvPr/>
      </p:nvGrpSpPr>
      <p:grpSpPr>
        <a:xfrm>
          <a:off x="0" y="0"/>
          <a:ext cx="0" cy="0"/>
          <a:chOff x="0" y="0"/>
          <a:chExt cx="0" cy="0"/>
        </a:xfrm>
      </p:grpSpPr>
      <p:sp>
        <p:nvSpPr>
          <p:cNvPr id="57" name="Google Shape;57;p10"/>
          <p:cNvSpPr txBox="1"/>
          <p:nvPr>
            <p:ph idx="1" type="body"/>
          </p:nvPr>
        </p:nvSpPr>
        <p:spPr>
          <a:xfrm>
            <a:off x="311700" y="406472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58" name="Google Shape;58;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62" name="Google Shape;62;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spcBef>
                <a:spcPts val="0"/>
              </a:spcBef>
              <a:spcAft>
                <a:spcPts val="0"/>
              </a:spcAft>
              <a:buSzPts val="12000"/>
              <a:buNone/>
              <a:defRPr sz="12000"/>
            </a:lvl1pPr>
            <a:lvl2pPr lvl="1">
              <a:spcBef>
                <a:spcPts val="0"/>
              </a:spcBef>
              <a:spcAft>
                <a:spcPts val="0"/>
              </a:spcAft>
              <a:buSzPts val="12000"/>
              <a:buNone/>
              <a:defRPr sz="12000"/>
            </a:lvl2pPr>
            <a:lvl3pPr lvl="2">
              <a:spcBef>
                <a:spcPts val="0"/>
              </a:spcBef>
              <a:spcAft>
                <a:spcPts val="0"/>
              </a:spcAft>
              <a:buSzPts val="12000"/>
              <a:buNone/>
              <a:defRPr sz="12000"/>
            </a:lvl3pPr>
            <a:lvl4pPr lvl="3">
              <a:spcBef>
                <a:spcPts val="0"/>
              </a:spcBef>
              <a:spcAft>
                <a:spcPts val="0"/>
              </a:spcAft>
              <a:buSzPts val="12000"/>
              <a:buNone/>
              <a:defRPr sz="12000"/>
            </a:lvl4pPr>
            <a:lvl5pPr lvl="4">
              <a:spcBef>
                <a:spcPts val="0"/>
              </a:spcBef>
              <a:spcAft>
                <a:spcPts val="0"/>
              </a:spcAft>
              <a:buSzPts val="12000"/>
              <a:buNone/>
              <a:defRPr sz="12000"/>
            </a:lvl5pPr>
            <a:lvl6pPr lvl="5">
              <a:spcBef>
                <a:spcPts val="0"/>
              </a:spcBef>
              <a:spcAft>
                <a:spcPts val="0"/>
              </a:spcAft>
              <a:buSzPts val="12000"/>
              <a:buNone/>
              <a:defRPr sz="12000"/>
            </a:lvl6pPr>
            <a:lvl7pPr lvl="6">
              <a:spcBef>
                <a:spcPts val="0"/>
              </a:spcBef>
              <a:spcAft>
                <a:spcPts val="0"/>
              </a:spcAft>
              <a:buSzPts val="12000"/>
              <a:buNone/>
              <a:defRPr sz="12000"/>
            </a:lvl7pPr>
            <a:lvl8pPr lvl="7">
              <a:spcBef>
                <a:spcPts val="0"/>
              </a:spcBef>
              <a:spcAft>
                <a:spcPts val="0"/>
              </a:spcAft>
              <a:buSzPts val="12000"/>
              <a:buNone/>
              <a:defRPr sz="12000"/>
            </a:lvl8pPr>
            <a:lvl9pPr lvl="8">
              <a:spcBef>
                <a:spcPts val="0"/>
              </a:spcBef>
              <a:spcAft>
                <a:spcPts val="0"/>
              </a:spcAft>
              <a:buSzPts val="12000"/>
              <a:buNone/>
              <a:defRPr sz="12000"/>
            </a:lvl9pPr>
          </a:lstStyle>
          <a:p>
            <a:r>
              <a:t>xx%</a:t>
            </a:r>
          </a:p>
        </p:txBody>
      </p:sp>
      <p:sp>
        <p:nvSpPr>
          <p:cNvPr id="63" name="Google Shape;63;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900">
                <a:solidFill>
                  <a:schemeClr val="dk2"/>
                </a:solidFill>
                <a:latin typeface="Source Code Pro"/>
                <a:ea typeface="Source Code Pro"/>
                <a:cs typeface="Source Code Pro"/>
                <a:sym typeface="Source Code Pro"/>
              </a:rPr>
              <a:t>The Complete Prompt Engineering for AI Bootcamp</a:t>
            </a:r>
            <a:endParaRPr sz="900">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3" name="Shape 73"/>
        <p:cNvGrpSpPr/>
        <p:nvPr/>
      </p:nvGrpSpPr>
      <p:grpSpPr>
        <a:xfrm>
          <a:off x="0" y="0"/>
          <a:ext cx="0" cy="0"/>
          <a:chOff x="0" y="0"/>
          <a:chExt cx="0" cy="0"/>
        </a:xfrm>
      </p:grpSpPr>
      <p:sp>
        <p:nvSpPr>
          <p:cNvPr id="74" name="Google Shape;74;p14"/>
          <p:cNvSpPr/>
          <p:nvPr/>
        </p:nvSpPr>
        <p:spPr>
          <a:xfrm rot="10800000">
            <a:off x="4226100" y="2933550"/>
            <a:ext cx="691800" cy="388500"/>
          </a:xfrm>
          <a:prstGeom prst="triangle">
            <a:avLst>
              <a:gd fmla="val 50000" name="adj"/>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14"/>
          <p:cNvSpPr/>
          <p:nvPr/>
        </p:nvSpPr>
        <p:spPr>
          <a:xfrm>
            <a:off x="-25" y="0"/>
            <a:ext cx="9144000" cy="31242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4"/>
          <p:cNvSpPr txBox="1"/>
          <p:nvPr>
            <p:ph type="ctrTitle"/>
          </p:nvPr>
        </p:nvSpPr>
        <p:spPr>
          <a:xfrm>
            <a:off x="411175" y="644300"/>
            <a:ext cx="8282400" cy="21090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6000"/>
              <a:buNone/>
              <a:defRPr sz="6000">
                <a:solidFill>
                  <a:schemeClr val="lt1"/>
                </a:solidFill>
              </a:defRPr>
            </a:lvl1pPr>
            <a:lvl2pPr lvl="1" algn="ctr">
              <a:lnSpc>
                <a:spcPct val="100000"/>
              </a:lnSpc>
              <a:spcBef>
                <a:spcPts val="0"/>
              </a:spcBef>
              <a:spcAft>
                <a:spcPts val="0"/>
              </a:spcAft>
              <a:buClr>
                <a:schemeClr val="lt1"/>
              </a:buClr>
              <a:buSzPts val="6000"/>
              <a:buNone/>
              <a:defRPr sz="6000">
                <a:solidFill>
                  <a:schemeClr val="lt1"/>
                </a:solidFill>
              </a:defRPr>
            </a:lvl2pPr>
            <a:lvl3pPr lvl="2" algn="ctr">
              <a:lnSpc>
                <a:spcPct val="100000"/>
              </a:lnSpc>
              <a:spcBef>
                <a:spcPts val="0"/>
              </a:spcBef>
              <a:spcAft>
                <a:spcPts val="0"/>
              </a:spcAft>
              <a:buClr>
                <a:schemeClr val="lt1"/>
              </a:buClr>
              <a:buSzPts val="6000"/>
              <a:buNone/>
              <a:defRPr sz="6000">
                <a:solidFill>
                  <a:schemeClr val="lt1"/>
                </a:solidFill>
              </a:defRPr>
            </a:lvl3pPr>
            <a:lvl4pPr lvl="3" algn="ctr">
              <a:lnSpc>
                <a:spcPct val="100000"/>
              </a:lnSpc>
              <a:spcBef>
                <a:spcPts val="0"/>
              </a:spcBef>
              <a:spcAft>
                <a:spcPts val="0"/>
              </a:spcAft>
              <a:buClr>
                <a:schemeClr val="lt1"/>
              </a:buClr>
              <a:buSzPts val="6000"/>
              <a:buNone/>
              <a:defRPr sz="6000">
                <a:solidFill>
                  <a:schemeClr val="lt1"/>
                </a:solidFill>
              </a:defRPr>
            </a:lvl4pPr>
            <a:lvl5pPr lvl="4" algn="ctr">
              <a:lnSpc>
                <a:spcPct val="100000"/>
              </a:lnSpc>
              <a:spcBef>
                <a:spcPts val="0"/>
              </a:spcBef>
              <a:spcAft>
                <a:spcPts val="0"/>
              </a:spcAft>
              <a:buClr>
                <a:schemeClr val="lt1"/>
              </a:buClr>
              <a:buSzPts val="6000"/>
              <a:buNone/>
              <a:defRPr sz="6000">
                <a:solidFill>
                  <a:schemeClr val="lt1"/>
                </a:solidFill>
              </a:defRPr>
            </a:lvl5pPr>
            <a:lvl6pPr lvl="5" algn="ctr">
              <a:lnSpc>
                <a:spcPct val="100000"/>
              </a:lnSpc>
              <a:spcBef>
                <a:spcPts val="0"/>
              </a:spcBef>
              <a:spcAft>
                <a:spcPts val="0"/>
              </a:spcAft>
              <a:buClr>
                <a:schemeClr val="lt1"/>
              </a:buClr>
              <a:buSzPts val="6000"/>
              <a:buNone/>
              <a:defRPr sz="6000">
                <a:solidFill>
                  <a:schemeClr val="lt1"/>
                </a:solidFill>
              </a:defRPr>
            </a:lvl6pPr>
            <a:lvl7pPr lvl="6" algn="ctr">
              <a:lnSpc>
                <a:spcPct val="100000"/>
              </a:lnSpc>
              <a:spcBef>
                <a:spcPts val="0"/>
              </a:spcBef>
              <a:spcAft>
                <a:spcPts val="0"/>
              </a:spcAft>
              <a:buClr>
                <a:schemeClr val="lt1"/>
              </a:buClr>
              <a:buSzPts val="6000"/>
              <a:buNone/>
              <a:defRPr sz="6000">
                <a:solidFill>
                  <a:schemeClr val="lt1"/>
                </a:solidFill>
              </a:defRPr>
            </a:lvl7pPr>
            <a:lvl8pPr lvl="7" algn="ctr">
              <a:lnSpc>
                <a:spcPct val="100000"/>
              </a:lnSpc>
              <a:spcBef>
                <a:spcPts val="0"/>
              </a:spcBef>
              <a:spcAft>
                <a:spcPts val="0"/>
              </a:spcAft>
              <a:buClr>
                <a:schemeClr val="lt1"/>
              </a:buClr>
              <a:buSzPts val="6000"/>
              <a:buNone/>
              <a:defRPr sz="6000">
                <a:solidFill>
                  <a:schemeClr val="lt1"/>
                </a:solidFill>
              </a:defRPr>
            </a:lvl8pPr>
            <a:lvl9pPr lvl="8" algn="ctr">
              <a:lnSpc>
                <a:spcPct val="100000"/>
              </a:lnSpc>
              <a:spcBef>
                <a:spcPts val="0"/>
              </a:spcBef>
              <a:spcAft>
                <a:spcPts val="0"/>
              </a:spcAft>
              <a:buClr>
                <a:schemeClr val="lt1"/>
              </a:buClr>
              <a:buSzPts val="6000"/>
              <a:buNone/>
              <a:defRPr sz="6000">
                <a:solidFill>
                  <a:schemeClr val="lt1"/>
                </a:solidFill>
              </a:defRPr>
            </a:lvl9pPr>
          </a:lstStyle>
          <a:p/>
        </p:txBody>
      </p:sp>
      <p:sp>
        <p:nvSpPr>
          <p:cNvPr id="77" name="Google Shape;77;p14"/>
          <p:cNvSpPr txBox="1"/>
          <p:nvPr>
            <p:ph idx="1" type="subTitle"/>
          </p:nvPr>
        </p:nvSpPr>
        <p:spPr>
          <a:xfrm>
            <a:off x="411175" y="3398250"/>
            <a:ext cx="8282400" cy="1260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Font typeface="Oswald"/>
              <a:buNone/>
              <a:defRPr sz="3600">
                <a:latin typeface="Oswald"/>
                <a:ea typeface="Oswald"/>
                <a:cs typeface="Oswald"/>
                <a:sym typeface="Oswald"/>
              </a:defRPr>
            </a:lvl1pPr>
            <a:lvl2pPr lvl="1" algn="ctr">
              <a:lnSpc>
                <a:spcPct val="100000"/>
              </a:lnSpc>
              <a:spcBef>
                <a:spcPts val="0"/>
              </a:spcBef>
              <a:spcAft>
                <a:spcPts val="0"/>
              </a:spcAft>
              <a:buSzPts val="3600"/>
              <a:buFont typeface="Oswald"/>
              <a:buNone/>
              <a:defRPr sz="3600">
                <a:latin typeface="Oswald"/>
                <a:ea typeface="Oswald"/>
                <a:cs typeface="Oswald"/>
                <a:sym typeface="Oswald"/>
              </a:defRPr>
            </a:lvl2pPr>
            <a:lvl3pPr lvl="2" algn="ctr">
              <a:lnSpc>
                <a:spcPct val="100000"/>
              </a:lnSpc>
              <a:spcBef>
                <a:spcPts val="0"/>
              </a:spcBef>
              <a:spcAft>
                <a:spcPts val="0"/>
              </a:spcAft>
              <a:buSzPts val="3600"/>
              <a:buFont typeface="Oswald"/>
              <a:buNone/>
              <a:defRPr sz="3600">
                <a:latin typeface="Oswald"/>
                <a:ea typeface="Oswald"/>
                <a:cs typeface="Oswald"/>
                <a:sym typeface="Oswald"/>
              </a:defRPr>
            </a:lvl3pPr>
            <a:lvl4pPr lvl="3" algn="ctr">
              <a:lnSpc>
                <a:spcPct val="100000"/>
              </a:lnSpc>
              <a:spcBef>
                <a:spcPts val="0"/>
              </a:spcBef>
              <a:spcAft>
                <a:spcPts val="0"/>
              </a:spcAft>
              <a:buSzPts val="3600"/>
              <a:buFont typeface="Oswald"/>
              <a:buNone/>
              <a:defRPr sz="3600">
                <a:latin typeface="Oswald"/>
                <a:ea typeface="Oswald"/>
                <a:cs typeface="Oswald"/>
                <a:sym typeface="Oswald"/>
              </a:defRPr>
            </a:lvl4pPr>
            <a:lvl5pPr lvl="4" algn="ctr">
              <a:lnSpc>
                <a:spcPct val="100000"/>
              </a:lnSpc>
              <a:spcBef>
                <a:spcPts val="0"/>
              </a:spcBef>
              <a:spcAft>
                <a:spcPts val="0"/>
              </a:spcAft>
              <a:buSzPts val="3600"/>
              <a:buFont typeface="Oswald"/>
              <a:buNone/>
              <a:defRPr sz="3600">
                <a:latin typeface="Oswald"/>
                <a:ea typeface="Oswald"/>
                <a:cs typeface="Oswald"/>
                <a:sym typeface="Oswald"/>
              </a:defRPr>
            </a:lvl5pPr>
            <a:lvl6pPr lvl="5" algn="ctr">
              <a:lnSpc>
                <a:spcPct val="100000"/>
              </a:lnSpc>
              <a:spcBef>
                <a:spcPts val="0"/>
              </a:spcBef>
              <a:spcAft>
                <a:spcPts val="0"/>
              </a:spcAft>
              <a:buSzPts val="3600"/>
              <a:buFont typeface="Oswald"/>
              <a:buNone/>
              <a:defRPr sz="3600">
                <a:latin typeface="Oswald"/>
                <a:ea typeface="Oswald"/>
                <a:cs typeface="Oswald"/>
                <a:sym typeface="Oswald"/>
              </a:defRPr>
            </a:lvl6pPr>
            <a:lvl7pPr lvl="6" algn="ctr">
              <a:lnSpc>
                <a:spcPct val="100000"/>
              </a:lnSpc>
              <a:spcBef>
                <a:spcPts val="0"/>
              </a:spcBef>
              <a:spcAft>
                <a:spcPts val="0"/>
              </a:spcAft>
              <a:buSzPts val="3600"/>
              <a:buFont typeface="Oswald"/>
              <a:buNone/>
              <a:defRPr sz="3600">
                <a:latin typeface="Oswald"/>
                <a:ea typeface="Oswald"/>
                <a:cs typeface="Oswald"/>
                <a:sym typeface="Oswald"/>
              </a:defRPr>
            </a:lvl7pPr>
            <a:lvl8pPr lvl="7" algn="ctr">
              <a:lnSpc>
                <a:spcPct val="100000"/>
              </a:lnSpc>
              <a:spcBef>
                <a:spcPts val="0"/>
              </a:spcBef>
              <a:spcAft>
                <a:spcPts val="0"/>
              </a:spcAft>
              <a:buSzPts val="3600"/>
              <a:buFont typeface="Oswald"/>
              <a:buNone/>
              <a:defRPr sz="3600">
                <a:latin typeface="Oswald"/>
                <a:ea typeface="Oswald"/>
                <a:cs typeface="Oswald"/>
                <a:sym typeface="Oswald"/>
              </a:defRPr>
            </a:lvl8pPr>
            <a:lvl9pPr lvl="8" algn="ctr">
              <a:lnSpc>
                <a:spcPct val="100000"/>
              </a:lnSpc>
              <a:spcBef>
                <a:spcPts val="0"/>
              </a:spcBef>
              <a:spcAft>
                <a:spcPts val="0"/>
              </a:spcAft>
              <a:buSzPts val="3600"/>
              <a:buFont typeface="Oswald"/>
              <a:buNone/>
              <a:defRPr sz="3600">
                <a:latin typeface="Oswald"/>
                <a:ea typeface="Oswald"/>
                <a:cs typeface="Oswald"/>
                <a:sym typeface="Oswald"/>
              </a:defRPr>
            </a:lvl9pPr>
          </a:lstStyle>
          <a:p/>
        </p:txBody>
      </p:sp>
      <p:sp>
        <p:nvSpPr>
          <p:cNvPr id="78" name="Google Shape;78;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4"/>
          <p:cNvSpPr txBox="1"/>
          <p:nvPr/>
        </p:nvSpPr>
        <p:spPr>
          <a:xfrm>
            <a:off x="411175" y="79900"/>
            <a:ext cx="8282400" cy="380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chemeClr val="lt1"/>
                </a:solidFill>
                <a:latin typeface="Source Code Pro"/>
                <a:ea typeface="Source Code Pro"/>
                <a:cs typeface="Source Code Pro"/>
                <a:sym typeface="Source Code Pro"/>
              </a:rPr>
              <a:t>The Complete Prompt Engineering for AI Bootcamp</a:t>
            </a:r>
            <a:endParaRPr b="0" i="0" sz="11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cxnSp>
        <p:nvCxnSpPr>
          <p:cNvPr id="81" name="Google Shape;81;p15"/>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82" name="Google Shape;82;p15"/>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3" name="Google Shape;83;p15"/>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4" name="Google Shape;8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5"/>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6" name="Shape 86"/>
        <p:cNvGrpSpPr/>
        <p:nvPr/>
      </p:nvGrpSpPr>
      <p:grpSpPr>
        <a:xfrm>
          <a:off x="0" y="0"/>
          <a:ext cx="0" cy="0"/>
          <a:chOff x="0" y="0"/>
          <a:chExt cx="0" cy="0"/>
        </a:xfrm>
      </p:grpSpPr>
      <p:sp>
        <p:nvSpPr>
          <p:cNvPr id="87" name="Google Shape;87;p16"/>
          <p:cNvSpPr/>
          <p:nvPr/>
        </p:nvSpPr>
        <p:spPr>
          <a:xfrm>
            <a:off x="0" y="1567350"/>
            <a:ext cx="9144000" cy="2008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16"/>
          <p:cNvSpPr txBox="1"/>
          <p:nvPr>
            <p:ph type="title"/>
          </p:nvPr>
        </p:nvSpPr>
        <p:spPr>
          <a:xfrm>
            <a:off x="430800" y="1889700"/>
            <a:ext cx="8282400" cy="15165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sp>
        <p:nvSpPr>
          <p:cNvPr id="89" name="Google Shape;89;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6"/>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cxnSp>
        <p:nvCxnSpPr>
          <p:cNvPr id="92" name="Google Shape;92;p17"/>
          <p:cNvCxnSpPr/>
          <p:nvPr/>
        </p:nvCxnSpPr>
        <p:spPr>
          <a:xfrm>
            <a:off x="429200" y="1275577"/>
            <a:ext cx="614100" cy="0"/>
          </a:xfrm>
          <a:prstGeom prst="straightConnector1">
            <a:avLst/>
          </a:prstGeom>
          <a:noFill/>
          <a:ln cap="flat" cmpd="sng" w="19050">
            <a:solidFill>
              <a:schemeClr val="dk2"/>
            </a:solidFill>
            <a:prstDash val="lgDash"/>
            <a:round/>
            <a:headEnd len="sm" w="sm" type="none"/>
            <a:tailEnd len="sm" w="sm" type="none"/>
          </a:ln>
        </p:spPr>
      </p:cxnSp>
      <p:sp>
        <p:nvSpPr>
          <p:cNvPr id="93" name="Google Shape;93;p17"/>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4" name="Google Shape;94;p17"/>
          <p:cNvSpPr txBox="1"/>
          <p:nvPr>
            <p:ph idx="1" type="body"/>
          </p:nvPr>
        </p:nvSpPr>
        <p:spPr>
          <a:xfrm>
            <a:off x="3117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5" name="Google Shape;95;p17"/>
          <p:cNvSpPr txBox="1"/>
          <p:nvPr>
            <p:ph idx="2" type="body"/>
          </p:nvPr>
        </p:nvSpPr>
        <p:spPr>
          <a:xfrm>
            <a:off x="4832400" y="1468825"/>
            <a:ext cx="3999900" cy="3099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6" name="Google Shape;9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7"/>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8" name="Shape 98"/>
        <p:cNvGrpSpPr/>
        <p:nvPr/>
      </p:nvGrpSpPr>
      <p:grpSpPr>
        <a:xfrm>
          <a:off x="0" y="0"/>
          <a:ext cx="0" cy="0"/>
          <a:chOff x="0" y="0"/>
          <a:chExt cx="0" cy="0"/>
        </a:xfrm>
      </p:grpSpPr>
      <p:sp>
        <p:nvSpPr>
          <p:cNvPr id="99" name="Google Shape;99;p18"/>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0" name="Google Shape;100;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1" name="Google Shape;101;p18"/>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2" name="Shape 102"/>
        <p:cNvGrpSpPr/>
        <p:nvPr/>
      </p:nvGrpSpPr>
      <p:grpSpPr>
        <a:xfrm>
          <a:off x="0" y="0"/>
          <a:ext cx="0" cy="0"/>
          <a:chOff x="0" y="0"/>
          <a:chExt cx="0" cy="0"/>
        </a:xfrm>
      </p:grpSpPr>
      <p:cxnSp>
        <p:nvCxnSpPr>
          <p:cNvPr id="103" name="Google Shape;103;p19"/>
          <p:cNvCxnSpPr/>
          <p:nvPr/>
        </p:nvCxnSpPr>
        <p:spPr>
          <a:xfrm>
            <a:off x="418675" y="1457787"/>
            <a:ext cx="614100" cy="0"/>
          </a:xfrm>
          <a:prstGeom prst="straightConnector1">
            <a:avLst/>
          </a:prstGeom>
          <a:noFill/>
          <a:ln cap="flat" cmpd="sng" w="19050">
            <a:solidFill>
              <a:schemeClr val="dk2"/>
            </a:solidFill>
            <a:prstDash val="lgDash"/>
            <a:round/>
            <a:headEnd len="sm" w="sm" type="none"/>
            <a:tailEnd len="sm" w="sm" type="none"/>
          </a:ln>
        </p:spPr>
      </p:cxnSp>
      <p:sp>
        <p:nvSpPr>
          <p:cNvPr id="104" name="Google Shape;104;p19"/>
          <p:cNvSpPr txBox="1"/>
          <p:nvPr>
            <p:ph type="title"/>
          </p:nvPr>
        </p:nvSpPr>
        <p:spPr>
          <a:xfrm>
            <a:off x="311700" y="6318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05" name="Google Shape;105;p19"/>
          <p:cNvSpPr txBox="1"/>
          <p:nvPr>
            <p:ph idx="1" type="body"/>
          </p:nvPr>
        </p:nvSpPr>
        <p:spPr>
          <a:xfrm>
            <a:off x="311700" y="1618204"/>
            <a:ext cx="2808000" cy="29508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06" name="Google Shape;10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9"/>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108" name="Shape 108"/>
        <p:cNvGrpSpPr/>
        <p:nvPr/>
      </p:nvGrpSpPr>
      <p:grpSpPr>
        <a:xfrm>
          <a:off x="0" y="0"/>
          <a:ext cx="0" cy="0"/>
          <a:chOff x="0" y="0"/>
          <a:chExt cx="0" cy="0"/>
        </a:xfrm>
      </p:grpSpPr>
      <p:sp>
        <p:nvSpPr>
          <p:cNvPr id="109" name="Google Shape;109;p20"/>
          <p:cNvSpPr txBox="1"/>
          <p:nvPr>
            <p:ph type="title"/>
          </p:nvPr>
        </p:nvSpPr>
        <p:spPr>
          <a:xfrm>
            <a:off x="490250" y="528900"/>
            <a:ext cx="5678100" cy="40857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5400"/>
              <a:buNone/>
              <a:defRPr sz="5400">
                <a:solidFill>
                  <a:schemeClr val="lt1"/>
                </a:solidFill>
              </a:defRPr>
            </a:lvl1pPr>
            <a:lvl2pPr lvl="1" algn="l">
              <a:lnSpc>
                <a:spcPct val="100000"/>
              </a:lnSpc>
              <a:spcBef>
                <a:spcPts val="0"/>
              </a:spcBef>
              <a:spcAft>
                <a:spcPts val="0"/>
              </a:spcAft>
              <a:buClr>
                <a:schemeClr val="lt1"/>
              </a:buClr>
              <a:buSzPts val="5400"/>
              <a:buNone/>
              <a:defRPr sz="5400">
                <a:solidFill>
                  <a:schemeClr val="lt1"/>
                </a:solidFill>
              </a:defRPr>
            </a:lvl2pPr>
            <a:lvl3pPr lvl="2" algn="l">
              <a:lnSpc>
                <a:spcPct val="100000"/>
              </a:lnSpc>
              <a:spcBef>
                <a:spcPts val="0"/>
              </a:spcBef>
              <a:spcAft>
                <a:spcPts val="0"/>
              </a:spcAft>
              <a:buClr>
                <a:schemeClr val="lt1"/>
              </a:buClr>
              <a:buSzPts val="5400"/>
              <a:buNone/>
              <a:defRPr sz="5400">
                <a:solidFill>
                  <a:schemeClr val="lt1"/>
                </a:solidFill>
              </a:defRPr>
            </a:lvl3pPr>
            <a:lvl4pPr lvl="3" algn="l">
              <a:lnSpc>
                <a:spcPct val="100000"/>
              </a:lnSpc>
              <a:spcBef>
                <a:spcPts val="0"/>
              </a:spcBef>
              <a:spcAft>
                <a:spcPts val="0"/>
              </a:spcAft>
              <a:buClr>
                <a:schemeClr val="lt1"/>
              </a:buClr>
              <a:buSzPts val="5400"/>
              <a:buNone/>
              <a:defRPr sz="5400">
                <a:solidFill>
                  <a:schemeClr val="lt1"/>
                </a:solidFill>
              </a:defRPr>
            </a:lvl4pPr>
            <a:lvl5pPr lvl="4" algn="l">
              <a:lnSpc>
                <a:spcPct val="100000"/>
              </a:lnSpc>
              <a:spcBef>
                <a:spcPts val="0"/>
              </a:spcBef>
              <a:spcAft>
                <a:spcPts val="0"/>
              </a:spcAft>
              <a:buClr>
                <a:schemeClr val="lt1"/>
              </a:buClr>
              <a:buSzPts val="5400"/>
              <a:buNone/>
              <a:defRPr sz="5400">
                <a:solidFill>
                  <a:schemeClr val="lt1"/>
                </a:solidFill>
              </a:defRPr>
            </a:lvl5pPr>
            <a:lvl6pPr lvl="5" algn="l">
              <a:lnSpc>
                <a:spcPct val="100000"/>
              </a:lnSpc>
              <a:spcBef>
                <a:spcPts val="0"/>
              </a:spcBef>
              <a:spcAft>
                <a:spcPts val="0"/>
              </a:spcAft>
              <a:buClr>
                <a:schemeClr val="lt1"/>
              </a:buClr>
              <a:buSzPts val="5400"/>
              <a:buNone/>
              <a:defRPr sz="5400">
                <a:solidFill>
                  <a:schemeClr val="lt1"/>
                </a:solidFill>
              </a:defRPr>
            </a:lvl6pPr>
            <a:lvl7pPr lvl="6" algn="l">
              <a:lnSpc>
                <a:spcPct val="100000"/>
              </a:lnSpc>
              <a:spcBef>
                <a:spcPts val="0"/>
              </a:spcBef>
              <a:spcAft>
                <a:spcPts val="0"/>
              </a:spcAft>
              <a:buClr>
                <a:schemeClr val="lt1"/>
              </a:buClr>
              <a:buSzPts val="5400"/>
              <a:buNone/>
              <a:defRPr sz="5400">
                <a:solidFill>
                  <a:schemeClr val="lt1"/>
                </a:solidFill>
              </a:defRPr>
            </a:lvl7pPr>
            <a:lvl8pPr lvl="7" algn="l">
              <a:lnSpc>
                <a:spcPct val="100000"/>
              </a:lnSpc>
              <a:spcBef>
                <a:spcPts val="0"/>
              </a:spcBef>
              <a:spcAft>
                <a:spcPts val="0"/>
              </a:spcAft>
              <a:buClr>
                <a:schemeClr val="lt1"/>
              </a:buClr>
              <a:buSzPts val="5400"/>
              <a:buNone/>
              <a:defRPr sz="5400">
                <a:solidFill>
                  <a:schemeClr val="lt1"/>
                </a:solidFill>
              </a:defRPr>
            </a:lvl8pPr>
            <a:lvl9pPr lvl="8" algn="l">
              <a:lnSpc>
                <a:spcPct val="100000"/>
              </a:lnSpc>
              <a:spcBef>
                <a:spcPts val="0"/>
              </a:spcBef>
              <a:spcAft>
                <a:spcPts val="0"/>
              </a:spcAft>
              <a:buClr>
                <a:schemeClr val="lt1"/>
              </a:buClr>
              <a:buSzPts val="5400"/>
              <a:buNone/>
              <a:defRPr sz="5400">
                <a:solidFill>
                  <a:schemeClr val="lt1"/>
                </a:solidFill>
              </a:defRPr>
            </a:lvl9pPr>
          </a:lstStyle>
          <a:p/>
        </p:txBody>
      </p:sp>
      <p:sp>
        <p:nvSpPr>
          <p:cNvPr id="110" name="Google Shape;110;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1" name="Google Shape;111;p20"/>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lt1"/>
                </a:solidFill>
                <a:latin typeface="Source Code Pro"/>
                <a:ea typeface="Source Code Pro"/>
                <a:cs typeface="Source Code Pro"/>
                <a:sym typeface="Source Code Pro"/>
              </a:rPr>
              <a:t>The Complete Prompt Engineering for AI Bootcamp</a:t>
            </a:r>
            <a:endParaRPr b="0" i="0" sz="900" u="none" cap="none" strike="noStrike">
              <a:solidFill>
                <a:schemeClr val="lt1"/>
              </a:solidFill>
              <a:latin typeface="Source Code Pro"/>
              <a:ea typeface="Source Code Pro"/>
              <a:cs typeface="Source Code Pro"/>
              <a:sym typeface="Source Code Pro"/>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112" name="Shape 112"/>
        <p:cNvGrpSpPr/>
        <p:nvPr/>
      </p:nvGrpSpPr>
      <p:grpSpPr>
        <a:xfrm>
          <a:off x="0" y="0"/>
          <a:ext cx="0" cy="0"/>
          <a:chOff x="0" y="0"/>
          <a:chExt cx="0" cy="0"/>
        </a:xfrm>
      </p:grpSpPr>
      <p:sp>
        <p:nvSpPr>
          <p:cNvPr id="113" name="Google Shape;113;p21"/>
          <p:cNvSpPr/>
          <p:nvPr/>
        </p:nvSpPr>
        <p:spPr>
          <a:xfrm>
            <a:off x="4572000" y="175"/>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4" name="Google Shape;114;p21"/>
          <p:cNvCxnSpPr/>
          <p:nvPr/>
        </p:nvCxnSpPr>
        <p:spPr>
          <a:xfrm>
            <a:off x="5029675" y="4495500"/>
            <a:ext cx="577200" cy="0"/>
          </a:xfrm>
          <a:prstGeom prst="straightConnector1">
            <a:avLst/>
          </a:prstGeom>
          <a:noFill/>
          <a:ln cap="flat" cmpd="sng" w="19050">
            <a:solidFill>
              <a:schemeClr val="dk1"/>
            </a:solidFill>
            <a:prstDash val="lgDash"/>
            <a:round/>
            <a:headEnd len="sm" w="sm" type="none"/>
            <a:tailEnd len="sm" w="sm" type="none"/>
          </a:ln>
        </p:spPr>
      </p:cxnSp>
      <p:sp>
        <p:nvSpPr>
          <p:cNvPr id="115" name="Google Shape;115;p21"/>
          <p:cNvSpPr txBox="1"/>
          <p:nvPr>
            <p:ph type="title"/>
          </p:nvPr>
        </p:nvSpPr>
        <p:spPr>
          <a:xfrm>
            <a:off x="265500" y="1078750"/>
            <a:ext cx="4045200" cy="17892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4600"/>
              <a:buNone/>
              <a:defRPr sz="4600">
                <a:solidFill>
                  <a:schemeClr val="lt1"/>
                </a:solidFill>
              </a:defRPr>
            </a:lvl1pPr>
            <a:lvl2pPr lvl="1" algn="ctr">
              <a:lnSpc>
                <a:spcPct val="100000"/>
              </a:lnSpc>
              <a:spcBef>
                <a:spcPts val="0"/>
              </a:spcBef>
              <a:spcAft>
                <a:spcPts val="0"/>
              </a:spcAft>
              <a:buClr>
                <a:schemeClr val="lt1"/>
              </a:buClr>
              <a:buSzPts val="4600"/>
              <a:buNone/>
              <a:defRPr sz="4600">
                <a:solidFill>
                  <a:schemeClr val="lt1"/>
                </a:solidFill>
              </a:defRPr>
            </a:lvl2pPr>
            <a:lvl3pPr lvl="2" algn="ctr">
              <a:lnSpc>
                <a:spcPct val="100000"/>
              </a:lnSpc>
              <a:spcBef>
                <a:spcPts val="0"/>
              </a:spcBef>
              <a:spcAft>
                <a:spcPts val="0"/>
              </a:spcAft>
              <a:buClr>
                <a:schemeClr val="lt1"/>
              </a:buClr>
              <a:buSzPts val="4600"/>
              <a:buNone/>
              <a:defRPr sz="4600">
                <a:solidFill>
                  <a:schemeClr val="lt1"/>
                </a:solidFill>
              </a:defRPr>
            </a:lvl3pPr>
            <a:lvl4pPr lvl="3" algn="ctr">
              <a:lnSpc>
                <a:spcPct val="100000"/>
              </a:lnSpc>
              <a:spcBef>
                <a:spcPts val="0"/>
              </a:spcBef>
              <a:spcAft>
                <a:spcPts val="0"/>
              </a:spcAft>
              <a:buClr>
                <a:schemeClr val="lt1"/>
              </a:buClr>
              <a:buSzPts val="4600"/>
              <a:buNone/>
              <a:defRPr sz="4600">
                <a:solidFill>
                  <a:schemeClr val="lt1"/>
                </a:solidFill>
              </a:defRPr>
            </a:lvl4pPr>
            <a:lvl5pPr lvl="4" algn="ctr">
              <a:lnSpc>
                <a:spcPct val="100000"/>
              </a:lnSpc>
              <a:spcBef>
                <a:spcPts val="0"/>
              </a:spcBef>
              <a:spcAft>
                <a:spcPts val="0"/>
              </a:spcAft>
              <a:buClr>
                <a:schemeClr val="lt1"/>
              </a:buClr>
              <a:buSzPts val="4600"/>
              <a:buNone/>
              <a:defRPr sz="4600">
                <a:solidFill>
                  <a:schemeClr val="lt1"/>
                </a:solidFill>
              </a:defRPr>
            </a:lvl5pPr>
            <a:lvl6pPr lvl="5" algn="ctr">
              <a:lnSpc>
                <a:spcPct val="100000"/>
              </a:lnSpc>
              <a:spcBef>
                <a:spcPts val="0"/>
              </a:spcBef>
              <a:spcAft>
                <a:spcPts val="0"/>
              </a:spcAft>
              <a:buClr>
                <a:schemeClr val="lt1"/>
              </a:buClr>
              <a:buSzPts val="4600"/>
              <a:buNone/>
              <a:defRPr sz="4600">
                <a:solidFill>
                  <a:schemeClr val="lt1"/>
                </a:solidFill>
              </a:defRPr>
            </a:lvl6pPr>
            <a:lvl7pPr lvl="6" algn="ctr">
              <a:lnSpc>
                <a:spcPct val="100000"/>
              </a:lnSpc>
              <a:spcBef>
                <a:spcPts val="0"/>
              </a:spcBef>
              <a:spcAft>
                <a:spcPts val="0"/>
              </a:spcAft>
              <a:buClr>
                <a:schemeClr val="lt1"/>
              </a:buClr>
              <a:buSzPts val="4600"/>
              <a:buNone/>
              <a:defRPr sz="4600">
                <a:solidFill>
                  <a:schemeClr val="lt1"/>
                </a:solidFill>
              </a:defRPr>
            </a:lvl7pPr>
            <a:lvl8pPr lvl="7" algn="ctr">
              <a:lnSpc>
                <a:spcPct val="100000"/>
              </a:lnSpc>
              <a:spcBef>
                <a:spcPts val="0"/>
              </a:spcBef>
              <a:spcAft>
                <a:spcPts val="0"/>
              </a:spcAft>
              <a:buClr>
                <a:schemeClr val="lt1"/>
              </a:buClr>
              <a:buSzPts val="4600"/>
              <a:buNone/>
              <a:defRPr sz="4600">
                <a:solidFill>
                  <a:schemeClr val="lt1"/>
                </a:solidFill>
              </a:defRPr>
            </a:lvl8pPr>
            <a:lvl9pPr lvl="8" algn="ctr">
              <a:lnSpc>
                <a:spcPct val="100000"/>
              </a:lnSpc>
              <a:spcBef>
                <a:spcPts val="0"/>
              </a:spcBef>
              <a:spcAft>
                <a:spcPts val="0"/>
              </a:spcAft>
              <a:buClr>
                <a:schemeClr val="lt1"/>
              </a:buClr>
              <a:buSzPts val="4600"/>
              <a:buNone/>
              <a:defRPr sz="4600">
                <a:solidFill>
                  <a:schemeClr val="lt1"/>
                </a:solidFill>
              </a:defRPr>
            </a:lvl9pPr>
          </a:lstStyle>
          <a:p/>
        </p:txBody>
      </p:sp>
      <p:sp>
        <p:nvSpPr>
          <p:cNvPr id="116" name="Google Shape;116;p21"/>
          <p:cNvSpPr txBox="1"/>
          <p:nvPr>
            <p:ph idx="1" type="subTitle"/>
          </p:nvPr>
        </p:nvSpPr>
        <p:spPr>
          <a:xfrm>
            <a:off x="265500" y="29214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900"/>
              <a:buNone/>
              <a:defRPr sz="1900">
                <a:solidFill>
                  <a:schemeClr val="lt1"/>
                </a:solidFill>
              </a:defRPr>
            </a:lvl1pPr>
            <a:lvl2pPr lvl="1" algn="ctr">
              <a:lnSpc>
                <a:spcPct val="100000"/>
              </a:lnSpc>
              <a:spcBef>
                <a:spcPts val="0"/>
              </a:spcBef>
              <a:spcAft>
                <a:spcPts val="0"/>
              </a:spcAft>
              <a:buClr>
                <a:schemeClr val="lt1"/>
              </a:buClr>
              <a:buSzPts val="1900"/>
              <a:buNone/>
              <a:defRPr sz="1900">
                <a:solidFill>
                  <a:schemeClr val="lt1"/>
                </a:solidFill>
              </a:defRPr>
            </a:lvl2pPr>
            <a:lvl3pPr lvl="2" algn="ctr">
              <a:lnSpc>
                <a:spcPct val="100000"/>
              </a:lnSpc>
              <a:spcBef>
                <a:spcPts val="0"/>
              </a:spcBef>
              <a:spcAft>
                <a:spcPts val="0"/>
              </a:spcAft>
              <a:buClr>
                <a:schemeClr val="lt1"/>
              </a:buClr>
              <a:buSzPts val="1900"/>
              <a:buNone/>
              <a:defRPr sz="1900">
                <a:solidFill>
                  <a:schemeClr val="lt1"/>
                </a:solidFill>
              </a:defRPr>
            </a:lvl3pPr>
            <a:lvl4pPr lvl="3" algn="ctr">
              <a:lnSpc>
                <a:spcPct val="100000"/>
              </a:lnSpc>
              <a:spcBef>
                <a:spcPts val="0"/>
              </a:spcBef>
              <a:spcAft>
                <a:spcPts val="0"/>
              </a:spcAft>
              <a:buClr>
                <a:schemeClr val="lt1"/>
              </a:buClr>
              <a:buSzPts val="1900"/>
              <a:buNone/>
              <a:defRPr sz="1900">
                <a:solidFill>
                  <a:schemeClr val="lt1"/>
                </a:solidFill>
              </a:defRPr>
            </a:lvl4pPr>
            <a:lvl5pPr lvl="4" algn="ctr">
              <a:lnSpc>
                <a:spcPct val="100000"/>
              </a:lnSpc>
              <a:spcBef>
                <a:spcPts val="0"/>
              </a:spcBef>
              <a:spcAft>
                <a:spcPts val="0"/>
              </a:spcAft>
              <a:buClr>
                <a:schemeClr val="lt1"/>
              </a:buClr>
              <a:buSzPts val="1900"/>
              <a:buNone/>
              <a:defRPr sz="1900">
                <a:solidFill>
                  <a:schemeClr val="lt1"/>
                </a:solidFill>
              </a:defRPr>
            </a:lvl5pPr>
            <a:lvl6pPr lvl="5" algn="ctr">
              <a:lnSpc>
                <a:spcPct val="100000"/>
              </a:lnSpc>
              <a:spcBef>
                <a:spcPts val="0"/>
              </a:spcBef>
              <a:spcAft>
                <a:spcPts val="0"/>
              </a:spcAft>
              <a:buClr>
                <a:schemeClr val="lt1"/>
              </a:buClr>
              <a:buSzPts val="1900"/>
              <a:buNone/>
              <a:defRPr sz="1900">
                <a:solidFill>
                  <a:schemeClr val="lt1"/>
                </a:solidFill>
              </a:defRPr>
            </a:lvl6pPr>
            <a:lvl7pPr lvl="6" algn="ctr">
              <a:lnSpc>
                <a:spcPct val="100000"/>
              </a:lnSpc>
              <a:spcBef>
                <a:spcPts val="0"/>
              </a:spcBef>
              <a:spcAft>
                <a:spcPts val="0"/>
              </a:spcAft>
              <a:buClr>
                <a:schemeClr val="lt1"/>
              </a:buClr>
              <a:buSzPts val="1900"/>
              <a:buNone/>
              <a:defRPr sz="1900">
                <a:solidFill>
                  <a:schemeClr val="lt1"/>
                </a:solidFill>
              </a:defRPr>
            </a:lvl7pPr>
            <a:lvl8pPr lvl="7" algn="ctr">
              <a:lnSpc>
                <a:spcPct val="100000"/>
              </a:lnSpc>
              <a:spcBef>
                <a:spcPts val="0"/>
              </a:spcBef>
              <a:spcAft>
                <a:spcPts val="0"/>
              </a:spcAft>
              <a:buClr>
                <a:schemeClr val="lt1"/>
              </a:buClr>
              <a:buSzPts val="1900"/>
              <a:buNone/>
              <a:defRPr sz="1900">
                <a:solidFill>
                  <a:schemeClr val="lt1"/>
                </a:solidFill>
              </a:defRPr>
            </a:lvl8pPr>
            <a:lvl9pPr lvl="8" algn="ctr">
              <a:lnSpc>
                <a:spcPct val="100000"/>
              </a:lnSpc>
              <a:spcBef>
                <a:spcPts val="0"/>
              </a:spcBef>
              <a:spcAft>
                <a:spcPts val="0"/>
              </a:spcAft>
              <a:buClr>
                <a:schemeClr val="lt1"/>
              </a:buClr>
              <a:buSzPts val="1900"/>
              <a:buNone/>
              <a:defRPr sz="1900">
                <a:solidFill>
                  <a:schemeClr val="lt1"/>
                </a:solidFill>
              </a:defRPr>
            </a:lvl9pPr>
          </a:lstStyle>
          <a:p/>
        </p:txBody>
      </p:sp>
      <p:sp>
        <p:nvSpPr>
          <p:cNvPr id="117" name="Google Shape;11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8" name="Google Shape;11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1"/>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20" name="Shape 120"/>
        <p:cNvGrpSpPr/>
        <p:nvPr/>
      </p:nvGrpSpPr>
      <p:grpSpPr>
        <a:xfrm>
          <a:off x="0" y="0"/>
          <a:ext cx="0" cy="0"/>
          <a:chOff x="0" y="0"/>
          <a:chExt cx="0" cy="0"/>
        </a:xfrm>
      </p:grpSpPr>
      <p:sp>
        <p:nvSpPr>
          <p:cNvPr id="121" name="Google Shape;121;p22"/>
          <p:cNvSpPr txBox="1"/>
          <p:nvPr>
            <p:ph idx="1" type="body"/>
          </p:nvPr>
        </p:nvSpPr>
        <p:spPr>
          <a:xfrm>
            <a:off x="311700" y="406472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2100"/>
              <a:buFont typeface="Oswald"/>
              <a:buNone/>
              <a:defRPr sz="2100">
                <a:latin typeface="Oswald"/>
                <a:ea typeface="Oswald"/>
                <a:cs typeface="Oswald"/>
                <a:sym typeface="Oswald"/>
              </a:defRPr>
            </a:lvl1pPr>
          </a:lstStyle>
          <a:p/>
        </p:txBody>
      </p:sp>
      <p:sp>
        <p:nvSpPr>
          <p:cNvPr id="122" name="Google Shape;12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2"/>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4" name="Shape 124"/>
        <p:cNvGrpSpPr/>
        <p:nvPr/>
      </p:nvGrpSpPr>
      <p:grpSpPr>
        <a:xfrm>
          <a:off x="0" y="0"/>
          <a:ext cx="0" cy="0"/>
          <a:chOff x="0" y="0"/>
          <a:chExt cx="0" cy="0"/>
        </a:xfrm>
      </p:grpSpPr>
      <p:cxnSp>
        <p:nvCxnSpPr>
          <p:cNvPr id="125" name="Google Shape;125;p23"/>
          <p:cNvCxnSpPr/>
          <p:nvPr/>
        </p:nvCxnSpPr>
        <p:spPr>
          <a:xfrm>
            <a:off x="413275" y="2988275"/>
            <a:ext cx="910500" cy="0"/>
          </a:xfrm>
          <a:prstGeom prst="straightConnector1">
            <a:avLst/>
          </a:prstGeom>
          <a:noFill/>
          <a:ln cap="flat" cmpd="sng" w="28575">
            <a:solidFill>
              <a:schemeClr val="dk1"/>
            </a:solidFill>
            <a:prstDash val="lgDash"/>
            <a:round/>
            <a:headEnd len="sm" w="sm" type="none"/>
            <a:tailEnd len="sm" w="sm" type="none"/>
          </a:ln>
        </p:spPr>
      </p:cxnSp>
      <p:sp>
        <p:nvSpPr>
          <p:cNvPr id="126" name="Google Shape;126;p2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12000"/>
              <a:buNone/>
              <a:defRPr sz="12000"/>
            </a:lvl1pPr>
            <a:lvl2pPr lvl="1" algn="l">
              <a:lnSpc>
                <a:spcPct val="100000"/>
              </a:lnSpc>
              <a:spcBef>
                <a:spcPts val="0"/>
              </a:spcBef>
              <a:spcAft>
                <a:spcPts val="0"/>
              </a:spcAft>
              <a:buSzPts val="12000"/>
              <a:buNone/>
              <a:defRPr sz="12000"/>
            </a:lvl2pPr>
            <a:lvl3pPr lvl="2" algn="l">
              <a:lnSpc>
                <a:spcPct val="100000"/>
              </a:lnSpc>
              <a:spcBef>
                <a:spcPts val="0"/>
              </a:spcBef>
              <a:spcAft>
                <a:spcPts val="0"/>
              </a:spcAft>
              <a:buSzPts val="12000"/>
              <a:buNone/>
              <a:defRPr sz="12000"/>
            </a:lvl3pPr>
            <a:lvl4pPr lvl="3" algn="l">
              <a:lnSpc>
                <a:spcPct val="100000"/>
              </a:lnSpc>
              <a:spcBef>
                <a:spcPts val="0"/>
              </a:spcBef>
              <a:spcAft>
                <a:spcPts val="0"/>
              </a:spcAft>
              <a:buSzPts val="12000"/>
              <a:buNone/>
              <a:defRPr sz="12000"/>
            </a:lvl4pPr>
            <a:lvl5pPr lvl="4" algn="l">
              <a:lnSpc>
                <a:spcPct val="100000"/>
              </a:lnSpc>
              <a:spcBef>
                <a:spcPts val="0"/>
              </a:spcBef>
              <a:spcAft>
                <a:spcPts val="0"/>
              </a:spcAft>
              <a:buSzPts val="12000"/>
              <a:buNone/>
              <a:defRPr sz="12000"/>
            </a:lvl5pPr>
            <a:lvl6pPr lvl="5" algn="l">
              <a:lnSpc>
                <a:spcPct val="100000"/>
              </a:lnSpc>
              <a:spcBef>
                <a:spcPts val="0"/>
              </a:spcBef>
              <a:spcAft>
                <a:spcPts val="0"/>
              </a:spcAft>
              <a:buSzPts val="12000"/>
              <a:buNone/>
              <a:defRPr sz="12000"/>
            </a:lvl6pPr>
            <a:lvl7pPr lvl="6" algn="l">
              <a:lnSpc>
                <a:spcPct val="100000"/>
              </a:lnSpc>
              <a:spcBef>
                <a:spcPts val="0"/>
              </a:spcBef>
              <a:spcAft>
                <a:spcPts val="0"/>
              </a:spcAft>
              <a:buSzPts val="12000"/>
              <a:buNone/>
              <a:defRPr sz="12000"/>
            </a:lvl7pPr>
            <a:lvl8pPr lvl="7" algn="l">
              <a:lnSpc>
                <a:spcPct val="100000"/>
              </a:lnSpc>
              <a:spcBef>
                <a:spcPts val="0"/>
              </a:spcBef>
              <a:spcAft>
                <a:spcPts val="0"/>
              </a:spcAft>
              <a:buSzPts val="12000"/>
              <a:buNone/>
              <a:defRPr sz="12000"/>
            </a:lvl8pPr>
            <a:lvl9pPr lvl="8" algn="l">
              <a:lnSpc>
                <a:spcPct val="100000"/>
              </a:lnSpc>
              <a:spcBef>
                <a:spcPts val="0"/>
              </a:spcBef>
              <a:spcAft>
                <a:spcPts val="0"/>
              </a:spcAft>
              <a:buSzPts val="12000"/>
              <a:buNone/>
              <a:defRPr sz="12000"/>
            </a:lvl9pPr>
          </a:lstStyle>
          <a:p>
            <a:r>
              <a:t>xx%</a:t>
            </a:r>
          </a:p>
        </p:txBody>
      </p:sp>
      <p:sp>
        <p:nvSpPr>
          <p:cNvPr id="127" name="Google Shape;127;p2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8" name="Google Shape;12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3"/>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0" name="Shape 130"/>
        <p:cNvGrpSpPr/>
        <p:nvPr/>
      </p:nvGrpSpPr>
      <p:grpSpPr>
        <a:xfrm>
          <a:off x="0" y="0"/>
          <a:ext cx="0" cy="0"/>
          <a:chOff x="0" y="0"/>
          <a:chExt cx="0" cy="0"/>
        </a:xfrm>
      </p:grpSpPr>
      <p:sp>
        <p:nvSpPr>
          <p:cNvPr id="131" name="Google Shape;1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
        <p:nvSpPr>
          <p:cNvPr id="132" name="Google Shape;132;p24"/>
          <p:cNvSpPr txBox="1"/>
          <p:nvPr/>
        </p:nvSpPr>
        <p:spPr>
          <a:xfrm>
            <a:off x="311700" y="4669825"/>
            <a:ext cx="8282400" cy="380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900"/>
              <a:buFont typeface="Arial"/>
              <a:buNone/>
            </a:pPr>
            <a:r>
              <a:rPr b="0" i="0" lang="en" sz="900" u="none" cap="none" strike="noStrike">
                <a:solidFill>
                  <a:schemeClr val="dk2"/>
                </a:solidFill>
                <a:latin typeface="Source Code Pro"/>
                <a:ea typeface="Source Code Pro"/>
                <a:cs typeface="Source Code Pro"/>
                <a:sym typeface="Source Code Pro"/>
              </a:rPr>
              <a:t>The Complete Prompt Engineering for AI Bootcamp</a:t>
            </a:r>
            <a:endParaRPr b="0" i="0" sz="900" u="none" cap="none" strike="noStrike">
              <a:solidFill>
                <a:schemeClr val="dk2"/>
              </a:solidFill>
              <a:latin typeface="Source Code Pro"/>
              <a:ea typeface="Source Code Pro"/>
              <a:cs typeface="Source Code Pro"/>
              <a:sym typeface="Source Code Pr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latin typeface="Oswald"/>
                <a:ea typeface="Oswald"/>
                <a:cs typeface="Oswald"/>
                <a:sym typeface="Oswald"/>
              </a:defRPr>
            </a:lvl9pPr>
          </a:lstStyle>
          <a:p/>
        </p:txBody>
      </p:sp>
      <p:sp>
        <p:nvSpPr>
          <p:cNvPr id="7" name="Google Shape;7;p1"/>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Source Code Pro"/>
                <a:ea typeface="Source Code Pro"/>
                <a:cs typeface="Source Code Pro"/>
                <a:sym typeface="Source Code Pro"/>
              </a:defRPr>
            </a:lvl1pPr>
            <a:lvl2pPr lvl="1" algn="r">
              <a:buNone/>
              <a:defRPr sz="1000">
                <a:solidFill>
                  <a:schemeClr val="dk2"/>
                </a:solidFill>
                <a:latin typeface="Source Code Pro"/>
                <a:ea typeface="Source Code Pro"/>
                <a:cs typeface="Source Code Pro"/>
                <a:sym typeface="Source Code Pro"/>
              </a:defRPr>
            </a:lvl2pPr>
            <a:lvl3pPr lvl="2" algn="r">
              <a:buNone/>
              <a:defRPr sz="1000">
                <a:solidFill>
                  <a:schemeClr val="dk2"/>
                </a:solidFill>
                <a:latin typeface="Source Code Pro"/>
                <a:ea typeface="Source Code Pro"/>
                <a:cs typeface="Source Code Pro"/>
                <a:sym typeface="Source Code Pro"/>
              </a:defRPr>
            </a:lvl3pPr>
            <a:lvl4pPr lvl="3" algn="r">
              <a:buNone/>
              <a:defRPr sz="1000">
                <a:solidFill>
                  <a:schemeClr val="dk2"/>
                </a:solidFill>
                <a:latin typeface="Source Code Pro"/>
                <a:ea typeface="Source Code Pro"/>
                <a:cs typeface="Source Code Pro"/>
                <a:sym typeface="Source Code Pro"/>
              </a:defRPr>
            </a:lvl4pPr>
            <a:lvl5pPr lvl="4" algn="r">
              <a:buNone/>
              <a:defRPr sz="1000">
                <a:solidFill>
                  <a:schemeClr val="dk2"/>
                </a:solidFill>
                <a:latin typeface="Source Code Pro"/>
                <a:ea typeface="Source Code Pro"/>
                <a:cs typeface="Source Code Pro"/>
                <a:sym typeface="Source Code Pro"/>
              </a:defRPr>
            </a:lvl5pPr>
            <a:lvl6pPr lvl="5" algn="r">
              <a:buNone/>
              <a:defRPr sz="1000">
                <a:solidFill>
                  <a:schemeClr val="dk2"/>
                </a:solidFill>
                <a:latin typeface="Source Code Pro"/>
                <a:ea typeface="Source Code Pro"/>
                <a:cs typeface="Source Code Pro"/>
                <a:sym typeface="Source Code Pro"/>
              </a:defRPr>
            </a:lvl6pPr>
            <a:lvl7pPr lvl="6" algn="r">
              <a:buNone/>
              <a:defRPr sz="1000">
                <a:solidFill>
                  <a:schemeClr val="dk2"/>
                </a:solidFill>
                <a:latin typeface="Source Code Pro"/>
                <a:ea typeface="Source Code Pro"/>
                <a:cs typeface="Source Code Pro"/>
                <a:sym typeface="Source Code Pro"/>
              </a:defRPr>
            </a:lvl7pPr>
            <a:lvl8pPr lvl="7" algn="r">
              <a:buNone/>
              <a:defRPr sz="1000">
                <a:solidFill>
                  <a:schemeClr val="dk2"/>
                </a:solidFill>
                <a:latin typeface="Source Code Pro"/>
                <a:ea typeface="Source Code Pro"/>
                <a:cs typeface="Source Code Pro"/>
                <a:sym typeface="Source Code Pro"/>
              </a:defRPr>
            </a:lvl8pPr>
            <a:lvl9pPr lvl="8" algn="r">
              <a:buNone/>
              <a:defRPr sz="1000">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dern-writer">
    <p:bg>
      <p:bgPr>
        <a:solidFill>
          <a:schemeClr val="lt1"/>
        </a:solidFill>
      </p:bgPr>
    </p:bg>
    <p:spTree>
      <p:nvGrpSpPr>
        <p:cNvPr id="69" name="Shape 69"/>
        <p:cNvGrpSpPr/>
        <p:nvPr/>
      </p:nvGrpSpPr>
      <p:grpSpPr>
        <a:xfrm>
          <a:off x="0" y="0"/>
          <a:ext cx="0" cy="0"/>
          <a:chOff x="0" y="0"/>
          <a:chExt cx="0" cy="0"/>
        </a:xfrm>
      </p:grpSpPr>
      <p:sp>
        <p:nvSpPr>
          <p:cNvPr id="70" name="Google Shape;70;p13"/>
          <p:cNvSpPr txBox="1"/>
          <p:nvPr>
            <p:ph type="title"/>
          </p:nvPr>
        </p:nvSpPr>
        <p:spPr>
          <a:xfrm>
            <a:off x="311700" y="372500"/>
            <a:ext cx="8520600" cy="7335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1pPr>
            <a:lvl2pPr lvl="1"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2pPr>
            <a:lvl3pPr lvl="2"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3pPr>
            <a:lvl4pPr lvl="3"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4pPr>
            <a:lvl5pPr lvl="4"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5pPr>
            <a:lvl6pPr lvl="5"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6pPr>
            <a:lvl7pPr lvl="6"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7pPr>
            <a:lvl8pPr lvl="7"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8pPr>
            <a:lvl9pPr lvl="8" marR="0" rtl="0" algn="l">
              <a:lnSpc>
                <a:spcPct val="100000"/>
              </a:lnSpc>
              <a:spcBef>
                <a:spcPts val="0"/>
              </a:spcBef>
              <a:spcAft>
                <a:spcPts val="0"/>
              </a:spcAft>
              <a:buClr>
                <a:schemeClr val="dk2"/>
              </a:buClr>
              <a:buSzPts val="3000"/>
              <a:buFont typeface="Oswald"/>
              <a:buNone/>
              <a:defRPr b="0" i="0" sz="3000" u="none" cap="none" strike="noStrike">
                <a:solidFill>
                  <a:schemeClr val="dk2"/>
                </a:solidFill>
                <a:latin typeface="Oswald"/>
                <a:ea typeface="Oswald"/>
                <a:cs typeface="Oswald"/>
                <a:sym typeface="Oswald"/>
              </a:defRPr>
            </a:lvl9pPr>
          </a:lstStyle>
          <a:p/>
        </p:txBody>
      </p:sp>
      <p:sp>
        <p:nvSpPr>
          <p:cNvPr id="71" name="Google Shape;71;p13"/>
          <p:cNvSpPr txBox="1"/>
          <p:nvPr>
            <p:ph idx="1" type="body"/>
          </p:nvPr>
        </p:nvSpPr>
        <p:spPr>
          <a:xfrm>
            <a:off x="311700" y="1468825"/>
            <a:ext cx="8520600" cy="3099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Source Code Pro"/>
              <a:buChar char="●"/>
              <a:defRPr b="0" i="0" sz="1800" u="none" cap="none" strike="noStrike">
                <a:solidFill>
                  <a:schemeClr val="dk2"/>
                </a:solidFill>
                <a:latin typeface="Source Code Pro"/>
                <a:ea typeface="Source Code Pro"/>
                <a:cs typeface="Source Code Pro"/>
                <a:sym typeface="Source Code Pro"/>
              </a:defRPr>
            </a:lvl1pPr>
            <a:lvl2pPr indent="-317500" lvl="1" marL="914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2pPr>
            <a:lvl3pPr indent="-317500" lvl="2" marL="1371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3pPr>
            <a:lvl4pPr indent="-317500" lvl="3" marL="1828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4pPr>
            <a:lvl5pPr indent="-317500" lvl="4" marL="22860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5pPr>
            <a:lvl6pPr indent="-317500" lvl="5" marL="27432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6pPr>
            <a:lvl7pPr indent="-317500" lvl="6" marL="32004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7pPr>
            <a:lvl8pPr indent="-317500" lvl="7" marL="36576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8pPr>
            <a:lvl9pPr indent="-317500" lvl="8" marL="4114800" marR="0" rtl="0" algn="l">
              <a:lnSpc>
                <a:spcPct val="115000"/>
              </a:lnSpc>
              <a:spcBef>
                <a:spcPts val="0"/>
              </a:spcBef>
              <a:spcAft>
                <a:spcPts val="0"/>
              </a:spcAft>
              <a:buClr>
                <a:schemeClr val="dk2"/>
              </a:buClr>
              <a:buSzPts val="1400"/>
              <a:buFont typeface="Source Code Pro"/>
              <a:buChar char="■"/>
              <a:defRPr b="0" i="0" sz="1400" u="none" cap="none" strike="noStrike">
                <a:solidFill>
                  <a:schemeClr val="dk2"/>
                </a:solidFill>
                <a:latin typeface="Source Code Pro"/>
                <a:ea typeface="Source Code Pro"/>
                <a:cs typeface="Source Code Pro"/>
                <a:sym typeface="Source Code Pro"/>
              </a:defRPr>
            </a:lvl9pPr>
          </a:lstStyle>
          <a:p/>
        </p:txBody>
      </p:sp>
      <p:sp>
        <p:nvSpPr>
          <p:cNvPr id="72" name="Google Shape;72;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Memory</a:t>
            </a:r>
          </a:p>
        </p:txBody>
      </p:sp>
      <p:sp>
        <p:nvSpPr>
          <p:cNvPr id="3" name="Subtitle 2"/>
          <p:cNvSpPr>
            <a:spLocks noGrp="1"/>
          </p:cNvSpPr>
          <p:nvPr>
            <p:ph type="subTitle" idx="1"/>
          </p:nvPr>
        </p:nvSpPr>
        <p:spPr/>
        <p:txBody>
          <a:bodyPr/>
          <a:lstStyle/>
          <a:p>
            <a:pPr marL="0" indent="0">
              <a:buNone/>
            </a:pPr>
            <a:r>
              <a:t>How an assistant carries what it knows about you from one conversation into the next.</a:t>
            </a:r>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it? - a short profile of you, kept in writing</a:t>
            </a:r>
          </a:p>
        </p:txBody>
      </p:sp>
      <p:sp>
        <p:nvSpPr>
          <p:cNvPr id="3" name="Text Placeholder 2"/>
          <p:cNvSpPr>
            <a:spLocks noGrp="1"/>
          </p:cNvSpPr>
          <p:nvPr>
            <p:ph type="body" idx="1"/>
          </p:nvPr>
        </p:nvSpPr>
        <p:spPr>
          <a:xfrm>
            <a:off x="5074920" y="1426464"/>
            <a:ext cx="3758184" cy="2596896"/>
          </a:xfrm>
        </p:spPr>
        <p:txBody>
          <a:bodyPr wrap="square" anchor="ctr"/>
          <a:lstStyle/>
          <a:p>
            <a:pPr marL="0" indent="0">
              <a:buNone/>
            </a:pPr>
            <a:r>
              <a:t>Memory is a small profile of you that the assistant writes and keeps - a store of plain sentences, not a database and not a transcript, that it reads back before it answers.</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206240" cy="2596896"/>
          </a:xfrm>
          <a:prstGeom prst="roundRect">
            <a:avLst>
              <a:gd name="adj" fmla="val 167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20624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20624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2944368" cy="182880"/>
          </a:xfrm>
          <a:prstGeom prst="rect">
            <a:avLst/>
          </a:prstGeom>
          <a:noFill/>
        </p:spPr>
        <p:txBody>
          <a:bodyPr wrap="square" lIns="0" rIns="0" tIns="0" bIns="0" anchor="t">
            <a:spAutoFit/>
          </a:bodyPr>
          <a:lstStyle/>
          <a:p>
            <a:pPr algn="l"/>
            <a:r>
              <a:rPr sz="1200" b="1">
                <a:solidFill>
                  <a:srgbClr val="F7F7FA"/>
                </a:solidFill>
                <a:latin typeface="Arial"/>
              </a:rPr>
              <a:t>Memory</a:t>
            </a:r>
          </a:p>
        </p:txBody>
      </p:sp>
      <p:sp>
        <p:nvSpPr>
          <p:cNvPr id="30" name="TextBox 29"/>
          <p:cNvSpPr txBox="1"/>
          <p:nvPr/>
        </p:nvSpPr>
        <p:spPr>
          <a:xfrm>
            <a:off x="3328415" y="1527048"/>
            <a:ext cx="1097280" cy="173736"/>
          </a:xfrm>
          <a:prstGeom prst="rect">
            <a:avLst/>
          </a:prstGeom>
          <a:noFill/>
        </p:spPr>
        <p:txBody>
          <a:bodyPr wrap="square" lIns="0" rIns="0" tIns="0" bIns="0" anchor="t">
            <a:spAutoFit/>
          </a:bodyPr>
          <a:lstStyle/>
          <a:p>
            <a:pPr algn="r"/>
            <a:r>
              <a:rPr sz="885" b="0">
                <a:solidFill>
                  <a:srgbClr val="C6C7D0"/>
                </a:solidFill>
                <a:latin typeface="Arial"/>
              </a:rPr>
              <a:t>What it holds</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Preferences</a:t>
            </a:r>
          </a:p>
        </p:txBody>
      </p:sp>
      <p:sp>
        <p:nvSpPr>
          <p:cNvPr id="32" name="Rounded Rectangle 31"/>
          <p:cNvSpPr/>
          <p:nvPr/>
        </p:nvSpPr>
        <p:spPr>
          <a:xfrm>
            <a:off x="466344" y="2048256"/>
            <a:ext cx="2023110"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512064" y="2057400"/>
            <a:ext cx="3913631" cy="210312"/>
          </a:xfrm>
          <a:prstGeom prst="rect">
            <a:avLst/>
          </a:prstGeom>
          <a:noFill/>
        </p:spPr>
        <p:txBody>
          <a:bodyPr wrap="none" lIns="0" rIns="0" tIns="0" bIns="0" anchor="t">
            <a:spAutoFit/>
          </a:bodyPr>
          <a:lstStyle/>
          <a:p>
            <a:pPr algn="l"/>
            <a:r>
              <a:rPr sz="1125" b="0">
                <a:solidFill>
                  <a:srgbClr val="F7F7FA"/>
                </a:solidFill>
                <a:latin typeface="Arial"/>
              </a:rPr>
              <a:t>Writes in British English.</a:t>
            </a:r>
          </a:p>
        </p:txBody>
      </p:sp>
      <p:sp>
        <p:nvSpPr>
          <p:cNvPr id="34" name="TextBox 33"/>
          <p:cNvSpPr txBox="1"/>
          <p:nvPr/>
        </p:nvSpPr>
        <p:spPr>
          <a:xfrm>
            <a:off x="512064" y="2267712"/>
            <a:ext cx="3913631" cy="210312"/>
          </a:xfrm>
          <a:prstGeom prst="rect">
            <a:avLst/>
          </a:prstGeom>
          <a:noFill/>
        </p:spPr>
        <p:txBody>
          <a:bodyPr wrap="none" lIns="0" rIns="0" tIns="0" bIns="0" anchor="t">
            <a:spAutoFit/>
          </a:bodyPr>
          <a:lstStyle/>
          <a:p>
            <a:pPr algn="l"/>
            <a:r>
              <a:rPr sz="1125" b="0">
                <a:solidFill>
                  <a:srgbClr val="F7F7FA"/>
                </a:solidFill>
                <a:latin typeface="Arial"/>
              </a:rPr>
              <a:t>Prefers short, direct answers.</a:t>
            </a:r>
          </a:p>
        </p:txBody>
      </p:sp>
      <p:sp>
        <p:nvSpPr>
          <p:cNvPr id="35" name="Rectangle 34"/>
          <p:cNvSpPr/>
          <p:nvPr/>
        </p:nvSpPr>
        <p:spPr>
          <a:xfrm>
            <a:off x="512064" y="2569464"/>
            <a:ext cx="3913631"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512064" y="2660904"/>
            <a:ext cx="1737360" cy="173736"/>
          </a:xfrm>
          <a:prstGeom prst="rect">
            <a:avLst/>
          </a:prstGeom>
          <a:noFill/>
        </p:spPr>
        <p:txBody>
          <a:bodyPr wrap="square" lIns="0" rIns="0" tIns="0" bIns="0" anchor="t">
            <a:spAutoFit/>
          </a:bodyPr>
          <a:lstStyle/>
          <a:p>
            <a:pPr algn="l"/>
            <a:r>
              <a:rPr sz="885" b="1">
                <a:solidFill>
                  <a:srgbClr val="C6C7D0"/>
                </a:solidFill>
                <a:latin typeface="Arial"/>
              </a:rPr>
              <a:t>Your work</a:t>
            </a:r>
          </a:p>
        </p:txBody>
      </p:sp>
      <p:sp>
        <p:nvSpPr>
          <p:cNvPr id="37" name="TextBox 36"/>
          <p:cNvSpPr txBox="1"/>
          <p:nvPr/>
        </p:nvSpPr>
        <p:spPr>
          <a:xfrm>
            <a:off x="512064" y="2862072"/>
            <a:ext cx="3913631" cy="210312"/>
          </a:xfrm>
          <a:prstGeom prst="rect">
            <a:avLst/>
          </a:prstGeom>
          <a:noFill/>
        </p:spPr>
        <p:txBody>
          <a:bodyPr wrap="none" lIns="0" rIns="0" tIns="0" bIns="0" anchor="t">
            <a:spAutoFit/>
          </a:bodyPr>
          <a:lstStyle/>
          <a:p>
            <a:pPr algn="l"/>
            <a:r>
              <a:rPr sz="1125" b="0">
                <a:solidFill>
                  <a:srgbClr val="F7F7FA"/>
                </a:solidFill>
                <a:latin typeface="Arial"/>
              </a:rPr>
              <a:t>Runs a two-person consultancy.</a:t>
            </a:r>
          </a:p>
        </p:txBody>
      </p:sp>
      <p:sp>
        <p:nvSpPr>
          <p:cNvPr id="38" name="TextBox 37"/>
          <p:cNvSpPr txBox="1"/>
          <p:nvPr/>
        </p:nvSpPr>
        <p:spPr>
          <a:xfrm>
            <a:off x="512064" y="3072384"/>
            <a:ext cx="3913631" cy="210312"/>
          </a:xfrm>
          <a:prstGeom prst="rect">
            <a:avLst/>
          </a:prstGeom>
          <a:noFill/>
        </p:spPr>
        <p:txBody>
          <a:bodyPr wrap="none" lIns="0" rIns="0" tIns="0" bIns="0" anchor="t">
            <a:spAutoFit/>
          </a:bodyPr>
          <a:lstStyle/>
          <a:p>
            <a:pPr algn="l"/>
            <a:r>
              <a:rPr sz="1125" b="0">
                <a:solidFill>
                  <a:srgbClr val="F7F7FA"/>
                </a:solidFill>
                <a:latin typeface="Arial"/>
              </a:rPr>
              <a:t>Sells to technical buyers.</a:t>
            </a:r>
          </a:p>
        </p:txBody>
      </p:sp>
      <p:sp>
        <p:nvSpPr>
          <p:cNvPr id="39" name="Rectangle 38"/>
          <p:cNvSpPr/>
          <p:nvPr/>
        </p:nvSpPr>
        <p:spPr>
          <a:xfrm>
            <a:off x="512064" y="3374136"/>
            <a:ext cx="3913631"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 y="3465576"/>
            <a:ext cx="1737360" cy="173736"/>
          </a:xfrm>
          <a:prstGeom prst="rect">
            <a:avLst/>
          </a:prstGeom>
          <a:noFill/>
        </p:spPr>
        <p:txBody>
          <a:bodyPr wrap="square" lIns="0" rIns="0" tIns="0" bIns="0" anchor="t">
            <a:spAutoFit/>
          </a:bodyPr>
          <a:lstStyle/>
          <a:p>
            <a:pPr algn="l"/>
            <a:r>
              <a:rPr sz="885" b="1">
                <a:solidFill>
                  <a:srgbClr val="C6C7D0"/>
                </a:solidFill>
                <a:latin typeface="Arial"/>
              </a:rPr>
              <a:t>Standing constraints</a:t>
            </a:r>
          </a:p>
        </p:txBody>
      </p:sp>
      <p:sp>
        <p:nvSpPr>
          <p:cNvPr id="41" name="TextBox 40"/>
          <p:cNvSpPr txBox="1"/>
          <p:nvPr/>
        </p:nvSpPr>
        <p:spPr>
          <a:xfrm>
            <a:off x="512064" y="3666744"/>
            <a:ext cx="3913631" cy="210312"/>
          </a:xfrm>
          <a:prstGeom prst="rect">
            <a:avLst/>
          </a:prstGeom>
          <a:noFill/>
        </p:spPr>
        <p:txBody>
          <a:bodyPr wrap="none" lIns="0" rIns="0" tIns="0" bIns="0" anchor="t">
            <a:spAutoFit/>
          </a:bodyPr>
          <a:lstStyle/>
          <a:p>
            <a:pPr algn="l"/>
            <a:r>
              <a:rPr sz="1125" b="0">
                <a:solidFill>
                  <a:srgbClr val="F7F7FA"/>
                </a:solidFill>
                <a:latin typeface="Arial"/>
              </a:rPr>
              <a:t>Never invents a statistic.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Nobody typed this into the prompt</a:t>
            </a:r>
          </a:p>
        </p:txBody>
      </p:sp>
      <p:sp>
        <p:nvSpPr>
          <p:cNvPr id="3" name="Text Placeholder 2"/>
          <p:cNvSpPr>
            <a:spLocks noGrp="1"/>
          </p:cNvSpPr>
          <p:nvPr>
            <p:ph type="body" idx="1"/>
          </p:nvPr>
        </p:nvSpPr>
        <p:spPr>
          <a:xfrm>
            <a:off x="5074920" y="1426464"/>
            <a:ext cx="3758184" cy="2990088"/>
          </a:xfrm>
        </p:spPr>
        <p:txBody>
          <a:bodyPr wrap="square" anchor="ctr"/>
          <a:lstStyle/>
          <a:p>
            <a:pPr marL="0" indent="0">
              <a:buNone/>
            </a:pPr>
            <a:r>
              <a:t>This conversation never mentions spelling or audience. Both arrived from the store. Personalisation you cannot see in the prompt is still personalisation.</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65760" y="1426464"/>
            <a:ext cx="4206240" cy="2990088"/>
          </a:xfrm>
          <a:prstGeom prst="roundRect">
            <a:avLst>
              <a:gd name="adj" fmla="val 167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65760" y="1426464"/>
            <a:ext cx="4206240"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365760" y="1619585"/>
            <a:ext cx="4206240"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1508760"/>
            <a:ext cx="2944368" cy="182880"/>
          </a:xfrm>
          <a:prstGeom prst="rect">
            <a:avLst/>
          </a:prstGeom>
          <a:noFill/>
        </p:spPr>
        <p:txBody>
          <a:bodyPr wrap="square" lIns="0" rIns="0" tIns="0" bIns="0" anchor="t">
            <a:spAutoFit/>
          </a:bodyPr>
          <a:lstStyle/>
          <a:p>
            <a:pPr algn="l"/>
            <a:r>
              <a:rPr sz="1200" b="1">
                <a:solidFill>
                  <a:srgbClr val="F7F7FA"/>
                </a:solidFill>
                <a:latin typeface="Arial"/>
              </a:rPr>
              <a:t>ChatGPT</a:t>
            </a:r>
          </a:p>
        </p:txBody>
      </p:sp>
      <p:sp>
        <p:nvSpPr>
          <p:cNvPr id="30" name="TextBox 29"/>
          <p:cNvSpPr txBox="1"/>
          <p:nvPr/>
        </p:nvSpPr>
        <p:spPr>
          <a:xfrm>
            <a:off x="3328415" y="1527048"/>
            <a:ext cx="1097280" cy="173736"/>
          </a:xfrm>
          <a:prstGeom prst="rect">
            <a:avLst/>
          </a:prstGeom>
          <a:noFill/>
        </p:spPr>
        <p:txBody>
          <a:bodyPr wrap="square" lIns="0" rIns="0" tIns="0" bIns="0" anchor="t">
            <a:spAutoFit/>
          </a:bodyPr>
          <a:lstStyle/>
          <a:p>
            <a:pPr algn="r"/>
            <a:r>
              <a:rPr sz="885" b="0">
                <a:solidFill>
                  <a:srgbClr val="C6C7D0"/>
                </a:solidFill>
                <a:latin typeface="Arial"/>
              </a:rPr>
              <a:t>A week later</a:t>
            </a:r>
          </a:p>
        </p:txBody>
      </p:sp>
      <p:sp>
        <p:nvSpPr>
          <p:cNvPr id="31" name="TextBox 30"/>
          <p:cNvSpPr txBox="1"/>
          <p:nvPr/>
        </p:nvSpPr>
        <p:spPr>
          <a:xfrm>
            <a:off x="512064" y="1856232"/>
            <a:ext cx="1737360" cy="173736"/>
          </a:xfrm>
          <a:prstGeom prst="rect">
            <a:avLst/>
          </a:prstGeom>
          <a:noFill/>
        </p:spPr>
        <p:txBody>
          <a:bodyPr wrap="square" lIns="0" rIns="0" tIns="0" bIns="0" anchor="t">
            <a:spAutoFit/>
          </a:bodyPr>
          <a:lstStyle/>
          <a:p>
            <a:pPr algn="l"/>
            <a:r>
              <a:rPr sz="885" b="1">
                <a:solidFill>
                  <a:srgbClr val="C6C7D0"/>
                </a:solidFill>
                <a:latin typeface="Arial"/>
              </a:rPr>
              <a:t>User</a:t>
            </a:r>
          </a:p>
        </p:txBody>
      </p:sp>
      <p:sp>
        <p:nvSpPr>
          <p:cNvPr id="32" name="TextBox 31"/>
          <p:cNvSpPr txBox="1"/>
          <p:nvPr/>
        </p:nvSpPr>
        <p:spPr>
          <a:xfrm>
            <a:off x="512064" y="2057400"/>
            <a:ext cx="3913631" cy="210312"/>
          </a:xfrm>
          <a:prstGeom prst="rect">
            <a:avLst/>
          </a:prstGeom>
          <a:noFill/>
        </p:spPr>
        <p:txBody>
          <a:bodyPr wrap="none" lIns="0" rIns="0" tIns="0" bIns="0" anchor="t">
            <a:spAutoFit/>
          </a:bodyPr>
          <a:lstStyle/>
          <a:p>
            <a:pPr algn="l"/>
            <a:r>
              <a:rPr sz="1125" b="0">
                <a:solidFill>
                  <a:srgbClr val="F7F7FA"/>
                </a:solidFill>
                <a:latin typeface="Arial"/>
              </a:rPr>
              <a:t>Draft the launch email.</a:t>
            </a:r>
          </a:p>
        </p:txBody>
      </p:sp>
      <p:sp>
        <p:nvSpPr>
          <p:cNvPr id="37" name="Rounded Rectangle 36"/>
          <p:cNvSpPr/>
          <p:nvPr/>
        </p:nvSpPr>
        <p:spPr>
          <a:xfrm>
            <a:off x="475488" y="2322576"/>
            <a:ext cx="3986783" cy="1124712"/>
          </a:xfrm>
          <a:prstGeom prst="roundRect">
            <a:avLst>
              <a:gd name="adj" fmla="val 4065"/>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 y="2441448"/>
            <a:ext cx="1737360" cy="173736"/>
          </a:xfrm>
          <a:prstGeom prst="rect">
            <a:avLst/>
          </a:prstGeom>
          <a:noFill/>
        </p:spPr>
        <p:txBody>
          <a:bodyPr wrap="square" lIns="0" rIns="0" tIns="0" bIns="0" anchor="t">
            <a:spAutoFit/>
          </a:bodyPr>
          <a:lstStyle/>
          <a:p>
            <a:pPr algn="l"/>
            <a:r>
              <a:rPr sz="885" b="1">
                <a:solidFill>
                  <a:srgbClr val="C6C7D0"/>
                </a:solidFill>
                <a:latin typeface="Arial"/>
              </a:rPr>
              <a:t>AI Assistant</a:t>
            </a:r>
          </a:p>
        </p:txBody>
      </p:sp>
      <p:sp>
        <p:nvSpPr>
          <p:cNvPr id="34" name="TextBox 33"/>
          <p:cNvSpPr txBox="1"/>
          <p:nvPr/>
        </p:nvSpPr>
        <p:spPr>
          <a:xfrm>
            <a:off x="621792" y="2642616"/>
            <a:ext cx="3694175" cy="210312"/>
          </a:xfrm>
          <a:prstGeom prst="rect">
            <a:avLst/>
          </a:prstGeom>
          <a:noFill/>
        </p:spPr>
        <p:txBody>
          <a:bodyPr wrap="none" lIns="0" rIns="0" tIns="0" bIns="0" anchor="t">
            <a:spAutoFit/>
          </a:bodyPr>
          <a:lstStyle/>
          <a:p>
            <a:pPr algn="l"/>
            <a:r>
              <a:rPr sz="1125" b="0">
                <a:solidFill>
                  <a:srgbClr val="F7F7FA"/>
                </a:solidFill>
                <a:latin typeface="Arial"/>
              </a:rPr>
              <a:t>Subject: Simpler pricing, from Monday</a:t>
            </a:r>
          </a:p>
        </p:txBody>
      </p:sp>
      <p:sp>
        <p:nvSpPr>
          <p:cNvPr id="35" name="TextBox 34"/>
          <p:cNvSpPr txBox="1"/>
          <p:nvPr/>
        </p:nvSpPr>
        <p:spPr>
          <a:xfrm>
            <a:off x="621792" y="2852928"/>
            <a:ext cx="3694175" cy="210312"/>
          </a:xfrm>
          <a:prstGeom prst="rect">
            <a:avLst/>
          </a:prstGeom>
          <a:noFill/>
        </p:spPr>
        <p:txBody>
          <a:bodyPr wrap="none" lIns="0" rIns="0" tIns="0" bIns="0" anchor="t">
            <a:spAutoFit/>
          </a:bodyPr>
          <a:lstStyle/>
          <a:p>
            <a:pPr algn="l"/>
            <a:r>
              <a:rPr sz="1125" b="0">
                <a:solidFill>
                  <a:srgbClr val="F7F7FA"/>
                </a:solidFill>
                <a:latin typeface="Arial"/>
              </a:rPr>
              <a:t>We have reorganised our plans so you can</a:t>
            </a:r>
          </a:p>
        </p:txBody>
      </p:sp>
      <p:sp>
        <p:nvSpPr>
          <p:cNvPr id="36" name="TextBox 35"/>
          <p:cNvSpPr txBox="1"/>
          <p:nvPr/>
        </p:nvSpPr>
        <p:spPr>
          <a:xfrm>
            <a:off x="621792" y="3063240"/>
            <a:ext cx="3694175" cy="210312"/>
          </a:xfrm>
          <a:prstGeom prst="rect">
            <a:avLst/>
          </a:prstGeom>
          <a:noFill/>
        </p:spPr>
        <p:txBody>
          <a:bodyPr wrap="none" lIns="0" rIns="0" tIns="0" bIns="0" anchor="t">
            <a:spAutoFit/>
          </a:bodyPr>
          <a:lstStyle/>
          <a:p>
            <a:pPr algn="l"/>
            <a:r>
              <a:rPr sz="1125" b="0">
                <a:solidFill>
                  <a:srgbClr val="F7F7FA"/>
                </a:solidFill>
                <a:latin typeface="Arial"/>
              </a:rPr>
              <a:t>see exactly what you are paying for.</a:t>
            </a:r>
          </a:p>
        </p:txBody>
      </p:sp>
      <p:sp>
        <p:nvSpPr>
          <p:cNvPr id="38" name="TextBox 37"/>
          <p:cNvSpPr txBox="1"/>
          <p:nvPr/>
        </p:nvSpPr>
        <p:spPr>
          <a:xfrm>
            <a:off x="512064" y="3483864"/>
            <a:ext cx="1737360" cy="173736"/>
          </a:xfrm>
          <a:prstGeom prst="rect">
            <a:avLst/>
          </a:prstGeom>
          <a:noFill/>
        </p:spPr>
        <p:txBody>
          <a:bodyPr wrap="square" lIns="0" rIns="0" tIns="0" bIns="0" anchor="t">
            <a:spAutoFit/>
          </a:bodyPr>
          <a:lstStyle/>
          <a:p>
            <a:pPr algn="l"/>
            <a:r>
              <a:rPr sz="885" b="1">
                <a:solidFill>
                  <a:srgbClr val="C6C7D0"/>
                </a:solidFill>
                <a:latin typeface="Arial"/>
              </a:rPr>
              <a:t>Drawn from memory</a:t>
            </a:r>
          </a:p>
        </p:txBody>
      </p:sp>
      <p:sp>
        <p:nvSpPr>
          <p:cNvPr id="39" name="Rounded Rectangle 38"/>
          <p:cNvSpPr/>
          <p:nvPr/>
        </p:nvSpPr>
        <p:spPr>
          <a:xfrm>
            <a:off x="466344" y="3675888"/>
            <a:ext cx="2543175" cy="201168"/>
          </a:xfrm>
          <a:prstGeom prst="roundRect">
            <a:avLst>
              <a:gd name="adj" fmla="val 18181"/>
            </a:avLst>
          </a:prstGeom>
          <a:solidFill>
            <a:srgbClr val="7133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12064" y="3685032"/>
            <a:ext cx="3913631" cy="210312"/>
          </a:xfrm>
          <a:prstGeom prst="rect">
            <a:avLst/>
          </a:prstGeom>
          <a:noFill/>
        </p:spPr>
        <p:txBody>
          <a:bodyPr wrap="none" lIns="0" rIns="0" tIns="0" bIns="0" anchor="t">
            <a:spAutoFit/>
          </a:bodyPr>
          <a:lstStyle/>
          <a:p>
            <a:pPr algn="l"/>
            <a:r>
              <a:rPr sz="1125" b="0">
                <a:solidFill>
                  <a:srgbClr val="F7F7FA"/>
                </a:solidFill>
                <a:latin typeface="Arial"/>
              </a:rPr>
              <a:t>British English, technical buyers</a:t>
            </a:r>
          </a:p>
        </p:txBody>
      </p:sp>
      <p:sp>
        <p:nvSpPr>
          <p:cNvPr id="41" name="Rounded Rectangle 40"/>
          <p:cNvSpPr/>
          <p:nvPr/>
        </p:nvSpPr>
        <p:spPr>
          <a:xfrm>
            <a:off x="512064" y="4005072"/>
            <a:ext cx="3913631" cy="301752"/>
          </a:xfrm>
          <a:prstGeom prst="roundRect">
            <a:avLst>
              <a:gd name="adj" fmla="val 15151"/>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630936" y="4078224"/>
            <a:ext cx="3291839" cy="173736"/>
          </a:xfrm>
          <a:prstGeom prst="rect">
            <a:avLst/>
          </a:prstGeom>
          <a:noFill/>
        </p:spPr>
        <p:txBody>
          <a:bodyPr wrap="square" lIns="0" rIns="0" tIns="0" bIns="0" anchor="t">
            <a:spAutoFit/>
          </a:bodyPr>
          <a:lstStyle/>
          <a:p>
            <a:pPr algn="l"/>
            <a:r>
              <a:rPr sz="885" b="0">
                <a:solidFill>
                  <a:srgbClr val="C6C7D0"/>
                </a:solidFill>
                <a:latin typeface="Arial"/>
              </a:rPr>
              <a:t>Send a message…</a:t>
            </a:r>
          </a:p>
        </p:txBody>
      </p:sp>
      <p:sp>
        <p:nvSpPr>
          <p:cNvPr id="43" name="Rounded Rectangle 42"/>
          <p:cNvSpPr/>
          <p:nvPr/>
        </p:nvSpPr>
        <p:spPr>
          <a:xfrm>
            <a:off x="4151376" y="4050791"/>
            <a:ext cx="210312" cy="210312"/>
          </a:xfrm>
          <a:prstGeom prst="roundRect">
            <a:avLst>
              <a:gd name="adj" fmla="val 21739"/>
            </a:avLst>
          </a:prstGeom>
          <a:solidFill>
            <a:srgbClr val="E4E5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4151376" y="4050791"/>
            <a:ext cx="210312" cy="210312"/>
          </a:xfrm>
          <a:prstGeom prst="rect">
            <a:avLst/>
          </a:prstGeom>
          <a:noFill/>
        </p:spPr>
        <p:txBody>
          <a:bodyPr wrap="square" lIns="0" rIns="0" tIns="0" bIns="0" anchor="ctr">
            <a:spAutoFit/>
          </a:bodyPr>
          <a:lstStyle/>
          <a:p>
            <a:pPr algn="ctr"/>
            <a:r>
              <a:rPr sz="1125" b="0">
                <a:solidFill>
                  <a:srgbClr val="25262C"/>
                </a:solidFill>
                <a:latin typeface="Arial"/>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it is not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4078224" cy="2377440"/>
          </a:xfrm>
          <a:prstGeom prst="roundRect">
            <a:avLst>
              <a:gd name="adj" fmla="val 2307"/>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93776" y="1572768"/>
            <a:ext cx="3712463" cy="274320"/>
          </a:xfrm>
          <a:prstGeom prst="rect">
            <a:avLst/>
          </a:prstGeom>
          <a:noFill/>
        </p:spPr>
        <p:txBody>
          <a:bodyPr wrap="square" lIns="0" rIns="0" tIns="0" bIns="0" anchor="t">
            <a:spAutoFit/>
          </a:bodyPr>
          <a:lstStyle/>
          <a:p>
            <a:pPr algn="l"/>
            <a:r>
              <a:rPr sz="1400" b="1">
                <a:solidFill>
                  <a:srgbClr val="424242"/>
                </a:solidFill>
                <a:latin typeface="Source Code Pro"/>
              </a:rPr>
              <a:t>Not this</a:t>
            </a:r>
          </a:p>
        </p:txBody>
      </p:sp>
      <p:sp>
        <p:nvSpPr>
          <p:cNvPr id="28" name="TextBox 27"/>
          <p:cNvSpPr txBox="1"/>
          <p:nvPr/>
        </p:nvSpPr>
        <p:spPr>
          <a:xfrm>
            <a:off x="493776" y="1975104"/>
            <a:ext cx="3712463" cy="274320"/>
          </a:xfrm>
          <a:prstGeom prst="rect">
            <a:avLst/>
          </a:prstGeom>
          <a:noFill/>
        </p:spPr>
        <p:txBody>
          <a:bodyPr wrap="square" lIns="0" rIns="0" tIns="0" bIns="0" anchor="t">
            <a:spAutoFit/>
          </a:bodyPr>
          <a:lstStyle/>
          <a:p>
            <a:pPr algn="l"/>
            <a:r>
              <a:rPr sz="1300" b="0">
                <a:solidFill>
                  <a:srgbClr val="424242"/>
                </a:solidFill>
                <a:latin typeface="Source Code Pro"/>
              </a:rPr>
              <a:t>—  The model learning about you</a:t>
            </a:r>
          </a:p>
        </p:txBody>
      </p:sp>
      <p:sp>
        <p:nvSpPr>
          <p:cNvPr id="29" name="TextBox 28"/>
          <p:cNvSpPr txBox="1"/>
          <p:nvPr/>
        </p:nvSpPr>
        <p:spPr>
          <a:xfrm>
            <a:off x="493776" y="2286000"/>
            <a:ext cx="3712463" cy="274320"/>
          </a:xfrm>
          <a:prstGeom prst="rect">
            <a:avLst/>
          </a:prstGeom>
          <a:noFill/>
        </p:spPr>
        <p:txBody>
          <a:bodyPr wrap="square" lIns="0" rIns="0" tIns="0" bIns="0" anchor="t">
            <a:spAutoFit/>
          </a:bodyPr>
          <a:lstStyle/>
          <a:p>
            <a:pPr algn="l"/>
            <a:r>
              <a:rPr sz="1300" b="0">
                <a:solidFill>
                  <a:srgbClr val="424242"/>
                </a:solidFill>
                <a:latin typeface="Source Code Pro"/>
              </a:rPr>
              <a:t>—  A searchable archive of your chats</a:t>
            </a:r>
          </a:p>
        </p:txBody>
      </p:sp>
      <p:sp>
        <p:nvSpPr>
          <p:cNvPr id="30" name="TextBox 29"/>
          <p:cNvSpPr txBox="1"/>
          <p:nvPr/>
        </p:nvSpPr>
        <p:spPr>
          <a:xfrm>
            <a:off x="493776" y="2596896"/>
            <a:ext cx="3712463" cy="274320"/>
          </a:xfrm>
          <a:prstGeom prst="rect">
            <a:avLst/>
          </a:prstGeom>
          <a:noFill/>
        </p:spPr>
        <p:txBody>
          <a:bodyPr wrap="square" lIns="0" rIns="0" tIns="0" bIns="0" anchor="t">
            <a:spAutoFit/>
          </a:bodyPr>
          <a:lstStyle/>
          <a:p>
            <a:pPr algn="l"/>
            <a:r>
              <a:rPr sz="1300" b="0">
                <a:solidFill>
                  <a:srgbClr val="424242"/>
                </a:solidFill>
                <a:latin typeface="Source Code Pro"/>
              </a:rPr>
              <a:t>—  A black box you cannot open</a:t>
            </a:r>
          </a:p>
        </p:txBody>
      </p:sp>
      <p:sp>
        <p:nvSpPr>
          <p:cNvPr id="31" name="Rounded Rectangle 30"/>
          <p:cNvSpPr/>
          <p:nvPr/>
        </p:nvSpPr>
        <p:spPr>
          <a:xfrm>
            <a:off x="4754880" y="1426464"/>
            <a:ext cx="4078224" cy="2377440"/>
          </a:xfrm>
          <a:prstGeom prst="roundRect">
            <a:avLst>
              <a:gd name="adj" fmla="val 2307"/>
            </a:avLst>
          </a:prstGeom>
          <a:solidFill>
            <a:srgbClr val="FFFFFF"/>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4937760" y="1572768"/>
            <a:ext cx="3712463" cy="274320"/>
          </a:xfrm>
          <a:prstGeom prst="rect">
            <a:avLst/>
          </a:prstGeom>
          <a:noFill/>
        </p:spPr>
        <p:txBody>
          <a:bodyPr wrap="square" lIns="0" rIns="0" tIns="0" bIns="0" anchor="t">
            <a:spAutoFit/>
          </a:bodyPr>
          <a:lstStyle/>
          <a:p>
            <a:pPr algn="l"/>
            <a:r>
              <a:rPr sz="1400" b="1">
                <a:solidFill>
                  <a:srgbClr val="E91D63"/>
                </a:solidFill>
                <a:latin typeface="Source Code Pro"/>
              </a:rPr>
              <a:t>This</a:t>
            </a:r>
          </a:p>
        </p:txBody>
      </p:sp>
      <p:sp>
        <p:nvSpPr>
          <p:cNvPr id="33" name="TextBox 32"/>
          <p:cNvSpPr txBox="1"/>
          <p:nvPr/>
        </p:nvSpPr>
        <p:spPr>
          <a:xfrm>
            <a:off x="4937760" y="1975104"/>
            <a:ext cx="3712463" cy="274320"/>
          </a:xfrm>
          <a:prstGeom prst="rect">
            <a:avLst/>
          </a:prstGeom>
          <a:noFill/>
        </p:spPr>
        <p:txBody>
          <a:bodyPr wrap="square" lIns="0" rIns="0" tIns="0" bIns="0" anchor="t">
            <a:spAutoFit/>
          </a:bodyPr>
          <a:lstStyle/>
          <a:p>
            <a:pPr algn="l"/>
            <a:r>
              <a:rPr sz="1300" b="0">
                <a:solidFill>
                  <a:srgbClr val="424242"/>
                </a:solidFill>
                <a:latin typeface="Source Code Pro"/>
              </a:rPr>
              <a:t>—  A few written lines about you</a:t>
            </a:r>
          </a:p>
        </p:txBody>
      </p:sp>
      <p:sp>
        <p:nvSpPr>
          <p:cNvPr id="34" name="TextBox 33"/>
          <p:cNvSpPr txBox="1"/>
          <p:nvPr/>
        </p:nvSpPr>
        <p:spPr>
          <a:xfrm>
            <a:off x="4937760" y="2286000"/>
            <a:ext cx="3712463" cy="274320"/>
          </a:xfrm>
          <a:prstGeom prst="rect">
            <a:avLst/>
          </a:prstGeom>
          <a:noFill/>
        </p:spPr>
        <p:txBody>
          <a:bodyPr wrap="square" lIns="0" rIns="0" tIns="0" bIns="0" anchor="t">
            <a:spAutoFit/>
          </a:bodyPr>
          <a:lstStyle/>
          <a:p>
            <a:pPr algn="l"/>
            <a:r>
              <a:rPr sz="1300" b="0">
                <a:solidFill>
                  <a:srgbClr val="424242"/>
                </a:solidFill>
                <a:latin typeface="Source Code Pro"/>
              </a:rPr>
              <a:t>—  Placed in front of your question</a:t>
            </a:r>
          </a:p>
        </p:txBody>
      </p:sp>
      <p:sp>
        <p:nvSpPr>
          <p:cNvPr id="35" name="TextBox 34"/>
          <p:cNvSpPr txBox="1"/>
          <p:nvPr/>
        </p:nvSpPr>
        <p:spPr>
          <a:xfrm>
            <a:off x="4937760" y="2596896"/>
            <a:ext cx="3712463" cy="274320"/>
          </a:xfrm>
          <a:prstGeom prst="rect">
            <a:avLst/>
          </a:prstGeom>
          <a:noFill/>
        </p:spPr>
        <p:txBody>
          <a:bodyPr wrap="square" lIns="0" rIns="0" tIns="0" bIns="0" anchor="t">
            <a:spAutoFit/>
          </a:bodyPr>
          <a:lstStyle/>
          <a:p>
            <a:pPr algn="l"/>
            <a:r>
              <a:rPr sz="1300" b="0">
                <a:solidFill>
                  <a:srgbClr val="424242"/>
                </a:solidFill>
                <a:latin typeface="Source Code Pro"/>
              </a:rPr>
              <a:t>—  Readable, correctable, deletable</a:t>
            </a:r>
          </a:p>
        </p:txBody>
      </p:sp>
      <p:sp>
        <p:nvSpPr>
          <p:cNvPr id="36" name="TextBox 35"/>
          <p:cNvSpPr txBox="1"/>
          <p:nvPr/>
        </p:nvSpPr>
        <p:spPr>
          <a:xfrm>
            <a:off x="310896" y="3950208"/>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Nothing here touches the model's weights. Everyone in the room is talking to the same model; only your lines differ.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it works - two doors into the same store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2468880" cy="914400"/>
          </a:xfrm>
          <a:prstGeom prst="roundRect">
            <a:avLst>
              <a:gd name="adj" fmla="val 50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02336" y="1426464"/>
            <a:ext cx="2286000" cy="530352"/>
          </a:xfrm>
          <a:prstGeom prst="rect">
            <a:avLst/>
          </a:prstGeom>
          <a:noFill/>
        </p:spPr>
        <p:txBody>
          <a:bodyPr wrap="square" lIns="0" rIns="0" tIns="0" bIns="0" anchor="b">
            <a:spAutoFit/>
          </a:bodyPr>
          <a:lstStyle/>
          <a:p>
            <a:pPr algn="ctr"/>
            <a:r>
              <a:rPr sz="1300" b="1">
                <a:solidFill>
                  <a:srgbClr val="424242"/>
                </a:solidFill>
                <a:latin typeface="Source Code Pro"/>
              </a:rPr>
              <a:t>You tell it</a:t>
            </a:r>
          </a:p>
        </p:txBody>
      </p:sp>
      <p:sp>
        <p:nvSpPr>
          <p:cNvPr id="28" name="TextBox 27"/>
          <p:cNvSpPr txBox="1"/>
          <p:nvPr/>
        </p:nvSpPr>
        <p:spPr>
          <a:xfrm>
            <a:off x="402336" y="1929384"/>
            <a:ext cx="2286000" cy="384048"/>
          </a:xfrm>
          <a:prstGeom prst="rect">
            <a:avLst/>
          </a:prstGeom>
          <a:noFill/>
        </p:spPr>
        <p:txBody>
          <a:bodyPr wrap="square" lIns="0" rIns="0" tIns="0" bIns="0" anchor="t">
            <a:spAutoFit/>
          </a:bodyPr>
          <a:lstStyle/>
          <a:p>
            <a:pPr algn="ctr"/>
            <a:r>
              <a:rPr sz="1200" b="0">
                <a:solidFill>
                  <a:srgbClr val="6B6B6B"/>
                </a:solidFill>
                <a:latin typeface="Source Code Pro"/>
              </a:rPr>
              <a:t>"Remember that..."</a:t>
            </a:r>
          </a:p>
        </p:txBody>
      </p:sp>
      <p:sp>
        <p:nvSpPr>
          <p:cNvPr id="29" name="Rounded Rectangle 28"/>
          <p:cNvSpPr/>
          <p:nvPr/>
        </p:nvSpPr>
        <p:spPr>
          <a:xfrm>
            <a:off x="310896" y="2660904"/>
            <a:ext cx="2468880" cy="914400"/>
          </a:xfrm>
          <a:prstGeom prst="roundRect">
            <a:avLst>
              <a:gd name="adj" fmla="val 500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02336" y="2660904"/>
            <a:ext cx="2286000" cy="530352"/>
          </a:xfrm>
          <a:prstGeom prst="rect">
            <a:avLst/>
          </a:prstGeom>
          <a:noFill/>
        </p:spPr>
        <p:txBody>
          <a:bodyPr wrap="square" lIns="0" rIns="0" tIns="0" bIns="0" anchor="b">
            <a:spAutoFit/>
          </a:bodyPr>
          <a:lstStyle/>
          <a:p>
            <a:pPr algn="ctr"/>
            <a:r>
              <a:rPr sz="1300" b="1">
                <a:solidFill>
                  <a:srgbClr val="424242"/>
                </a:solidFill>
                <a:latin typeface="Source Code Pro"/>
              </a:rPr>
              <a:t>It infers</a:t>
            </a:r>
          </a:p>
        </p:txBody>
      </p:sp>
      <p:sp>
        <p:nvSpPr>
          <p:cNvPr id="31" name="TextBox 30"/>
          <p:cNvSpPr txBox="1"/>
          <p:nvPr/>
        </p:nvSpPr>
        <p:spPr>
          <a:xfrm>
            <a:off x="402336" y="3163824"/>
            <a:ext cx="2286000" cy="384048"/>
          </a:xfrm>
          <a:prstGeom prst="rect">
            <a:avLst/>
          </a:prstGeom>
          <a:noFill/>
        </p:spPr>
        <p:txBody>
          <a:bodyPr wrap="square" lIns="0" rIns="0" tIns="0" bIns="0" anchor="t">
            <a:spAutoFit/>
          </a:bodyPr>
          <a:lstStyle/>
          <a:p>
            <a:pPr algn="ctr"/>
            <a:r>
              <a:rPr sz="1200" b="0">
                <a:solidFill>
                  <a:srgbClr val="6B6B6B"/>
                </a:solidFill>
                <a:latin typeface="Source Code Pro"/>
              </a:rPr>
              <a:t>from ordinary chats</a:t>
            </a:r>
          </a:p>
        </p:txBody>
      </p:sp>
      <p:sp>
        <p:nvSpPr>
          <p:cNvPr id="32" name="Right Arrow 31"/>
          <p:cNvSpPr/>
          <p:nvPr/>
        </p:nvSpPr>
        <p:spPr>
          <a:xfrm>
            <a:off x="2871216" y="1828800"/>
            <a:ext cx="65836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2871216" y="3063240"/>
            <a:ext cx="65836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3611880" y="1426464"/>
            <a:ext cx="2331720" cy="2148840"/>
          </a:xfrm>
          <a:prstGeom prst="roundRect">
            <a:avLst>
              <a:gd name="adj" fmla="val 2127"/>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3703320" y="1426464"/>
            <a:ext cx="2148839" cy="1246327"/>
          </a:xfrm>
          <a:prstGeom prst="rect">
            <a:avLst/>
          </a:prstGeom>
          <a:noFill/>
        </p:spPr>
        <p:txBody>
          <a:bodyPr wrap="square" lIns="0" rIns="0" tIns="0" bIns="0" anchor="b">
            <a:spAutoFit/>
          </a:bodyPr>
          <a:lstStyle/>
          <a:p>
            <a:pPr algn="ctr"/>
            <a:r>
              <a:rPr sz="1300" b="1">
                <a:solidFill>
                  <a:srgbClr val="424242"/>
                </a:solidFill>
                <a:latin typeface="Source Code Pro"/>
              </a:rPr>
              <a:t>The store</a:t>
            </a:r>
          </a:p>
        </p:txBody>
      </p:sp>
      <p:sp>
        <p:nvSpPr>
          <p:cNvPr id="36" name="TextBox 35"/>
          <p:cNvSpPr txBox="1"/>
          <p:nvPr/>
        </p:nvSpPr>
        <p:spPr>
          <a:xfrm>
            <a:off x="3703320" y="2608326"/>
            <a:ext cx="2148839" cy="902512"/>
          </a:xfrm>
          <a:prstGeom prst="rect">
            <a:avLst/>
          </a:prstGeom>
          <a:noFill/>
        </p:spPr>
        <p:txBody>
          <a:bodyPr wrap="square" lIns="0" rIns="0" tIns="0" bIns="0" anchor="t">
            <a:spAutoFit/>
          </a:bodyPr>
          <a:lstStyle/>
          <a:p>
            <a:pPr algn="ctr"/>
            <a:r>
              <a:rPr sz="1200" b="0">
                <a:solidFill>
                  <a:srgbClr val="6B6B6B"/>
                </a:solidFill>
                <a:latin typeface="Source Code Pro"/>
              </a:rPr>
              <a:t>a few written lines</a:t>
            </a:r>
          </a:p>
        </p:txBody>
      </p:sp>
      <p:sp>
        <p:nvSpPr>
          <p:cNvPr id="37" name="Right Arrow 36"/>
          <p:cNvSpPr/>
          <p:nvPr/>
        </p:nvSpPr>
        <p:spPr>
          <a:xfrm>
            <a:off x="6053328" y="2446020"/>
            <a:ext cx="566928" cy="109728"/>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693408" y="1975104"/>
            <a:ext cx="2139696" cy="1051560"/>
          </a:xfrm>
          <a:prstGeom prst="roundRect">
            <a:avLst>
              <a:gd name="adj" fmla="val 4347"/>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784848" y="1975104"/>
            <a:ext cx="1956815" cy="609904"/>
          </a:xfrm>
          <a:prstGeom prst="rect">
            <a:avLst/>
          </a:prstGeom>
          <a:noFill/>
        </p:spPr>
        <p:txBody>
          <a:bodyPr wrap="square" lIns="0" rIns="0" tIns="0" bIns="0" anchor="b">
            <a:spAutoFit/>
          </a:bodyPr>
          <a:lstStyle/>
          <a:p>
            <a:pPr algn="ctr"/>
            <a:r>
              <a:rPr sz="1300" b="1">
                <a:solidFill>
                  <a:srgbClr val="424242"/>
                </a:solidFill>
                <a:latin typeface="Source Code Pro"/>
              </a:rPr>
              <a:t>Every later chat</a:t>
            </a:r>
          </a:p>
        </p:txBody>
      </p:sp>
      <p:sp>
        <p:nvSpPr>
          <p:cNvPr id="40" name="TextBox 39"/>
          <p:cNvSpPr txBox="1"/>
          <p:nvPr/>
        </p:nvSpPr>
        <p:spPr>
          <a:xfrm>
            <a:off x="6784848" y="2553462"/>
            <a:ext cx="1956815" cy="441655"/>
          </a:xfrm>
          <a:prstGeom prst="rect">
            <a:avLst/>
          </a:prstGeom>
          <a:noFill/>
        </p:spPr>
        <p:txBody>
          <a:bodyPr wrap="square" lIns="0" rIns="0" tIns="0" bIns="0" anchor="t">
            <a:spAutoFit/>
          </a:bodyPr>
          <a:lstStyle/>
          <a:p>
            <a:pPr algn="ctr"/>
            <a:r>
              <a:rPr sz="1200" b="0">
                <a:solidFill>
                  <a:srgbClr val="6B6B6B"/>
                </a:solidFill>
                <a:latin typeface="Source Code Pro"/>
              </a:rPr>
              <a:t>opens with those lines</a:t>
            </a:r>
          </a:p>
        </p:txBody>
      </p:sp>
      <p:sp>
        <p:nvSpPr>
          <p:cNvPr id="41" name="TextBox 40"/>
          <p:cNvSpPr txBox="1"/>
          <p:nvPr/>
        </p:nvSpPr>
        <p:spPr>
          <a:xfrm>
            <a:off x="310896" y="3803904"/>
            <a:ext cx="8522208" cy="61722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One door is precise and you chose it. The other is convenient and you did not. They write to the same store, which is why reading it now and again is the only way to know what the assistant believes about you.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arrives before you type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5394960" cy="603504"/>
          </a:xfrm>
          <a:prstGeom prst="roundRect">
            <a:avLst>
              <a:gd name="adj" fmla="val 6060"/>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57200" y="1426464"/>
            <a:ext cx="2805379" cy="603504"/>
          </a:xfrm>
          <a:prstGeom prst="rect">
            <a:avLst/>
          </a:prstGeom>
          <a:noFill/>
        </p:spPr>
        <p:txBody>
          <a:bodyPr wrap="square" lIns="0" rIns="0" tIns="0" bIns="0" anchor="ctr">
            <a:spAutoFit/>
          </a:bodyPr>
          <a:lstStyle/>
          <a:p>
            <a:pPr algn="l"/>
            <a:r>
              <a:rPr sz="1300" b="1">
                <a:solidFill>
                  <a:srgbClr val="424242"/>
                </a:solidFill>
                <a:latin typeface="Source Code Pro"/>
              </a:rPr>
              <a:t>Lines pulled from memory</a:t>
            </a:r>
          </a:p>
        </p:txBody>
      </p:sp>
      <p:sp>
        <p:nvSpPr>
          <p:cNvPr id="28" name="TextBox 27"/>
          <p:cNvSpPr txBox="1"/>
          <p:nvPr/>
        </p:nvSpPr>
        <p:spPr>
          <a:xfrm>
            <a:off x="3278124" y="1426464"/>
            <a:ext cx="2173528" cy="603504"/>
          </a:xfrm>
          <a:prstGeom prst="rect">
            <a:avLst/>
          </a:prstGeom>
          <a:noFill/>
        </p:spPr>
        <p:txBody>
          <a:bodyPr wrap="square" lIns="0" rIns="0" tIns="0" bIns="0" anchor="ctr">
            <a:spAutoFit/>
          </a:bodyPr>
          <a:lstStyle/>
          <a:p>
            <a:pPr algn="r"/>
            <a:r>
              <a:rPr sz="1200" b="0">
                <a:solidFill>
                  <a:srgbClr val="6B6B6B"/>
                </a:solidFill>
                <a:latin typeface="Source Code Pro"/>
              </a:rPr>
              <a:t>chosen for this question</a:t>
            </a:r>
          </a:p>
        </p:txBody>
      </p:sp>
      <p:sp>
        <p:nvSpPr>
          <p:cNvPr id="29" name="Rounded Rectangle 28"/>
          <p:cNvSpPr/>
          <p:nvPr/>
        </p:nvSpPr>
        <p:spPr>
          <a:xfrm>
            <a:off x="310896" y="2093976"/>
            <a:ext cx="5394960"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7200" y="2093976"/>
            <a:ext cx="2805379" cy="603504"/>
          </a:xfrm>
          <a:prstGeom prst="rect">
            <a:avLst/>
          </a:prstGeom>
          <a:noFill/>
        </p:spPr>
        <p:txBody>
          <a:bodyPr wrap="square" lIns="0" rIns="0" tIns="0" bIns="0" anchor="ctr">
            <a:spAutoFit/>
          </a:bodyPr>
          <a:lstStyle/>
          <a:p>
            <a:pPr algn="l"/>
            <a:r>
              <a:rPr sz="1300" b="0">
                <a:solidFill>
                  <a:srgbClr val="424242"/>
                </a:solidFill>
                <a:latin typeface="Source Code Pro"/>
              </a:rPr>
              <a:t>Standing instructions</a:t>
            </a:r>
          </a:p>
        </p:txBody>
      </p:sp>
      <p:sp>
        <p:nvSpPr>
          <p:cNvPr id="31" name="TextBox 30"/>
          <p:cNvSpPr txBox="1"/>
          <p:nvPr/>
        </p:nvSpPr>
        <p:spPr>
          <a:xfrm>
            <a:off x="3278124" y="2093976"/>
            <a:ext cx="2173528" cy="603504"/>
          </a:xfrm>
          <a:prstGeom prst="rect">
            <a:avLst/>
          </a:prstGeom>
          <a:noFill/>
        </p:spPr>
        <p:txBody>
          <a:bodyPr wrap="square" lIns="0" rIns="0" tIns="0" bIns="0" anchor="ctr">
            <a:spAutoFit/>
          </a:bodyPr>
          <a:lstStyle/>
          <a:p>
            <a:pPr algn="r"/>
            <a:r>
              <a:rPr sz="1200" b="0">
                <a:solidFill>
                  <a:srgbClr val="6B6B6B"/>
                </a:solidFill>
                <a:latin typeface="Source Code Pro"/>
              </a:rPr>
              <a:t>set once, applied always</a:t>
            </a:r>
          </a:p>
        </p:txBody>
      </p:sp>
      <p:sp>
        <p:nvSpPr>
          <p:cNvPr id="32" name="Rounded Rectangle 31"/>
          <p:cNvSpPr/>
          <p:nvPr/>
        </p:nvSpPr>
        <p:spPr>
          <a:xfrm>
            <a:off x="310896" y="2761488"/>
            <a:ext cx="5394960" cy="603504"/>
          </a:xfrm>
          <a:prstGeom prst="roundRect">
            <a:avLst>
              <a:gd name="adj" fmla="val 6060"/>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457200" y="2761488"/>
            <a:ext cx="2805379" cy="603504"/>
          </a:xfrm>
          <a:prstGeom prst="rect">
            <a:avLst/>
          </a:prstGeom>
          <a:noFill/>
        </p:spPr>
        <p:txBody>
          <a:bodyPr wrap="square" lIns="0" rIns="0" tIns="0" bIns="0" anchor="ctr">
            <a:spAutoFit/>
          </a:bodyPr>
          <a:lstStyle/>
          <a:p>
            <a:pPr algn="l"/>
            <a:r>
              <a:rPr sz="1300" b="0">
                <a:solidFill>
                  <a:srgbClr val="424242"/>
                </a:solidFill>
                <a:latin typeface="Source Code Pro"/>
              </a:rPr>
              <a:t>Your message</a:t>
            </a:r>
          </a:p>
        </p:txBody>
      </p:sp>
      <p:sp>
        <p:nvSpPr>
          <p:cNvPr id="34" name="TextBox 33"/>
          <p:cNvSpPr txBox="1"/>
          <p:nvPr/>
        </p:nvSpPr>
        <p:spPr>
          <a:xfrm>
            <a:off x="3278124" y="2761488"/>
            <a:ext cx="2173528" cy="603504"/>
          </a:xfrm>
          <a:prstGeom prst="rect">
            <a:avLst/>
          </a:prstGeom>
          <a:noFill/>
        </p:spPr>
        <p:txBody>
          <a:bodyPr wrap="square" lIns="0" rIns="0" tIns="0" bIns="0" anchor="ctr">
            <a:spAutoFit/>
          </a:bodyPr>
          <a:lstStyle/>
          <a:p>
            <a:pPr algn="r"/>
            <a:r>
              <a:rPr sz="1200" b="0">
                <a:solidFill>
                  <a:srgbClr val="6B6B6B"/>
                </a:solidFill>
                <a:latin typeface="Source Code Pro"/>
              </a:rPr>
              <a:t>typed just now</a:t>
            </a:r>
          </a:p>
        </p:txBody>
      </p:sp>
      <p:sp>
        <p:nvSpPr>
          <p:cNvPr id="35" name="Down Arrow 34"/>
          <p:cNvSpPr/>
          <p:nvPr/>
        </p:nvSpPr>
        <p:spPr>
          <a:xfrm>
            <a:off x="2834640" y="3465576"/>
            <a:ext cx="310896" cy="201168"/>
          </a:xfrm>
          <a:prstGeom prst="down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310896" y="3758184"/>
            <a:ext cx="5394960" cy="566928"/>
          </a:xfrm>
          <a:prstGeom prst="roundRect">
            <a:avLst>
              <a:gd name="adj" fmla="val 8064"/>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402336" y="3758184"/>
            <a:ext cx="5212080" cy="566928"/>
          </a:xfrm>
          <a:prstGeom prst="rect">
            <a:avLst/>
          </a:prstGeom>
          <a:noFill/>
        </p:spPr>
        <p:txBody>
          <a:bodyPr wrap="square" lIns="0" rIns="0" tIns="0" bIns="0" anchor="ctr">
            <a:spAutoFit/>
          </a:bodyPr>
          <a:lstStyle/>
          <a:p>
            <a:pPr algn="ctr"/>
            <a:r>
              <a:rPr sz="1300" b="1">
                <a:solidFill>
                  <a:srgbClr val="424242"/>
                </a:solidFill>
                <a:latin typeface="Source Code Pro"/>
              </a:rPr>
              <a:t>Assembled, then sent</a:t>
            </a:r>
          </a:p>
        </p:txBody>
      </p:sp>
      <p:sp>
        <p:nvSpPr>
          <p:cNvPr id="38" name="TextBox 37"/>
          <p:cNvSpPr txBox="1"/>
          <p:nvPr/>
        </p:nvSpPr>
        <p:spPr>
          <a:xfrm>
            <a:off x="5943600" y="1426464"/>
            <a:ext cx="2889504" cy="14401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Only the lines judged relevant get pulled in, so "it forgot" usually means it did not pull that line, not that the store lost it.</a:t>
            </a:r>
          </a:p>
          <a:p>
            <a:pPr algn="l">
              <a:lnSpc>
                <a:spcPct val="125000"/>
              </a:lnSpc>
            </a:pPr>
            <a:r>
              <a:rPr sz="1200" b="0">
                <a:solidFill>
                  <a:srgbClr val="6B6B6B"/>
                </a:solidFill>
                <a:latin typeface="Source Code Pro"/>
              </a:rPr>
              <a:t/>
            </a:r>
          </a:p>
          <a:p>
            <a:pPr algn="l">
              <a:lnSpc>
                <a:spcPct val="125000"/>
              </a:lnSpc>
            </a:pPr>
            <a:r>
              <a:rPr sz="1200" b="0">
                <a:solidFill>
                  <a:srgbClr val="6B6B6B"/>
                </a:solidFill>
                <a:latin typeface="Source Code Pro"/>
              </a:rPr>
              <a:t>Once assembled, the model cannot tell which part you typed.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Facts have a tense</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310896" y="1426464"/>
            <a:ext cx="1897380" cy="1115568"/>
          </a:xfrm>
          <a:prstGeom prst="roundRect">
            <a:avLst>
              <a:gd name="adj" fmla="val 409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02336" y="1426464"/>
            <a:ext cx="1714500" cy="647029"/>
          </a:xfrm>
          <a:prstGeom prst="rect">
            <a:avLst/>
          </a:prstGeom>
          <a:noFill/>
        </p:spPr>
        <p:txBody>
          <a:bodyPr wrap="square" lIns="0" rIns="0" tIns="0" bIns="0" anchor="b">
            <a:spAutoFit/>
          </a:bodyPr>
          <a:lstStyle/>
          <a:p>
            <a:pPr algn="ctr"/>
            <a:r>
              <a:rPr sz="1300" b="1">
                <a:solidFill>
                  <a:srgbClr val="424242"/>
                </a:solidFill>
                <a:latin typeface="Source Code Pro"/>
              </a:rPr>
              <a:t>You mention</a:t>
            </a:r>
          </a:p>
        </p:txBody>
      </p:sp>
      <p:sp>
        <p:nvSpPr>
          <p:cNvPr id="28" name="TextBox 27"/>
          <p:cNvSpPr txBox="1"/>
          <p:nvPr/>
        </p:nvSpPr>
        <p:spPr>
          <a:xfrm>
            <a:off x="402336" y="2040026"/>
            <a:ext cx="1714500" cy="468538"/>
          </a:xfrm>
          <a:prstGeom prst="rect">
            <a:avLst/>
          </a:prstGeom>
          <a:noFill/>
        </p:spPr>
        <p:txBody>
          <a:bodyPr wrap="square" lIns="0" rIns="0" tIns="0" bIns="0" anchor="t">
            <a:spAutoFit/>
          </a:bodyPr>
          <a:lstStyle/>
          <a:p>
            <a:pPr algn="ctr"/>
            <a:r>
              <a:rPr sz="1200" b="0">
                <a:solidFill>
                  <a:srgbClr val="6B6B6B"/>
                </a:solidFill>
                <a:latin typeface="Source Code Pro"/>
              </a:rPr>
              <a:t>a trip in July</a:t>
            </a:r>
          </a:p>
        </p:txBody>
      </p:sp>
      <p:sp>
        <p:nvSpPr>
          <p:cNvPr id="29" name="Right Arrow 28"/>
          <p:cNvSpPr/>
          <p:nvPr/>
        </p:nvSpPr>
        <p:spPr>
          <a:xfrm>
            <a:off x="2272284" y="1938528"/>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519172" y="1426464"/>
            <a:ext cx="1897380" cy="1115568"/>
          </a:xfrm>
          <a:prstGeom prst="roundRect">
            <a:avLst>
              <a:gd name="adj" fmla="val 409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2610612" y="1426464"/>
            <a:ext cx="1714500" cy="647029"/>
          </a:xfrm>
          <a:prstGeom prst="rect">
            <a:avLst/>
          </a:prstGeom>
          <a:noFill/>
        </p:spPr>
        <p:txBody>
          <a:bodyPr wrap="square" lIns="0" rIns="0" tIns="0" bIns="0" anchor="b">
            <a:spAutoFit/>
          </a:bodyPr>
          <a:lstStyle/>
          <a:p>
            <a:pPr algn="ctr"/>
            <a:r>
              <a:rPr sz="1300" b="1">
                <a:solidFill>
                  <a:srgbClr val="424242"/>
                </a:solidFill>
                <a:latin typeface="Source Code Pro"/>
              </a:rPr>
              <a:t>It stores</a:t>
            </a:r>
          </a:p>
        </p:txBody>
      </p:sp>
      <p:sp>
        <p:nvSpPr>
          <p:cNvPr id="32" name="TextBox 31"/>
          <p:cNvSpPr txBox="1"/>
          <p:nvPr/>
        </p:nvSpPr>
        <p:spPr>
          <a:xfrm>
            <a:off x="2610612" y="2040026"/>
            <a:ext cx="1714500" cy="468538"/>
          </a:xfrm>
          <a:prstGeom prst="rect">
            <a:avLst/>
          </a:prstGeom>
          <a:noFill/>
        </p:spPr>
        <p:txBody>
          <a:bodyPr wrap="square" lIns="0" rIns="0" tIns="0" bIns="0" anchor="t">
            <a:spAutoFit/>
          </a:bodyPr>
          <a:lstStyle/>
          <a:p>
            <a:pPr algn="ctr"/>
            <a:r>
              <a:rPr sz="1200" b="0">
                <a:solidFill>
                  <a:srgbClr val="6B6B6B"/>
                </a:solidFill>
                <a:latin typeface="Source Code Pro"/>
              </a:rPr>
              <a:t>a plan</a:t>
            </a:r>
          </a:p>
        </p:txBody>
      </p:sp>
      <p:sp>
        <p:nvSpPr>
          <p:cNvPr id="33" name="Right Arrow 32"/>
          <p:cNvSpPr/>
          <p:nvPr/>
        </p:nvSpPr>
        <p:spPr>
          <a:xfrm>
            <a:off x="4480560" y="1938528"/>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727448" y="1426464"/>
            <a:ext cx="1897380" cy="1115568"/>
          </a:xfrm>
          <a:prstGeom prst="roundRect">
            <a:avLst>
              <a:gd name="adj" fmla="val 4098"/>
            </a:avLst>
          </a:prstGeom>
          <a:solidFill>
            <a:srgbClr val="F5F5F7"/>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4818888" y="1426464"/>
            <a:ext cx="1714500" cy="647029"/>
          </a:xfrm>
          <a:prstGeom prst="rect">
            <a:avLst/>
          </a:prstGeom>
          <a:noFill/>
        </p:spPr>
        <p:txBody>
          <a:bodyPr wrap="square" lIns="0" rIns="0" tIns="0" bIns="0" anchor="b">
            <a:spAutoFit/>
          </a:bodyPr>
          <a:lstStyle/>
          <a:p>
            <a:pPr algn="ctr"/>
            <a:r>
              <a:rPr sz="1300" b="1">
                <a:solidFill>
                  <a:srgbClr val="424242"/>
                </a:solidFill>
                <a:latin typeface="Source Code Pro"/>
              </a:rPr>
              <a:t>July passes</a:t>
            </a:r>
          </a:p>
        </p:txBody>
      </p:sp>
      <p:sp>
        <p:nvSpPr>
          <p:cNvPr id="36" name="TextBox 35"/>
          <p:cNvSpPr txBox="1"/>
          <p:nvPr/>
        </p:nvSpPr>
        <p:spPr>
          <a:xfrm>
            <a:off x="4818888" y="2040026"/>
            <a:ext cx="1714500" cy="468538"/>
          </a:xfrm>
          <a:prstGeom prst="rect">
            <a:avLst/>
          </a:prstGeom>
          <a:noFill/>
        </p:spPr>
        <p:txBody>
          <a:bodyPr wrap="square" lIns="0" rIns="0" tIns="0" bIns="0" anchor="t">
            <a:spAutoFit/>
          </a:bodyPr>
          <a:lstStyle/>
          <a:p>
            <a:pPr algn="ctr"/>
            <a:r>
              <a:rPr sz="1200" b="0">
                <a:solidFill>
                  <a:srgbClr val="6B6B6B"/>
                </a:solidFill>
                <a:latin typeface="Source Code Pro"/>
              </a:rPr>
              <a:t>the line is now false</a:t>
            </a:r>
          </a:p>
        </p:txBody>
      </p:sp>
      <p:sp>
        <p:nvSpPr>
          <p:cNvPr id="37" name="Right Arrow 36"/>
          <p:cNvSpPr/>
          <p:nvPr/>
        </p:nvSpPr>
        <p:spPr>
          <a:xfrm>
            <a:off x="6688836" y="1938528"/>
            <a:ext cx="182880" cy="91440"/>
          </a:xfrm>
          <a:prstGeom prst="right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935724" y="1426464"/>
            <a:ext cx="1897380" cy="1115568"/>
          </a:xfrm>
          <a:prstGeom prst="roundRect">
            <a:avLst>
              <a:gd name="adj" fmla="val 4098"/>
            </a:avLst>
          </a:prstGeom>
          <a:solidFill>
            <a:srgbClr val="FBE4EC"/>
          </a:solidFill>
          <a:ln w="12700">
            <a:solidFill>
              <a:srgbClr val="E91D6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027164" y="1426464"/>
            <a:ext cx="1714500" cy="647029"/>
          </a:xfrm>
          <a:prstGeom prst="rect">
            <a:avLst/>
          </a:prstGeom>
          <a:noFill/>
        </p:spPr>
        <p:txBody>
          <a:bodyPr wrap="square" lIns="0" rIns="0" tIns="0" bIns="0" anchor="b">
            <a:spAutoFit/>
          </a:bodyPr>
          <a:lstStyle/>
          <a:p>
            <a:pPr algn="ctr"/>
            <a:r>
              <a:rPr sz="1300" b="1">
                <a:solidFill>
                  <a:srgbClr val="424242"/>
                </a:solidFill>
                <a:latin typeface="Source Code Pro"/>
              </a:rPr>
              <a:t>It revises</a:t>
            </a:r>
          </a:p>
        </p:txBody>
      </p:sp>
      <p:sp>
        <p:nvSpPr>
          <p:cNvPr id="40" name="TextBox 39"/>
          <p:cNvSpPr txBox="1"/>
          <p:nvPr/>
        </p:nvSpPr>
        <p:spPr>
          <a:xfrm>
            <a:off x="7027164" y="2040026"/>
            <a:ext cx="1714500" cy="468538"/>
          </a:xfrm>
          <a:prstGeom prst="rect">
            <a:avLst/>
          </a:prstGeom>
          <a:noFill/>
        </p:spPr>
        <p:txBody>
          <a:bodyPr wrap="square" lIns="0" rIns="0" tIns="0" bIns="0" anchor="t">
            <a:spAutoFit/>
          </a:bodyPr>
          <a:lstStyle/>
          <a:p>
            <a:pPr algn="ctr"/>
            <a:r>
              <a:rPr sz="1200" b="0">
                <a:solidFill>
                  <a:srgbClr val="6B6B6B"/>
                </a:solidFill>
                <a:latin typeface="Source Code Pro"/>
              </a:rPr>
              <a:t>to a past trip</a:t>
            </a:r>
          </a:p>
        </p:txBody>
      </p:sp>
      <p:sp>
        <p:nvSpPr>
          <p:cNvPr id="41" name="Rectangle 40"/>
          <p:cNvSpPr/>
          <p:nvPr/>
        </p:nvSpPr>
        <p:spPr>
          <a:xfrm>
            <a:off x="1259586" y="2816352"/>
            <a:ext cx="6624828" cy="10972"/>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884414" y="2542032"/>
            <a:ext cx="10972" cy="274320"/>
          </a:xfrm>
          <a:prstGeom prst="rect">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Up Arrow 42"/>
          <p:cNvSpPr/>
          <p:nvPr/>
        </p:nvSpPr>
        <p:spPr>
          <a:xfrm>
            <a:off x="1241298" y="2542032"/>
            <a:ext cx="91440" cy="274320"/>
          </a:xfrm>
          <a:prstGeom prst="upArrow">
            <a:avLst/>
          </a:prstGeom>
          <a:solidFill>
            <a:srgbClr val="ED17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10896" y="2889504"/>
            <a:ext cx="8522208" cy="237744"/>
          </a:xfrm>
          <a:prstGeom prst="rect">
            <a:avLst/>
          </a:prstGeom>
          <a:noFill/>
        </p:spPr>
        <p:txBody>
          <a:bodyPr wrap="square" lIns="0" rIns="0" tIns="0" bIns="0" anchor="t">
            <a:spAutoFit/>
          </a:bodyPr>
          <a:lstStyle/>
          <a:p>
            <a:pPr algn="ctr"/>
            <a:r>
              <a:rPr sz="1200" b="0">
                <a:solidFill>
                  <a:srgbClr val="6B6B6B"/>
                </a:solidFill>
                <a:latin typeface="Source Code Pro"/>
              </a:rPr>
              <a:t>or you revise a line yourself, by saying so in any chat</a:t>
            </a:r>
          </a:p>
        </p:txBody>
      </p:sp>
      <p:sp>
        <p:nvSpPr>
          <p:cNvPr id="45" name="TextBox 44"/>
          <p:cNvSpPr txBox="1"/>
          <p:nvPr/>
        </p:nvSpPr>
        <p:spPr>
          <a:xfrm>
            <a:off x="310896" y="3566160"/>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Preferences age well. Dated facts do not. A store nobody revises does not go blank, it goes quietly wrong, and the assistant applies the wrong line with exactly the confidence it applies the right 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it stops</a:t>
            </a:r>
          </a:p>
        </p:txBody>
      </p:sp>
      <p:sp>
        <p:nvSpPr>
          <p:cNvPr id="3" name="Text Placeholder 2"/>
          <p:cNvSpPr>
            <a:spLocks noGrp="1"/>
          </p:cNvSpPr>
          <p:nvPr>
            <p:ph type="body" idx="1"/>
          </p:nvPr>
        </p:nvSpPr>
        <p:spPr>
          <a:xfrm>
            <a:off x="310896" y="1426464"/>
            <a:ext cx="3849624" cy="2423160"/>
          </a:xfrm>
        </p:spPr>
        <p:txBody>
          <a:bodyPr wrap="square" anchor="ctr"/>
          <a:lstStyle/>
          <a:p>
            <a:pPr marL="0" indent="0">
              <a:buNone/>
            </a:pPr>
            <a:r>
              <a:t>Memory is opt-in, and how far it reaches is yours to set. You can hold it to a single project, or have a conversation that neither reads the store nor writes to it.</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 name="Rounded Rectangle 25"/>
          <p:cNvSpPr/>
          <p:nvPr/>
        </p:nvSpPr>
        <p:spPr>
          <a:xfrm>
            <a:off x="4663440" y="1426464"/>
            <a:ext cx="4169663" cy="2423160"/>
          </a:xfrm>
          <a:prstGeom prst="roundRect">
            <a:avLst>
              <a:gd name="adj" fmla="val 1935"/>
            </a:avLst>
          </a:prstGeom>
          <a:solidFill>
            <a:srgbClr val="3031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4663440" y="1426464"/>
            <a:ext cx="4169663" cy="301752"/>
          </a:xfrm>
          <a:prstGeom prst="roundRect">
            <a:avLst>
              <a:gd name="adj" fmla="val 18181"/>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663440" y="1619585"/>
            <a:ext cx="4169663" cy="108630"/>
          </a:xfrm>
          <a:prstGeom prst="rect">
            <a:avLst/>
          </a:prstGeom>
          <a:solidFill>
            <a:srgbClr val="2526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809744" y="1508760"/>
            <a:ext cx="2918764" cy="182880"/>
          </a:xfrm>
          <a:prstGeom prst="rect">
            <a:avLst/>
          </a:prstGeom>
          <a:noFill/>
        </p:spPr>
        <p:txBody>
          <a:bodyPr wrap="square" lIns="0" rIns="0" tIns="0" bIns="0" anchor="t">
            <a:spAutoFit/>
          </a:bodyPr>
          <a:lstStyle/>
          <a:p>
            <a:pPr algn="l"/>
            <a:r>
              <a:rPr sz="1200" b="1">
                <a:solidFill>
                  <a:srgbClr val="F7F7FA"/>
                </a:solidFill>
                <a:latin typeface="Arial"/>
              </a:rPr>
              <a:t>Memory</a:t>
            </a:r>
          </a:p>
        </p:txBody>
      </p:sp>
      <p:sp>
        <p:nvSpPr>
          <p:cNvPr id="30" name="TextBox 29"/>
          <p:cNvSpPr txBox="1"/>
          <p:nvPr/>
        </p:nvSpPr>
        <p:spPr>
          <a:xfrm>
            <a:off x="7589520" y="1527048"/>
            <a:ext cx="1097280" cy="173736"/>
          </a:xfrm>
          <a:prstGeom prst="rect">
            <a:avLst/>
          </a:prstGeom>
          <a:noFill/>
        </p:spPr>
        <p:txBody>
          <a:bodyPr wrap="square" lIns="0" rIns="0" tIns="0" bIns="0" anchor="t">
            <a:spAutoFit/>
          </a:bodyPr>
          <a:lstStyle/>
          <a:p>
            <a:pPr algn="r"/>
            <a:r>
              <a:rPr sz="885" b="0">
                <a:solidFill>
                  <a:srgbClr val="C6C7D0"/>
                </a:solidFill>
                <a:latin typeface="Arial"/>
              </a:rPr>
              <a:t>Scope</a:t>
            </a:r>
          </a:p>
        </p:txBody>
      </p:sp>
      <p:sp>
        <p:nvSpPr>
          <p:cNvPr id="31" name="TextBox 30"/>
          <p:cNvSpPr txBox="1"/>
          <p:nvPr/>
        </p:nvSpPr>
        <p:spPr>
          <a:xfrm>
            <a:off x="4809744" y="1856232"/>
            <a:ext cx="1737360" cy="173736"/>
          </a:xfrm>
          <a:prstGeom prst="rect">
            <a:avLst/>
          </a:prstGeom>
          <a:noFill/>
        </p:spPr>
        <p:txBody>
          <a:bodyPr wrap="square" lIns="0" rIns="0" tIns="0" bIns="0" anchor="t">
            <a:spAutoFit/>
          </a:bodyPr>
          <a:lstStyle/>
          <a:p>
            <a:pPr algn="l"/>
            <a:r>
              <a:rPr sz="885" b="1">
                <a:solidFill>
                  <a:srgbClr val="C6C7D0"/>
                </a:solidFill>
                <a:latin typeface="Arial"/>
              </a:rPr>
              <a:t>Reads and writes</a:t>
            </a:r>
          </a:p>
        </p:txBody>
      </p:sp>
      <p:sp>
        <p:nvSpPr>
          <p:cNvPr id="32" name="TextBox 31"/>
          <p:cNvSpPr txBox="1"/>
          <p:nvPr/>
        </p:nvSpPr>
        <p:spPr>
          <a:xfrm>
            <a:off x="4809744" y="2057400"/>
            <a:ext cx="3877055" cy="210312"/>
          </a:xfrm>
          <a:prstGeom prst="rect">
            <a:avLst/>
          </a:prstGeom>
          <a:noFill/>
        </p:spPr>
        <p:txBody>
          <a:bodyPr wrap="none" lIns="0" rIns="0" tIns="0" bIns="0" anchor="t">
            <a:spAutoFit/>
          </a:bodyPr>
          <a:lstStyle/>
          <a:p>
            <a:pPr algn="l"/>
            <a:r>
              <a:rPr sz="1125" b="0">
                <a:solidFill>
                  <a:srgbClr val="F7F7FA"/>
                </a:solidFill>
                <a:latin typeface="Arial"/>
              </a:rPr>
              <a:t>Your ordinary conversations.</a:t>
            </a:r>
          </a:p>
        </p:txBody>
      </p:sp>
      <p:sp>
        <p:nvSpPr>
          <p:cNvPr id="33" name="TextBox 32"/>
          <p:cNvSpPr txBox="1"/>
          <p:nvPr/>
        </p:nvSpPr>
        <p:spPr>
          <a:xfrm>
            <a:off x="4809744" y="2267712"/>
            <a:ext cx="3877055" cy="210312"/>
          </a:xfrm>
          <a:prstGeom prst="rect">
            <a:avLst/>
          </a:prstGeom>
          <a:noFill/>
        </p:spPr>
        <p:txBody>
          <a:bodyPr wrap="none" lIns="0" rIns="0" tIns="0" bIns="0" anchor="t">
            <a:spAutoFit/>
          </a:bodyPr>
          <a:lstStyle/>
          <a:p>
            <a:pPr algn="l"/>
            <a:r>
              <a:rPr sz="1125" b="0">
                <a:solidFill>
                  <a:srgbClr val="F7F7FA"/>
                </a:solidFill>
                <a:latin typeface="Arial"/>
              </a:rPr>
              <a:t>Chats you scope to one project.</a:t>
            </a:r>
          </a:p>
        </p:txBody>
      </p:sp>
      <p:sp>
        <p:nvSpPr>
          <p:cNvPr id="34" name="TextBox 33"/>
          <p:cNvSpPr txBox="1"/>
          <p:nvPr/>
        </p:nvSpPr>
        <p:spPr>
          <a:xfrm>
            <a:off x="4809744" y="2478024"/>
            <a:ext cx="3877055" cy="210312"/>
          </a:xfrm>
          <a:prstGeom prst="rect">
            <a:avLst/>
          </a:prstGeom>
          <a:noFill/>
        </p:spPr>
        <p:txBody>
          <a:bodyPr wrap="none" lIns="0" rIns="0" tIns="0" bIns="0" anchor="t">
            <a:spAutoFit/>
          </a:bodyPr>
          <a:lstStyle/>
          <a:p>
            <a:pPr algn="l"/>
            <a:r>
              <a:rPr sz="1125" b="0">
                <a:solidFill>
                  <a:srgbClr val="F7F7FA"/>
                </a:solidFill>
                <a:latin typeface="Arial"/>
              </a:rPr>
              <a:t>Anything you ask it to keep.</a:t>
            </a:r>
          </a:p>
        </p:txBody>
      </p:sp>
      <p:sp>
        <p:nvSpPr>
          <p:cNvPr id="35" name="Rectangle 34"/>
          <p:cNvSpPr/>
          <p:nvPr/>
        </p:nvSpPr>
        <p:spPr>
          <a:xfrm>
            <a:off x="4809744" y="2779776"/>
            <a:ext cx="3877055" cy="9144"/>
          </a:xfrm>
          <a:prstGeom prst="rect">
            <a:avLst/>
          </a:prstGeom>
          <a:solidFill>
            <a:srgbClr val="3C3D4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809744" y="2871216"/>
            <a:ext cx="1737360" cy="173736"/>
          </a:xfrm>
          <a:prstGeom prst="rect">
            <a:avLst/>
          </a:prstGeom>
          <a:noFill/>
        </p:spPr>
        <p:txBody>
          <a:bodyPr wrap="square" lIns="0" rIns="0" tIns="0" bIns="0" anchor="t">
            <a:spAutoFit/>
          </a:bodyPr>
          <a:lstStyle/>
          <a:p>
            <a:pPr algn="l"/>
            <a:r>
              <a:rPr sz="885" b="1">
                <a:solidFill>
                  <a:srgbClr val="C6C7D0"/>
                </a:solidFill>
                <a:latin typeface="Arial"/>
              </a:rPr>
              <a:t>Does neither</a:t>
            </a:r>
          </a:p>
        </p:txBody>
      </p:sp>
      <p:sp>
        <p:nvSpPr>
          <p:cNvPr id="37" name="TextBox 36"/>
          <p:cNvSpPr txBox="1"/>
          <p:nvPr/>
        </p:nvSpPr>
        <p:spPr>
          <a:xfrm>
            <a:off x="4809744" y="3072384"/>
            <a:ext cx="3877055" cy="210312"/>
          </a:xfrm>
          <a:prstGeom prst="rect">
            <a:avLst/>
          </a:prstGeom>
          <a:noFill/>
        </p:spPr>
        <p:txBody>
          <a:bodyPr wrap="none" lIns="0" rIns="0" tIns="0" bIns="0" anchor="t">
            <a:spAutoFit/>
          </a:bodyPr>
          <a:lstStyle/>
          <a:p>
            <a:pPr algn="l"/>
            <a:r>
              <a:rPr sz="1125" b="0">
                <a:solidFill>
                  <a:srgbClr val="F7F7FA"/>
                </a:solidFill>
                <a:latin typeface="Arial"/>
              </a:rPr>
              <a:t>A conversation marked temporary.</a:t>
            </a:r>
          </a:p>
        </p:txBody>
      </p:sp>
      <p:sp>
        <p:nvSpPr>
          <p:cNvPr id="38" name="TextBox 37"/>
          <p:cNvSpPr txBox="1"/>
          <p:nvPr/>
        </p:nvSpPr>
        <p:spPr>
          <a:xfrm>
            <a:off x="4809744" y="3282696"/>
            <a:ext cx="3877055" cy="210312"/>
          </a:xfrm>
          <a:prstGeom prst="rect">
            <a:avLst/>
          </a:prstGeom>
          <a:noFill/>
        </p:spPr>
        <p:txBody>
          <a:bodyPr wrap="none" lIns="0" rIns="0" tIns="0" bIns="0" anchor="t">
            <a:spAutoFit/>
          </a:bodyPr>
          <a:lstStyle/>
          <a:p>
            <a:pPr algn="l"/>
            <a:r>
              <a:rPr sz="1125" b="0">
                <a:solidFill>
                  <a:srgbClr val="F7F7FA"/>
                </a:solidFill>
                <a:latin typeface="Arial"/>
              </a:rPr>
              <a:t>Any chat once you switch it off.</a:t>
            </a:r>
          </a:p>
        </p:txBody>
      </p:sp>
      <p:sp>
        <p:nvSpPr>
          <p:cNvPr id="39" name="TextBox 38"/>
          <p:cNvSpPr txBox="1"/>
          <p:nvPr/>
        </p:nvSpPr>
        <p:spPr>
          <a:xfrm>
            <a:off x="4809744" y="3493008"/>
            <a:ext cx="3877055" cy="210312"/>
          </a:xfrm>
          <a:prstGeom prst="rect">
            <a:avLst/>
          </a:prstGeom>
          <a:noFill/>
        </p:spPr>
        <p:txBody>
          <a:bodyPr wrap="none" lIns="0" rIns="0" tIns="0" bIns="0" anchor="t">
            <a:spAutoFit/>
          </a:bodyPr>
          <a:lstStyle/>
          <a:p>
            <a:pPr algn="l"/>
            <a:r>
              <a:rPr sz="1125" b="0">
                <a:solidFill>
                  <a:srgbClr val="F7F7FA"/>
                </a:solidFill>
                <a:latin typeface="Arial"/>
              </a:rPr>
              <a:t>Another vendor's assistant.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matters - forgetting is not the risk</a:t>
            </a:r>
          </a:p>
        </p:txBody>
      </p:sp>
      <p:sp>
        <p:nvSpPr>
          <p:cNvPr id="25" name="Google Shape;25;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graphicFrame>
        <p:nvGraphicFramePr>
          <p:cNvPr id="26" name="Table 25"/>
          <p:cNvGraphicFramePr>
            <a:graphicFrameLocks noGrp="1"/>
          </p:cNvGraphicFramePr>
          <p:nvPr/>
        </p:nvGraphicFramePr>
        <p:xfrm>
          <a:off x="310896" y="1426464"/>
          <a:ext cx="8522206" cy="2048255"/>
        </p:xfrm>
        <a:graphic>
          <a:graphicData uri="http://schemas.openxmlformats.org/drawingml/2006/table">
            <a:tbl>
              <a:tblPr>
                <a:tableStyleId>{2D5ABB26-0587-4C30-8999-92F81FD0307C}</a:tableStyleId>
              </a:tblPr>
              <a:tblGrid>
                <a:gridCol w="1924369"/>
                <a:gridCol w="3115645"/>
                <a:gridCol w="3482192"/>
              </a:tblGrid>
              <a:tr h="409651">
                <a:tc>
                  <a:txBody>
                    <a:bodyPr wrap="square"/>
                    <a:lstStyle/>
                    <a:p>
                      <a:r>
                        <a:rPr sz="1200" b="1">
                          <a:solidFill>
                            <a:srgbClr val="424242"/>
                          </a:solidFill>
                          <a:latin typeface="Source Code Pro"/>
                        </a:rPr>
                        <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Without memory</a:t>
                      </a:r>
                    </a:p>
                  </a:txBody>
                  <a:tcPr marL="91440" marR="91440" marT="36576" marB="36576" anchor="ctr">
                    <a:lnT w="9525" cap="flat">
                      <a:solidFill>
                        <a:srgbClr val="D8D8DE"/>
                      </a:solidFill>
                    </a:lnT>
                    <a:lnB w="15875" cap="flat">
                      <a:solidFill>
                        <a:srgbClr val="424242"/>
                      </a:solidFill>
                    </a:lnB>
                    <a:solidFill>
                      <a:srgbClr val="FFFFFF"/>
                    </a:solidFill>
                  </a:tcPr>
                </a:tc>
                <a:tc>
                  <a:txBody>
                    <a:bodyPr wrap="square"/>
                    <a:lstStyle/>
                    <a:p>
                      <a:r>
                        <a:rPr sz="1200" b="1">
                          <a:solidFill>
                            <a:srgbClr val="424242"/>
                          </a:solidFill>
                          <a:latin typeface="Source Code Pro"/>
                        </a:rPr>
                        <a:t>With memory</a:t>
                      </a:r>
                    </a:p>
                  </a:txBody>
                  <a:tcPr marL="91440" marR="91440" marT="36576" marB="36576" anchor="ctr">
                    <a:lnT w="9525" cap="flat">
                      <a:solidFill>
                        <a:srgbClr val="D8D8DE"/>
                      </a:solidFill>
                    </a:lnT>
                    <a:lnB w="15875" cap="flat">
                      <a:solidFill>
                        <a:srgbClr val="424242"/>
                      </a:solidFill>
                    </a:lnB>
                    <a:solidFill>
                      <a:srgbClr val="FFFFFF"/>
                    </a:solidFill>
                  </a:tcPr>
                </a:tc>
              </a:tr>
              <a:tr h="409651">
                <a:tc>
                  <a:txBody>
                    <a:bodyPr wrap="square"/>
                    <a:lstStyle/>
                    <a:p>
                      <a:r>
                        <a:rPr sz="1200" b="0">
                          <a:solidFill>
                            <a:srgbClr val="424242"/>
                          </a:solidFill>
                          <a:latin typeface="Source Code Pro"/>
                        </a:rPr>
                        <a:t>Set-up</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Re-stated every time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Stated once</a:t>
                      </a:r>
                    </a:p>
                  </a:txBody>
                  <a:tcPr marL="91440" marR="91440" marT="36576" marB="36576" anchor="ctr">
                    <a:lnB w="9525" cap="flat">
                      <a:solidFill>
                        <a:srgbClr val="D8D8DE"/>
                      </a:solidFill>
                    </a:lnB>
                    <a:solidFill>
                      <a:srgbClr val="FFFFFF"/>
                    </a:solidFill>
                  </a:tcPr>
                </a:tc>
              </a:tr>
              <a:tr h="409651">
                <a:tc>
                  <a:txBody>
                    <a:bodyPr wrap="square"/>
                    <a:lstStyle/>
                    <a:p>
                      <a:r>
                        <a:rPr sz="1200" b="0">
                          <a:solidFill>
                            <a:srgbClr val="424242"/>
                          </a:solidFill>
                          <a:latin typeface="Source Code Pro"/>
                        </a:rPr>
                        <a:t>Answers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Generic by default</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Shaped to your situation</a:t>
                      </a:r>
                    </a:p>
                  </a:txBody>
                  <a:tcPr marL="91440" marR="91440" marT="36576" marB="36576" anchor="ctr">
                    <a:lnB w="9525" cap="flat">
                      <a:solidFill>
                        <a:srgbClr val="D8D8DE"/>
                      </a:solidFill>
                    </a:lnB>
                    <a:solidFill>
                      <a:srgbClr val="FFFFFF"/>
                    </a:solidFill>
                  </a:tcPr>
                </a:tc>
              </a:tr>
              <a:tr h="409651">
                <a:tc>
                  <a:txBody>
                    <a:bodyPr wrap="square"/>
                    <a:lstStyle/>
                    <a:p>
                      <a:r>
                        <a:rPr sz="1200" b="0">
                          <a:solidFill>
                            <a:srgbClr val="424242"/>
                          </a:solidFill>
                          <a:latin typeface="Source Code Pro"/>
                        </a:rPr>
                        <a:t>What goes wrong</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It forgets</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It remembers something untrue</a:t>
                      </a:r>
                    </a:p>
                  </a:txBody>
                  <a:tcPr marL="91440" marR="91440" marT="36576" marB="36576" anchor="ctr">
                    <a:lnB w="9525" cap="flat">
                      <a:solidFill>
                        <a:srgbClr val="D8D8DE"/>
                      </a:solidFill>
                    </a:lnB>
                    <a:solidFill>
                      <a:srgbClr val="FFFFFF"/>
                    </a:solidFill>
                  </a:tcPr>
                </a:tc>
              </a:tr>
              <a:tr h="409651">
                <a:tc>
                  <a:txBody>
                    <a:bodyPr wrap="square"/>
                    <a:lstStyle/>
                    <a:p>
                      <a:r>
                        <a:rPr sz="1200" b="0">
                          <a:solidFill>
                            <a:srgbClr val="424242"/>
                          </a:solidFill>
                          <a:latin typeface="Source Code Pro"/>
                        </a:rPr>
                        <a:t>When you notice</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Straight away</a:t>
                      </a:r>
                    </a:p>
                  </a:txBody>
                  <a:tcPr marL="91440" marR="91440" marT="36576" marB="36576" anchor="ctr">
                    <a:lnB w="9525" cap="flat">
                      <a:solidFill>
                        <a:srgbClr val="D8D8DE"/>
                      </a:solidFill>
                    </a:lnB>
                    <a:solidFill>
                      <a:srgbClr val="FFFFFF"/>
                    </a:solidFill>
                  </a:tcPr>
                </a:tc>
                <a:tc>
                  <a:txBody>
                    <a:bodyPr wrap="square"/>
                    <a:lstStyle/>
                    <a:p>
                      <a:r>
                        <a:rPr sz="1200" b="0">
                          <a:solidFill>
                            <a:srgbClr val="424242"/>
                          </a:solidFill>
                          <a:latin typeface="Source Code Pro"/>
                        </a:rPr>
                        <a:t>Only if you read the store</a:t>
                      </a:r>
                    </a:p>
                  </a:txBody>
                  <a:tcPr marL="91440" marR="91440" marT="36576" marB="36576" anchor="ctr">
                    <a:lnB w="9525" cap="flat">
                      <a:solidFill>
                        <a:srgbClr val="D8D8DE"/>
                      </a:solidFill>
                    </a:lnB>
                    <a:solidFill>
                      <a:srgbClr val="FFFFFF"/>
                    </a:solidFill>
                  </a:tcPr>
                </a:tc>
              </a:tr>
            </a:tbl>
          </a:graphicData>
        </a:graphic>
      </p:graphicFrame>
      <p:sp>
        <p:nvSpPr>
          <p:cNvPr id="27" name="TextBox 26"/>
          <p:cNvSpPr txBox="1"/>
          <p:nvPr/>
        </p:nvSpPr>
        <p:spPr>
          <a:xfrm>
            <a:off x="310896" y="3694176"/>
            <a:ext cx="8522208" cy="411480"/>
          </a:xfrm>
          <a:prstGeom prst="rect">
            <a:avLst/>
          </a:prstGeom>
          <a:noFill/>
        </p:spPr>
        <p:txBody>
          <a:bodyPr wrap="square" lIns="0" rIns="0" tIns="0" bIns="0" anchor="t">
            <a:spAutoFit/>
          </a:bodyPr>
          <a:lstStyle/>
          <a:p>
            <a:pPr algn="l">
              <a:lnSpc>
                <a:spcPct val="125000"/>
              </a:lnSpc>
            </a:pPr>
            <a:r>
              <a:rPr sz="1200" b="0">
                <a:solidFill>
                  <a:srgbClr val="6B6B6B"/>
                </a:solidFill>
                <a:latin typeface="Source Code Pro"/>
              </a:rPr>
              <a:t>Forgetting announces itself. A stale line does not: it bends every answer slightly until somebody opens the store and deletes it. That is what memory costs you - a store you have to maintain.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belongs in the store</a:t>
            </a:r>
          </a:p>
        </p:txBody>
      </p:sp>
      <p:sp>
        <p:nvSpPr>
          <p:cNvPr id="3" name="Text Placeholder 2"/>
          <p:cNvSpPr>
            <a:spLocks noGrp="1"/>
          </p:cNvSpPr>
          <p:nvPr>
            <p:ph type="body" idx="1"/>
          </p:nvPr>
        </p:nvSpPr>
        <p:spPr>
          <a:xfrm>
            <a:off x="311700" y="1874519"/>
            <a:ext cx="3999900" cy="2679191"/>
          </a:xfrm>
        </p:spPr>
        <p:txBody>
          <a:bodyPr/>
          <a:lstStyle/>
          <a:p>
            <a:r>
              <a:t>Standing preferences - tone, spelling, units</a:t>
            </a:r>
          </a:p>
          <a:p>
            <a:r>
              <a:t>Facts about your work you would repeat weekly</a:t>
            </a:r>
          </a:p>
          <a:p>
            <a:r>
              <a:t>Constraints that apply to everything you ask</a:t>
            </a:r>
          </a:p>
        </p:txBody>
      </p:sp>
      <p:sp>
        <p:nvSpPr>
          <p:cNvPr id="4" name="Text Placeholder 3"/>
          <p:cNvSpPr>
            <a:spLocks noGrp="1"/>
          </p:cNvSpPr>
          <p:nvPr>
            <p:ph type="body" idx="2"/>
          </p:nvPr>
        </p:nvSpPr>
        <p:spPr>
          <a:xfrm>
            <a:off x="4832400" y="1874519"/>
            <a:ext cx="3999900" cy="2679191"/>
          </a:xfrm>
        </p:spPr>
        <p:txBody>
          <a:bodyPr/>
          <a:lstStyle/>
          <a:p>
            <a:r>
              <a:t>Detail from one task you will not repeat</a:t>
            </a:r>
          </a:p>
          <a:p>
            <a:r>
              <a:t>A conclusion you have not checked yet</a:t>
            </a:r>
          </a:p>
          <a:p>
            <a:r>
              <a:t>Anything you would not want read aloud</a:t>
            </a:r>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3" name="TextBox 32"/>
          <p:cNvSpPr txBox="1"/>
          <p:nvPr/>
        </p:nvSpPr>
        <p:spPr>
          <a:xfrm>
            <a:off x="310896"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Worth keeping</a:t>
            </a:r>
          </a:p>
        </p:txBody>
      </p:sp>
      <p:sp>
        <p:nvSpPr>
          <p:cNvPr id="34" name="TextBox 33"/>
          <p:cNvSpPr txBox="1"/>
          <p:nvPr/>
        </p:nvSpPr>
        <p:spPr>
          <a:xfrm>
            <a:off x="4828032" y="1444752"/>
            <a:ext cx="3995928" cy="274320"/>
          </a:xfrm>
          <a:prstGeom prst="rect">
            <a:avLst/>
          </a:prstGeom>
          <a:noFill/>
        </p:spPr>
        <p:txBody>
          <a:bodyPr wrap="square" lIns="0" rIns="0" tIns="0" bIns="0" anchor="t">
            <a:spAutoFit/>
          </a:bodyPr>
          <a:lstStyle/>
          <a:p>
            <a:pPr algn="l"/>
            <a:r>
              <a:rPr sz="1400" b="1">
                <a:solidFill>
                  <a:srgbClr val="424242"/>
                </a:solidFill>
                <a:latin typeface="Source Code Pro"/>
              </a:rPr>
              <a:t>Keep out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7" name="Google Shape;67;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8" name="Rectangle 67"/>
          <p:cNvSpPr/>
          <p:nvPr/>
        </p:nvSpPr>
        <p:spPr>
          <a:xfrm>
            <a:off x="0" y="0"/>
            <a:ext cx="9144000" cy="1572768"/>
          </a:xfrm>
          <a:prstGeom prst="rect">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502920" y="0"/>
            <a:ext cx="8138160" cy="1572768"/>
          </a:xfrm>
          <a:prstGeom prst="rect">
            <a:avLst/>
          </a:prstGeom>
          <a:noFill/>
        </p:spPr>
        <p:txBody>
          <a:bodyPr wrap="square" lIns="0" rIns="0" tIns="0" bIns="0" anchor="ctr">
            <a:spAutoFit/>
          </a:bodyPr>
          <a:lstStyle/>
          <a:p>
            <a:pPr algn="l"/>
            <a:r>
              <a:rPr sz="4000" b="0">
                <a:solidFill>
                  <a:srgbClr val="FFFFFF"/>
                </a:solidFill>
                <a:latin typeface="Oswald"/>
              </a:rPr>
              <a:t>Let's see it in action</a:t>
            </a:r>
          </a:p>
        </p:txBody>
      </p:sp>
      <p:sp>
        <p:nvSpPr>
          <p:cNvPr id="70" name="TextBox 69"/>
          <p:cNvSpPr txBox="1"/>
          <p:nvPr/>
        </p:nvSpPr>
        <p:spPr>
          <a:xfrm>
            <a:off x="502920" y="1883664"/>
            <a:ext cx="8138160" cy="384048"/>
          </a:xfrm>
          <a:prstGeom prst="rect">
            <a:avLst/>
          </a:prstGeom>
          <a:noFill/>
        </p:spPr>
        <p:txBody>
          <a:bodyPr wrap="square" lIns="0" rIns="0" tIns="0" bIns="0" anchor="t">
            <a:spAutoFit/>
          </a:bodyPr>
          <a:lstStyle/>
          <a:p>
            <a:pPr algn="l">
              <a:lnSpc>
                <a:spcPct val="120000"/>
              </a:lnSpc>
            </a:pPr>
            <a:r>
              <a:rPr sz="1500" b="0">
                <a:solidFill>
                  <a:srgbClr val="424242"/>
                </a:solidFill>
                <a:latin typeface="Source Code Pro"/>
              </a:rPr>
              <a:t>That is the principle. Now we open the store and edit it live.</a:t>
            </a:r>
          </a:p>
        </p:txBody>
      </p:sp>
      <p:sp>
        <p:nvSpPr>
          <p:cNvPr id="71" name="Rounded Rectangle 70"/>
          <p:cNvSpPr/>
          <p:nvPr/>
        </p:nvSpPr>
        <p:spPr>
          <a:xfrm>
            <a:off x="502920"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Oval 71"/>
          <p:cNvSpPr/>
          <p:nvPr/>
        </p:nvSpPr>
        <p:spPr>
          <a:xfrm>
            <a:off x="722376"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22376"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1</a:t>
            </a:r>
          </a:p>
        </p:txBody>
      </p:sp>
      <p:sp>
        <p:nvSpPr>
          <p:cNvPr id="74" name="TextBox 73"/>
          <p:cNvSpPr txBox="1"/>
          <p:nvPr/>
        </p:nvSpPr>
        <p:spPr>
          <a:xfrm>
            <a:off x="704088" y="3127248"/>
            <a:ext cx="2139696" cy="448056"/>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Open the store</a:t>
            </a:r>
          </a:p>
        </p:txBody>
      </p:sp>
      <p:sp>
        <p:nvSpPr>
          <p:cNvPr id="75" name="TextBox 74"/>
          <p:cNvSpPr txBox="1"/>
          <p:nvPr/>
        </p:nvSpPr>
        <p:spPr>
          <a:xfrm>
            <a:off x="704088"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and read what it already holds</a:t>
            </a:r>
          </a:p>
        </p:txBody>
      </p:sp>
      <p:sp>
        <p:nvSpPr>
          <p:cNvPr id="76" name="Rounded Rectangle 75"/>
          <p:cNvSpPr/>
          <p:nvPr/>
        </p:nvSpPr>
        <p:spPr>
          <a:xfrm>
            <a:off x="3300983"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Oval 76"/>
          <p:cNvSpPr/>
          <p:nvPr/>
        </p:nvSpPr>
        <p:spPr>
          <a:xfrm>
            <a:off x="3520439"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3520439"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2</a:t>
            </a:r>
          </a:p>
        </p:txBody>
      </p:sp>
      <p:sp>
        <p:nvSpPr>
          <p:cNvPr id="79" name="TextBox 78"/>
          <p:cNvSpPr txBox="1"/>
          <p:nvPr/>
        </p:nvSpPr>
        <p:spPr>
          <a:xfrm>
            <a:off x="3502151" y="3127248"/>
            <a:ext cx="2139696" cy="448056"/>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Say one thing worth keeping</a:t>
            </a:r>
          </a:p>
        </p:txBody>
      </p:sp>
      <p:sp>
        <p:nvSpPr>
          <p:cNvPr id="80" name="TextBox 79"/>
          <p:cNvSpPr txBox="1"/>
          <p:nvPr/>
        </p:nvSpPr>
        <p:spPr>
          <a:xfrm>
            <a:off x="3502151"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then start a fresh chat</a:t>
            </a:r>
          </a:p>
        </p:txBody>
      </p:sp>
      <p:sp>
        <p:nvSpPr>
          <p:cNvPr id="81" name="Rounded Rectangle 80"/>
          <p:cNvSpPr/>
          <p:nvPr/>
        </p:nvSpPr>
        <p:spPr>
          <a:xfrm>
            <a:off x="6099047" y="2450592"/>
            <a:ext cx="2542032" cy="1691640"/>
          </a:xfrm>
          <a:prstGeom prst="roundRect">
            <a:avLst>
              <a:gd name="adj" fmla="val 2702"/>
            </a:avLst>
          </a:prstGeom>
          <a:solidFill>
            <a:srgbClr val="FFFFFF"/>
          </a:solidFill>
          <a:ln w="9525">
            <a:solidFill>
              <a:srgbClr val="D8D8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Oval 81"/>
          <p:cNvSpPr/>
          <p:nvPr/>
        </p:nvSpPr>
        <p:spPr>
          <a:xfrm>
            <a:off x="6318503" y="2670048"/>
            <a:ext cx="384048" cy="384048"/>
          </a:xfrm>
          <a:prstGeom prst="ellipse">
            <a:avLst/>
          </a:prstGeom>
          <a:solidFill>
            <a:srgbClr val="E91D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6318503" y="2670048"/>
            <a:ext cx="384048" cy="384048"/>
          </a:xfrm>
          <a:prstGeom prst="rect">
            <a:avLst/>
          </a:prstGeom>
          <a:noFill/>
        </p:spPr>
        <p:txBody>
          <a:bodyPr wrap="square" lIns="0" rIns="0" tIns="0" bIns="0" anchor="ctr">
            <a:spAutoFit/>
          </a:bodyPr>
          <a:lstStyle/>
          <a:p>
            <a:pPr algn="ctr"/>
            <a:r>
              <a:rPr sz="1700" b="1">
                <a:solidFill>
                  <a:srgbClr val="FFFFFF"/>
                </a:solidFill>
                <a:latin typeface="Oswald"/>
              </a:rPr>
              <a:t>3</a:t>
            </a:r>
          </a:p>
        </p:txBody>
      </p:sp>
      <p:sp>
        <p:nvSpPr>
          <p:cNvPr id="84" name="TextBox 83"/>
          <p:cNvSpPr txBox="1"/>
          <p:nvPr/>
        </p:nvSpPr>
        <p:spPr>
          <a:xfrm>
            <a:off x="6300215" y="3127248"/>
            <a:ext cx="2139696" cy="448056"/>
          </a:xfrm>
          <a:prstGeom prst="rect">
            <a:avLst/>
          </a:prstGeom>
          <a:noFill/>
        </p:spPr>
        <p:txBody>
          <a:bodyPr wrap="square" lIns="0" rIns="0" tIns="0" bIns="0" anchor="t">
            <a:spAutoFit/>
          </a:bodyPr>
          <a:lstStyle/>
          <a:p>
            <a:pPr algn="l">
              <a:lnSpc>
                <a:spcPct val="120000"/>
              </a:lnSpc>
            </a:pPr>
            <a:r>
              <a:rPr sz="1300" b="0">
                <a:solidFill>
                  <a:srgbClr val="424242"/>
                </a:solidFill>
                <a:latin typeface="Source Code Pro"/>
              </a:rPr>
              <a:t>Correct a line</a:t>
            </a:r>
          </a:p>
        </p:txBody>
      </p:sp>
      <p:sp>
        <p:nvSpPr>
          <p:cNvPr id="85" name="TextBox 84"/>
          <p:cNvSpPr txBox="1"/>
          <p:nvPr/>
        </p:nvSpPr>
        <p:spPr>
          <a:xfrm>
            <a:off x="6300215" y="3630168"/>
            <a:ext cx="2139696" cy="420624"/>
          </a:xfrm>
          <a:prstGeom prst="rect">
            <a:avLst/>
          </a:prstGeom>
          <a:noFill/>
        </p:spPr>
        <p:txBody>
          <a:bodyPr wrap="square" lIns="0" rIns="0" tIns="0" bIns="0" anchor="t">
            <a:spAutoFit/>
          </a:bodyPr>
          <a:lstStyle/>
          <a:p>
            <a:pPr algn="l">
              <a:lnSpc>
                <a:spcPct val="115000"/>
              </a:lnSpc>
            </a:pPr>
            <a:r>
              <a:rPr sz="1200" b="0">
                <a:solidFill>
                  <a:srgbClr val="6B6B6B"/>
                </a:solidFill>
                <a:latin typeface="Source Code Pro"/>
              </a:rPr>
              <a:t>and delete another</a:t>
            </a:r>
          </a:p>
        </p:txBody>
      </p:sp>
    </p:spTree>
  </p:cSld>
  <p:clrMapOvr>
    <a:masterClrMapping/>
  </p:clrMapOvr>
</p:sld>
</file>

<file path=ppt/theme/theme1.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