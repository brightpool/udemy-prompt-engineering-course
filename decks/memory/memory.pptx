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5"/>
    <p:sldMasterId id="2147483671" r:id="rId6"/>
  </p:sldMasterIdLst>
  <p:notesMasterIdLst>
    <p:notesMasterId r:id="rId7"/>
  </p:notesMasterIdLst>
  <p:sldIdLst>
    <p:sldId id="256" r:id="rId14"/>
    <p:sldId id="257" r:id="rId15"/>
    <p:sldId id="258" r:id="rId16"/>
    <p:sldId id="259" r:id="rId17"/>
    <p:sldId id="260" r:id="rId18"/>
    <p:sldId id="261" r:id="rId19"/>
    <p:sldId id="262" r:id="rId20"/>
    <p:sldId id="263" r:id="rId21"/>
    <p:sldId id="264" r:id="rId22"/>
    <p:sldId id="265" r:id="rId23"/>
    <p:sldId id="266" r:id="rId13"/>
  </p:sldIdLst>
  <p:sldSz cy="5143500" cx="9144000"/>
  <p:notesSz cx="6858000" cy="9144000"/>
  <p:embeddedFontLst>
    <p:embeddedFont>
      <p:font typeface="Source Code Pro"/>
      <p:regular r:id="rId24"/>
      <p:bold r:id="rId25"/>
      <p:italic r:id="rId26"/>
      <p:boldItalic r:id="rId27"/>
    </p:embeddedFont>
    <p:embeddedFont>
      <p:font typeface="Oswal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73574E-313A-4E41-A38C-36F247BE0EA5}">
  <a:tblStyle styleId="{3673574E-313A-4E41-A38C-36F247BE0EA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09F496F-DB3D-4476-992D-8F9A65F7952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13" Type="http://schemas.openxmlformats.org/officeDocument/2006/relationships/slide" Target="slides/slide1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font" Target="fonts/SourceCodePro-regular.fntdata"/><Relationship Id="rId25" Type="http://schemas.openxmlformats.org/officeDocument/2006/relationships/font" Target="fonts/SourceCodePro-bold.fntdata"/><Relationship Id="rId26" Type="http://schemas.openxmlformats.org/officeDocument/2006/relationships/font" Target="fonts/SourceCodePro-italic.fntdata"/><Relationship Id="rId27" Type="http://schemas.openxmlformats.org/officeDocument/2006/relationships/font" Target="fonts/SourceCodePro-boldItalic.fntdata"/><Relationship Id="rId28" Type="http://schemas.openxmlformats.org/officeDocument/2006/relationships/font" Target="fonts/Oswald-regular.fntdata"/><Relationship Id="rId29" Type="http://schemas.openxmlformats.org/officeDocument/2006/relationships/font" Target="fonts/Oswa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2"/>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Source Code Pro"/>
                <a:ea typeface="Source Code Pro"/>
                <a:cs typeface="Source Code Pro"/>
                <a:sym typeface="Source Code Pro"/>
              </a:rPr>
              <a:t>The Complete Prompt Engineering for AI Bootcamp</a:t>
            </a:r>
            <a:endParaRPr sz="11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3" name="Google Shape;23;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9" name="Google Shape;29;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cxnSp>
        <p:nvCxnSpPr>
          <p:cNvPr id="39" name="Google Shape;39;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40" name="Google Shape;4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 name="Google Shape;41;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sp>
        <p:nvSpPr>
          <p:cNvPr id="45" name="Google Shape;45;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6" name="Google Shape;4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lt1"/>
                </a:solidFill>
                <a:latin typeface="Source Code Pro"/>
                <a:ea typeface="Source Code Pro"/>
                <a:cs typeface="Source Code Pro"/>
                <a:sym typeface="Source Code Pro"/>
              </a:rPr>
              <a:t>The Complete Prompt Engineering for AI Bootcamp</a:t>
            </a:r>
            <a:endParaRPr sz="9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8" name="Shape 48"/>
        <p:cNvGrpSpPr/>
        <p:nvPr/>
      </p:nvGrpSpPr>
      <p:grpSpPr>
        <a:xfrm>
          <a:off x="0" y="0"/>
          <a:ext cx="0" cy="0"/>
          <a:chOff x="0" y="0"/>
          <a:chExt cx="0" cy="0"/>
        </a:xfrm>
      </p:grpSpPr>
      <p:sp>
        <p:nvSpPr>
          <p:cNvPr id="49" name="Google Shape;49;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51" name="Google Shape;51;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52" name="Google Shape;5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4" name="Google Shape;5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sp>
        <p:nvSpPr>
          <p:cNvPr id="57" name="Google Shape;57;p10"/>
          <p:cNvSpPr txBox="1"/>
          <p:nvPr>
            <p:ph idx="1" type="body"/>
          </p:nvPr>
        </p:nvSpPr>
        <p:spPr>
          <a:xfrm>
            <a:off x="311700" y="406472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8" name="Google Shape;5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62" name="Google Shape;6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63" name="Google Shape;63;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 name="Shape 73"/>
        <p:cNvGrpSpPr/>
        <p:nvPr/>
      </p:nvGrpSpPr>
      <p:grpSpPr>
        <a:xfrm>
          <a:off x="0" y="0"/>
          <a:ext cx="0" cy="0"/>
          <a:chOff x="0" y="0"/>
          <a:chExt cx="0" cy="0"/>
        </a:xfrm>
      </p:grpSpPr>
      <p:sp>
        <p:nvSpPr>
          <p:cNvPr id="74" name="Google Shape;74;p14"/>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4"/>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4"/>
          <p:cNvSpPr txBox="1"/>
          <p:nvPr>
            <p:ph type="ctrTitle"/>
          </p:nvPr>
        </p:nvSpPr>
        <p:spPr>
          <a:xfrm>
            <a:off x="411175" y="644300"/>
            <a:ext cx="8282400" cy="2109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7" name="Google Shape;77;p14"/>
          <p:cNvSpPr txBox="1"/>
          <p:nvPr>
            <p:ph idx="1" type="subTitle"/>
          </p:nvPr>
        </p:nvSpPr>
        <p:spPr>
          <a:xfrm>
            <a:off x="411175" y="3398250"/>
            <a:ext cx="8282400" cy="126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78" name="Google Shape;7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4"/>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Code Pro"/>
                <a:ea typeface="Source Code Pro"/>
                <a:cs typeface="Source Code Pro"/>
                <a:sym typeface="Source Code Pro"/>
              </a:rPr>
              <a:t>The Complete Prompt Engineering for AI Bootcamp</a:t>
            </a:r>
            <a:endParaRPr b="0" i="0" sz="11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cxnSp>
        <p:nvCxnSpPr>
          <p:cNvPr id="81" name="Google Shape;81;p1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82" name="Google Shape;82;p15"/>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3" name="Google Shape;83;p15"/>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4" name="Google Shape;8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6" name="Shape 86"/>
        <p:cNvGrpSpPr/>
        <p:nvPr/>
      </p:nvGrpSpPr>
      <p:grpSpPr>
        <a:xfrm>
          <a:off x="0" y="0"/>
          <a:ext cx="0" cy="0"/>
          <a:chOff x="0" y="0"/>
          <a:chExt cx="0" cy="0"/>
        </a:xfrm>
      </p:grpSpPr>
      <p:sp>
        <p:nvSpPr>
          <p:cNvPr id="87" name="Google Shape;87;p16"/>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6"/>
          <p:cNvSpPr txBox="1"/>
          <p:nvPr>
            <p:ph type="title"/>
          </p:nvPr>
        </p:nvSpPr>
        <p:spPr>
          <a:xfrm>
            <a:off x="430800" y="1889700"/>
            <a:ext cx="8282400" cy="15165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89" name="Google Shape;8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cxnSp>
        <p:nvCxnSpPr>
          <p:cNvPr id="92" name="Google Shape;92;p17"/>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93" name="Google Shape;93;p17"/>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4" name="Google Shape;94;p17"/>
          <p:cNvSpPr txBox="1"/>
          <p:nvPr>
            <p:ph idx="1" type="body"/>
          </p:nvPr>
        </p:nvSpPr>
        <p:spPr>
          <a:xfrm>
            <a:off x="3117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5" name="Google Shape;95;p17"/>
          <p:cNvSpPr txBox="1"/>
          <p:nvPr>
            <p:ph idx="2" type="body"/>
          </p:nvPr>
        </p:nvSpPr>
        <p:spPr>
          <a:xfrm>
            <a:off x="48324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6" name="Google Shape;9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p18"/>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0" name="Google Shape;10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 name="Shape 102"/>
        <p:cNvGrpSpPr/>
        <p:nvPr/>
      </p:nvGrpSpPr>
      <p:grpSpPr>
        <a:xfrm>
          <a:off x="0" y="0"/>
          <a:ext cx="0" cy="0"/>
          <a:chOff x="0" y="0"/>
          <a:chExt cx="0" cy="0"/>
        </a:xfrm>
      </p:grpSpPr>
      <p:cxnSp>
        <p:nvCxnSpPr>
          <p:cNvPr id="103" name="Google Shape;103;p19"/>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104" name="Google Shape;104;p19"/>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5" name="Google Shape;105;p19"/>
          <p:cNvSpPr txBox="1"/>
          <p:nvPr>
            <p:ph idx="1" type="body"/>
          </p:nvPr>
        </p:nvSpPr>
        <p:spPr>
          <a:xfrm>
            <a:off x="311700" y="1618204"/>
            <a:ext cx="2808000" cy="29508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6" name="Google Shape;10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1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08" name="Shape 108"/>
        <p:cNvGrpSpPr/>
        <p:nvPr/>
      </p:nvGrpSpPr>
      <p:grpSpPr>
        <a:xfrm>
          <a:off x="0" y="0"/>
          <a:ext cx="0" cy="0"/>
          <a:chOff x="0" y="0"/>
          <a:chExt cx="0" cy="0"/>
        </a:xfrm>
      </p:grpSpPr>
      <p:sp>
        <p:nvSpPr>
          <p:cNvPr id="109" name="Google Shape;109;p20"/>
          <p:cNvSpPr txBox="1"/>
          <p:nvPr>
            <p:ph type="title"/>
          </p:nvPr>
        </p:nvSpPr>
        <p:spPr>
          <a:xfrm>
            <a:off x="490250" y="528900"/>
            <a:ext cx="5678100" cy="4085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5400"/>
              <a:buNone/>
              <a:defRPr sz="5400">
                <a:solidFill>
                  <a:schemeClr val="lt1"/>
                </a:solidFill>
              </a:defRPr>
            </a:lvl1pPr>
            <a:lvl2pPr lvl="1" algn="l">
              <a:lnSpc>
                <a:spcPct val="100000"/>
              </a:lnSpc>
              <a:spcBef>
                <a:spcPts val="0"/>
              </a:spcBef>
              <a:spcAft>
                <a:spcPts val="0"/>
              </a:spcAft>
              <a:buClr>
                <a:schemeClr val="lt1"/>
              </a:buClr>
              <a:buSzPts val="5400"/>
              <a:buNone/>
              <a:defRPr sz="5400">
                <a:solidFill>
                  <a:schemeClr val="lt1"/>
                </a:solidFill>
              </a:defRPr>
            </a:lvl2pPr>
            <a:lvl3pPr lvl="2" algn="l">
              <a:lnSpc>
                <a:spcPct val="100000"/>
              </a:lnSpc>
              <a:spcBef>
                <a:spcPts val="0"/>
              </a:spcBef>
              <a:spcAft>
                <a:spcPts val="0"/>
              </a:spcAft>
              <a:buClr>
                <a:schemeClr val="lt1"/>
              </a:buClr>
              <a:buSzPts val="5400"/>
              <a:buNone/>
              <a:defRPr sz="5400">
                <a:solidFill>
                  <a:schemeClr val="lt1"/>
                </a:solidFill>
              </a:defRPr>
            </a:lvl3pPr>
            <a:lvl4pPr lvl="3" algn="l">
              <a:lnSpc>
                <a:spcPct val="100000"/>
              </a:lnSpc>
              <a:spcBef>
                <a:spcPts val="0"/>
              </a:spcBef>
              <a:spcAft>
                <a:spcPts val="0"/>
              </a:spcAft>
              <a:buClr>
                <a:schemeClr val="lt1"/>
              </a:buClr>
              <a:buSzPts val="5400"/>
              <a:buNone/>
              <a:defRPr sz="5400">
                <a:solidFill>
                  <a:schemeClr val="lt1"/>
                </a:solidFill>
              </a:defRPr>
            </a:lvl4pPr>
            <a:lvl5pPr lvl="4" algn="l">
              <a:lnSpc>
                <a:spcPct val="100000"/>
              </a:lnSpc>
              <a:spcBef>
                <a:spcPts val="0"/>
              </a:spcBef>
              <a:spcAft>
                <a:spcPts val="0"/>
              </a:spcAft>
              <a:buClr>
                <a:schemeClr val="lt1"/>
              </a:buClr>
              <a:buSzPts val="5400"/>
              <a:buNone/>
              <a:defRPr sz="5400">
                <a:solidFill>
                  <a:schemeClr val="lt1"/>
                </a:solidFill>
              </a:defRPr>
            </a:lvl5pPr>
            <a:lvl6pPr lvl="5" algn="l">
              <a:lnSpc>
                <a:spcPct val="100000"/>
              </a:lnSpc>
              <a:spcBef>
                <a:spcPts val="0"/>
              </a:spcBef>
              <a:spcAft>
                <a:spcPts val="0"/>
              </a:spcAft>
              <a:buClr>
                <a:schemeClr val="lt1"/>
              </a:buClr>
              <a:buSzPts val="5400"/>
              <a:buNone/>
              <a:defRPr sz="5400">
                <a:solidFill>
                  <a:schemeClr val="lt1"/>
                </a:solidFill>
              </a:defRPr>
            </a:lvl6pPr>
            <a:lvl7pPr lvl="6" algn="l">
              <a:lnSpc>
                <a:spcPct val="100000"/>
              </a:lnSpc>
              <a:spcBef>
                <a:spcPts val="0"/>
              </a:spcBef>
              <a:spcAft>
                <a:spcPts val="0"/>
              </a:spcAft>
              <a:buClr>
                <a:schemeClr val="lt1"/>
              </a:buClr>
              <a:buSzPts val="5400"/>
              <a:buNone/>
              <a:defRPr sz="5400">
                <a:solidFill>
                  <a:schemeClr val="lt1"/>
                </a:solidFill>
              </a:defRPr>
            </a:lvl7pPr>
            <a:lvl8pPr lvl="7" algn="l">
              <a:lnSpc>
                <a:spcPct val="100000"/>
              </a:lnSpc>
              <a:spcBef>
                <a:spcPts val="0"/>
              </a:spcBef>
              <a:spcAft>
                <a:spcPts val="0"/>
              </a:spcAft>
              <a:buClr>
                <a:schemeClr val="lt1"/>
              </a:buClr>
              <a:buSzPts val="5400"/>
              <a:buNone/>
              <a:defRPr sz="5400">
                <a:solidFill>
                  <a:schemeClr val="lt1"/>
                </a:solidFill>
              </a:defRPr>
            </a:lvl8pPr>
            <a:lvl9pPr lvl="8" algn="l">
              <a:lnSpc>
                <a:spcPct val="100000"/>
              </a:lnSpc>
              <a:spcBef>
                <a:spcPts val="0"/>
              </a:spcBef>
              <a:spcAft>
                <a:spcPts val="0"/>
              </a:spcAft>
              <a:buClr>
                <a:schemeClr val="lt1"/>
              </a:buClr>
              <a:buSzPts val="5400"/>
              <a:buNone/>
              <a:defRPr sz="5400">
                <a:solidFill>
                  <a:schemeClr val="lt1"/>
                </a:solidFill>
              </a:defRPr>
            </a:lvl9pPr>
          </a:lstStyle>
          <a:p/>
        </p:txBody>
      </p:sp>
      <p:sp>
        <p:nvSpPr>
          <p:cNvPr id="110" name="Google Shape;11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lt1"/>
                </a:solidFill>
                <a:latin typeface="Source Code Pro"/>
                <a:ea typeface="Source Code Pro"/>
                <a:cs typeface="Source Code Pro"/>
                <a:sym typeface="Source Code Pro"/>
              </a:rPr>
              <a:t>The Complete Prompt Engineering for AI Bootcamp</a:t>
            </a:r>
            <a:endParaRPr b="0" i="0" sz="9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112" name="Shape 112"/>
        <p:cNvGrpSpPr/>
        <p:nvPr/>
      </p:nvGrpSpPr>
      <p:grpSpPr>
        <a:xfrm>
          <a:off x="0" y="0"/>
          <a:ext cx="0" cy="0"/>
          <a:chOff x="0" y="0"/>
          <a:chExt cx="0" cy="0"/>
        </a:xfrm>
      </p:grpSpPr>
      <p:sp>
        <p:nvSpPr>
          <p:cNvPr id="113" name="Google Shape;113;p21"/>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4" name="Google Shape;114;p21"/>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115" name="Google Shape;115;p21"/>
          <p:cNvSpPr txBox="1"/>
          <p:nvPr>
            <p:ph type="title"/>
          </p:nvPr>
        </p:nvSpPr>
        <p:spPr>
          <a:xfrm>
            <a:off x="265500" y="1078750"/>
            <a:ext cx="4045200" cy="1789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4600"/>
              <a:buNone/>
              <a:defRPr sz="4600">
                <a:solidFill>
                  <a:schemeClr val="lt1"/>
                </a:solidFill>
              </a:defRPr>
            </a:lvl1pPr>
            <a:lvl2pPr lvl="1" algn="ctr">
              <a:lnSpc>
                <a:spcPct val="100000"/>
              </a:lnSpc>
              <a:spcBef>
                <a:spcPts val="0"/>
              </a:spcBef>
              <a:spcAft>
                <a:spcPts val="0"/>
              </a:spcAft>
              <a:buClr>
                <a:schemeClr val="lt1"/>
              </a:buClr>
              <a:buSzPts val="4600"/>
              <a:buNone/>
              <a:defRPr sz="4600">
                <a:solidFill>
                  <a:schemeClr val="lt1"/>
                </a:solidFill>
              </a:defRPr>
            </a:lvl2pPr>
            <a:lvl3pPr lvl="2" algn="ctr">
              <a:lnSpc>
                <a:spcPct val="100000"/>
              </a:lnSpc>
              <a:spcBef>
                <a:spcPts val="0"/>
              </a:spcBef>
              <a:spcAft>
                <a:spcPts val="0"/>
              </a:spcAft>
              <a:buClr>
                <a:schemeClr val="lt1"/>
              </a:buClr>
              <a:buSzPts val="4600"/>
              <a:buNone/>
              <a:defRPr sz="4600">
                <a:solidFill>
                  <a:schemeClr val="lt1"/>
                </a:solidFill>
              </a:defRPr>
            </a:lvl3pPr>
            <a:lvl4pPr lvl="3" algn="ctr">
              <a:lnSpc>
                <a:spcPct val="100000"/>
              </a:lnSpc>
              <a:spcBef>
                <a:spcPts val="0"/>
              </a:spcBef>
              <a:spcAft>
                <a:spcPts val="0"/>
              </a:spcAft>
              <a:buClr>
                <a:schemeClr val="lt1"/>
              </a:buClr>
              <a:buSzPts val="4600"/>
              <a:buNone/>
              <a:defRPr sz="4600">
                <a:solidFill>
                  <a:schemeClr val="lt1"/>
                </a:solidFill>
              </a:defRPr>
            </a:lvl4pPr>
            <a:lvl5pPr lvl="4" algn="ctr">
              <a:lnSpc>
                <a:spcPct val="100000"/>
              </a:lnSpc>
              <a:spcBef>
                <a:spcPts val="0"/>
              </a:spcBef>
              <a:spcAft>
                <a:spcPts val="0"/>
              </a:spcAft>
              <a:buClr>
                <a:schemeClr val="lt1"/>
              </a:buClr>
              <a:buSzPts val="4600"/>
              <a:buNone/>
              <a:defRPr sz="4600">
                <a:solidFill>
                  <a:schemeClr val="lt1"/>
                </a:solidFill>
              </a:defRPr>
            </a:lvl5pPr>
            <a:lvl6pPr lvl="5" algn="ctr">
              <a:lnSpc>
                <a:spcPct val="100000"/>
              </a:lnSpc>
              <a:spcBef>
                <a:spcPts val="0"/>
              </a:spcBef>
              <a:spcAft>
                <a:spcPts val="0"/>
              </a:spcAft>
              <a:buClr>
                <a:schemeClr val="lt1"/>
              </a:buClr>
              <a:buSzPts val="4600"/>
              <a:buNone/>
              <a:defRPr sz="4600">
                <a:solidFill>
                  <a:schemeClr val="lt1"/>
                </a:solidFill>
              </a:defRPr>
            </a:lvl6pPr>
            <a:lvl7pPr lvl="6" algn="ctr">
              <a:lnSpc>
                <a:spcPct val="100000"/>
              </a:lnSpc>
              <a:spcBef>
                <a:spcPts val="0"/>
              </a:spcBef>
              <a:spcAft>
                <a:spcPts val="0"/>
              </a:spcAft>
              <a:buClr>
                <a:schemeClr val="lt1"/>
              </a:buClr>
              <a:buSzPts val="4600"/>
              <a:buNone/>
              <a:defRPr sz="4600">
                <a:solidFill>
                  <a:schemeClr val="lt1"/>
                </a:solidFill>
              </a:defRPr>
            </a:lvl7pPr>
            <a:lvl8pPr lvl="7" algn="ctr">
              <a:lnSpc>
                <a:spcPct val="100000"/>
              </a:lnSpc>
              <a:spcBef>
                <a:spcPts val="0"/>
              </a:spcBef>
              <a:spcAft>
                <a:spcPts val="0"/>
              </a:spcAft>
              <a:buClr>
                <a:schemeClr val="lt1"/>
              </a:buClr>
              <a:buSzPts val="4600"/>
              <a:buNone/>
              <a:defRPr sz="4600">
                <a:solidFill>
                  <a:schemeClr val="lt1"/>
                </a:solidFill>
              </a:defRPr>
            </a:lvl8pPr>
            <a:lvl9pPr lvl="8" algn="ctr">
              <a:lnSpc>
                <a:spcPct val="100000"/>
              </a:lnSpc>
              <a:spcBef>
                <a:spcPts val="0"/>
              </a:spcBef>
              <a:spcAft>
                <a:spcPts val="0"/>
              </a:spcAft>
              <a:buClr>
                <a:schemeClr val="lt1"/>
              </a:buClr>
              <a:buSzPts val="4600"/>
              <a:buNone/>
              <a:defRPr sz="4600">
                <a:solidFill>
                  <a:schemeClr val="lt1"/>
                </a:solidFill>
              </a:defRPr>
            </a:lvl9pPr>
          </a:lstStyle>
          <a:p/>
        </p:txBody>
      </p:sp>
      <p:sp>
        <p:nvSpPr>
          <p:cNvPr id="116" name="Google Shape;116;p21"/>
          <p:cNvSpPr txBox="1"/>
          <p:nvPr>
            <p:ph idx="1" type="subTitle"/>
          </p:nvPr>
        </p:nvSpPr>
        <p:spPr>
          <a:xfrm>
            <a:off x="265500" y="29214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117" name="Google Shape;11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8" name="Google Shape;11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 name="Shape 120"/>
        <p:cNvGrpSpPr/>
        <p:nvPr/>
      </p:nvGrpSpPr>
      <p:grpSpPr>
        <a:xfrm>
          <a:off x="0" y="0"/>
          <a:ext cx="0" cy="0"/>
          <a:chOff x="0" y="0"/>
          <a:chExt cx="0" cy="0"/>
        </a:xfrm>
      </p:grpSpPr>
      <p:sp>
        <p:nvSpPr>
          <p:cNvPr id="121" name="Google Shape;121;p22"/>
          <p:cNvSpPr txBox="1"/>
          <p:nvPr>
            <p:ph idx="1" type="body"/>
          </p:nvPr>
        </p:nvSpPr>
        <p:spPr>
          <a:xfrm>
            <a:off x="311700" y="406472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122" name="Google Shape;12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4" name="Shape 124"/>
        <p:cNvGrpSpPr/>
        <p:nvPr/>
      </p:nvGrpSpPr>
      <p:grpSpPr>
        <a:xfrm>
          <a:off x="0" y="0"/>
          <a:ext cx="0" cy="0"/>
          <a:chOff x="0" y="0"/>
          <a:chExt cx="0" cy="0"/>
        </a:xfrm>
      </p:grpSpPr>
      <p:cxnSp>
        <p:nvCxnSpPr>
          <p:cNvPr id="125" name="Google Shape;125;p23"/>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126" name="Google Shape;126;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r>
              <a:t>xx%</a:t>
            </a:r>
          </a:p>
        </p:txBody>
      </p:sp>
      <p:sp>
        <p:nvSpPr>
          <p:cNvPr id="127" name="Google Shape;127;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8" name="Google Shape;12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2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69" name="Shape 69"/>
        <p:cNvGrpSpPr/>
        <p:nvPr/>
      </p:nvGrpSpPr>
      <p:grpSpPr>
        <a:xfrm>
          <a:off x="0" y="0"/>
          <a:ext cx="0" cy="0"/>
          <a:chOff x="0" y="0"/>
          <a:chExt cx="0" cy="0"/>
        </a:xfrm>
      </p:grpSpPr>
      <p:sp>
        <p:nvSpPr>
          <p:cNvPr id="70" name="Google Shape;70;p13"/>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9pPr>
          </a:lstStyle>
          <a:p/>
        </p:txBody>
      </p:sp>
      <p:sp>
        <p:nvSpPr>
          <p:cNvPr id="71" name="Google Shape;71;p13"/>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Source Code Pro"/>
              <a:buChar char="●"/>
              <a:defRPr b="0" i="0" sz="1800" u="none" cap="none" strike="noStrike">
                <a:solidFill>
                  <a:schemeClr val="dk2"/>
                </a:solidFill>
                <a:latin typeface="Source Code Pro"/>
                <a:ea typeface="Source Code Pro"/>
                <a:cs typeface="Source Code Pro"/>
                <a:sym typeface="Source Code Pro"/>
              </a:defRPr>
            </a:lvl1pPr>
            <a:lvl2pPr indent="-317500" lvl="1" marL="914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2pPr>
            <a:lvl3pPr indent="-317500" lvl="2" marL="1371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3pPr>
            <a:lvl4pPr indent="-317500" lvl="3" marL="1828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4pPr>
            <a:lvl5pPr indent="-317500" lvl="4" marL="22860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5pPr>
            <a:lvl6pPr indent="-317500" lvl="5" marL="27432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6pPr>
            <a:lvl7pPr indent="-317500" lvl="6" marL="3200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7pPr>
            <a:lvl8pPr indent="-317500" lvl="7" marL="3657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8pPr>
            <a:lvl9pPr indent="-317500" lvl="8" marL="4114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9pPr>
          </a:lstStyle>
          <a:p/>
        </p:txBody>
      </p:sp>
      <p:sp>
        <p:nvSpPr>
          <p:cNvPr id="72" name="Google Shape;7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Memory</a:t>
            </a:r>
          </a:p>
        </p:txBody>
      </p:sp>
      <p:sp>
        <p:nvSpPr>
          <p:cNvPr id="3" name="Subtitle 2"/>
          <p:cNvSpPr>
            <a:spLocks noGrp="1"/>
          </p:cNvSpPr>
          <p:nvPr>
            <p:ph type="subTitle" idx="1"/>
          </p:nvPr>
        </p:nvSpPr>
        <p:spPr/>
        <p:txBody>
          <a:bodyPr/>
          <a:lstStyle/>
          <a:p>
            <a:pPr marL="0" indent="0">
              <a:buNone/>
            </a:pPr>
            <a:r>
              <a:t>How an assistant carries what it knows about you from one conversation into the next.</a:t>
            </a:r>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Short Profile of You, Kept in Writing</a:t>
            </a:r>
          </a:p>
        </p:txBody>
      </p:sp>
      <p:sp>
        <p:nvSpPr>
          <p:cNvPr id="3" name="Text Placeholder 2"/>
          <p:cNvSpPr>
            <a:spLocks noGrp="1"/>
          </p:cNvSpPr>
          <p:nvPr>
            <p:ph type="body" idx="1"/>
          </p:nvPr>
        </p:nvSpPr>
        <p:spPr>
          <a:xfrm>
            <a:off x="5074920" y="1426463"/>
            <a:ext cx="3758184" cy="2596896"/>
          </a:xfrm>
        </p:spPr>
        <p:txBody>
          <a:bodyPr wrap="square" anchor="ctr"/>
          <a:lstStyle/>
          <a:p>
            <a:pPr marL="0" indent="0">
              <a:buNone/>
            </a:pPr>
            <a:r>
              <a:t>Memory is a small profile of you that the assistant writes and keeps - plain sentences, not a database and not a transcript, that it reads back before it answers.</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426464"/>
            <a:ext cx="4206240" cy="2596896"/>
          </a:xfrm>
          <a:prstGeom prst="roundRect">
            <a:avLst>
              <a:gd name="adj" fmla="val 1675"/>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426464"/>
            <a:ext cx="420624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619585"/>
            <a:ext cx="420624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508760"/>
            <a:ext cx="2944368" cy="182880"/>
          </a:xfrm>
          <a:prstGeom prst="rect">
            <a:avLst/>
          </a:prstGeom>
          <a:noFill/>
        </p:spPr>
        <p:txBody>
          <a:bodyPr wrap="square" lIns="0" rIns="0" tIns="0" bIns="0" anchor="t">
            <a:spAutoFit/>
          </a:bodyPr>
          <a:lstStyle/>
          <a:p>
            <a:pPr algn="l"/>
            <a:r>
              <a:rPr sz="1200" b="1">
                <a:solidFill>
                  <a:srgbClr val="F7F7FA"/>
                </a:solidFill>
                <a:latin typeface="Arial"/>
              </a:rPr>
              <a:t>Memory</a:t>
            </a:r>
          </a:p>
        </p:txBody>
      </p:sp>
      <p:sp>
        <p:nvSpPr>
          <p:cNvPr id="30" name="TextBox 29"/>
          <p:cNvSpPr txBox="1"/>
          <p:nvPr/>
        </p:nvSpPr>
        <p:spPr>
          <a:xfrm>
            <a:off x="3328415" y="1527048"/>
            <a:ext cx="1097280" cy="173736"/>
          </a:xfrm>
          <a:prstGeom prst="rect">
            <a:avLst/>
          </a:prstGeom>
          <a:noFill/>
        </p:spPr>
        <p:txBody>
          <a:bodyPr wrap="square" lIns="0" rIns="0" tIns="0" bIns="0" anchor="t">
            <a:spAutoFit/>
          </a:bodyPr>
          <a:lstStyle/>
          <a:p>
            <a:pPr algn="r"/>
            <a:r>
              <a:rPr sz="885" b="0">
                <a:solidFill>
                  <a:srgbClr val="C6C7D0"/>
                </a:solidFill>
                <a:latin typeface="Arial"/>
              </a:rPr>
              <a:t>What it holds</a:t>
            </a:r>
          </a:p>
        </p:txBody>
      </p:sp>
      <p:sp>
        <p:nvSpPr>
          <p:cNvPr id="31" name="TextBox 30"/>
          <p:cNvSpPr txBox="1"/>
          <p:nvPr/>
        </p:nvSpPr>
        <p:spPr>
          <a:xfrm>
            <a:off x="512064" y="1856232"/>
            <a:ext cx="1737360" cy="173736"/>
          </a:xfrm>
          <a:prstGeom prst="rect">
            <a:avLst/>
          </a:prstGeom>
          <a:noFill/>
        </p:spPr>
        <p:txBody>
          <a:bodyPr wrap="square" lIns="0" rIns="0" tIns="0" bIns="0" anchor="t">
            <a:spAutoFit/>
          </a:bodyPr>
          <a:lstStyle/>
          <a:p>
            <a:pPr algn="l"/>
            <a:r>
              <a:rPr sz="885" b="1">
                <a:solidFill>
                  <a:srgbClr val="C6C7D0"/>
                </a:solidFill>
                <a:latin typeface="Arial"/>
              </a:rPr>
              <a:t>Preferences</a:t>
            </a:r>
          </a:p>
        </p:txBody>
      </p:sp>
      <p:sp>
        <p:nvSpPr>
          <p:cNvPr id="32" name="Rounded Rectangle 31"/>
          <p:cNvSpPr/>
          <p:nvPr/>
        </p:nvSpPr>
        <p:spPr>
          <a:xfrm>
            <a:off x="466344" y="2048256"/>
            <a:ext cx="2023110" cy="201168"/>
          </a:xfrm>
          <a:prstGeom prst="roundRect">
            <a:avLst>
              <a:gd name="adj" fmla="val 18181"/>
            </a:avLst>
          </a:prstGeom>
          <a:solidFill>
            <a:srgbClr val="71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 y="2057400"/>
            <a:ext cx="3913631" cy="210312"/>
          </a:xfrm>
          <a:prstGeom prst="rect">
            <a:avLst/>
          </a:prstGeom>
          <a:noFill/>
        </p:spPr>
        <p:txBody>
          <a:bodyPr wrap="none" lIns="0" rIns="0" tIns="0" bIns="0" anchor="t">
            <a:spAutoFit/>
          </a:bodyPr>
          <a:lstStyle/>
          <a:p>
            <a:pPr algn="l"/>
            <a:r>
              <a:rPr sz="1125" b="0">
                <a:solidFill>
                  <a:srgbClr val="F7F7FA"/>
                </a:solidFill>
                <a:latin typeface="Arial"/>
              </a:rPr>
              <a:t>Writes in British English.</a:t>
            </a:r>
          </a:p>
        </p:txBody>
      </p:sp>
      <p:sp>
        <p:nvSpPr>
          <p:cNvPr id="34" name="TextBox 33"/>
          <p:cNvSpPr txBox="1"/>
          <p:nvPr/>
        </p:nvSpPr>
        <p:spPr>
          <a:xfrm>
            <a:off x="512064" y="2267712"/>
            <a:ext cx="3913631" cy="210312"/>
          </a:xfrm>
          <a:prstGeom prst="rect">
            <a:avLst/>
          </a:prstGeom>
          <a:noFill/>
        </p:spPr>
        <p:txBody>
          <a:bodyPr wrap="none" lIns="0" rIns="0" tIns="0" bIns="0" anchor="t">
            <a:spAutoFit/>
          </a:bodyPr>
          <a:lstStyle/>
          <a:p>
            <a:pPr algn="l"/>
            <a:r>
              <a:rPr sz="1125" b="0">
                <a:solidFill>
                  <a:srgbClr val="F7F7FA"/>
                </a:solidFill>
                <a:latin typeface="Arial"/>
              </a:rPr>
              <a:t>Prefers short, direct answers.</a:t>
            </a:r>
          </a:p>
        </p:txBody>
      </p:sp>
      <p:sp>
        <p:nvSpPr>
          <p:cNvPr id="35" name="Rectangle 34"/>
          <p:cNvSpPr/>
          <p:nvPr/>
        </p:nvSpPr>
        <p:spPr>
          <a:xfrm>
            <a:off x="512064" y="2569464"/>
            <a:ext cx="3913631"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12064" y="2660904"/>
            <a:ext cx="1737360" cy="173736"/>
          </a:xfrm>
          <a:prstGeom prst="rect">
            <a:avLst/>
          </a:prstGeom>
          <a:noFill/>
        </p:spPr>
        <p:txBody>
          <a:bodyPr wrap="square" lIns="0" rIns="0" tIns="0" bIns="0" anchor="t">
            <a:spAutoFit/>
          </a:bodyPr>
          <a:lstStyle/>
          <a:p>
            <a:pPr algn="l"/>
            <a:r>
              <a:rPr sz="885" b="1">
                <a:solidFill>
                  <a:srgbClr val="C6C7D0"/>
                </a:solidFill>
                <a:latin typeface="Arial"/>
              </a:rPr>
              <a:t>Your work</a:t>
            </a:r>
          </a:p>
        </p:txBody>
      </p:sp>
      <p:sp>
        <p:nvSpPr>
          <p:cNvPr id="37" name="TextBox 36"/>
          <p:cNvSpPr txBox="1"/>
          <p:nvPr/>
        </p:nvSpPr>
        <p:spPr>
          <a:xfrm>
            <a:off x="512064" y="2862072"/>
            <a:ext cx="3913631" cy="210312"/>
          </a:xfrm>
          <a:prstGeom prst="rect">
            <a:avLst/>
          </a:prstGeom>
          <a:noFill/>
        </p:spPr>
        <p:txBody>
          <a:bodyPr wrap="none" lIns="0" rIns="0" tIns="0" bIns="0" anchor="t">
            <a:spAutoFit/>
          </a:bodyPr>
          <a:lstStyle/>
          <a:p>
            <a:pPr algn="l"/>
            <a:r>
              <a:rPr sz="1125" b="0">
                <a:solidFill>
                  <a:srgbClr val="F7F7FA"/>
                </a:solidFill>
                <a:latin typeface="Arial"/>
              </a:rPr>
              <a:t>Runs a two-person consultancy.</a:t>
            </a:r>
          </a:p>
        </p:txBody>
      </p:sp>
      <p:sp>
        <p:nvSpPr>
          <p:cNvPr id="38" name="TextBox 37"/>
          <p:cNvSpPr txBox="1"/>
          <p:nvPr/>
        </p:nvSpPr>
        <p:spPr>
          <a:xfrm>
            <a:off x="512064" y="3072384"/>
            <a:ext cx="3913631" cy="210312"/>
          </a:xfrm>
          <a:prstGeom prst="rect">
            <a:avLst/>
          </a:prstGeom>
          <a:noFill/>
        </p:spPr>
        <p:txBody>
          <a:bodyPr wrap="none" lIns="0" rIns="0" tIns="0" bIns="0" anchor="t">
            <a:spAutoFit/>
          </a:bodyPr>
          <a:lstStyle/>
          <a:p>
            <a:pPr algn="l"/>
            <a:r>
              <a:rPr sz="1125" b="0">
                <a:solidFill>
                  <a:srgbClr val="F7F7FA"/>
                </a:solidFill>
                <a:latin typeface="Arial"/>
              </a:rPr>
              <a:t>Sells to technical buyers.</a:t>
            </a:r>
          </a:p>
        </p:txBody>
      </p:sp>
      <p:sp>
        <p:nvSpPr>
          <p:cNvPr id="39" name="Rectangle 38"/>
          <p:cNvSpPr/>
          <p:nvPr/>
        </p:nvSpPr>
        <p:spPr>
          <a:xfrm>
            <a:off x="512064" y="3374136"/>
            <a:ext cx="3913631"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12064" y="3465576"/>
            <a:ext cx="1737360" cy="173736"/>
          </a:xfrm>
          <a:prstGeom prst="rect">
            <a:avLst/>
          </a:prstGeom>
          <a:noFill/>
        </p:spPr>
        <p:txBody>
          <a:bodyPr wrap="square" lIns="0" rIns="0" tIns="0" bIns="0" anchor="t">
            <a:spAutoFit/>
          </a:bodyPr>
          <a:lstStyle/>
          <a:p>
            <a:pPr algn="l"/>
            <a:r>
              <a:rPr sz="885" b="1">
                <a:solidFill>
                  <a:srgbClr val="C6C7D0"/>
                </a:solidFill>
                <a:latin typeface="Arial"/>
              </a:rPr>
              <a:t>Standing constraints</a:t>
            </a:r>
          </a:p>
        </p:txBody>
      </p:sp>
      <p:sp>
        <p:nvSpPr>
          <p:cNvPr id="41" name="TextBox 40"/>
          <p:cNvSpPr txBox="1"/>
          <p:nvPr/>
        </p:nvSpPr>
        <p:spPr>
          <a:xfrm>
            <a:off x="512064" y="3666744"/>
            <a:ext cx="3913631" cy="210312"/>
          </a:xfrm>
          <a:prstGeom prst="rect">
            <a:avLst/>
          </a:prstGeom>
          <a:noFill/>
        </p:spPr>
        <p:txBody>
          <a:bodyPr wrap="none" lIns="0" rIns="0" tIns="0" bIns="0" anchor="t">
            <a:spAutoFit/>
          </a:bodyPr>
          <a:lstStyle/>
          <a:p>
            <a:pPr algn="l"/>
            <a:r>
              <a:rPr sz="1125" b="0">
                <a:solidFill>
                  <a:srgbClr val="F7F7FA"/>
                </a:solidFill>
                <a:latin typeface="Arial"/>
              </a:rPr>
              <a:t>Never invents a statistic.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Nobody Typed This into the Prompt</a:t>
            </a:r>
          </a:p>
        </p:txBody>
      </p:sp>
      <p:sp>
        <p:nvSpPr>
          <p:cNvPr id="3" name="Text Placeholder 2"/>
          <p:cNvSpPr>
            <a:spLocks noGrp="1"/>
          </p:cNvSpPr>
          <p:nvPr>
            <p:ph type="body" idx="1"/>
          </p:nvPr>
        </p:nvSpPr>
        <p:spPr>
          <a:xfrm>
            <a:off x="5074920" y="1426464"/>
            <a:ext cx="3758184" cy="2990088"/>
          </a:xfrm>
        </p:spPr>
        <p:txBody>
          <a:bodyPr wrap="square" anchor="ctr"/>
          <a:lstStyle/>
          <a:p>
            <a:pPr marL="0" indent="0">
              <a:buNone/>
            </a:pPr>
            <a:r>
              <a:t>This conversation never mentions spelling or audience. Both arrived from memory. Personalisation you cannot see in the prompt is still personalisation.</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426464"/>
            <a:ext cx="4206240" cy="2990088"/>
          </a:xfrm>
          <a:prstGeom prst="roundRect">
            <a:avLst>
              <a:gd name="adj" fmla="val 1675"/>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426464"/>
            <a:ext cx="420624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619585"/>
            <a:ext cx="420624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508760"/>
            <a:ext cx="2944368"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328415" y="1527048"/>
            <a:ext cx="1097280" cy="173736"/>
          </a:xfrm>
          <a:prstGeom prst="rect">
            <a:avLst/>
          </a:prstGeom>
          <a:noFill/>
        </p:spPr>
        <p:txBody>
          <a:bodyPr wrap="square" lIns="0" rIns="0" tIns="0" bIns="0" anchor="t">
            <a:spAutoFit/>
          </a:bodyPr>
          <a:lstStyle/>
          <a:p>
            <a:pPr algn="r"/>
            <a:r>
              <a:rPr sz="885" b="0">
                <a:solidFill>
                  <a:srgbClr val="C6C7D0"/>
                </a:solidFill>
                <a:latin typeface="Arial"/>
              </a:rPr>
              <a:t>A week later</a:t>
            </a:r>
          </a:p>
        </p:txBody>
      </p:sp>
      <p:sp>
        <p:nvSpPr>
          <p:cNvPr id="31" name="TextBox 30"/>
          <p:cNvSpPr txBox="1"/>
          <p:nvPr/>
        </p:nvSpPr>
        <p:spPr>
          <a:xfrm>
            <a:off x="512064" y="1856232"/>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2" name="TextBox 31"/>
          <p:cNvSpPr txBox="1"/>
          <p:nvPr/>
        </p:nvSpPr>
        <p:spPr>
          <a:xfrm>
            <a:off x="512064" y="2057400"/>
            <a:ext cx="3913631" cy="210312"/>
          </a:xfrm>
          <a:prstGeom prst="rect">
            <a:avLst/>
          </a:prstGeom>
          <a:noFill/>
        </p:spPr>
        <p:txBody>
          <a:bodyPr wrap="none" lIns="0" rIns="0" tIns="0" bIns="0" anchor="t">
            <a:spAutoFit/>
          </a:bodyPr>
          <a:lstStyle/>
          <a:p>
            <a:pPr algn="l"/>
            <a:r>
              <a:rPr sz="1125" b="0">
                <a:solidFill>
                  <a:srgbClr val="F7F7FA"/>
                </a:solidFill>
                <a:latin typeface="Arial"/>
              </a:rPr>
              <a:t>Draft the launch email.</a:t>
            </a:r>
          </a:p>
        </p:txBody>
      </p:sp>
      <p:sp>
        <p:nvSpPr>
          <p:cNvPr id="37" name="Rounded Rectangle 36"/>
          <p:cNvSpPr/>
          <p:nvPr/>
        </p:nvSpPr>
        <p:spPr>
          <a:xfrm>
            <a:off x="475488" y="2322576"/>
            <a:ext cx="3986783" cy="1124712"/>
          </a:xfrm>
          <a:prstGeom prst="roundRect">
            <a:avLst>
              <a:gd name="adj" fmla="val 4065"/>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2441448"/>
            <a:ext cx="1737360" cy="173736"/>
          </a:xfrm>
          <a:prstGeom prst="rect">
            <a:avLst/>
          </a:prstGeom>
          <a:noFill/>
        </p:spPr>
        <p:txBody>
          <a:bodyPr wrap="square" lIns="0" rIns="0" tIns="0" bIns="0" anchor="t">
            <a:spAutoFit/>
          </a:bodyPr>
          <a:lstStyle/>
          <a:p>
            <a:pPr algn="l"/>
            <a:r>
              <a:rPr sz="885" b="1">
                <a:solidFill>
                  <a:srgbClr val="C6C7D0"/>
                </a:solidFill>
                <a:latin typeface="Arial"/>
              </a:rPr>
              <a:t>AI Assistant</a:t>
            </a:r>
          </a:p>
        </p:txBody>
      </p:sp>
      <p:sp>
        <p:nvSpPr>
          <p:cNvPr id="34" name="TextBox 33"/>
          <p:cNvSpPr txBox="1"/>
          <p:nvPr/>
        </p:nvSpPr>
        <p:spPr>
          <a:xfrm>
            <a:off x="621792" y="2642616"/>
            <a:ext cx="3694175" cy="210312"/>
          </a:xfrm>
          <a:prstGeom prst="rect">
            <a:avLst/>
          </a:prstGeom>
          <a:noFill/>
        </p:spPr>
        <p:txBody>
          <a:bodyPr wrap="none" lIns="0" rIns="0" tIns="0" bIns="0" anchor="t">
            <a:spAutoFit/>
          </a:bodyPr>
          <a:lstStyle/>
          <a:p>
            <a:pPr algn="l"/>
            <a:r>
              <a:rPr sz="1125" b="0">
                <a:solidFill>
                  <a:srgbClr val="F7F7FA"/>
                </a:solidFill>
                <a:latin typeface="Arial"/>
              </a:rPr>
              <a:t>Subject: Simpler pricing, from Monday</a:t>
            </a:r>
          </a:p>
        </p:txBody>
      </p:sp>
      <p:sp>
        <p:nvSpPr>
          <p:cNvPr id="35" name="TextBox 34"/>
          <p:cNvSpPr txBox="1"/>
          <p:nvPr/>
        </p:nvSpPr>
        <p:spPr>
          <a:xfrm>
            <a:off x="621792" y="2852928"/>
            <a:ext cx="3694175" cy="210312"/>
          </a:xfrm>
          <a:prstGeom prst="rect">
            <a:avLst/>
          </a:prstGeom>
          <a:noFill/>
        </p:spPr>
        <p:txBody>
          <a:bodyPr wrap="none" lIns="0" rIns="0" tIns="0" bIns="0" anchor="t">
            <a:spAutoFit/>
          </a:bodyPr>
          <a:lstStyle/>
          <a:p>
            <a:pPr algn="l"/>
            <a:r>
              <a:rPr sz="1125" b="0">
                <a:solidFill>
                  <a:srgbClr val="F7F7FA"/>
                </a:solidFill>
                <a:latin typeface="Arial"/>
              </a:rPr>
              <a:t>We have reorganised our plans so you can</a:t>
            </a:r>
          </a:p>
        </p:txBody>
      </p:sp>
      <p:sp>
        <p:nvSpPr>
          <p:cNvPr id="36" name="TextBox 35"/>
          <p:cNvSpPr txBox="1"/>
          <p:nvPr/>
        </p:nvSpPr>
        <p:spPr>
          <a:xfrm>
            <a:off x="621792" y="3063240"/>
            <a:ext cx="3694175" cy="210312"/>
          </a:xfrm>
          <a:prstGeom prst="rect">
            <a:avLst/>
          </a:prstGeom>
          <a:noFill/>
        </p:spPr>
        <p:txBody>
          <a:bodyPr wrap="none" lIns="0" rIns="0" tIns="0" bIns="0" anchor="t">
            <a:spAutoFit/>
          </a:bodyPr>
          <a:lstStyle/>
          <a:p>
            <a:pPr algn="l"/>
            <a:r>
              <a:rPr sz="1125" b="0">
                <a:solidFill>
                  <a:srgbClr val="F7F7FA"/>
                </a:solidFill>
                <a:latin typeface="Arial"/>
              </a:rPr>
              <a:t>see exactly what you are paying for.</a:t>
            </a:r>
          </a:p>
        </p:txBody>
      </p:sp>
      <p:sp>
        <p:nvSpPr>
          <p:cNvPr id="38" name="TextBox 37"/>
          <p:cNvSpPr txBox="1"/>
          <p:nvPr/>
        </p:nvSpPr>
        <p:spPr>
          <a:xfrm>
            <a:off x="512064" y="3483864"/>
            <a:ext cx="1737360" cy="173736"/>
          </a:xfrm>
          <a:prstGeom prst="rect">
            <a:avLst/>
          </a:prstGeom>
          <a:noFill/>
        </p:spPr>
        <p:txBody>
          <a:bodyPr wrap="square" lIns="0" rIns="0" tIns="0" bIns="0" anchor="t">
            <a:spAutoFit/>
          </a:bodyPr>
          <a:lstStyle/>
          <a:p>
            <a:pPr algn="l"/>
            <a:r>
              <a:rPr sz="885" b="1">
                <a:solidFill>
                  <a:srgbClr val="C6C7D0"/>
                </a:solidFill>
                <a:latin typeface="Arial"/>
              </a:rPr>
              <a:t>Drawn from memory</a:t>
            </a:r>
          </a:p>
        </p:txBody>
      </p:sp>
      <p:sp>
        <p:nvSpPr>
          <p:cNvPr id="39" name="Rounded Rectangle 38"/>
          <p:cNvSpPr/>
          <p:nvPr/>
        </p:nvSpPr>
        <p:spPr>
          <a:xfrm>
            <a:off x="466344" y="3675888"/>
            <a:ext cx="2543175" cy="201168"/>
          </a:xfrm>
          <a:prstGeom prst="roundRect">
            <a:avLst>
              <a:gd name="adj" fmla="val 18181"/>
            </a:avLst>
          </a:prstGeom>
          <a:solidFill>
            <a:srgbClr val="71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12064" y="3685032"/>
            <a:ext cx="3913631" cy="210312"/>
          </a:xfrm>
          <a:prstGeom prst="rect">
            <a:avLst/>
          </a:prstGeom>
          <a:noFill/>
        </p:spPr>
        <p:txBody>
          <a:bodyPr wrap="none" lIns="0" rIns="0" tIns="0" bIns="0" anchor="t">
            <a:spAutoFit/>
          </a:bodyPr>
          <a:lstStyle/>
          <a:p>
            <a:pPr algn="l"/>
            <a:r>
              <a:rPr sz="1125" b="0">
                <a:solidFill>
                  <a:srgbClr val="F7F7FA"/>
                </a:solidFill>
                <a:latin typeface="Arial"/>
              </a:rPr>
              <a:t>British English, technical buyers</a:t>
            </a:r>
          </a:p>
        </p:txBody>
      </p:sp>
      <p:sp>
        <p:nvSpPr>
          <p:cNvPr id="41" name="Rounded Rectangle 40"/>
          <p:cNvSpPr/>
          <p:nvPr/>
        </p:nvSpPr>
        <p:spPr>
          <a:xfrm>
            <a:off x="512064" y="4005072"/>
            <a:ext cx="3913631" cy="301752"/>
          </a:xfrm>
          <a:prstGeom prst="roundRect">
            <a:avLst>
              <a:gd name="adj" fmla="val 15151"/>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30936" y="4078224"/>
            <a:ext cx="3291839" cy="173736"/>
          </a:xfrm>
          <a:prstGeom prst="rect">
            <a:avLst/>
          </a:prstGeom>
          <a:noFill/>
        </p:spPr>
        <p:txBody>
          <a:bodyPr wrap="square" lIns="0" rIns="0" tIns="0" bIns="0" anchor="t">
            <a:spAutoFit/>
          </a:bodyPr>
          <a:lstStyle/>
          <a:p>
            <a:pPr algn="l"/>
            <a:r>
              <a:rPr sz="885" b="0">
                <a:solidFill>
                  <a:srgbClr val="C6C7D0"/>
                </a:solidFill>
                <a:latin typeface="Arial"/>
              </a:rPr>
              <a:t>Send a message…</a:t>
            </a:r>
          </a:p>
        </p:txBody>
      </p:sp>
      <p:sp>
        <p:nvSpPr>
          <p:cNvPr id="43" name="Rounded Rectangle 42"/>
          <p:cNvSpPr/>
          <p:nvPr/>
        </p:nvSpPr>
        <p:spPr>
          <a:xfrm>
            <a:off x="4151376" y="4050791"/>
            <a:ext cx="210312" cy="210312"/>
          </a:xfrm>
          <a:prstGeom prst="roundRect">
            <a:avLst>
              <a:gd name="adj" fmla="val 21739"/>
            </a:avLst>
          </a:prstGeom>
          <a:solidFill>
            <a:srgbClr val="E4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151376" y="4050791"/>
            <a:ext cx="210312" cy="210312"/>
          </a:xfrm>
          <a:prstGeom prst="rect">
            <a:avLst/>
          </a:prstGeom>
          <a:noFill/>
        </p:spPr>
        <p:txBody>
          <a:bodyPr wrap="square" lIns="0" rIns="0" tIns="0" bIns="0" anchor="ctr">
            <a:spAutoFit/>
          </a:bodyPr>
          <a:lstStyle/>
          <a:p>
            <a:pPr algn="ctr"/>
            <a:r>
              <a:rPr sz="1125" b="0">
                <a:solidFill>
                  <a:srgbClr val="25262C"/>
                </a:solidFill>
                <a:latin typeface="Arial"/>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It Is Not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4078224" cy="2377440"/>
          </a:xfrm>
          <a:prstGeom prst="roundRect">
            <a:avLst>
              <a:gd name="adj" fmla="val 2307"/>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3776" y="1572768"/>
            <a:ext cx="3712463" cy="274320"/>
          </a:xfrm>
          <a:prstGeom prst="rect">
            <a:avLst/>
          </a:prstGeom>
          <a:noFill/>
        </p:spPr>
        <p:txBody>
          <a:bodyPr wrap="square" lIns="0" rIns="0" tIns="0" bIns="0" anchor="t">
            <a:spAutoFit/>
          </a:bodyPr>
          <a:lstStyle/>
          <a:p>
            <a:pPr algn="l"/>
            <a:r>
              <a:rPr sz="1400" b="1">
                <a:solidFill>
                  <a:srgbClr val="424242"/>
                </a:solidFill>
                <a:latin typeface="Source Code Pro"/>
              </a:rPr>
              <a:t>Not this</a:t>
            </a:r>
          </a:p>
        </p:txBody>
      </p:sp>
      <p:sp>
        <p:nvSpPr>
          <p:cNvPr id="28" name="TextBox 27"/>
          <p:cNvSpPr txBox="1"/>
          <p:nvPr/>
        </p:nvSpPr>
        <p:spPr>
          <a:xfrm>
            <a:off x="493776" y="197510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The model learning about you</a:t>
            </a:r>
          </a:p>
        </p:txBody>
      </p:sp>
      <p:sp>
        <p:nvSpPr>
          <p:cNvPr id="29" name="TextBox 28"/>
          <p:cNvSpPr txBox="1"/>
          <p:nvPr/>
        </p:nvSpPr>
        <p:spPr>
          <a:xfrm>
            <a:off x="493776" y="2286000"/>
            <a:ext cx="3712463" cy="39624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Your chat history, which is separate</a:t>
            </a:r>
          </a:p>
        </p:txBody>
      </p:sp>
      <p:sp>
        <p:nvSpPr>
          <p:cNvPr id="30" name="TextBox 29"/>
          <p:cNvSpPr txBox="1"/>
          <p:nvPr/>
        </p:nvSpPr>
        <p:spPr>
          <a:xfrm>
            <a:off x="493776" y="2718816"/>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 black box you cannot open</a:t>
            </a:r>
          </a:p>
        </p:txBody>
      </p:sp>
      <p:sp>
        <p:nvSpPr>
          <p:cNvPr id="31" name="Rounded Rectangle 30"/>
          <p:cNvSpPr/>
          <p:nvPr/>
        </p:nvSpPr>
        <p:spPr>
          <a:xfrm>
            <a:off x="4754880" y="1426464"/>
            <a:ext cx="4078224" cy="2377440"/>
          </a:xfrm>
          <a:prstGeom prst="roundRect">
            <a:avLst>
              <a:gd name="adj" fmla="val 2307"/>
            </a:avLst>
          </a:prstGeom>
          <a:solidFill>
            <a:srgbClr val="FFFFFF"/>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937760" y="1572768"/>
            <a:ext cx="3712463" cy="274320"/>
          </a:xfrm>
          <a:prstGeom prst="rect">
            <a:avLst/>
          </a:prstGeom>
          <a:noFill/>
        </p:spPr>
        <p:txBody>
          <a:bodyPr wrap="square" lIns="0" rIns="0" tIns="0" bIns="0" anchor="t">
            <a:spAutoFit/>
          </a:bodyPr>
          <a:lstStyle/>
          <a:p>
            <a:pPr algn="l"/>
            <a:r>
              <a:rPr sz="1400" b="1">
                <a:solidFill>
                  <a:srgbClr val="E91D63"/>
                </a:solidFill>
                <a:latin typeface="Source Code Pro"/>
              </a:rPr>
              <a:t>This</a:t>
            </a:r>
          </a:p>
        </p:txBody>
      </p:sp>
      <p:sp>
        <p:nvSpPr>
          <p:cNvPr id="33" name="TextBox 32"/>
          <p:cNvSpPr txBox="1"/>
          <p:nvPr/>
        </p:nvSpPr>
        <p:spPr>
          <a:xfrm>
            <a:off x="4937760" y="197510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 few written lines about you</a:t>
            </a:r>
          </a:p>
        </p:txBody>
      </p:sp>
      <p:sp>
        <p:nvSpPr>
          <p:cNvPr id="34" name="TextBox 33"/>
          <p:cNvSpPr txBox="1"/>
          <p:nvPr/>
        </p:nvSpPr>
        <p:spPr>
          <a:xfrm>
            <a:off x="4937760" y="228600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Placed in front of your question</a:t>
            </a:r>
          </a:p>
        </p:txBody>
      </p:sp>
      <p:sp>
        <p:nvSpPr>
          <p:cNvPr id="35" name="TextBox 34"/>
          <p:cNvSpPr txBox="1"/>
          <p:nvPr/>
        </p:nvSpPr>
        <p:spPr>
          <a:xfrm>
            <a:off x="4937760" y="2596896"/>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Readable, correctable, deletable</a:t>
            </a:r>
          </a:p>
        </p:txBody>
      </p:sp>
      <p:sp>
        <p:nvSpPr>
          <p:cNvPr id="36" name="TextBox 35"/>
          <p:cNvSpPr txBox="1"/>
          <p:nvPr/>
        </p:nvSpPr>
        <p:spPr>
          <a:xfrm>
            <a:off x="310896" y="3950208"/>
            <a:ext cx="8522208" cy="6172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Your conversations are kept and searchable in their own right, and the assistant can be allowed to draw on them - that is a separate setting.</a:t>
            </a:r>
          </a:p>
          <a:p>
            <a:pPr algn="l">
              <a:lnSpc>
                <a:spcPct val="125000"/>
              </a:lnSpc>
            </a:pPr>
            <a:r>
              <a:rPr sz="1200" b="0">
                <a:solidFill>
                  <a:srgbClr val="6B6B6B"/>
                </a:solidFill>
                <a:latin typeface="Source Code Pro"/>
              </a:rPr>
              <a:t>Memory is the short written summary, and nothing here touches the model's weights.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 - Two Doors into the Same Memory</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2468880" cy="914400"/>
          </a:xfrm>
          <a:prstGeom prst="roundRect">
            <a:avLst>
              <a:gd name="adj" fmla="val 500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02336" y="1581912"/>
            <a:ext cx="22860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You tell it</a:t>
            </a:r>
          </a:p>
        </p:txBody>
      </p:sp>
      <p:sp>
        <p:nvSpPr>
          <p:cNvPr id="28" name="TextBox 27"/>
          <p:cNvSpPr txBox="1"/>
          <p:nvPr/>
        </p:nvSpPr>
        <p:spPr>
          <a:xfrm>
            <a:off x="402336" y="1929384"/>
            <a:ext cx="22860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"Remember that..."</a:t>
            </a:r>
          </a:p>
        </p:txBody>
      </p:sp>
      <p:sp>
        <p:nvSpPr>
          <p:cNvPr id="29" name="Rounded Rectangle 28"/>
          <p:cNvSpPr/>
          <p:nvPr/>
        </p:nvSpPr>
        <p:spPr>
          <a:xfrm>
            <a:off x="310896" y="2660904"/>
            <a:ext cx="2468880" cy="914400"/>
          </a:xfrm>
          <a:prstGeom prst="roundRect">
            <a:avLst>
              <a:gd name="adj" fmla="val 500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02336" y="2816352"/>
            <a:ext cx="22860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It infers</a:t>
            </a:r>
          </a:p>
        </p:txBody>
      </p:sp>
      <p:sp>
        <p:nvSpPr>
          <p:cNvPr id="31" name="TextBox 30"/>
          <p:cNvSpPr txBox="1"/>
          <p:nvPr/>
        </p:nvSpPr>
        <p:spPr>
          <a:xfrm>
            <a:off x="402336" y="3163824"/>
            <a:ext cx="22860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from ordinary chats</a:t>
            </a:r>
          </a:p>
        </p:txBody>
      </p:sp>
      <p:sp>
        <p:nvSpPr>
          <p:cNvPr id="32" name="Right Arrow 31"/>
          <p:cNvSpPr/>
          <p:nvPr/>
        </p:nvSpPr>
        <p:spPr>
          <a:xfrm>
            <a:off x="2871216" y="1828800"/>
            <a:ext cx="658368"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a:off x="2871216" y="3063240"/>
            <a:ext cx="658368"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611880" y="1426464"/>
            <a:ext cx="2331720" cy="2148840"/>
          </a:xfrm>
          <a:prstGeom prst="roundRect">
            <a:avLst>
              <a:gd name="adj" fmla="val 2127"/>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703320" y="2199132"/>
            <a:ext cx="2148839"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Memory</a:t>
            </a:r>
          </a:p>
        </p:txBody>
      </p:sp>
      <p:sp>
        <p:nvSpPr>
          <p:cNvPr id="36" name="TextBox 35"/>
          <p:cNvSpPr txBox="1"/>
          <p:nvPr/>
        </p:nvSpPr>
        <p:spPr>
          <a:xfrm>
            <a:off x="3703320" y="2546604"/>
            <a:ext cx="2148839"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a few written lines</a:t>
            </a:r>
          </a:p>
        </p:txBody>
      </p:sp>
      <p:sp>
        <p:nvSpPr>
          <p:cNvPr id="37" name="Right Arrow 36"/>
          <p:cNvSpPr/>
          <p:nvPr/>
        </p:nvSpPr>
        <p:spPr>
          <a:xfrm>
            <a:off x="6053328" y="2446020"/>
            <a:ext cx="566928"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693408" y="1975104"/>
            <a:ext cx="2139696" cy="1051560"/>
          </a:xfrm>
          <a:prstGeom prst="roundRect">
            <a:avLst>
              <a:gd name="adj" fmla="val 4347"/>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784848" y="2199132"/>
            <a:ext cx="1956815"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Every later chat</a:t>
            </a:r>
          </a:p>
        </p:txBody>
      </p:sp>
      <p:sp>
        <p:nvSpPr>
          <p:cNvPr id="40" name="TextBox 39"/>
          <p:cNvSpPr txBox="1"/>
          <p:nvPr/>
        </p:nvSpPr>
        <p:spPr>
          <a:xfrm>
            <a:off x="6784848" y="2546604"/>
            <a:ext cx="1956815"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opens with those lines</a:t>
            </a:r>
          </a:p>
        </p:txBody>
      </p:sp>
      <p:sp>
        <p:nvSpPr>
          <p:cNvPr id="41" name="TextBox 40"/>
          <p:cNvSpPr txBox="1"/>
          <p:nvPr/>
        </p:nvSpPr>
        <p:spPr>
          <a:xfrm>
            <a:off x="310896" y="3803904"/>
            <a:ext cx="8522208" cy="6172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One door is precise and you chose it. The other is convenient and you did not. They write to the same memory, which is why reading it now and again is the only way to know what the assistant believes about you.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Arrives Before You Type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5394960" cy="603504"/>
          </a:xfrm>
          <a:prstGeom prst="roundRect">
            <a:avLst>
              <a:gd name="adj" fmla="val 6060"/>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200" y="1426464"/>
            <a:ext cx="2805379" cy="603504"/>
          </a:xfrm>
          <a:prstGeom prst="rect">
            <a:avLst/>
          </a:prstGeom>
          <a:noFill/>
        </p:spPr>
        <p:txBody>
          <a:bodyPr wrap="square" lIns="0" rIns="0" tIns="0" bIns="0" anchor="ctr">
            <a:spAutoFit/>
          </a:bodyPr>
          <a:lstStyle/>
          <a:p>
            <a:pPr algn="l"/>
            <a:r>
              <a:rPr sz="1300" b="1">
                <a:solidFill>
                  <a:srgbClr val="424242"/>
                </a:solidFill>
                <a:latin typeface="Source Code Pro"/>
              </a:rPr>
              <a:t>Lines pulled from memory</a:t>
            </a:r>
          </a:p>
        </p:txBody>
      </p:sp>
      <p:sp>
        <p:nvSpPr>
          <p:cNvPr id="28" name="TextBox 27"/>
          <p:cNvSpPr txBox="1"/>
          <p:nvPr/>
        </p:nvSpPr>
        <p:spPr>
          <a:xfrm>
            <a:off x="3278124" y="1426464"/>
            <a:ext cx="2173528" cy="603504"/>
          </a:xfrm>
          <a:prstGeom prst="rect">
            <a:avLst/>
          </a:prstGeom>
          <a:noFill/>
        </p:spPr>
        <p:txBody>
          <a:bodyPr wrap="square" lIns="0" rIns="0" tIns="0" bIns="0" anchor="ctr">
            <a:spAutoFit/>
          </a:bodyPr>
          <a:lstStyle/>
          <a:p>
            <a:pPr algn="r"/>
            <a:r>
              <a:rPr sz="1200" b="0">
                <a:solidFill>
                  <a:srgbClr val="6B6B6B"/>
                </a:solidFill>
                <a:latin typeface="Source Code Pro"/>
              </a:rPr>
              <a:t>chosen for this question</a:t>
            </a:r>
          </a:p>
        </p:txBody>
      </p:sp>
      <p:sp>
        <p:nvSpPr>
          <p:cNvPr id="29" name="Rounded Rectangle 28"/>
          <p:cNvSpPr/>
          <p:nvPr/>
        </p:nvSpPr>
        <p:spPr>
          <a:xfrm>
            <a:off x="310896" y="2093976"/>
            <a:ext cx="5394960" cy="603504"/>
          </a:xfrm>
          <a:prstGeom prst="roundRect">
            <a:avLst>
              <a:gd name="adj" fmla="val 606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7200" y="2093976"/>
            <a:ext cx="2805379" cy="603504"/>
          </a:xfrm>
          <a:prstGeom prst="rect">
            <a:avLst/>
          </a:prstGeom>
          <a:noFill/>
        </p:spPr>
        <p:txBody>
          <a:bodyPr wrap="square" lIns="0" rIns="0" tIns="0" bIns="0" anchor="ctr">
            <a:spAutoFit/>
          </a:bodyPr>
          <a:lstStyle/>
          <a:p>
            <a:pPr algn="l"/>
            <a:r>
              <a:rPr sz="1300" b="0">
                <a:solidFill>
                  <a:srgbClr val="424242"/>
                </a:solidFill>
                <a:latin typeface="Source Code Pro"/>
              </a:rPr>
              <a:t>Standing instructions</a:t>
            </a:r>
          </a:p>
        </p:txBody>
      </p:sp>
      <p:sp>
        <p:nvSpPr>
          <p:cNvPr id="31" name="TextBox 30"/>
          <p:cNvSpPr txBox="1"/>
          <p:nvPr/>
        </p:nvSpPr>
        <p:spPr>
          <a:xfrm>
            <a:off x="3278124" y="2093976"/>
            <a:ext cx="2173528" cy="603504"/>
          </a:xfrm>
          <a:prstGeom prst="rect">
            <a:avLst/>
          </a:prstGeom>
          <a:noFill/>
        </p:spPr>
        <p:txBody>
          <a:bodyPr wrap="square" lIns="0" rIns="0" tIns="0" bIns="0" anchor="ctr">
            <a:spAutoFit/>
          </a:bodyPr>
          <a:lstStyle/>
          <a:p>
            <a:pPr algn="r"/>
            <a:r>
              <a:rPr sz="1200" b="0">
                <a:solidFill>
                  <a:srgbClr val="6B6B6B"/>
                </a:solidFill>
                <a:latin typeface="Source Code Pro"/>
              </a:rPr>
              <a:t>set once, applied always</a:t>
            </a:r>
          </a:p>
        </p:txBody>
      </p:sp>
      <p:sp>
        <p:nvSpPr>
          <p:cNvPr id="32" name="Rounded Rectangle 31"/>
          <p:cNvSpPr/>
          <p:nvPr/>
        </p:nvSpPr>
        <p:spPr>
          <a:xfrm>
            <a:off x="310896" y="2761488"/>
            <a:ext cx="5394960" cy="603504"/>
          </a:xfrm>
          <a:prstGeom prst="roundRect">
            <a:avLst>
              <a:gd name="adj" fmla="val 606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7200" y="2761488"/>
            <a:ext cx="2805379" cy="603504"/>
          </a:xfrm>
          <a:prstGeom prst="rect">
            <a:avLst/>
          </a:prstGeom>
          <a:noFill/>
        </p:spPr>
        <p:txBody>
          <a:bodyPr wrap="square" lIns="0" rIns="0" tIns="0" bIns="0" anchor="ctr">
            <a:spAutoFit/>
          </a:bodyPr>
          <a:lstStyle/>
          <a:p>
            <a:pPr algn="l"/>
            <a:r>
              <a:rPr sz="1300" b="0">
                <a:solidFill>
                  <a:srgbClr val="424242"/>
                </a:solidFill>
                <a:latin typeface="Source Code Pro"/>
              </a:rPr>
              <a:t>Your message</a:t>
            </a:r>
          </a:p>
        </p:txBody>
      </p:sp>
      <p:sp>
        <p:nvSpPr>
          <p:cNvPr id="34" name="TextBox 33"/>
          <p:cNvSpPr txBox="1"/>
          <p:nvPr/>
        </p:nvSpPr>
        <p:spPr>
          <a:xfrm>
            <a:off x="3278124" y="2761488"/>
            <a:ext cx="2173528" cy="603504"/>
          </a:xfrm>
          <a:prstGeom prst="rect">
            <a:avLst/>
          </a:prstGeom>
          <a:noFill/>
        </p:spPr>
        <p:txBody>
          <a:bodyPr wrap="square" lIns="0" rIns="0" tIns="0" bIns="0" anchor="ctr">
            <a:spAutoFit/>
          </a:bodyPr>
          <a:lstStyle/>
          <a:p>
            <a:pPr algn="r"/>
            <a:r>
              <a:rPr sz="1200" b="0">
                <a:solidFill>
                  <a:srgbClr val="6B6B6B"/>
                </a:solidFill>
                <a:latin typeface="Source Code Pro"/>
              </a:rPr>
              <a:t>typed just now</a:t>
            </a:r>
          </a:p>
        </p:txBody>
      </p:sp>
      <p:sp>
        <p:nvSpPr>
          <p:cNvPr id="35" name="Down Arrow 34"/>
          <p:cNvSpPr/>
          <p:nvPr/>
        </p:nvSpPr>
        <p:spPr>
          <a:xfrm>
            <a:off x="2834640" y="3465576"/>
            <a:ext cx="310896" cy="201168"/>
          </a:xfrm>
          <a:prstGeom prst="down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10896" y="3758184"/>
            <a:ext cx="5394960" cy="566928"/>
          </a:xfrm>
          <a:prstGeom prst="roundRect">
            <a:avLst>
              <a:gd name="adj" fmla="val 8064"/>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02336" y="3758184"/>
            <a:ext cx="5212080" cy="566928"/>
          </a:xfrm>
          <a:prstGeom prst="rect">
            <a:avLst/>
          </a:prstGeom>
          <a:noFill/>
        </p:spPr>
        <p:txBody>
          <a:bodyPr wrap="square" lIns="0" rIns="0" tIns="0" bIns="0" anchor="ctr">
            <a:spAutoFit/>
          </a:bodyPr>
          <a:lstStyle/>
          <a:p>
            <a:pPr algn="ctr"/>
            <a:r>
              <a:rPr sz="1300" b="1">
                <a:solidFill>
                  <a:srgbClr val="424242"/>
                </a:solidFill>
                <a:latin typeface="Source Code Pro"/>
              </a:rPr>
              <a:t>Assembled, then sent</a:t>
            </a:r>
          </a:p>
        </p:txBody>
      </p:sp>
      <p:sp>
        <p:nvSpPr>
          <p:cNvPr id="38" name="TextBox 37"/>
          <p:cNvSpPr txBox="1"/>
          <p:nvPr/>
        </p:nvSpPr>
        <p:spPr>
          <a:xfrm>
            <a:off x="5943600" y="1426464"/>
            <a:ext cx="2889504" cy="14401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Only the lines judged relevant get pulled in, so "it forgot" usually means it did not pull that line, not that memory lost it.</a:t>
            </a:r>
          </a:p>
          <a:p>
            <a:pPr algn="l">
              <a:lnSpc>
                <a:spcPct val="125000"/>
              </a:lnSpc>
            </a:pPr>
            <a:r>
              <a:rPr sz="1200" b="0">
                <a:solidFill>
                  <a:srgbClr val="6B6B6B"/>
                </a:solidFill>
                <a:latin typeface="Source Code Pro"/>
              </a:rPr>
              <a:t/>
            </a:r>
          </a:p>
          <a:p>
            <a:pPr algn="l">
              <a:lnSpc>
                <a:spcPct val="125000"/>
              </a:lnSpc>
            </a:pPr>
            <a:r>
              <a:rPr sz="1200" b="0">
                <a:solidFill>
                  <a:srgbClr val="6B6B6B"/>
                </a:solidFill>
                <a:latin typeface="Source Code Pro"/>
              </a:rPr>
              <a:t>Once assembled, the model cannot tell which part you typed.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Facts Have a Tense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1897380" cy="1115568"/>
          </a:xfrm>
          <a:prstGeom prst="roundRect">
            <a:avLst>
              <a:gd name="adj" fmla="val 409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02336" y="1682496"/>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You mention</a:t>
            </a:r>
          </a:p>
        </p:txBody>
      </p:sp>
      <p:sp>
        <p:nvSpPr>
          <p:cNvPr id="28" name="TextBox 27"/>
          <p:cNvSpPr txBox="1"/>
          <p:nvPr/>
        </p:nvSpPr>
        <p:spPr>
          <a:xfrm>
            <a:off x="402336" y="2029968"/>
            <a:ext cx="17145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a trip in July</a:t>
            </a:r>
          </a:p>
        </p:txBody>
      </p:sp>
      <p:sp>
        <p:nvSpPr>
          <p:cNvPr id="29" name="Right Arrow 28"/>
          <p:cNvSpPr/>
          <p:nvPr/>
        </p:nvSpPr>
        <p:spPr>
          <a:xfrm>
            <a:off x="2272284" y="1938528"/>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519172" y="1426464"/>
            <a:ext cx="1897380" cy="1115568"/>
          </a:xfrm>
          <a:prstGeom prst="roundRect">
            <a:avLst>
              <a:gd name="adj" fmla="val 409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610612" y="1682496"/>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It stores</a:t>
            </a:r>
          </a:p>
        </p:txBody>
      </p:sp>
      <p:sp>
        <p:nvSpPr>
          <p:cNvPr id="32" name="TextBox 31"/>
          <p:cNvSpPr txBox="1"/>
          <p:nvPr/>
        </p:nvSpPr>
        <p:spPr>
          <a:xfrm>
            <a:off x="2610612" y="2029968"/>
            <a:ext cx="17145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a plan</a:t>
            </a:r>
          </a:p>
        </p:txBody>
      </p:sp>
      <p:sp>
        <p:nvSpPr>
          <p:cNvPr id="33" name="Right Arrow 32"/>
          <p:cNvSpPr/>
          <p:nvPr/>
        </p:nvSpPr>
        <p:spPr>
          <a:xfrm>
            <a:off x="4480560" y="1938528"/>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727448" y="1426464"/>
            <a:ext cx="1897380" cy="1115568"/>
          </a:xfrm>
          <a:prstGeom prst="roundRect">
            <a:avLst>
              <a:gd name="adj" fmla="val 409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818888" y="1635252"/>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July passes</a:t>
            </a:r>
          </a:p>
        </p:txBody>
      </p:sp>
      <p:sp>
        <p:nvSpPr>
          <p:cNvPr id="36" name="TextBox 35"/>
          <p:cNvSpPr txBox="1"/>
          <p:nvPr/>
        </p:nvSpPr>
        <p:spPr>
          <a:xfrm>
            <a:off x="4818888" y="1982724"/>
            <a:ext cx="1714500"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the line is now false</a:t>
            </a:r>
          </a:p>
        </p:txBody>
      </p:sp>
      <p:sp>
        <p:nvSpPr>
          <p:cNvPr id="37" name="Right Arrow 36"/>
          <p:cNvSpPr/>
          <p:nvPr/>
        </p:nvSpPr>
        <p:spPr>
          <a:xfrm>
            <a:off x="6688836" y="1938528"/>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935724" y="1426464"/>
            <a:ext cx="1897380" cy="1115568"/>
          </a:xfrm>
          <a:prstGeom prst="roundRect">
            <a:avLst>
              <a:gd name="adj" fmla="val 4098"/>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027164" y="1682496"/>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It revises</a:t>
            </a:r>
          </a:p>
        </p:txBody>
      </p:sp>
      <p:sp>
        <p:nvSpPr>
          <p:cNvPr id="40" name="TextBox 39"/>
          <p:cNvSpPr txBox="1"/>
          <p:nvPr/>
        </p:nvSpPr>
        <p:spPr>
          <a:xfrm>
            <a:off x="7027164" y="2029968"/>
            <a:ext cx="17145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to a past trip</a:t>
            </a:r>
          </a:p>
        </p:txBody>
      </p:sp>
      <p:sp>
        <p:nvSpPr>
          <p:cNvPr id="41" name="Rectangle 40"/>
          <p:cNvSpPr/>
          <p:nvPr/>
        </p:nvSpPr>
        <p:spPr>
          <a:xfrm>
            <a:off x="1259586" y="2816352"/>
            <a:ext cx="6624828" cy="10972"/>
          </a:xfrm>
          <a:prstGeom prst="rect">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884414" y="2542032"/>
            <a:ext cx="10972" cy="274320"/>
          </a:xfrm>
          <a:prstGeom prst="rect">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Up Arrow 42"/>
          <p:cNvSpPr/>
          <p:nvPr/>
        </p:nvSpPr>
        <p:spPr>
          <a:xfrm>
            <a:off x="1241298" y="2542032"/>
            <a:ext cx="91440" cy="274320"/>
          </a:xfrm>
          <a:prstGeom prst="up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10896" y="2889504"/>
            <a:ext cx="8522208" cy="237744"/>
          </a:xfrm>
          <a:prstGeom prst="rect">
            <a:avLst/>
          </a:prstGeom>
          <a:noFill/>
        </p:spPr>
        <p:txBody>
          <a:bodyPr wrap="square" lIns="0" rIns="0" tIns="0" bIns="0" anchor="t">
            <a:spAutoFit/>
          </a:bodyPr>
          <a:lstStyle/>
          <a:p>
            <a:pPr algn="ctr"/>
            <a:r>
              <a:rPr sz="1200" b="0">
                <a:solidFill>
                  <a:srgbClr val="6B6B6B"/>
                </a:solidFill>
                <a:latin typeface="Source Code Pro"/>
              </a:rPr>
              <a:t>or you revise a line yourself, by saying so in any chat</a:t>
            </a:r>
          </a:p>
        </p:txBody>
      </p:sp>
      <p:sp>
        <p:nvSpPr>
          <p:cNvPr id="45" name="TextBox 44"/>
          <p:cNvSpPr txBox="1"/>
          <p:nvPr/>
        </p:nvSpPr>
        <p:spPr>
          <a:xfrm>
            <a:off x="310896" y="3566160"/>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Preferences age well. Dated facts do not. Memory nobody revises does not go blank, it goes quietly wrong, and the assistant applies the wrong line with exactly the confidence it applies the right ones.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It Stops</a:t>
            </a:r>
          </a:p>
        </p:txBody>
      </p:sp>
      <p:sp>
        <p:nvSpPr>
          <p:cNvPr id="3" name="Text Placeholder 2"/>
          <p:cNvSpPr>
            <a:spLocks noGrp="1"/>
          </p:cNvSpPr>
          <p:nvPr>
            <p:ph type="body" idx="1"/>
          </p:nvPr>
        </p:nvSpPr>
        <p:spPr>
          <a:xfrm>
            <a:off x="310896" y="1426464"/>
            <a:ext cx="3849624" cy="2423160"/>
          </a:xfrm>
        </p:spPr>
        <p:txBody>
          <a:bodyPr wrap="square" anchor="ctr"/>
          <a:lstStyle/>
          <a:p>
            <a:pPr marL="0" indent="0">
              <a:buNone/>
            </a:pPr>
            <a:r>
              <a:t>Memory is opt-in, and how far it reaches is yours to set. You can hold it to a single project, or have a conversation that neither reads memory nor writes to it.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4663440" y="1426464"/>
            <a:ext cx="4169663" cy="2423160"/>
          </a:xfrm>
          <a:prstGeom prst="roundRect">
            <a:avLst>
              <a:gd name="adj" fmla="val 1935"/>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4663440" y="1426464"/>
            <a:ext cx="4169663"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663440" y="1619585"/>
            <a:ext cx="4169663"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809744" y="1508760"/>
            <a:ext cx="2918764" cy="182880"/>
          </a:xfrm>
          <a:prstGeom prst="rect">
            <a:avLst/>
          </a:prstGeom>
          <a:noFill/>
        </p:spPr>
        <p:txBody>
          <a:bodyPr wrap="square" lIns="0" rIns="0" tIns="0" bIns="0" anchor="t">
            <a:spAutoFit/>
          </a:bodyPr>
          <a:lstStyle/>
          <a:p>
            <a:pPr algn="l"/>
            <a:r>
              <a:rPr sz="1200" b="1">
                <a:solidFill>
                  <a:srgbClr val="F7F7FA"/>
                </a:solidFill>
                <a:latin typeface="Arial"/>
              </a:rPr>
              <a:t>Memory</a:t>
            </a:r>
          </a:p>
        </p:txBody>
      </p:sp>
      <p:sp>
        <p:nvSpPr>
          <p:cNvPr id="30" name="TextBox 29"/>
          <p:cNvSpPr txBox="1"/>
          <p:nvPr/>
        </p:nvSpPr>
        <p:spPr>
          <a:xfrm>
            <a:off x="7589520" y="1527048"/>
            <a:ext cx="1097280" cy="173736"/>
          </a:xfrm>
          <a:prstGeom prst="rect">
            <a:avLst/>
          </a:prstGeom>
          <a:noFill/>
        </p:spPr>
        <p:txBody>
          <a:bodyPr wrap="square" lIns="0" rIns="0" tIns="0" bIns="0" anchor="t">
            <a:spAutoFit/>
          </a:bodyPr>
          <a:lstStyle/>
          <a:p>
            <a:pPr algn="r"/>
            <a:r>
              <a:rPr sz="885" b="0">
                <a:solidFill>
                  <a:srgbClr val="C6C7D0"/>
                </a:solidFill>
                <a:latin typeface="Arial"/>
              </a:rPr>
              <a:t>Scope</a:t>
            </a:r>
          </a:p>
        </p:txBody>
      </p:sp>
      <p:sp>
        <p:nvSpPr>
          <p:cNvPr id="31" name="TextBox 30"/>
          <p:cNvSpPr txBox="1"/>
          <p:nvPr/>
        </p:nvSpPr>
        <p:spPr>
          <a:xfrm>
            <a:off x="4809744" y="1856232"/>
            <a:ext cx="1737360" cy="173736"/>
          </a:xfrm>
          <a:prstGeom prst="rect">
            <a:avLst/>
          </a:prstGeom>
          <a:noFill/>
        </p:spPr>
        <p:txBody>
          <a:bodyPr wrap="square" lIns="0" rIns="0" tIns="0" bIns="0" anchor="t">
            <a:spAutoFit/>
          </a:bodyPr>
          <a:lstStyle/>
          <a:p>
            <a:pPr algn="l"/>
            <a:r>
              <a:rPr sz="885" b="1">
                <a:solidFill>
                  <a:srgbClr val="C6C7D0"/>
                </a:solidFill>
                <a:latin typeface="Arial"/>
              </a:rPr>
              <a:t>Reads and writes</a:t>
            </a:r>
          </a:p>
        </p:txBody>
      </p:sp>
      <p:sp>
        <p:nvSpPr>
          <p:cNvPr id="32" name="TextBox 31"/>
          <p:cNvSpPr txBox="1"/>
          <p:nvPr/>
        </p:nvSpPr>
        <p:spPr>
          <a:xfrm>
            <a:off x="4809744" y="2057400"/>
            <a:ext cx="3877055" cy="210312"/>
          </a:xfrm>
          <a:prstGeom prst="rect">
            <a:avLst/>
          </a:prstGeom>
          <a:noFill/>
        </p:spPr>
        <p:txBody>
          <a:bodyPr wrap="none" lIns="0" rIns="0" tIns="0" bIns="0" anchor="t">
            <a:spAutoFit/>
          </a:bodyPr>
          <a:lstStyle/>
          <a:p>
            <a:pPr algn="l"/>
            <a:r>
              <a:rPr sz="1125" b="0">
                <a:solidFill>
                  <a:srgbClr val="F7F7FA"/>
                </a:solidFill>
                <a:latin typeface="Arial"/>
              </a:rPr>
              <a:t>Your ordinary conversations.</a:t>
            </a:r>
          </a:p>
        </p:txBody>
      </p:sp>
      <p:sp>
        <p:nvSpPr>
          <p:cNvPr id="33" name="TextBox 32"/>
          <p:cNvSpPr txBox="1"/>
          <p:nvPr/>
        </p:nvSpPr>
        <p:spPr>
          <a:xfrm>
            <a:off x="4809744" y="2267712"/>
            <a:ext cx="3877055" cy="210312"/>
          </a:xfrm>
          <a:prstGeom prst="rect">
            <a:avLst/>
          </a:prstGeom>
          <a:noFill/>
        </p:spPr>
        <p:txBody>
          <a:bodyPr wrap="none" lIns="0" rIns="0" tIns="0" bIns="0" anchor="t">
            <a:spAutoFit/>
          </a:bodyPr>
          <a:lstStyle/>
          <a:p>
            <a:pPr algn="l"/>
            <a:r>
              <a:rPr sz="1125" b="0">
                <a:solidFill>
                  <a:srgbClr val="F7F7FA"/>
                </a:solidFill>
                <a:latin typeface="Arial"/>
              </a:rPr>
              <a:t>Chats you scope to one project.</a:t>
            </a:r>
          </a:p>
        </p:txBody>
      </p:sp>
      <p:sp>
        <p:nvSpPr>
          <p:cNvPr id="34" name="TextBox 33"/>
          <p:cNvSpPr txBox="1"/>
          <p:nvPr/>
        </p:nvSpPr>
        <p:spPr>
          <a:xfrm>
            <a:off x="4809744" y="2478024"/>
            <a:ext cx="3877055" cy="210312"/>
          </a:xfrm>
          <a:prstGeom prst="rect">
            <a:avLst/>
          </a:prstGeom>
          <a:noFill/>
        </p:spPr>
        <p:txBody>
          <a:bodyPr wrap="none" lIns="0" rIns="0" tIns="0" bIns="0" anchor="t">
            <a:spAutoFit/>
          </a:bodyPr>
          <a:lstStyle/>
          <a:p>
            <a:pPr algn="l"/>
            <a:r>
              <a:rPr sz="1125" b="0">
                <a:solidFill>
                  <a:srgbClr val="F7F7FA"/>
                </a:solidFill>
                <a:latin typeface="Arial"/>
              </a:rPr>
              <a:t>Anything you ask it to keep.</a:t>
            </a:r>
          </a:p>
        </p:txBody>
      </p:sp>
      <p:sp>
        <p:nvSpPr>
          <p:cNvPr id="35" name="Rectangle 34"/>
          <p:cNvSpPr/>
          <p:nvPr/>
        </p:nvSpPr>
        <p:spPr>
          <a:xfrm>
            <a:off x="4809744" y="2779776"/>
            <a:ext cx="3877055"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809744" y="2871216"/>
            <a:ext cx="1737360" cy="173736"/>
          </a:xfrm>
          <a:prstGeom prst="rect">
            <a:avLst/>
          </a:prstGeom>
          <a:noFill/>
        </p:spPr>
        <p:txBody>
          <a:bodyPr wrap="square" lIns="0" rIns="0" tIns="0" bIns="0" anchor="t">
            <a:spAutoFit/>
          </a:bodyPr>
          <a:lstStyle/>
          <a:p>
            <a:pPr algn="l"/>
            <a:r>
              <a:rPr sz="885" b="1">
                <a:solidFill>
                  <a:srgbClr val="C6C7D0"/>
                </a:solidFill>
                <a:latin typeface="Arial"/>
              </a:rPr>
              <a:t>Does neither</a:t>
            </a:r>
          </a:p>
        </p:txBody>
      </p:sp>
      <p:sp>
        <p:nvSpPr>
          <p:cNvPr id="37" name="TextBox 36"/>
          <p:cNvSpPr txBox="1"/>
          <p:nvPr/>
        </p:nvSpPr>
        <p:spPr>
          <a:xfrm>
            <a:off x="4809744" y="3072384"/>
            <a:ext cx="3877055" cy="210312"/>
          </a:xfrm>
          <a:prstGeom prst="rect">
            <a:avLst/>
          </a:prstGeom>
          <a:noFill/>
        </p:spPr>
        <p:txBody>
          <a:bodyPr wrap="none" lIns="0" rIns="0" tIns="0" bIns="0" anchor="t">
            <a:spAutoFit/>
          </a:bodyPr>
          <a:lstStyle/>
          <a:p>
            <a:pPr algn="l"/>
            <a:r>
              <a:rPr sz="1125" b="0">
                <a:solidFill>
                  <a:srgbClr val="F7F7FA"/>
                </a:solidFill>
                <a:latin typeface="Arial"/>
              </a:rPr>
              <a:t>A conversation marked temporary.</a:t>
            </a:r>
          </a:p>
        </p:txBody>
      </p:sp>
      <p:sp>
        <p:nvSpPr>
          <p:cNvPr id="38" name="TextBox 37"/>
          <p:cNvSpPr txBox="1"/>
          <p:nvPr/>
        </p:nvSpPr>
        <p:spPr>
          <a:xfrm>
            <a:off x="4809744" y="3282696"/>
            <a:ext cx="3877055" cy="210312"/>
          </a:xfrm>
          <a:prstGeom prst="rect">
            <a:avLst/>
          </a:prstGeom>
          <a:noFill/>
        </p:spPr>
        <p:txBody>
          <a:bodyPr wrap="none" lIns="0" rIns="0" tIns="0" bIns="0" anchor="t">
            <a:spAutoFit/>
          </a:bodyPr>
          <a:lstStyle/>
          <a:p>
            <a:pPr algn="l"/>
            <a:r>
              <a:rPr sz="1125" b="0">
                <a:solidFill>
                  <a:srgbClr val="F7F7FA"/>
                </a:solidFill>
                <a:latin typeface="Arial"/>
              </a:rPr>
              <a:t>Any chat once you switch it off.</a:t>
            </a:r>
          </a:p>
        </p:txBody>
      </p:sp>
      <p:sp>
        <p:nvSpPr>
          <p:cNvPr id="39" name="TextBox 38"/>
          <p:cNvSpPr txBox="1"/>
          <p:nvPr/>
        </p:nvSpPr>
        <p:spPr>
          <a:xfrm>
            <a:off x="4809744" y="3493008"/>
            <a:ext cx="3877055" cy="210312"/>
          </a:xfrm>
          <a:prstGeom prst="rect">
            <a:avLst/>
          </a:prstGeom>
          <a:noFill/>
        </p:spPr>
        <p:txBody>
          <a:bodyPr wrap="none" lIns="0" rIns="0" tIns="0" bIns="0" anchor="t">
            <a:spAutoFit/>
          </a:bodyPr>
          <a:lstStyle/>
          <a:p>
            <a:pPr algn="l"/>
            <a:r>
              <a:rPr sz="1125" b="0">
                <a:solidFill>
                  <a:srgbClr val="F7F7FA"/>
                </a:solidFill>
                <a:latin typeface="Arial"/>
              </a:rPr>
              <a:t>Another vendor's assistant.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Matters - Forgetting Is Not the Risk</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426464"/>
          <a:ext cx="8522206" cy="2048255"/>
        </p:xfrm>
        <a:graphic>
          <a:graphicData uri="http://schemas.openxmlformats.org/drawingml/2006/table">
            <a:tbl>
              <a:tblPr>
                <a:tableStyleId>{2D5ABB26-0587-4C30-8999-92F81FD0307C}</a:tableStyleId>
              </a:tblPr>
              <a:tblGrid>
                <a:gridCol w="1924369"/>
                <a:gridCol w="3115645"/>
                <a:gridCol w="3482192"/>
              </a:tblGrid>
              <a:tr h="409651">
                <a:tc>
                  <a:txBody>
                    <a:bodyPr wrap="square"/>
                    <a:lstStyle/>
                    <a:p>
                      <a:r>
                        <a:rPr sz="1200" b="1">
                          <a:solidFill>
                            <a:srgbClr val="424242"/>
                          </a:solidFill>
                          <a:latin typeface="Source Code Pro"/>
                        </a:rPr>
                        <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Without memory</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With memory</a:t>
                      </a:r>
                    </a:p>
                  </a:txBody>
                  <a:tcPr marL="91440" marR="91440" marT="36576" marB="36576" anchor="ctr">
                    <a:lnT w="9525" cap="flat">
                      <a:solidFill>
                        <a:srgbClr val="D8D8DE"/>
                      </a:solidFill>
                    </a:lnT>
                    <a:lnB w="15875" cap="flat">
                      <a:solidFill>
                        <a:srgbClr val="424242"/>
                      </a:solidFill>
                    </a:lnB>
                    <a:solidFill>
                      <a:srgbClr val="FFFFFF"/>
                    </a:solidFill>
                  </a:tcPr>
                </a:tc>
              </a:tr>
              <a:tr h="409651">
                <a:tc>
                  <a:txBody>
                    <a:bodyPr wrap="square"/>
                    <a:lstStyle/>
                    <a:p>
                      <a:r>
                        <a:rPr sz="1200" b="0">
                          <a:solidFill>
                            <a:srgbClr val="424242"/>
                          </a:solidFill>
                          <a:latin typeface="Source Code Pro"/>
                        </a:rPr>
                        <a:t>Set-up</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Re-stated every time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Stated once</a:t>
                      </a:r>
                    </a:p>
                  </a:txBody>
                  <a:tcPr marL="91440" marR="91440" marT="36576" marB="36576" anchor="ctr">
                    <a:lnB w="9525" cap="flat">
                      <a:solidFill>
                        <a:srgbClr val="D8D8DE"/>
                      </a:solidFill>
                    </a:lnB>
                    <a:solidFill>
                      <a:srgbClr val="FFFFFF"/>
                    </a:solidFill>
                  </a:tcPr>
                </a:tc>
              </a:tr>
              <a:tr h="409651">
                <a:tc>
                  <a:txBody>
                    <a:bodyPr wrap="square"/>
                    <a:lstStyle/>
                    <a:p>
                      <a:r>
                        <a:rPr sz="1200" b="0">
                          <a:solidFill>
                            <a:srgbClr val="424242"/>
                          </a:solidFill>
                          <a:latin typeface="Source Code Pro"/>
                        </a:rPr>
                        <a:t>Answers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Generic by default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Shaped to your situation</a:t>
                      </a:r>
                    </a:p>
                  </a:txBody>
                  <a:tcPr marL="91440" marR="91440" marT="36576" marB="36576" anchor="ctr">
                    <a:lnB w="9525" cap="flat">
                      <a:solidFill>
                        <a:srgbClr val="D8D8DE"/>
                      </a:solidFill>
                    </a:lnB>
                    <a:solidFill>
                      <a:srgbClr val="FFFFFF"/>
                    </a:solidFill>
                  </a:tcPr>
                </a:tc>
              </a:tr>
              <a:tr h="409651">
                <a:tc>
                  <a:txBody>
                    <a:bodyPr wrap="square"/>
                    <a:lstStyle/>
                    <a:p>
                      <a:r>
                        <a:rPr sz="1200" b="0">
                          <a:solidFill>
                            <a:srgbClr val="424242"/>
                          </a:solidFill>
                          <a:latin typeface="Source Code Pro"/>
                        </a:rPr>
                        <a:t>What goes wrong</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It forgets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It remembers something untrue</a:t>
                      </a:r>
                    </a:p>
                  </a:txBody>
                  <a:tcPr marL="91440" marR="91440" marT="36576" marB="36576" anchor="ctr">
                    <a:lnB w="9525" cap="flat">
                      <a:solidFill>
                        <a:srgbClr val="D8D8DE"/>
                      </a:solidFill>
                    </a:lnB>
                    <a:solidFill>
                      <a:srgbClr val="FFFFFF"/>
                    </a:solidFill>
                  </a:tcPr>
                </a:tc>
              </a:tr>
              <a:tr h="409651">
                <a:tc>
                  <a:txBody>
                    <a:bodyPr wrap="square"/>
                    <a:lstStyle/>
                    <a:p>
                      <a:r>
                        <a:rPr sz="1200" b="0">
                          <a:solidFill>
                            <a:srgbClr val="424242"/>
                          </a:solidFill>
                          <a:latin typeface="Source Code Pro"/>
                        </a:rPr>
                        <a:t>When you notice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Straight away</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Only if you read memory</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694176"/>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Forgetting announces itself. A stale line does not: it bends every answer slightly until somebody opens memory and deletes it. That is what memory costs you - something you have to maintain.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Belongs in Memory</a:t>
            </a:r>
          </a:p>
        </p:txBody>
      </p:sp>
      <p:sp>
        <p:nvSpPr>
          <p:cNvPr id="3" name="Text Placeholder 2"/>
          <p:cNvSpPr>
            <a:spLocks noGrp="1"/>
          </p:cNvSpPr>
          <p:nvPr>
            <p:ph type="body" idx="1"/>
          </p:nvPr>
        </p:nvSpPr>
        <p:spPr>
          <a:xfrm>
            <a:off x="311700" y="1874519"/>
            <a:ext cx="3999900" cy="2679191"/>
          </a:xfrm>
        </p:spPr>
        <p:txBody>
          <a:bodyPr/>
          <a:lstStyle/>
          <a:p>
            <a:r>
              <a:t>Standing preferences - tone, spelling, units</a:t>
            </a:r>
          </a:p>
          <a:p>
            <a:r>
              <a:t>Facts about your work you would repeat weekly</a:t>
            </a:r>
          </a:p>
          <a:p>
            <a:r>
              <a:t>Constraints that apply to everything you ask</a:t>
            </a:r>
          </a:p>
        </p:txBody>
      </p:sp>
      <p:sp>
        <p:nvSpPr>
          <p:cNvPr id="4" name="Text Placeholder 3"/>
          <p:cNvSpPr>
            <a:spLocks noGrp="1"/>
          </p:cNvSpPr>
          <p:nvPr>
            <p:ph type="body" idx="2"/>
          </p:nvPr>
        </p:nvSpPr>
        <p:spPr>
          <a:xfrm>
            <a:off x="4832400" y="1874519"/>
            <a:ext cx="3999900" cy="2679191"/>
          </a:xfrm>
        </p:spPr>
        <p:txBody>
          <a:bodyPr/>
          <a:lstStyle/>
          <a:p>
            <a:r>
              <a:t>Detail from one task you will not repeat</a:t>
            </a:r>
          </a:p>
          <a:p>
            <a:r>
              <a:t>A conclusion you have not checked yet</a:t>
            </a:r>
          </a:p>
          <a:p>
            <a:r>
              <a:t>Anything you would not want read aloud</a:t>
            </a:r>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TextBox 32"/>
          <p:cNvSpPr txBox="1"/>
          <p:nvPr/>
        </p:nvSpPr>
        <p:spPr>
          <a:xfrm>
            <a:off x="310896"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Worth keeping</a:t>
            </a:r>
          </a:p>
        </p:txBody>
      </p:sp>
      <p:sp>
        <p:nvSpPr>
          <p:cNvPr id="34" name="TextBox 33"/>
          <p:cNvSpPr txBox="1"/>
          <p:nvPr/>
        </p:nvSpPr>
        <p:spPr>
          <a:xfrm>
            <a:off x="4828032"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Keep out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Rectangle 67"/>
          <p:cNvSpPr/>
          <p:nvPr/>
        </p:nvSpPr>
        <p:spPr>
          <a:xfrm>
            <a:off x="0" y="0"/>
            <a:ext cx="9144000" cy="1572768"/>
          </a:xfrm>
          <a:prstGeom prst="rect">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502920" y="0"/>
            <a:ext cx="8138160" cy="1572768"/>
          </a:xfrm>
          <a:prstGeom prst="rect">
            <a:avLst/>
          </a:prstGeom>
          <a:noFill/>
        </p:spPr>
        <p:txBody>
          <a:bodyPr wrap="square" lIns="0" rIns="0" tIns="0" bIns="0" anchor="ctr">
            <a:spAutoFit/>
          </a:bodyPr>
          <a:lstStyle/>
          <a:p>
            <a:pPr algn="l"/>
            <a:r>
              <a:rPr sz="4000" b="0">
                <a:solidFill>
                  <a:srgbClr val="FFFFFF"/>
                </a:solidFill>
                <a:latin typeface="Oswald"/>
              </a:rPr>
              <a:t>Let's See It in Action</a:t>
            </a:r>
          </a:p>
        </p:txBody>
      </p:sp>
      <p:sp>
        <p:nvSpPr>
          <p:cNvPr id="70" name="TextBox 69"/>
          <p:cNvSpPr txBox="1"/>
          <p:nvPr/>
        </p:nvSpPr>
        <p:spPr>
          <a:xfrm>
            <a:off x="502920" y="1883664"/>
            <a:ext cx="8138160" cy="384048"/>
          </a:xfrm>
          <a:prstGeom prst="rect">
            <a:avLst/>
          </a:prstGeom>
          <a:noFill/>
        </p:spPr>
        <p:txBody>
          <a:bodyPr wrap="square" lIns="0" rIns="0" tIns="0" bIns="0" anchor="t">
            <a:spAutoFit/>
          </a:bodyPr>
          <a:lstStyle/>
          <a:p>
            <a:pPr algn="l">
              <a:lnSpc>
                <a:spcPct val="120000"/>
              </a:lnSpc>
            </a:pPr>
            <a:r>
              <a:rPr sz="1500" b="0">
                <a:solidFill>
                  <a:srgbClr val="424242"/>
                </a:solidFill>
                <a:latin typeface="Source Code Pro"/>
              </a:rPr>
              <a:t>That is the principle. Now we open memory and edit it live.</a:t>
            </a:r>
          </a:p>
        </p:txBody>
      </p:sp>
      <p:sp>
        <p:nvSpPr>
          <p:cNvPr id="71" name="Rounded Rectangle 70"/>
          <p:cNvSpPr/>
          <p:nvPr/>
        </p:nvSpPr>
        <p:spPr>
          <a:xfrm>
            <a:off x="502920"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722376"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722376"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1</a:t>
            </a:r>
          </a:p>
        </p:txBody>
      </p:sp>
      <p:sp>
        <p:nvSpPr>
          <p:cNvPr id="74" name="TextBox 73"/>
          <p:cNvSpPr txBox="1"/>
          <p:nvPr/>
        </p:nvSpPr>
        <p:spPr>
          <a:xfrm>
            <a:off x="704088" y="3127248"/>
            <a:ext cx="2139696"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Open memory</a:t>
            </a:r>
          </a:p>
        </p:txBody>
      </p:sp>
      <p:sp>
        <p:nvSpPr>
          <p:cNvPr id="75" name="TextBox 74"/>
          <p:cNvSpPr txBox="1"/>
          <p:nvPr/>
        </p:nvSpPr>
        <p:spPr>
          <a:xfrm>
            <a:off x="704088"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and read what it already holds</a:t>
            </a:r>
          </a:p>
        </p:txBody>
      </p:sp>
      <p:sp>
        <p:nvSpPr>
          <p:cNvPr id="76" name="Rounded Rectangle 75"/>
          <p:cNvSpPr/>
          <p:nvPr/>
        </p:nvSpPr>
        <p:spPr>
          <a:xfrm>
            <a:off x="3300983"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3520439"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3520439"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2</a:t>
            </a:r>
          </a:p>
        </p:txBody>
      </p:sp>
      <p:sp>
        <p:nvSpPr>
          <p:cNvPr id="79" name="TextBox 78"/>
          <p:cNvSpPr txBox="1"/>
          <p:nvPr/>
        </p:nvSpPr>
        <p:spPr>
          <a:xfrm>
            <a:off x="3502151" y="3127248"/>
            <a:ext cx="2139696"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Say one thing worth keeping</a:t>
            </a:r>
          </a:p>
        </p:txBody>
      </p:sp>
      <p:sp>
        <p:nvSpPr>
          <p:cNvPr id="80" name="TextBox 79"/>
          <p:cNvSpPr txBox="1"/>
          <p:nvPr/>
        </p:nvSpPr>
        <p:spPr>
          <a:xfrm>
            <a:off x="3502151"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then start a fresh chat</a:t>
            </a:r>
          </a:p>
        </p:txBody>
      </p:sp>
      <p:sp>
        <p:nvSpPr>
          <p:cNvPr id="81" name="Rounded Rectangle 80"/>
          <p:cNvSpPr/>
          <p:nvPr/>
        </p:nvSpPr>
        <p:spPr>
          <a:xfrm>
            <a:off x="6099047"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6318503"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6318503"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3</a:t>
            </a:r>
          </a:p>
        </p:txBody>
      </p:sp>
      <p:sp>
        <p:nvSpPr>
          <p:cNvPr id="84" name="TextBox 83"/>
          <p:cNvSpPr txBox="1"/>
          <p:nvPr/>
        </p:nvSpPr>
        <p:spPr>
          <a:xfrm>
            <a:off x="6300215" y="3127248"/>
            <a:ext cx="2139696"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Correct a line</a:t>
            </a:r>
          </a:p>
        </p:txBody>
      </p:sp>
      <p:sp>
        <p:nvSpPr>
          <p:cNvPr id="85" name="TextBox 84"/>
          <p:cNvSpPr txBox="1"/>
          <p:nvPr/>
        </p:nvSpPr>
        <p:spPr>
          <a:xfrm>
            <a:off x="6300215"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and delete another</a:t>
            </a: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