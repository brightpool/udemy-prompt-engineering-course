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Shortcuts</a:t>
            </a:r>
          </a:p>
        </p:txBody>
      </p:sp>
      <p:sp>
        <p:nvSpPr>
          <p:cNvPr id="3" name="Subtitle 2"/>
          <p:cNvSpPr>
            <a:spLocks noGrp="1"/>
          </p:cNvSpPr>
          <p:nvPr>
            <p:ph type="subTitle" idx="1"/>
          </p:nvPr>
        </p:nvSpPr>
        <p:spPr/>
        <p:txBody>
          <a:bodyPr/>
          <a:lstStyle/>
          <a:p>
            <a:pPr marL="0" indent="0">
              <a:buNone/>
            </a:pPr>
            <a:r>
              <a:t>How the ChatGPT interface answers the keyboard as well as the mouse.</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Same Interface, Reached Without the Mouse</a:t>
            </a:r>
          </a:p>
        </p:txBody>
      </p:sp>
      <p:sp>
        <p:nvSpPr>
          <p:cNvPr id="3" name="Text Placeholder 2"/>
          <p:cNvSpPr>
            <a:spLocks noGrp="1"/>
          </p:cNvSpPr>
          <p:nvPr>
            <p:ph type="body" idx="1"/>
          </p:nvPr>
        </p:nvSpPr>
        <p:spPr>
          <a:xfrm>
            <a:off x="5166360" y="1426463"/>
            <a:ext cx="3666744" cy="2459736"/>
          </a:xfrm>
        </p:spPr>
        <p:txBody>
          <a:bodyPr wrap="square" anchor="ctr"/>
          <a:lstStyle/>
          <a:p>
            <a:pPr marL="0" indent="0">
              <a:buNone/>
            </a:pPr>
            <a:r>
              <a:t>Each line here is something you already do with the pointer. The keyboard is a second set of controls over the same interface, and ChatGPT keeps its own list of them.</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297680" cy="2459736"/>
          </a:xfrm>
          <a:prstGeom prst="roundRect">
            <a:avLst>
              <a:gd name="adj" fmla="val 1764"/>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29768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29768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3008376"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419856" y="1527048"/>
            <a:ext cx="1097280" cy="173736"/>
          </a:xfrm>
          <a:prstGeom prst="rect">
            <a:avLst/>
          </a:prstGeom>
          <a:noFill/>
        </p:spPr>
        <p:txBody>
          <a:bodyPr wrap="square" lIns="0" rIns="0" tIns="0" bIns="0" anchor="t">
            <a:spAutoFit/>
          </a:bodyPr>
          <a:lstStyle/>
          <a:p>
            <a:pPr algn="r"/>
            <a:r>
              <a:rPr sz="885" b="0">
                <a:solidFill>
                  <a:srgbClr val="C6C7D0"/>
                </a:solidFill>
                <a:latin typeface="Arial"/>
              </a:rPr>
              <a:t>Shortcut list</a:t>
            </a:r>
          </a:p>
        </p:txBody>
      </p:sp>
      <p:sp>
        <p:nvSpPr>
          <p:cNvPr id="31" name="TextBox 30"/>
          <p:cNvSpPr txBox="1"/>
          <p:nvPr/>
        </p:nvSpPr>
        <p:spPr>
          <a:xfrm>
            <a:off x="512064" y="1856232"/>
            <a:ext cx="4005072" cy="210312"/>
          </a:xfrm>
          <a:prstGeom prst="rect">
            <a:avLst/>
          </a:prstGeom>
          <a:noFill/>
        </p:spPr>
        <p:txBody>
          <a:bodyPr wrap="none" lIns="0" rIns="0" tIns="0" bIns="0" anchor="t">
            <a:spAutoFit/>
          </a:bodyPr>
          <a:lstStyle/>
          <a:p>
            <a:pPr algn="l"/>
            <a:r>
              <a:rPr sz="1125" b="0">
                <a:solidFill>
                  <a:srgbClr val="F7F7FA"/>
                </a:solidFill>
                <a:latin typeface="Arial"/>
              </a:rPr>
              <a:t>Toggle the sidebar</a:t>
            </a:r>
          </a:p>
        </p:txBody>
      </p:sp>
      <p:sp>
        <p:nvSpPr>
          <p:cNvPr id="32" name="TextBox 31"/>
          <p:cNvSpPr txBox="1"/>
          <p:nvPr/>
        </p:nvSpPr>
        <p:spPr>
          <a:xfrm>
            <a:off x="512064" y="2066544"/>
            <a:ext cx="4005072" cy="210312"/>
          </a:xfrm>
          <a:prstGeom prst="rect">
            <a:avLst/>
          </a:prstGeom>
          <a:noFill/>
        </p:spPr>
        <p:txBody>
          <a:bodyPr wrap="none" lIns="0" rIns="0" tIns="0" bIns="0" anchor="t">
            <a:spAutoFit/>
          </a:bodyPr>
          <a:lstStyle/>
          <a:p>
            <a:pPr algn="l"/>
            <a:r>
              <a:rPr sz="1125" b="0">
                <a:solidFill>
                  <a:srgbClr val="F7F7FA"/>
                </a:solidFill>
                <a:latin typeface="Arial"/>
              </a:rPr>
              <a:t>Open a new chat</a:t>
            </a:r>
          </a:p>
        </p:txBody>
      </p:sp>
      <p:sp>
        <p:nvSpPr>
          <p:cNvPr id="33" name="TextBox 32"/>
          <p:cNvSpPr txBox="1"/>
          <p:nvPr/>
        </p:nvSpPr>
        <p:spPr>
          <a:xfrm>
            <a:off x="512064" y="2276856"/>
            <a:ext cx="4005072" cy="210312"/>
          </a:xfrm>
          <a:prstGeom prst="rect">
            <a:avLst/>
          </a:prstGeom>
          <a:noFill/>
        </p:spPr>
        <p:txBody>
          <a:bodyPr wrap="none" lIns="0" rIns="0" tIns="0" bIns="0" anchor="t">
            <a:spAutoFit/>
          </a:bodyPr>
          <a:lstStyle/>
          <a:p>
            <a:pPr algn="l"/>
            <a:r>
              <a:rPr sz="1125" b="0">
                <a:solidFill>
                  <a:srgbClr val="F7F7FA"/>
                </a:solidFill>
                <a:latin typeface="Arial"/>
              </a:rPr>
              <a:t>Focus the message box</a:t>
            </a:r>
          </a:p>
        </p:txBody>
      </p:sp>
      <p:sp>
        <p:nvSpPr>
          <p:cNvPr id="34" name="TextBox 33"/>
          <p:cNvSpPr txBox="1"/>
          <p:nvPr/>
        </p:nvSpPr>
        <p:spPr>
          <a:xfrm>
            <a:off x="512064" y="2487168"/>
            <a:ext cx="4005072" cy="210312"/>
          </a:xfrm>
          <a:prstGeom prst="rect">
            <a:avLst/>
          </a:prstGeom>
          <a:noFill/>
        </p:spPr>
        <p:txBody>
          <a:bodyPr wrap="none" lIns="0" rIns="0" tIns="0" bIns="0" anchor="t">
            <a:spAutoFit/>
          </a:bodyPr>
          <a:lstStyle/>
          <a:p>
            <a:pPr algn="l"/>
            <a:r>
              <a:rPr sz="1125" b="0">
                <a:solidFill>
                  <a:srgbClr val="F7F7FA"/>
                </a:solidFill>
                <a:latin typeface="Arial"/>
              </a:rPr>
              <a:t>Search your chats</a:t>
            </a:r>
          </a:p>
        </p:txBody>
      </p:sp>
      <p:sp>
        <p:nvSpPr>
          <p:cNvPr id="35" name="TextBox 34"/>
          <p:cNvSpPr txBox="1"/>
          <p:nvPr/>
        </p:nvSpPr>
        <p:spPr>
          <a:xfrm>
            <a:off x="512064" y="2697480"/>
            <a:ext cx="4005072" cy="210312"/>
          </a:xfrm>
          <a:prstGeom prst="rect">
            <a:avLst/>
          </a:prstGeom>
          <a:noFill/>
        </p:spPr>
        <p:txBody>
          <a:bodyPr wrap="none" lIns="0" rIns="0" tIns="0" bIns="0" anchor="t">
            <a:spAutoFit/>
          </a:bodyPr>
          <a:lstStyle/>
          <a:p>
            <a:pPr algn="l"/>
            <a:r>
              <a:rPr sz="1125" b="0">
                <a:solidFill>
                  <a:srgbClr val="F7F7FA"/>
                </a:solidFill>
                <a:latin typeface="Arial"/>
              </a:rPr>
              <a:t>Copy the last response</a:t>
            </a:r>
          </a:p>
        </p:txBody>
      </p:sp>
      <p:sp>
        <p:nvSpPr>
          <p:cNvPr id="36" name="TextBox 35"/>
          <p:cNvSpPr txBox="1"/>
          <p:nvPr/>
        </p:nvSpPr>
        <p:spPr>
          <a:xfrm>
            <a:off x="512064" y="2907792"/>
            <a:ext cx="4005072" cy="210312"/>
          </a:xfrm>
          <a:prstGeom prst="rect">
            <a:avLst/>
          </a:prstGeom>
          <a:noFill/>
        </p:spPr>
        <p:txBody>
          <a:bodyPr wrap="none" lIns="0" rIns="0" tIns="0" bIns="0" anchor="t">
            <a:spAutoFit/>
          </a:bodyPr>
          <a:lstStyle/>
          <a:p>
            <a:pPr algn="l"/>
            <a:r>
              <a:rPr sz="1125" b="0">
                <a:solidFill>
                  <a:srgbClr val="F7F7FA"/>
                </a:solidFill>
                <a:latin typeface="Arial"/>
              </a:rPr>
              <a:t>Copy the last code block</a:t>
            </a:r>
          </a:p>
        </p:txBody>
      </p:sp>
      <p:sp>
        <p:nvSpPr>
          <p:cNvPr id="37" name="TextBox 36"/>
          <p:cNvSpPr txBox="1"/>
          <p:nvPr/>
        </p:nvSpPr>
        <p:spPr>
          <a:xfrm>
            <a:off x="512064" y="3118104"/>
            <a:ext cx="4005072" cy="210312"/>
          </a:xfrm>
          <a:prstGeom prst="rect">
            <a:avLst/>
          </a:prstGeom>
          <a:noFill/>
        </p:spPr>
        <p:txBody>
          <a:bodyPr wrap="none" lIns="0" rIns="0" tIns="0" bIns="0" anchor="t">
            <a:spAutoFit/>
          </a:bodyPr>
          <a:lstStyle/>
          <a:p>
            <a:pPr algn="l"/>
            <a:r>
              <a:rPr sz="1125" b="0">
                <a:solidFill>
                  <a:srgbClr val="F7F7FA"/>
                </a:solidFill>
                <a:latin typeface="Arial"/>
              </a:rPr>
              <a:t>Stop the response</a:t>
            </a:r>
          </a:p>
        </p:txBody>
      </p:sp>
      <p:sp>
        <p:nvSpPr>
          <p:cNvPr id="38" name="Rectangle 37"/>
          <p:cNvSpPr/>
          <p:nvPr/>
        </p:nvSpPr>
        <p:spPr>
          <a:xfrm>
            <a:off x="512064" y="3438144"/>
            <a:ext cx="4005072"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466344" y="3520440"/>
            <a:ext cx="113157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529584"/>
            <a:ext cx="4005072" cy="210312"/>
          </a:xfrm>
          <a:prstGeom prst="rect">
            <a:avLst/>
          </a:prstGeom>
          <a:noFill/>
        </p:spPr>
        <p:txBody>
          <a:bodyPr wrap="none" lIns="0" rIns="0" tIns="0" bIns="0" anchor="t">
            <a:spAutoFit/>
          </a:bodyPr>
          <a:lstStyle/>
          <a:p>
            <a:pPr algn="l"/>
            <a:r>
              <a:rPr sz="1125" b="0">
                <a:solidFill>
                  <a:srgbClr val="F7F7FA"/>
                </a:solidFill>
                <a:latin typeface="Arial"/>
              </a:rPr>
              <a:t>Open this 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One Worth Memorising</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358384"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26464"/>
            <a:ext cx="2786359" cy="603504"/>
          </a:xfrm>
          <a:prstGeom prst="rect">
            <a:avLst/>
          </a:prstGeom>
          <a:noFill/>
        </p:spPr>
        <p:txBody>
          <a:bodyPr wrap="square" lIns="0" rIns="0" tIns="0" bIns="0" anchor="ctr">
            <a:spAutoFit/>
          </a:bodyPr>
          <a:lstStyle/>
          <a:p>
            <a:pPr algn="l"/>
            <a:r>
              <a:rPr sz="1300" b="0">
                <a:solidFill>
                  <a:srgbClr val="424242"/>
                </a:solidFill>
                <a:latin typeface="Source Code Pro"/>
              </a:rPr>
              <a:t>Move around</a:t>
            </a:r>
          </a:p>
        </p:txBody>
      </p:sp>
      <p:sp>
        <p:nvSpPr>
          <p:cNvPr id="28" name="TextBox 27"/>
          <p:cNvSpPr txBox="1"/>
          <p:nvPr/>
        </p:nvSpPr>
        <p:spPr>
          <a:xfrm>
            <a:off x="3258007" y="1426464"/>
            <a:ext cx="2157801" cy="603504"/>
          </a:xfrm>
          <a:prstGeom prst="rect">
            <a:avLst/>
          </a:prstGeom>
          <a:noFill/>
        </p:spPr>
        <p:txBody>
          <a:bodyPr wrap="square" lIns="0" rIns="0" tIns="0" bIns="0" anchor="ctr">
            <a:spAutoFit/>
          </a:bodyPr>
          <a:lstStyle/>
          <a:p>
            <a:pPr algn="r"/>
            <a:r>
              <a:rPr sz="1200" b="0">
                <a:solidFill>
                  <a:srgbClr val="6B6B6B"/>
                </a:solidFill>
                <a:latin typeface="Source Code Pro"/>
              </a:rPr>
              <a:t>sidebar, chats, search</a:t>
            </a:r>
          </a:p>
        </p:txBody>
      </p:sp>
      <p:sp>
        <p:nvSpPr>
          <p:cNvPr id="29" name="Rounded Rectangle 28"/>
          <p:cNvSpPr/>
          <p:nvPr/>
        </p:nvSpPr>
        <p:spPr>
          <a:xfrm>
            <a:off x="310896" y="2093976"/>
            <a:ext cx="5358384"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93976"/>
            <a:ext cx="2786359" cy="603504"/>
          </a:xfrm>
          <a:prstGeom prst="rect">
            <a:avLst/>
          </a:prstGeom>
          <a:noFill/>
        </p:spPr>
        <p:txBody>
          <a:bodyPr wrap="square" lIns="0" rIns="0" tIns="0" bIns="0" anchor="ctr">
            <a:spAutoFit/>
          </a:bodyPr>
          <a:lstStyle/>
          <a:p>
            <a:pPr algn="l"/>
            <a:r>
              <a:rPr sz="1300" b="0">
                <a:solidFill>
                  <a:srgbClr val="424242"/>
                </a:solidFill>
                <a:latin typeface="Source Code Pro"/>
              </a:rPr>
              <a:t>Start and stop</a:t>
            </a:r>
          </a:p>
        </p:txBody>
      </p:sp>
      <p:sp>
        <p:nvSpPr>
          <p:cNvPr id="31" name="TextBox 30"/>
          <p:cNvSpPr txBox="1"/>
          <p:nvPr/>
        </p:nvSpPr>
        <p:spPr>
          <a:xfrm>
            <a:off x="3258007" y="2093976"/>
            <a:ext cx="2157801" cy="603504"/>
          </a:xfrm>
          <a:prstGeom prst="rect">
            <a:avLst/>
          </a:prstGeom>
          <a:noFill/>
        </p:spPr>
        <p:txBody>
          <a:bodyPr wrap="square" lIns="0" rIns="0" tIns="0" bIns="0" anchor="ctr">
            <a:spAutoFit/>
          </a:bodyPr>
          <a:lstStyle/>
          <a:p>
            <a:pPr algn="r"/>
            <a:r>
              <a:rPr sz="1200" b="0">
                <a:solidFill>
                  <a:srgbClr val="6B6B6B"/>
                </a:solidFill>
                <a:latin typeface="Source Code Pro"/>
              </a:rPr>
              <a:t>new chat, stop, focus</a:t>
            </a:r>
          </a:p>
        </p:txBody>
      </p:sp>
      <p:sp>
        <p:nvSpPr>
          <p:cNvPr id="32" name="Rounded Rectangle 31"/>
          <p:cNvSpPr/>
          <p:nvPr/>
        </p:nvSpPr>
        <p:spPr>
          <a:xfrm>
            <a:off x="310896" y="2761488"/>
            <a:ext cx="5358384"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61488"/>
            <a:ext cx="2786359" cy="603504"/>
          </a:xfrm>
          <a:prstGeom prst="rect">
            <a:avLst/>
          </a:prstGeom>
          <a:noFill/>
        </p:spPr>
        <p:txBody>
          <a:bodyPr wrap="square" lIns="0" rIns="0" tIns="0" bIns="0" anchor="ctr">
            <a:spAutoFit/>
          </a:bodyPr>
          <a:lstStyle/>
          <a:p>
            <a:pPr algn="l"/>
            <a:r>
              <a:rPr sz="1300" b="0">
                <a:solidFill>
                  <a:srgbClr val="424242"/>
                </a:solidFill>
                <a:latin typeface="Source Code Pro"/>
              </a:rPr>
              <a:t>Take the answer away</a:t>
            </a:r>
          </a:p>
        </p:txBody>
      </p:sp>
      <p:sp>
        <p:nvSpPr>
          <p:cNvPr id="34" name="TextBox 33"/>
          <p:cNvSpPr txBox="1"/>
          <p:nvPr/>
        </p:nvSpPr>
        <p:spPr>
          <a:xfrm>
            <a:off x="3258007" y="2761488"/>
            <a:ext cx="2157801" cy="603504"/>
          </a:xfrm>
          <a:prstGeom prst="rect">
            <a:avLst/>
          </a:prstGeom>
          <a:noFill/>
        </p:spPr>
        <p:txBody>
          <a:bodyPr wrap="square" lIns="0" rIns="0" tIns="0" bIns="0" anchor="ctr">
            <a:spAutoFit/>
          </a:bodyPr>
          <a:lstStyle/>
          <a:p>
            <a:pPr algn="r"/>
            <a:r>
              <a:rPr sz="1200" b="0">
                <a:solidFill>
                  <a:srgbClr val="6B6B6B"/>
                </a:solidFill>
                <a:latin typeface="Source Code Pro"/>
              </a:rPr>
              <a:t>copy the reply or the code</a:t>
            </a:r>
          </a:p>
        </p:txBody>
      </p:sp>
      <p:sp>
        <p:nvSpPr>
          <p:cNvPr id="35" name="Rounded Rectangle 34"/>
          <p:cNvSpPr/>
          <p:nvPr/>
        </p:nvSpPr>
        <p:spPr>
          <a:xfrm>
            <a:off x="310896" y="3429000"/>
            <a:ext cx="5358384"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7200" y="3429000"/>
            <a:ext cx="2786359" cy="603504"/>
          </a:xfrm>
          <a:prstGeom prst="rect">
            <a:avLst/>
          </a:prstGeom>
          <a:noFill/>
        </p:spPr>
        <p:txBody>
          <a:bodyPr wrap="square" lIns="0" rIns="0" tIns="0" bIns="0" anchor="ctr">
            <a:spAutoFit/>
          </a:bodyPr>
          <a:lstStyle/>
          <a:p>
            <a:pPr algn="l"/>
            <a:r>
              <a:rPr sz="1300" b="1">
                <a:solidFill>
                  <a:srgbClr val="424242"/>
                </a:solidFill>
                <a:latin typeface="Source Code Pro"/>
              </a:rPr>
              <a:t>Open this list</a:t>
            </a:r>
          </a:p>
        </p:txBody>
      </p:sp>
      <p:sp>
        <p:nvSpPr>
          <p:cNvPr id="37" name="TextBox 36"/>
          <p:cNvSpPr txBox="1"/>
          <p:nvPr/>
        </p:nvSpPr>
        <p:spPr>
          <a:xfrm>
            <a:off x="3258007" y="3429000"/>
            <a:ext cx="2157801" cy="603504"/>
          </a:xfrm>
          <a:prstGeom prst="rect">
            <a:avLst/>
          </a:prstGeom>
          <a:noFill/>
        </p:spPr>
        <p:txBody>
          <a:bodyPr wrap="square" lIns="0" rIns="0" tIns="0" bIns="0" anchor="ctr">
            <a:spAutoFit/>
          </a:bodyPr>
          <a:lstStyle/>
          <a:p>
            <a:pPr algn="r"/>
            <a:r>
              <a:rPr sz="1200" b="0">
                <a:solidFill>
                  <a:srgbClr val="6B6B6B"/>
                </a:solidFill>
                <a:latin typeface="Source Code Pro"/>
              </a:rPr>
              <a:t>the only one to memorise</a:t>
            </a:r>
          </a:p>
        </p:txBody>
      </p:sp>
      <p:sp>
        <p:nvSpPr>
          <p:cNvPr id="38" name="TextBox 37"/>
          <p:cNvSpPr txBox="1"/>
          <p:nvPr/>
        </p:nvSpPr>
        <p:spPr>
          <a:xfrm>
            <a:off x="5907024" y="2221992"/>
            <a:ext cx="2926080" cy="102870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Learn the shape of the list rather than the list itself. Three of these bands are things you do dozens of times a day; the fourth is how you look the other three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A Shortcut Is a Second Door to One Action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1234440" y="1426464"/>
            <a:ext cx="2834640" cy="868680"/>
          </a:xfrm>
          <a:prstGeom prst="roundRect">
            <a:avLst>
              <a:gd name="adj" fmla="val 526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325880" y="1559052"/>
            <a:ext cx="265176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Click the control</a:t>
            </a:r>
          </a:p>
        </p:txBody>
      </p:sp>
      <p:sp>
        <p:nvSpPr>
          <p:cNvPr id="28" name="TextBox 27"/>
          <p:cNvSpPr txBox="1"/>
          <p:nvPr/>
        </p:nvSpPr>
        <p:spPr>
          <a:xfrm>
            <a:off x="1325880" y="1906524"/>
            <a:ext cx="265176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your hand leaves the keys</a:t>
            </a:r>
          </a:p>
        </p:txBody>
      </p:sp>
      <p:sp>
        <p:nvSpPr>
          <p:cNvPr id="29" name="Rounded Rectangle 28"/>
          <p:cNvSpPr/>
          <p:nvPr/>
        </p:nvSpPr>
        <p:spPr>
          <a:xfrm>
            <a:off x="1234440" y="2569464"/>
            <a:ext cx="2834640" cy="868680"/>
          </a:xfrm>
          <a:prstGeom prst="roundRect">
            <a:avLst>
              <a:gd name="adj" fmla="val 5263"/>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25880" y="2702052"/>
            <a:ext cx="2651760"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Press the shortcut</a:t>
            </a:r>
          </a:p>
        </p:txBody>
      </p:sp>
      <p:sp>
        <p:nvSpPr>
          <p:cNvPr id="31" name="TextBox 30"/>
          <p:cNvSpPr txBox="1"/>
          <p:nvPr/>
        </p:nvSpPr>
        <p:spPr>
          <a:xfrm>
            <a:off x="1325880" y="3049524"/>
            <a:ext cx="2651760" cy="256032"/>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your hands stay put</a:t>
            </a:r>
          </a:p>
        </p:txBody>
      </p:sp>
      <p:sp>
        <p:nvSpPr>
          <p:cNvPr id="32" name="Right Arrow 31"/>
          <p:cNvSpPr/>
          <p:nvPr/>
        </p:nvSpPr>
        <p:spPr>
          <a:xfrm>
            <a:off x="4160520" y="1805940"/>
            <a:ext cx="640080"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4160520" y="2948940"/>
            <a:ext cx="640080"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892040" y="1426464"/>
            <a:ext cx="3017520" cy="2011680"/>
          </a:xfrm>
          <a:prstGeom prst="roundRect">
            <a:avLst>
              <a:gd name="adj" fmla="val 2272"/>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983479" y="2083308"/>
            <a:ext cx="2834639" cy="256032"/>
          </a:xfrm>
          <a:prstGeom prst="rect">
            <a:avLst/>
          </a:prstGeom>
          <a:noFill/>
        </p:spPr>
        <p:txBody>
          <a:bodyPr wrap="square" lIns="0" rIns="0" tIns="0" bIns="0" anchor="t">
            <a:spAutoFit/>
          </a:bodyPr>
          <a:lstStyle/>
          <a:p>
            <a:pPr algn="ctr">
              <a:lnSpc>
                <a:spcPct val="115000"/>
              </a:lnSpc>
            </a:pPr>
            <a:r>
              <a:rPr sz="1300" b="1">
                <a:solidFill>
                  <a:srgbClr val="424242"/>
                </a:solidFill>
                <a:latin typeface="Source Code Pro"/>
              </a:rPr>
              <a:t>The same action runs</a:t>
            </a:r>
          </a:p>
        </p:txBody>
      </p:sp>
      <p:sp>
        <p:nvSpPr>
          <p:cNvPr id="36" name="TextBox 35"/>
          <p:cNvSpPr txBox="1"/>
          <p:nvPr/>
        </p:nvSpPr>
        <p:spPr>
          <a:xfrm>
            <a:off x="4983479" y="2430780"/>
            <a:ext cx="2834639" cy="350520"/>
          </a:xfrm>
          <a:prstGeom prst="rect">
            <a:avLst/>
          </a:prstGeom>
          <a:noFill/>
        </p:spPr>
        <p:txBody>
          <a:bodyPr wrap="square" lIns="0" rIns="0" tIns="0" bIns="0" anchor="t">
            <a:spAutoFit/>
          </a:bodyPr>
          <a:lstStyle/>
          <a:p>
            <a:pPr algn="ctr">
              <a:lnSpc>
                <a:spcPct val="115000"/>
              </a:lnSpc>
            </a:pPr>
            <a:r>
              <a:rPr sz="1200" b="0">
                <a:solidFill>
                  <a:srgbClr val="6B6B6B"/>
                </a:solidFill>
                <a:latin typeface="Source Code Pro"/>
              </a:rPr>
              <a:t>the interface cannot tell which door you used</a:t>
            </a:r>
          </a:p>
        </p:txBody>
      </p:sp>
      <p:sp>
        <p:nvSpPr>
          <p:cNvPr id="37" name="TextBox 36"/>
          <p:cNvSpPr txBox="1"/>
          <p:nvPr/>
        </p:nvSpPr>
        <p:spPr>
          <a:xfrm>
            <a:off x="1234440" y="3694176"/>
            <a:ext cx="6675120"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about the answer changes. A shortcut is not a hidden feature or a power-user mode: it is the ordinary action, minus the trip to the pointer and 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The Small Moves Stop Costing Anything</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8" cy="1920240"/>
        </p:xfrm>
        <a:graphic>
          <a:graphicData uri="http://schemas.openxmlformats.org/drawingml/2006/table">
            <a:tbl>
              <a:tblPr>
                <a:tableStyleId>{2D5ABB26-0587-4C30-8999-92F81FD0307C}</a:tableStyleId>
              </a:tblPr>
              <a:tblGrid>
                <a:gridCol w="2011680"/>
                <a:gridCol w="3255264"/>
                <a:gridCol w="3255264"/>
              </a:tblGrid>
              <a:tr h="384048">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Reaching for the mouse</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Reaching for the keyboard</a:t>
                      </a:r>
                    </a:p>
                  </a:txBody>
                  <a:tcPr marL="91440" marR="91440" marT="36576" marB="36576" anchor="ctr">
                    <a:lnT w="9525" cap="flat">
                      <a:solidFill>
                        <a:srgbClr val="D8D8DE"/>
                      </a:solidFill>
                    </a:lnT>
                    <a:lnB w="15875" cap="flat">
                      <a:solidFill>
                        <a:srgbClr val="424242"/>
                      </a:solidFill>
                    </a:lnB>
                    <a:solidFill>
                      <a:srgbClr val="FFFFFF"/>
                    </a:solidFill>
                  </a:tcPr>
                </a:tc>
              </a:tr>
              <a:tr h="384048">
                <a:tc>
                  <a:txBody>
                    <a:bodyPr wrap="square"/>
                    <a:lstStyle/>
                    <a:p>
                      <a:r>
                        <a:rPr sz="1200" b="0">
                          <a:solidFill>
                            <a:srgbClr val="424242"/>
                          </a:solidFill>
                          <a:latin typeface="Source Code Pro"/>
                        </a:rPr>
                        <a:t>Start a new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Find the control, then aim</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Hands never leave the keys</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Find an old chat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Scroll the list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Type what you remember</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Reuse an answer</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Select it, then copy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One press takes the last one</a:t>
                      </a:r>
                    </a:p>
                  </a:txBody>
                  <a:tcPr marL="91440" marR="91440" marT="36576" marB="36576" anchor="ctr">
                    <a:lnB w="9525" cap="flat">
                      <a:solidFill>
                        <a:srgbClr val="D8D8DE"/>
                      </a:solidFill>
                    </a:lnB>
                    <a:solidFill>
                      <a:srgbClr val="FFFFFF"/>
                    </a:solidFill>
                  </a:tcPr>
                </a:tc>
              </a:tr>
              <a:tr h="384048">
                <a:tc>
                  <a:txBody>
                    <a:bodyPr wrap="square"/>
                    <a:lstStyle/>
                    <a:p>
                      <a:r>
                        <a:rPr sz="1200" b="0">
                          <a:solidFill>
                            <a:srgbClr val="424242"/>
                          </a:solidFill>
                          <a:latin typeface="Source Code Pro"/>
                        </a:rPr>
                        <a:t>What it costs you</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pause you stop noticing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A minute learning four of them</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566160"/>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The honest limit: these combinations differ between platforms, and they move when the interface is redesigned. That is exactly why the one to commit to memory is the one that shows you the current list.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let's open the real list and use it.</a:t>
            </a:r>
          </a:p>
        </p:txBody>
      </p:sp>
      <p:sp>
        <p:nvSpPr>
          <p:cNvPr id="71" name="Rounded Rectangle 70"/>
          <p:cNvSpPr/>
          <p:nvPr/>
        </p:nvSpPr>
        <p:spPr>
          <a:xfrm>
            <a:off x="502920"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the list</a:t>
            </a:r>
          </a:p>
        </p:txBody>
      </p:sp>
      <p:sp>
        <p:nvSpPr>
          <p:cNvPr id="75" name="TextBox 74"/>
          <p:cNvSpPr txBox="1"/>
          <p:nvPr/>
        </p:nvSpPr>
        <p:spPr>
          <a:xfrm>
            <a:off x="704088"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live, on this machine</a:t>
            </a:r>
          </a:p>
        </p:txBody>
      </p:sp>
      <p:sp>
        <p:nvSpPr>
          <p:cNvPr id="76" name="Rounded Rectangle 75"/>
          <p:cNvSpPr/>
          <p:nvPr/>
        </p:nvSpPr>
        <p:spPr>
          <a:xfrm>
            <a:off x="3300983"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3520439"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520439"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3502151"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Run the four jobs</a:t>
            </a:r>
          </a:p>
        </p:txBody>
      </p:sp>
      <p:sp>
        <p:nvSpPr>
          <p:cNvPr id="80" name="TextBox 79"/>
          <p:cNvSpPr txBox="1"/>
          <p:nvPr/>
        </p:nvSpPr>
        <p:spPr>
          <a:xfrm>
            <a:off x="3502151"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sidebar, new chat, input, copy</a:t>
            </a:r>
          </a:p>
        </p:txBody>
      </p:sp>
      <p:sp>
        <p:nvSpPr>
          <p:cNvPr id="81" name="Rounded Rectangle 80"/>
          <p:cNvSpPr/>
          <p:nvPr/>
        </p:nvSpPr>
        <p:spPr>
          <a:xfrm>
            <a:off x="6099047"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6318503"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318503"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6300215" y="3127248"/>
            <a:ext cx="2139696" cy="411480"/>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Check your platform</a:t>
            </a:r>
          </a:p>
        </p:txBody>
      </p:sp>
      <p:sp>
        <p:nvSpPr>
          <p:cNvPr id="85" name="TextBox 84"/>
          <p:cNvSpPr txBox="1"/>
          <p:nvPr/>
        </p:nvSpPr>
        <p:spPr>
          <a:xfrm>
            <a:off x="6300215"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 keys are not the same everywhere</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