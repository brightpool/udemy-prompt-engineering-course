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 id="265" r:id="rId23"/>
    <p:sldId id="266" r:id="rId13"/>
    <p:sldId id="267" r:id="rId12"/>
    <p:sldId id="268" r:id="rId11"/>
    <p:sldId id="269" r:id="rId10"/>
    <p:sldId id="270" r:id="rId9"/>
    <p:sldId id="271" r:id="rId8"/>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6.xml"/><Relationship Id="rId9" Type="http://schemas.openxmlformats.org/officeDocument/2006/relationships/slide" Target="slides/slide15.xml"/><Relationship Id="rId10" Type="http://schemas.openxmlformats.org/officeDocument/2006/relationships/slide" Target="slides/slide14.xml"/><Relationship Id="rId11" Type="http://schemas.openxmlformats.org/officeDocument/2006/relationships/slide" Target="slides/slide13.xml"/><Relationship Id="rId12" Type="http://schemas.openxmlformats.org/officeDocument/2006/relationships/slide" Target="slides/slide12.xml"/><Relationship Id="rId13" Type="http://schemas.openxmlformats.org/officeDocument/2006/relationships/slide" Target="slides/slide1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What Is ChatGPT?</a:t>
            </a:r>
          </a:p>
        </p:txBody>
      </p:sp>
      <p:sp>
        <p:nvSpPr>
          <p:cNvPr id="3" name="Subtitle 2"/>
          <p:cNvSpPr>
            <a:spLocks noGrp="1"/>
          </p:cNvSpPr>
          <p:nvPr>
            <p:ph type="subTitle" idx="1"/>
          </p:nvPr>
        </p:nvSpPr>
        <p:spPr/>
        <p:txBody>
          <a:bodyPr/>
          <a:lstStyle/>
          <a:p>
            <a:pPr marL="0" indent="0">
              <a:buNone/>
            </a:pPr>
            <a:r>
              <a:t>An assistant built on a next-token predictor, which now also searches, computes and acts on your behalf.</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Next-token Predictor with a Product Wrapped Around It</a:t>
            </a:r>
          </a:p>
        </p:txBody>
      </p:sp>
      <p:sp>
        <p:nvSpPr>
          <p:cNvPr id="3" name="Text Placeholder 2"/>
          <p:cNvSpPr>
            <a:spLocks noGrp="1"/>
          </p:cNvSpPr>
          <p:nvPr>
            <p:ph type="body" idx="1"/>
          </p:nvPr>
        </p:nvSpPr>
        <p:spPr>
          <a:xfrm>
            <a:off x="5074920" y="1426464"/>
            <a:ext cx="3758184" cy="2880360"/>
          </a:xfrm>
        </p:spPr>
        <p:txBody>
          <a:bodyPr wrap="square" anchor="ctr"/>
          <a:lstStyle/>
          <a:p>
            <a:pPr marL="0" indent="0">
              <a:buNone/>
            </a:pPr>
            <a:r>
              <a:t>Every reply is produced one token at a time. The model scores its whole vocabulary against the text so far, picks one, and scores again.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206240" cy="2880360"/>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2944368"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28415" y="1527048"/>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57400"/>
            <a:ext cx="3913631" cy="210312"/>
          </a:xfrm>
          <a:prstGeom prst="rect">
            <a:avLst/>
          </a:prstGeom>
          <a:noFill/>
        </p:spPr>
        <p:txBody>
          <a:bodyPr wrap="none" lIns="0" rIns="0" tIns="0" bIns="0" anchor="t">
            <a:spAutoFit/>
          </a:bodyPr>
          <a:lstStyle/>
          <a:p>
            <a:pPr algn="l"/>
            <a:r>
              <a:rPr sz="1125" b="0">
                <a:solidFill>
                  <a:srgbClr val="F7F7FA"/>
                </a:solidFill>
                <a:latin typeface="Arial"/>
              </a:rPr>
              <a:t>The students opened their</a:t>
            </a:r>
          </a:p>
        </p:txBody>
      </p:sp>
      <p:sp>
        <p:nvSpPr>
          <p:cNvPr id="38" name="Rounded Rectangle 37"/>
          <p:cNvSpPr/>
          <p:nvPr/>
        </p:nvSpPr>
        <p:spPr>
          <a:xfrm>
            <a:off x="475488" y="2377440"/>
            <a:ext cx="3986783" cy="1280160"/>
          </a:xfrm>
          <a:prstGeom prst="roundRect">
            <a:avLst>
              <a:gd name="adj" fmla="val 357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496312"/>
            <a:ext cx="1737360" cy="173736"/>
          </a:xfrm>
          <a:prstGeom prst="rect">
            <a:avLst/>
          </a:prstGeom>
          <a:noFill/>
        </p:spPr>
        <p:txBody>
          <a:bodyPr wrap="square" lIns="0" rIns="0" tIns="0" bIns="0" anchor="t">
            <a:spAutoFit/>
          </a:bodyPr>
          <a:lstStyle/>
          <a:p>
            <a:pPr algn="l"/>
            <a:r>
              <a:rPr sz="885" b="1">
                <a:solidFill>
                  <a:srgbClr val="C6C7D0"/>
                </a:solidFill>
                <a:latin typeface="Arial"/>
              </a:rPr>
              <a:t>Candidate next tokens</a:t>
            </a:r>
          </a:p>
        </p:txBody>
      </p:sp>
      <p:sp>
        <p:nvSpPr>
          <p:cNvPr id="34" name="TextBox 33"/>
          <p:cNvSpPr txBox="1"/>
          <p:nvPr/>
        </p:nvSpPr>
        <p:spPr>
          <a:xfrm>
            <a:off x="621792" y="2697480"/>
            <a:ext cx="3694175" cy="210312"/>
          </a:xfrm>
          <a:prstGeom prst="rect">
            <a:avLst/>
          </a:prstGeom>
          <a:noFill/>
        </p:spPr>
        <p:txBody>
          <a:bodyPr wrap="none" lIns="0" rIns="0" tIns="0" bIns="0" anchor="t">
            <a:spAutoFit/>
          </a:bodyPr>
          <a:lstStyle/>
          <a:p>
            <a:pPr algn="l"/>
            <a:r>
              <a:rPr sz="1125" b="0">
                <a:solidFill>
                  <a:srgbClr val="F7F7FA"/>
                </a:solidFill>
                <a:latin typeface="Arial"/>
              </a:rPr>
              <a:t>books  ·  31%</a:t>
            </a:r>
          </a:p>
        </p:txBody>
      </p:sp>
      <p:sp>
        <p:nvSpPr>
          <p:cNvPr id="35" name="TextBox 34"/>
          <p:cNvSpPr txBox="1"/>
          <p:nvPr/>
        </p:nvSpPr>
        <p:spPr>
          <a:xfrm>
            <a:off x="621792" y="2907792"/>
            <a:ext cx="3694175" cy="210312"/>
          </a:xfrm>
          <a:prstGeom prst="rect">
            <a:avLst/>
          </a:prstGeom>
          <a:noFill/>
        </p:spPr>
        <p:txBody>
          <a:bodyPr wrap="none" lIns="0" rIns="0" tIns="0" bIns="0" anchor="t">
            <a:spAutoFit/>
          </a:bodyPr>
          <a:lstStyle/>
          <a:p>
            <a:pPr algn="l"/>
            <a:r>
              <a:rPr sz="1125" b="0">
                <a:solidFill>
                  <a:srgbClr val="F7F7FA"/>
                </a:solidFill>
                <a:latin typeface="Arial"/>
              </a:rPr>
              <a:t>laptops  ·  24%</a:t>
            </a:r>
          </a:p>
        </p:txBody>
      </p:sp>
      <p:sp>
        <p:nvSpPr>
          <p:cNvPr id="36" name="TextBox 35"/>
          <p:cNvSpPr txBox="1"/>
          <p:nvPr/>
        </p:nvSpPr>
        <p:spPr>
          <a:xfrm>
            <a:off x="621792" y="3118104"/>
            <a:ext cx="3694175" cy="210312"/>
          </a:xfrm>
          <a:prstGeom prst="rect">
            <a:avLst/>
          </a:prstGeom>
          <a:noFill/>
        </p:spPr>
        <p:txBody>
          <a:bodyPr wrap="none" lIns="0" rIns="0" tIns="0" bIns="0" anchor="t">
            <a:spAutoFit/>
          </a:bodyPr>
          <a:lstStyle/>
          <a:p>
            <a:pPr algn="l"/>
            <a:r>
              <a:rPr sz="1125" b="0">
                <a:solidFill>
                  <a:srgbClr val="F7F7FA"/>
                </a:solidFill>
                <a:latin typeface="Arial"/>
              </a:rPr>
              <a:t>minds  ·  12%</a:t>
            </a:r>
          </a:p>
        </p:txBody>
      </p:sp>
      <p:sp>
        <p:nvSpPr>
          <p:cNvPr id="37" name="TextBox 36"/>
          <p:cNvSpPr txBox="1"/>
          <p:nvPr/>
        </p:nvSpPr>
        <p:spPr>
          <a:xfrm>
            <a:off x="621792" y="3328416"/>
            <a:ext cx="3694175" cy="210312"/>
          </a:xfrm>
          <a:prstGeom prst="rect">
            <a:avLst/>
          </a:prstGeom>
          <a:noFill/>
        </p:spPr>
        <p:txBody>
          <a:bodyPr wrap="none" lIns="0" rIns="0" tIns="0" bIns="0" anchor="t">
            <a:spAutoFit/>
          </a:bodyPr>
          <a:lstStyle/>
          <a:p>
            <a:pPr algn="l"/>
            <a:r>
              <a:rPr sz="1125" b="0">
                <a:solidFill>
                  <a:srgbClr val="F7F7FA"/>
                </a:solidFill>
                <a:latin typeface="Arial"/>
              </a:rPr>
              <a:t>exams  ·  7%</a:t>
            </a:r>
          </a:p>
        </p:txBody>
      </p:sp>
      <p:sp>
        <p:nvSpPr>
          <p:cNvPr id="39" name="TextBox 38"/>
          <p:cNvSpPr txBox="1"/>
          <p:nvPr/>
        </p:nvSpPr>
        <p:spPr>
          <a:xfrm>
            <a:off x="512064" y="3749040"/>
            <a:ext cx="1737360" cy="173736"/>
          </a:xfrm>
          <a:prstGeom prst="rect">
            <a:avLst/>
          </a:prstGeom>
          <a:noFill/>
        </p:spPr>
        <p:txBody>
          <a:bodyPr wrap="square" lIns="0" rIns="0" tIns="0" bIns="0" anchor="t">
            <a:spAutoFit/>
          </a:bodyPr>
          <a:lstStyle/>
          <a:p>
            <a:pPr algn="l"/>
            <a:r>
              <a:rPr sz="885" b="1">
                <a:solidFill>
                  <a:srgbClr val="C6C7D0"/>
                </a:solidFill>
                <a:latin typeface="Arial"/>
              </a:rPr>
              <a:t>Chosen</a:t>
            </a:r>
          </a:p>
        </p:txBody>
      </p:sp>
      <p:sp>
        <p:nvSpPr>
          <p:cNvPr id="40" name="Rounded Rectangle 39"/>
          <p:cNvSpPr/>
          <p:nvPr/>
        </p:nvSpPr>
        <p:spPr>
          <a:xfrm>
            <a:off x="466344" y="3941064"/>
            <a:ext cx="462915"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12064" y="3950208"/>
            <a:ext cx="3913631" cy="210312"/>
          </a:xfrm>
          <a:prstGeom prst="rect">
            <a:avLst/>
          </a:prstGeom>
          <a:noFill/>
        </p:spPr>
        <p:txBody>
          <a:bodyPr wrap="none" lIns="0" rIns="0" tIns="0" bIns="0" anchor="t">
            <a:spAutoFit/>
          </a:bodyPr>
          <a:lstStyle/>
          <a:p>
            <a:pPr algn="l"/>
            <a:r>
              <a:rPr sz="1125" b="0">
                <a:solidFill>
                  <a:srgbClr val="F7F7FA"/>
                </a:solidFill>
                <a:latin typeface="Arial"/>
              </a:rPr>
              <a:t>books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Would Be the Next Word in This Sentence?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6" name="Picture 25" descr="next-word.png"/>
          <p:cNvPicPr>
            <a:picLocks noChangeAspect="1"/>
          </p:cNvPicPr>
          <p:nvPr/>
        </p:nvPicPr>
        <p:blipFill>
          <a:blip r:embed="rId2"/>
          <a:stretch>
            <a:fillRect/>
          </a:stretch>
        </p:blipFill>
        <p:spPr>
          <a:xfrm>
            <a:off x="1005840" y="1700784"/>
            <a:ext cx="7132320" cy="2032000"/>
          </a:xfrm>
          <a:prstGeom prst="rect">
            <a:avLst/>
          </a:prstGeom>
        </p:spPr>
      </p:pic>
      <p:sp>
        <p:nvSpPr>
          <p:cNvPr id="27" name="TextBox 26"/>
          <p:cNvSpPr txBox="1"/>
          <p:nvPr/>
        </p:nvSpPr>
        <p:spPr>
          <a:xfrm>
            <a:off x="310896" y="3767328"/>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Every one of those is a reasonable continuation. The model does not choose the right word - it scores them all, and one of them wins.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Predicting the Next Word (Token)</a:t>
            </a:r>
          </a:p>
        </p:txBody>
      </p:sp>
      <p:sp>
        <p:nvSpPr>
          <p:cNvPr id="3" name="Text Placeholder 2"/>
          <p:cNvSpPr>
            <a:spLocks noGrp="1"/>
          </p:cNvSpPr>
          <p:nvPr>
            <p:ph type="body" idx="1"/>
          </p:nvPr>
        </p:nvSpPr>
        <p:spPr>
          <a:xfrm>
            <a:off x="310896" y="1554480"/>
            <a:ext cx="3291840" cy="2011680"/>
          </a:xfrm>
        </p:spPr>
        <p:txBody>
          <a:bodyPr wrap="square"/>
          <a:lstStyle/>
          <a:p>
            <a:pPr marL="0" indent="0">
              <a:buNone/>
            </a:pPr>
            <a:r>
              <a:t>A large language model is selecting the next most probable token, given a known vocabulary - then feeding its own answer back in and doing it again.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6" name="Picture 25" descr="predicting-token.png"/>
          <p:cNvPicPr>
            <a:picLocks noChangeAspect="1"/>
          </p:cNvPicPr>
          <p:nvPr/>
        </p:nvPicPr>
        <p:blipFill>
          <a:blip r:embed="rId2"/>
          <a:stretch>
            <a:fillRect/>
          </a:stretch>
        </p:blipFill>
        <p:spPr>
          <a:xfrm>
            <a:off x="3931920" y="1426464"/>
            <a:ext cx="4901184" cy="3063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Core ChatGPT Features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44752"/>
          <a:ext cx="8522207" cy="2560313"/>
        </p:xfrm>
        <a:graphic>
          <a:graphicData uri="http://schemas.openxmlformats.org/drawingml/2006/table">
            <a:tbl>
              <a:tblPr>
                <a:tableStyleId>{2D5ABB26-0587-4C30-8999-92F81FD0307C}</a:tableStyleId>
              </a:tblPr>
              <a:tblGrid>
                <a:gridCol w="2029097"/>
                <a:gridCol w="6493110"/>
              </a:tblGrid>
              <a:tr h="365759">
                <a:tc>
                  <a:txBody>
                    <a:bodyPr wrap="square"/>
                    <a:lstStyle/>
                    <a:p>
                      <a:r>
                        <a:rPr sz="1200" b="1">
                          <a:solidFill>
                            <a:srgbClr val="424242"/>
                          </a:solidFill>
                          <a:latin typeface="Source Code Pro"/>
                        </a:rPr>
                        <a:t>Capability</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What it adds to a plain answer</a:t>
                      </a:r>
                    </a:p>
                  </a:txBody>
                  <a:tcPr marL="91440" marR="91440" marT="36576" marB="36576" anchor="ctr">
                    <a:lnT w="9525" cap="flat">
                      <a:solidFill>
                        <a:srgbClr val="D8D8DE"/>
                      </a:solidFill>
                    </a:lnT>
                    <a:lnB w="15875" cap="flat">
                      <a:solidFill>
                        <a:srgbClr val="424242"/>
                      </a:solidFill>
                    </a:lnB>
                    <a:solidFill>
                      <a:srgbClr val="FFFFFF"/>
                    </a:solidFill>
                  </a:tcPr>
                </a:tc>
              </a:tr>
              <a:tr h="365759">
                <a:tc>
                  <a:txBody>
                    <a:bodyPr wrap="square"/>
                    <a:lstStyle/>
                    <a:p>
                      <a:r>
                        <a:rPr sz="1200" b="0">
                          <a:solidFill>
                            <a:srgbClr val="424242"/>
                          </a:solidFill>
                          <a:latin typeface="Source Code Pro"/>
                        </a:rPr>
                        <a:t>Web Search</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Live pages, read and cited at the moment you ask</a:t>
                      </a:r>
                    </a:p>
                  </a:txBody>
                  <a:tcPr marL="91440" marR="91440" marT="36576" marB="36576" anchor="ctr">
                    <a:lnB w="9525" cap="flat">
                      <a:solidFill>
                        <a:srgbClr val="D8D8DE"/>
                      </a:solidFill>
                    </a:lnB>
                    <a:solidFill>
                      <a:srgbClr val="FFFFFF"/>
                    </a:solidFill>
                  </a:tcPr>
                </a:tc>
              </a:tr>
              <a:tr h="365759">
                <a:tc>
                  <a:txBody>
                    <a:bodyPr wrap="square"/>
                    <a:lstStyle/>
                    <a:p>
                      <a:r>
                        <a:rPr sz="1200" b="0">
                          <a:solidFill>
                            <a:srgbClr val="424242"/>
                          </a:solidFill>
                          <a:latin typeface="Source Code Pro"/>
                        </a:rPr>
                        <a:t>Deep Research</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long multi-source investigation, returned as a report</a:t>
                      </a:r>
                    </a:p>
                  </a:txBody>
                  <a:tcPr marL="91440" marR="91440" marT="36576" marB="36576" anchor="ctr">
                    <a:lnB w="9525" cap="flat">
                      <a:solidFill>
                        <a:srgbClr val="D8D8DE"/>
                      </a:solidFill>
                    </a:lnB>
                    <a:solidFill>
                      <a:srgbClr val="FFFFFF"/>
                    </a:solidFill>
                  </a:tcPr>
                </a:tc>
              </a:tr>
              <a:tr h="365759">
                <a:tc>
                  <a:txBody>
                    <a:bodyPr wrap="square"/>
                    <a:lstStyle/>
                    <a:p>
                      <a:r>
                        <a:rPr sz="1200" b="0">
                          <a:solidFill>
                            <a:srgbClr val="424242"/>
                          </a:solidFill>
                          <a:latin typeface="Source Code Pro"/>
                        </a:rPr>
                        <a:t>Data Analysis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Code written and run over your files, rather than guessed at</a:t>
                      </a:r>
                    </a:p>
                  </a:txBody>
                  <a:tcPr marL="91440" marR="91440" marT="36576" marB="36576" anchor="ctr">
                    <a:lnB w="9525" cap="flat">
                      <a:solidFill>
                        <a:srgbClr val="D8D8DE"/>
                      </a:solidFill>
                    </a:lnB>
                    <a:solidFill>
                      <a:srgbClr val="FFFFFF"/>
                    </a:solidFill>
                  </a:tcPr>
                </a:tc>
              </a:tr>
              <a:tr h="365759">
                <a:tc>
                  <a:txBody>
                    <a:bodyPr wrap="square"/>
                    <a:lstStyle/>
                    <a:p>
                      <a:r>
                        <a:rPr sz="1200" b="0">
                          <a:solidFill>
                            <a:srgbClr val="424242"/>
                          </a:solidFill>
                          <a:latin typeface="Source Code Pro"/>
                        </a:rPr>
                        <a:t>Agent Mode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Multi-step tasks it carries out in a browser for you</a:t>
                      </a:r>
                    </a:p>
                  </a:txBody>
                  <a:tcPr marL="91440" marR="91440" marT="36576" marB="36576" anchor="ctr">
                    <a:lnB w="9525" cap="flat">
                      <a:solidFill>
                        <a:srgbClr val="D8D8DE"/>
                      </a:solidFill>
                    </a:lnB>
                    <a:solidFill>
                      <a:srgbClr val="FFFFFF"/>
                    </a:solidFill>
                  </a:tcPr>
                </a:tc>
              </a:tr>
              <a:tr h="365759">
                <a:tc>
                  <a:txBody>
                    <a:bodyPr wrap="square"/>
                    <a:lstStyle/>
                    <a:p>
                      <a:r>
                        <a:rPr sz="1200" b="0">
                          <a:solidFill>
                            <a:srgbClr val="424242"/>
                          </a:solidFill>
                          <a:latin typeface="Source Code Pro"/>
                        </a:rPr>
                        <a:t>Plugins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Connections to outside services, and the actions they allow</a:t>
                      </a:r>
                    </a:p>
                  </a:txBody>
                  <a:tcPr marL="91440" marR="91440" marT="36576" marB="36576" anchor="ctr">
                    <a:lnB w="9525" cap="flat">
                      <a:solidFill>
                        <a:srgbClr val="D8D8DE"/>
                      </a:solidFill>
                    </a:lnB>
                    <a:solidFill>
                      <a:srgbClr val="FFFFFF"/>
                    </a:solidFill>
                  </a:tcPr>
                </a:tc>
              </a:tr>
              <a:tr h="365759">
                <a:tc>
                  <a:txBody>
                    <a:bodyPr wrap="square"/>
                    <a:lstStyle/>
                    <a:p>
                      <a:r>
                        <a:rPr sz="1200" b="0">
                          <a:solidFill>
                            <a:srgbClr val="424242"/>
                          </a:solidFill>
                          <a:latin typeface="Source Code Pro"/>
                        </a:rPr>
                        <a:t>Skills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workflow you wrote once, followed the same way every time</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4151376"/>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Each gets its own lecture later. Every one of them also costs something: time, tokens, or a service you have to trust.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Model, Many Surfaces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44752"/>
            <a:ext cx="1965960" cy="932688"/>
          </a:xfrm>
          <a:prstGeom prst="roundRect">
            <a:avLst>
              <a:gd name="adj" fmla="val 4901"/>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562100"/>
            <a:ext cx="178308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The web app</a:t>
            </a:r>
          </a:p>
        </p:txBody>
      </p:sp>
      <p:sp>
        <p:nvSpPr>
          <p:cNvPr id="28" name="TextBox 27"/>
          <p:cNvSpPr txBox="1"/>
          <p:nvPr/>
        </p:nvSpPr>
        <p:spPr>
          <a:xfrm>
            <a:off x="402336" y="1909572"/>
            <a:ext cx="178308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where most people meet it</a:t>
            </a:r>
          </a:p>
        </p:txBody>
      </p:sp>
      <p:sp>
        <p:nvSpPr>
          <p:cNvPr id="29" name="Down Arrow 28"/>
          <p:cNvSpPr/>
          <p:nvPr/>
        </p:nvSpPr>
        <p:spPr>
          <a:xfrm>
            <a:off x="1156716" y="2450592"/>
            <a:ext cx="274320" cy="47548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96311" y="1444752"/>
            <a:ext cx="1965960" cy="932688"/>
          </a:xfrm>
          <a:prstGeom prst="roundRect">
            <a:avLst>
              <a:gd name="adj" fmla="val 4901"/>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587751" y="1562100"/>
            <a:ext cx="178308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Desktop and mobile</a:t>
            </a:r>
          </a:p>
        </p:txBody>
      </p:sp>
      <p:sp>
        <p:nvSpPr>
          <p:cNvPr id="32" name="TextBox 31"/>
          <p:cNvSpPr txBox="1"/>
          <p:nvPr/>
        </p:nvSpPr>
        <p:spPr>
          <a:xfrm>
            <a:off x="2587751" y="1909572"/>
            <a:ext cx="178308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same account, everywhere</a:t>
            </a:r>
          </a:p>
        </p:txBody>
      </p:sp>
      <p:sp>
        <p:nvSpPr>
          <p:cNvPr id="33" name="Down Arrow 32"/>
          <p:cNvSpPr/>
          <p:nvPr/>
        </p:nvSpPr>
        <p:spPr>
          <a:xfrm>
            <a:off x="3342132" y="2450592"/>
            <a:ext cx="274320" cy="47548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681727" y="1444752"/>
            <a:ext cx="1965960" cy="932688"/>
          </a:xfrm>
          <a:prstGeom prst="roundRect">
            <a:avLst>
              <a:gd name="adj" fmla="val 4901"/>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773167" y="1562100"/>
            <a:ext cx="178308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The API</a:t>
            </a:r>
          </a:p>
        </p:txBody>
      </p:sp>
      <p:sp>
        <p:nvSpPr>
          <p:cNvPr id="36" name="TextBox 35"/>
          <p:cNvSpPr txBox="1"/>
          <p:nvPr/>
        </p:nvSpPr>
        <p:spPr>
          <a:xfrm>
            <a:off x="4773167" y="1909572"/>
            <a:ext cx="178308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engine, with no product</a:t>
            </a:r>
          </a:p>
        </p:txBody>
      </p:sp>
      <p:sp>
        <p:nvSpPr>
          <p:cNvPr id="37" name="Down Arrow 36"/>
          <p:cNvSpPr/>
          <p:nvPr/>
        </p:nvSpPr>
        <p:spPr>
          <a:xfrm>
            <a:off x="5527547" y="2450592"/>
            <a:ext cx="274320" cy="47548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867143" y="1444752"/>
            <a:ext cx="1965960" cy="932688"/>
          </a:xfrm>
          <a:prstGeom prst="roundRect">
            <a:avLst>
              <a:gd name="adj" fmla="val 4901"/>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958583" y="1562100"/>
            <a:ext cx="178308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Inside other tools</a:t>
            </a:r>
          </a:p>
        </p:txBody>
      </p:sp>
      <p:sp>
        <p:nvSpPr>
          <p:cNvPr id="40" name="TextBox 39"/>
          <p:cNvSpPr txBox="1"/>
          <p:nvPr/>
        </p:nvSpPr>
        <p:spPr>
          <a:xfrm>
            <a:off x="6958583" y="1909572"/>
            <a:ext cx="178308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reached through plugins</a:t>
            </a:r>
          </a:p>
        </p:txBody>
      </p:sp>
      <p:sp>
        <p:nvSpPr>
          <p:cNvPr id="41" name="Down Arrow 40"/>
          <p:cNvSpPr/>
          <p:nvPr/>
        </p:nvSpPr>
        <p:spPr>
          <a:xfrm>
            <a:off x="7712963" y="2450592"/>
            <a:ext cx="274320" cy="47548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10896" y="3035808"/>
            <a:ext cx="8522208" cy="694944"/>
          </a:xfrm>
          <a:prstGeom prst="roundRect">
            <a:avLst>
              <a:gd name="adj" fmla="val 6578"/>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02336" y="3090672"/>
            <a:ext cx="8339328"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One family of models underneath</a:t>
            </a:r>
          </a:p>
        </p:txBody>
      </p:sp>
      <p:sp>
        <p:nvSpPr>
          <p:cNvPr id="44" name="TextBox 43"/>
          <p:cNvSpPr txBox="1"/>
          <p:nvPr/>
        </p:nvSpPr>
        <p:spPr>
          <a:xfrm>
            <a:off x="402336" y="3438144"/>
            <a:ext cx="8339328"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ChatGPT is the product built around it</a:t>
            </a:r>
          </a:p>
        </p:txBody>
      </p:sp>
      <p:sp>
        <p:nvSpPr>
          <p:cNvPr id="45" name="TextBox 44"/>
          <p:cNvSpPr txBox="1"/>
          <p:nvPr/>
        </p:nvSpPr>
        <p:spPr>
          <a:xfrm>
            <a:off x="310896" y="3877056"/>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same model reaches you through all four. Which one you pick changes the tools it can call and the price you pay, not the intelligence underneath.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Is Not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44752"/>
            <a:ext cx="4078224" cy="2377440"/>
          </a:xfrm>
          <a:prstGeom prst="roundRect">
            <a:avLst>
              <a:gd name="adj" fmla="val 2307"/>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91056"/>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A common picture</a:t>
            </a:r>
          </a:p>
        </p:txBody>
      </p:sp>
      <p:sp>
        <p:nvSpPr>
          <p:cNvPr id="28" name="TextBox 27"/>
          <p:cNvSpPr txBox="1"/>
          <p:nvPr/>
        </p:nvSpPr>
        <p:spPr>
          <a:xfrm>
            <a:off x="493776" y="1993392"/>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It looks the answer up</a:t>
            </a:r>
          </a:p>
        </p:txBody>
      </p:sp>
      <p:sp>
        <p:nvSpPr>
          <p:cNvPr id="29" name="TextBox 28"/>
          <p:cNvSpPr txBox="1"/>
          <p:nvPr/>
        </p:nvSpPr>
        <p:spPr>
          <a:xfrm>
            <a:off x="493776" y="230428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It knows what happened today</a:t>
            </a:r>
          </a:p>
        </p:txBody>
      </p:sp>
      <p:sp>
        <p:nvSpPr>
          <p:cNvPr id="30" name="TextBox 29"/>
          <p:cNvSpPr txBox="1"/>
          <p:nvPr/>
        </p:nvSpPr>
        <p:spPr>
          <a:xfrm>
            <a:off x="493776" y="261518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It obeys your instructions</a:t>
            </a:r>
          </a:p>
        </p:txBody>
      </p:sp>
      <p:sp>
        <p:nvSpPr>
          <p:cNvPr id="31" name="Rounded Rectangle 30"/>
          <p:cNvSpPr/>
          <p:nvPr/>
        </p:nvSpPr>
        <p:spPr>
          <a:xfrm>
            <a:off x="4754880" y="1444752"/>
            <a:ext cx="4078224" cy="2377440"/>
          </a:xfrm>
          <a:prstGeom prst="roundRect">
            <a:avLst>
              <a:gd name="adj" fmla="val 2307"/>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91056"/>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What is actually happening</a:t>
            </a:r>
          </a:p>
        </p:txBody>
      </p:sp>
      <p:sp>
        <p:nvSpPr>
          <p:cNvPr id="33" name="TextBox 32"/>
          <p:cNvSpPr txBox="1"/>
          <p:nvPr/>
        </p:nvSpPr>
        <p:spPr>
          <a:xfrm>
            <a:off x="4937760" y="1993392"/>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It predicts a likely continuation</a:t>
            </a:r>
          </a:p>
        </p:txBody>
      </p:sp>
      <p:sp>
        <p:nvSpPr>
          <p:cNvPr id="34" name="TextBox 33"/>
          <p:cNvSpPr txBox="1"/>
          <p:nvPr/>
        </p:nvSpPr>
        <p:spPr>
          <a:xfrm>
            <a:off x="4937760" y="230428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It knows nothing until it fetches</a:t>
            </a:r>
          </a:p>
        </p:txBody>
      </p:sp>
      <p:sp>
        <p:nvSpPr>
          <p:cNvPr id="35" name="TextBox 34"/>
          <p:cNvSpPr txBox="1"/>
          <p:nvPr/>
        </p:nvSpPr>
        <p:spPr>
          <a:xfrm>
            <a:off x="4937760" y="2615184"/>
            <a:ext cx="3712463" cy="39624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It generates tokens based on the current context</a:t>
            </a:r>
          </a:p>
        </p:txBody>
      </p:sp>
      <p:sp>
        <p:nvSpPr>
          <p:cNvPr id="36" name="TextBox 35"/>
          <p:cNvSpPr txBox="1"/>
          <p:nvPr/>
        </p:nvSpPr>
        <p:spPr>
          <a:xfrm>
            <a:off x="310896" y="3968496"/>
            <a:ext cx="8522208" cy="256032"/>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gap between those two columns is where most disappointing answers come from.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Train It to Predict, Then Tune It to Assist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44752"/>
            <a:ext cx="4937760" cy="566928"/>
          </a:xfrm>
          <a:prstGeom prst="roundRect">
            <a:avLst>
              <a:gd name="adj" fmla="val 967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5488" y="1444752"/>
            <a:ext cx="292608" cy="566928"/>
          </a:xfrm>
          <a:prstGeom prst="rect">
            <a:avLst/>
          </a:prstGeom>
          <a:noFill/>
        </p:spPr>
        <p:txBody>
          <a:bodyPr wrap="square" lIns="0" rIns="0" tIns="0" bIns="0" anchor="ctr">
            <a:spAutoFit/>
          </a:bodyPr>
          <a:lstStyle/>
          <a:p>
            <a:pPr algn="l"/>
            <a:r>
              <a:rPr sz="1300" b="1">
                <a:solidFill>
                  <a:srgbClr val="E91D63"/>
                </a:solidFill>
                <a:latin typeface="Source Code Pro"/>
              </a:rPr>
              <a:t>1</a:t>
            </a:r>
          </a:p>
        </p:txBody>
      </p:sp>
      <p:sp>
        <p:nvSpPr>
          <p:cNvPr id="28" name="TextBox 27"/>
          <p:cNvSpPr txBox="1"/>
          <p:nvPr/>
        </p:nvSpPr>
        <p:spPr>
          <a:xfrm>
            <a:off x="822960" y="1444752"/>
            <a:ext cx="4261104" cy="566928"/>
          </a:xfrm>
          <a:prstGeom prst="rect">
            <a:avLst/>
          </a:prstGeom>
          <a:noFill/>
        </p:spPr>
        <p:txBody>
          <a:bodyPr wrap="square" lIns="0" rIns="0" tIns="0" bIns="0" anchor="ctr">
            <a:spAutoFit/>
          </a:bodyPr>
          <a:lstStyle/>
          <a:p>
            <a:pPr algn="l"/>
            <a:r>
              <a:rPr sz="1300" b="0">
                <a:solidFill>
                  <a:srgbClr val="424242"/>
                </a:solidFill>
                <a:latin typeface="Source Code Pro"/>
              </a:rPr>
              <a:t>Pre-train on text until it predicts well</a:t>
            </a:r>
          </a:p>
        </p:txBody>
      </p:sp>
      <p:sp>
        <p:nvSpPr>
          <p:cNvPr id="29" name="Rounded Rectangle 28"/>
          <p:cNvSpPr/>
          <p:nvPr/>
        </p:nvSpPr>
        <p:spPr>
          <a:xfrm>
            <a:off x="310896" y="2157984"/>
            <a:ext cx="4937760" cy="566928"/>
          </a:xfrm>
          <a:prstGeom prst="roundRect">
            <a:avLst>
              <a:gd name="adj" fmla="val 967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75488" y="2157984"/>
            <a:ext cx="292608" cy="566928"/>
          </a:xfrm>
          <a:prstGeom prst="rect">
            <a:avLst/>
          </a:prstGeom>
          <a:noFill/>
        </p:spPr>
        <p:txBody>
          <a:bodyPr wrap="square" lIns="0" rIns="0" tIns="0" bIns="0" anchor="ctr">
            <a:spAutoFit/>
          </a:bodyPr>
          <a:lstStyle/>
          <a:p>
            <a:pPr algn="l"/>
            <a:r>
              <a:rPr sz="1300" b="1">
                <a:solidFill>
                  <a:srgbClr val="E91D63"/>
                </a:solidFill>
                <a:latin typeface="Source Code Pro"/>
              </a:rPr>
              <a:t>2</a:t>
            </a:r>
          </a:p>
        </p:txBody>
      </p:sp>
      <p:sp>
        <p:nvSpPr>
          <p:cNvPr id="31" name="TextBox 30"/>
          <p:cNvSpPr txBox="1"/>
          <p:nvPr/>
        </p:nvSpPr>
        <p:spPr>
          <a:xfrm>
            <a:off x="822960" y="2157984"/>
            <a:ext cx="4261104" cy="566928"/>
          </a:xfrm>
          <a:prstGeom prst="rect">
            <a:avLst/>
          </a:prstGeom>
          <a:noFill/>
        </p:spPr>
        <p:txBody>
          <a:bodyPr wrap="square" lIns="0" rIns="0" tIns="0" bIns="0" anchor="ctr">
            <a:spAutoFit/>
          </a:bodyPr>
          <a:lstStyle/>
          <a:p>
            <a:pPr algn="l"/>
            <a:r>
              <a:rPr sz="1300" b="0">
                <a:solidFill>
                  <a:srgbClr val="424242"/>
                </a:solidFill>
                <a:latin typeface="Source Code Pro"/>
              </a:rPr>
              <a:t>Tune on answers humans ranked as better</a:t>
            </a:r>
          </a:p>
        </p:txBody>
      </p:sp>
      <p:sp>
        <p:nvSpPr>
          <p:cNvPr id="32" name="Rounded Rectangle 31"/>
          <p:cNvSpPr/>
          <p:nvPr/>
        </p:nvSpPr>
        <p:spPr>
          <a:xfrm>
            <a:off x="310896" y="2871216"/>
            <a:ext cx="4937760" cy="566928"/>
          </a:xfrm>
          <a:prstGeom prst="roundRect">
            <a:avLst>
              <a:gd name="adj" fmla="val 967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75488" y="2871216"/>
            <a:ext cx="292608" cy="566928"/>
          </a:xfrm>
          <a:prstGeom prst="rect">
            <a:avLst/>
          </a:prstGeom>
          <a:noFill/>
        </p:spPr>
        <p:txBody>
          <a:bodyPr wrap="square" lIns="0" rIns="0" tIns="0" bIns="0" anchor="ctr">
            <a:spAutoFit/>
          </a:bodyPr>
          <a:lstStyle/>
          <a:p>
            <a:pPr algn="l"/>
            <a:r>
              <a:rPr sz="1300" b="1">
                <a:solidFill>
                  <a:srgbClr val="E91D63"/>
                </a:solidFill>
                <a:latin typeface="Source Code Pro"/>
              </a:rPr>
              <a:t>3</a:t>
            </a:r>
          </a:p>
        </p:txBody>
      </p:sp>
      <p:sp>
        <p:nvSpPr>
          <p:cNvPr id="34" name="TextBox 33"/>
          <p:cNvSpPr txBox="1"/>
          <p:nvPr/>
        </p:nvSpPr>
        <p:spPr>
          <a:xfrm>
            <a:off x="822960" y="2871216"/>
            <a:ext cx="4261104" cy="566928"/>
          </a:xfrm>
          <a:prstGeom prst="rect">
            <a:avLst/>
          </a:prstGeom>
          <a:noFill/>
        </p:spPr>
        <p:txBody>
          <a:bodyPr wrap="square" lIns="0" rIns="0" tIns="0" bIns="0" anchor="ctr">
            <a:spAutoFit/>
          </a:bodyPr>
          <a:lstStyle/>
          <a:p>
            <a:pPr algn="l"/>
            <a:r>
              <a:rPr sz="1300" b="0">
                <a:solidFill>
                  <a:srgbClr val="424242"/>
                </a:solidFill>
                <a:latin typeface="Source Code Pro"/>
              </a:rPr>
              <a:t>Let it practise against that ranking</a:t>
            </a:r>
          </a:p>
        </p:txBody>
      </p:sp>
      <p:sp>
        <p:nvSpPr>
          <p:cNvPr id="35" name="Rounded Rectangle 34"/>
          <p:cNvSpPr/>
          <p:nvPr/>
        </p:nvSpPr>
        <p:spPr>
          <a:xfrm>
            <a:off x="310896" y="3584448"/>
            <a:ext cx="4937760" cy="566928"/>
          </a:xfrm>
          <a:prstGeom prst="roundRect">
            <a:avLst>
              <a:gd name="adj" fmla="val 967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75488" y="3584448"/>
            <a:ext cx="292608" cy="566928"/>
          </a:xfrm>
          <a:prstGeom prst="rect">
            <a:avLst/>
          </a:prstGeom>
          <a:noFill/>
        </p:spPr>
        <p:txBody>
          <a:bodyPr wrap="square" lIns="0" rIns="0" tIns="0" bIns="0" anchor="ctr">
            <a:spAutoFit/>
          </a:bodyPr>
          <a:lstStyle/>
          <a:p>
            <a:pPr algn="l"/>
            <a:r>
              <a:rPr sz="1300" b="1">
                <a:solidFill>
                  <a:srgbClr val="E91D63"/>
                </a:solidFill>
                <a:latin typeface="Source Code Pro"/>
              </a:rPr>
              <a:t>4</a:t>
            </a:r>
          </a:p>
        </p:txBody>
      </p:sp>
      <p:sp>
        <p:nvSpPr>
          <p:cNvPr id="37" name="TextBox 36"/>
          <p:cNvSpPr txBox="1"/>
          <p:nvPr/>
        </p:nvSpPr>
        <p:spPr>
          <a:xfrm>
            <a:off x="822960" y="3584448"/>
            <a:ext cx="4261104" cy="566928"/>
          </a:xfrm>
          <a:prstGeom prst="rect">
            <a:avLst/>
          </a:prstGeom>
          <a:noFill/>
        </p:spPr>
        <p:txBody>
          <a:bodyPr wrap="square" lIns="0" rIns="0" tIns="0" bIns="0" anchor="ctr">
            <a:spAutoFit/>
          </a:bodyPr>
          <a:lstStyle/>
          <a:p>
            <a:pPr algn="l"/>
            <a:r>
              <a:rPr sz="1300" b="0">
                <a:solidFill>
                  <a:srgbClr val="424242"/>
                </a:solidFill>
                <a:latin typeface="Source Code Pro"/>
              </a:rPr>
              <a:t>Wrap it in tools, and ship it as a product</a:t>
            </a:r>
          </a:p>
        </p:txBody>
      </p:sp>
      <p:sp>
        <p:nvSpPr>
          <p:cNvPr id="38" name="TextBox 37"/>
          <p:cNvSpPr txBox="1"/>
          <p:nvPr/>
        </p:nvSpPr>
        <p:spPr>
          <a:xfrm>
            <a:off x="5541264" y="1956816"/>
            <a:ext cx="3291840" cy="14401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Step one buys fluency. Steps two and three buy manners: helpful, ordered, willing to refuse.</a:t>
            </a:r>
          </a:p>
          <a:p>
            <a:pPr algn="l">
              <a:lnSpc>
                <a:spcPct val="125000"/>
              </a:lnSpc>
            </a:pPr>
            <a:r>
              <a:rPr sz="1200" b="0">
                <a:solidFill>
                  <a:srgbClr val="6B6B6B"/>
                </a:solidFill>
                <a:latin typeface="Source Code Pro"/>
              </a:rPr>
              <a:t/>
            </a:r>
          </a:p>
          <a:p>
            <a:pPr algn="l">
              <a:lnSpc>
                <a:spcPct val="125000"/>
              </a:lnSpc>
            </a:pPr>
            <a:r>
              <a:rPr sz="1200" b="0">
                <a:solidFill>
                  <a:srgbClr val="6B6B6B"/>
                </a:solidFill>
                <a:latin typeface="Source Code Pro"/>
              </a:rPr>
              <a:t>Step four is the part that has moved most recently, and it is what the rest of this deck is about.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Training ChatGPT</a:t>
            </a:r>
          </a:p>
        </p:txBody>
      </p:sp>
      <p:sp>
        <p:nvSpPr>
          <p:cNvPr id="3" name="Text Placeholder 2"/>
          <p:cNvSpPr>
            <a:spLocks noGrp="1"/>
          </p:cNvSpPr>
          <p:nvPr>
            <p:ph type="body" idx="1"/>
          </p:nvPr>
        </p:nvSpPr>
        <p:spPr>
          <a:xfrm>
            <a:off x="5486400" y="1554480"/>
            <a:ext cx="3346704" cy="1463040"/>
          </a:xfrm>
        </p:spPr>
        <p:txBody>
          <a:bodyPr wrap="square"/>
          <a:lstStyle/>
          <a:p>
            <a:pPr marL="0" indent="0">
              <a:buNone/>
            </a:pPr>
            <a:r>
              <a:t>Three passes: learn to predict text, learn what people preferred, then optimise against that preference.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6" name="Picture 25" descr="training-chatgpt.png"/>
          <p:cNvPicPr>
            <a:picLocks noChangeAspect="1"/>
          </p:cNvPicPr>
          <p:nvPr/>
        </p:nvPicPr>
        <p:blipFill>
          <a:blip r:embed="rId2"/>
          <a:stretch>
            <a:fillRect/>
          </a:stretch>
        </p:blipFill>
        <p:spPr>
          <a:xfrm>
            <a:off x="310896" y="1444752"/>
            <a:ext cx="4882896" cy="2743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Turn Is a Loop, Not a Single Shot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44752"/>
            <a:ext cx="1897380" cy="1325880"/>
          </a:xfrm>
          <a:prstGeom prst="roundRect">
            <a:avLst>
              <a:gd name="adj" fmla="val 344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805940"/>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You ask</a:t>
            </a:r>
          </a:p>
        </p:txBody>
      </p:sp>
      <p:sp>
        <p:nvSpPr>
          <p:cNvPr id="28" name="TextBox 27"/>
          <p:cNvSpPr txBox="1"/>
          <p:nvPr/>
        </p:nvSpPr>
        <p:spPr>
          <a:xfrm>
            <a:off x="402336" y="2153412"/>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question</a:t>
            </a:r>
          </a:p>
        </p:txBody>
      </p:sp>
      <p:sp>
        <p:nvSpPr>
          <p:cNvPr id="29" name="Right Arrow 28"/>
          <p:cNvSpPr/>
          <p:nvPr/>
        </p:nvSpPr>
        <p:spPr>
          <a:xfrm>
            <a:off x="2272284" y="2061972"/>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19172" y="1444752"/>
            <a:ext cx="1897380" cy="1325880"/>
          </a:xfrm>
          <a:prstGeom prst="roundRect">
            <a:avLst>
              <a:gd name="adj" fmla="val 344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610612" y="175869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plans</a:t>
            </a:r>
          </a:p>
        </p:txBody>
      </p:sp>
      <p:sp>
        <p:nvSpPr>
          <p:cNvPr id="32" name="TextBox 31"/>
          <p:cNvSpPr txBox="1"/>
          <p:nvPr/>
        </p:nvSpPr>
        <p:spPr>
          <a:xfrm>
            <a:off x="2610612" y="2106168"/>
            <a:ext cx="171450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what it needs to find out</a:t>
            </a:r>
          </a:p>
        </p:txBody>
      </p:sp>
      <p:sp>
        <p:nvSpPr>
          <p:cNvPr id="33" name="Right Arrow 32"/>
          <p:cNvSpPr/>
          <p:nvPr/>
        </p:nvSpPr>
        <p:spPr>
          <a:xfrm>
            <a:off x="4480560" y="2061972"/>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727448" y="1444752"/>
            <a:ext cx="1897380" cy="1325880"/>
          </a:xfrm>
          <a:prstGeom prst="roundRect">
            <a:avLst>
              <a:gd name="adj" fmla="val 344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818888" y="1758696"/>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uses a tool</a:t>
            </a:r>
          </a:p>
        </p:txBody>
      </p:sp>
      <p:sp>
        <p:nvSpPr>
          <p:cNvPr id="36" name="TextBox 35"/>
          <p:cNvSpPr txBox="1"/>
          <p:nvPr/>
        </p:nvSpPr>
        <p:spPr>
          <a:xfrm>
            <a:off x="4818888" y="2106168"/>
            <a:ext cx="171450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search, code, a connected service</a:t>
            </a:r>
          </a:p>
        </p:txBody>
      </p:sp>
      <p:sp>
        <p:nvSpPr>
          <p:cNvPr id="37" name="Right Arrow 36"/>
          <p:cNvSpPr/>
          <p:nvPr/>
        </p:nvSpPr>
        <p:spPr>
          <a:xfrm>
            <a:off x="6688836" y="2061972"/>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935724" y="1444752"/>
            <a:ext cx="1897380" cy="1325880"/>
          </a:xfrm>
          <a:prstGeom prst="roundRect">
            <a:avLst>
              <a:gd name="adj" fmla="val 3448"/>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027164" y="1805940"/>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It answers</a:t>
            </a:r>
          </a:p>
        </p:txBody>
      </p:sp>
      <p:sp>
        <p:nvSpPr>
          <p:cNvPr id="40" name="TextBox 39"/>
          <p:cNvSpPr txBox="1"/>
          <p:nvPr/>
        </p:nvSpPr>
        <p:spPr>
          <a:xfrm>
            <a:off x="7027164" y="2153412"/>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from what came back</a:t>
            </a:r>
          </a:p>
        </p:txBody>
      </p:sp>
      <p:sp>
        <p:nvSpPr>
          <p:cNvPr id="41" name="Rectangle 40"/>
          <p:cNvSpPr/>
          <p:nvPr/>
        </p:nvSpPr>
        <p:spPr>
          <a:xfrm>
            <a:off x="1259586" y="3044952"/>
            <a:ext cx="6624828" cy="10972"/>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884414" y="2770632"/>
            <a:ext cx="10972" cy="274320"/>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Up Arrow 42"/>
          <p:cNvSpPr/>
          <p:nvPr/>
        </p:nvSpPr>
        <p:spPr>
          <a:xfrm>
            <a:off x="1241298" y="2770632"/>
            <a:ext cx="91440" cy="274320"/>
          </a:xfrm>
          <a:prstGeom prst="up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0896" y="3118104"/>
            <a:ext cx="8522208" cy="237744"/>
          </a:xfrm>
          <a:prstGeom prst="rect">
            <a:avLst/>
          </a:prstGeom>
          <a:noFill/>
        </p:spPr>
        <p:txBody>
          <a:bodyPr wrap="square" lIns="0" rIns="0" tIns="0" bIns="0" anchor="t">
            <a:spAutoFit/>
          </a:bodyPr>
          <a:lstStyle/>
          <a:p>
            <a:pPr algn="ctr"/>
            <a:r>
              <a:rPr sz="1200" b="0">
                <a:solidFill>
                  <a:srgbClr val="6B6B6B"/>
                </a:solidFill>
                <a:latin typeface="Source Code Pro"/>
              </a:rPr>
              <a:t>each result is appended, and it decides again</a:t>
            </a:r>
          </a:p>
        </p:txBody>
      </p:sp>
      <p:sp>
        <p:nvSpPr>
          <p:cNvPr id="45" name="TextBox 44"/>
          <p:cNvSpPr txBox="1"/>
          <p:nvPr/>
        </p:nvSpPr>
        <p:spPr>
          <a:xfrm>
            <a:off x="310896" y="3456432"/>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Nothing about the tools is magic. Whatever one returns is pasted back into the same block of text the model is reading - its context - and it carries on predicting from there.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Setting You Touch Ends Up Here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44752"/>
            <a:ext cx="5394960" cy="402336"/>
          </a:xfrm>
          <a:prstGeom prst="roundRect">
            <a:avLst>
              <a:gd name="adj" fmla="val 909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444752"/>
            <a:ext cx="2805379" cy="402336"/>
          </a:xfrm>
          <a:prstGeom prst="rect">
            <a:avLst/>
          </a:prstGeom>
          <a:noFill/>
        </p:spPr>
        <p:txBody>
          <a:bodyPr wrap="square" lIns="0" rIns="0" tIns="0" bIns="0" anchor="ctr">
            <a:spAutoFit/>
          </a:bodyPr>
          <a:lstStyle/>
          <a:p>
            <a:pPr algn="l"/>
            <a:r>
              <a:rPr sz="1300" b="0">
                <a:solidFill>
                  <a:srgbClr val="424242"/>
                </a:solidFill>
                <a:latin typeface="Source Code Pro"/>
              </a:rPr>
              <a:t>Standing instructions</a:t>
            </a:r>
          </a:p>
        </p:txBody>
      </p:sp>
      <p:sp>
        <p:nvSpPr>
          <p:cNvPr id="28" name="TextBox 27"/>
          <p:cNvSpPr txBox="1"/>
          <p:nvPr/>
        </p:nvSpPr>
        <p:spPr>
          <a:xfrm>
            <a:off x="3278124" y="1444752"/>
            <a:ext cx="2173528" cy="402336"/>
          </a:xfrm>
          <a:prstGeom prst="rect">
            <a:avLst/>
          </a:prstGeom>
          <a:noFill/>
        </p:spPr>
        <p:txBody>
          <a:bodyPr wrap="square" lIns="0" rIns="0" tIns="0" bIns="0" anchor="ctr">
            <a:spAutoFit/>
          </a:bodyPr>
          <a:lstStyle/>
          <a:p>
            <a:pPr algn="r"/>
            <a:r>
              <a:rPr sz="1200" b="0">
                <a:solidFill>
                  <a:srgbClr val="6B6B6B"/>
                </a:solidFill>
                <a:latin typeface="Source Code Pro"/>
              </a:rPr>
              <a:t>set once, sent every time</a:t>
            </a:r>
          </a:p>
        </p:txBody>
      </p:sp>
      <p:sp>
        <p:nvSpPr>
          <p:cNvPr id="29" name="Rounded Rectangle 28"/>
          <p:cNvSpPr/>
          <p:nvPr/>
        </p:nvSpPr>
        <p:spPr>
          <a:xfrm>
            <a:off x="310896" y="1911095"/>
            <a:ext cx="5394960" cy="402336"/>
          </a:xfrm>
          <a:prstGeom prst="roundRect">
            <a:avLst>
              <a:gd name="adj" fmla="val 909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1911095"/>
            <a:ext cx="2805379" cy="402336"/>
          </a:xfrm>
          <a:prstGeom prst="rect">
            <a:avLst/>
          </a:prstGeom>
          <a:noFill/>
        </p:spPr>
        <p:txBody>
          <a:bodyPr wrap="square" lIns="0" rIns="0" tIns="0" bIns="0" anchor="ctr">
            <a:spAutoFit/>
          </a:bodyPr>
          <a:lstStyle/>
          <a:p>
            <a:pPr algn="l"/>
            <a:r>
              <a:rPr sz="1300" b="0">
                <a:solidFill>
                  <a:srgbClr val="424242"/>
                </a:solidFill>
                <a:latin typeface="Source Code Pro"/>
              </a:rPr>
              <a:t>What it remembers of you</a:t>
            </a:r>
          </a:p>
        </p:txBody>
      </p:sp>
      <p:sp>
        <p:nvSpPr>
          <p:cNvPr id="31" name="TextBox 30"/>
          <p:cNvSpPr txBox="1"/>
          <p:nvPr/>
        </p:nvSpPr>
        <p:spPr>
          <a:xfrm>
            <a:off x="3278124" y="1911095"/>
            <a:ext cx="2173528" cy="402336"/>
          </a:xfrm>
          <a:prstGeom prst="rect">
            <a:avLst/>
          </a:prstGeom>
          <a:noFill/>
        </p:spPr>
        <p:txBody>
          <a:bodyPr wrap="square" lIns="0" rIns="0" tIns="0" bIns="0" anchor="ctr">
            <a:spAutoFit/>
          </a:bodyPr>
          <a:lstStyle/>
          <a:p>
            <a:pPr algn="r"/>
            <a:r>
              <a:rPr sz="1200" b="0">
                <a:solidFill>
                  <a:srgbClr val="6B6B6B"/>
                </a:solidFill>
                <a:latin typeface="Source Code Pro"/>
              </a:rPr>
              <a:t>carried between chats</a:t>
            </a:r>
          </a:p>
        </p:txBody>
      </p:sp>
      <p:sp>
        <p:nvSpPr>
          <p:cNvPr id="32" name="Rounded Rectangle 31"/>
          <p:cNvSpPr/>
          <p:nvPr/>
        </p:nvSpPr>
        <p:spPr>
          <a:xfrm>
            <a:off x="310896" y="2377439"/>
            <a:ext cx="5394960" cy="402336"/>
          </a:xfrm>
          <a:prstGeom prst="roundRect">
            <a:avLst>
              <a:gd name="adj" fmla="val 909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377439"/>
            <a:ext cx="2805379" cy="402336"/>
          </a:xfrm>
          <a:prstGeom prst="rect">
            <a:avLst/>
          </a:prstGeom>
          <a:noFill/>
        </p:spPr>
        <p:txBody>
          <a:bodyPr wrap="square" lIns="0" rIns="0" tIns="0" bIns="0" anchor="ctr">
            <a:spAutoFit/>
          </a:bodyPr>
          <a:lstStyle/>
          <a:p>
            <a:pPr algn="l"/>
            <a:r>
              <a:rPr sz="1300" b="0">
                <a:solidFill>
                  <a:srgbClr val="424242"/>
                </a:solidFill>
                <a:latin typeface="Source Code Pro"/>
              </a:rPr>
              <a:t>Files and pages fetched</a:t>
            </a:r>
          </a:p>
        </p:txBody>
      </p:sp>
      <p:sp>
        <p:nvSpPr>
          <p:cNvPr id="34" name="TextBox 33"/>
          <p:cNvSpPr txBox="1"/>
          <p:nvPr/>
        </p:nvSpPr>
        <p:spPr>
          <a:xfrm>
            <a:off x="3278124" y="2377439"/>
            <a:ext cx="2173528" cy="402336"/>
          </a:xfrm>
          <a:prstGeom prst="rect">
            <a:avLst/>
          </a:prstGeom>
          <a:noFill/>
        </p:spPr>
        <p:txBody>
          <a:bodyPr wrap="square" lIns="0" rIns="0" tIns="0" bIns="0" anchor="ctr">
            <a:spAutoFit/>
          </a:bodyPr>
          <a:lstStyle/>
          <a:p>
            <a:pPr algn="r"/>
            <a:r>
              <a:rPr sz="1200" b="0">
                <a:solidFill>
                  <a:srgbClr val="6B6B6B"/>
                </a:solidFill>
                <a:latin typeface="Source Code Pro"/>
              </a:rPr>
              <a:t>pulled in for this task</a:t>
            </a:r>
          </a:p>
        </p:txBody>
      </p:sp>
      <p:sp>
        <p:nvSpPr>
          <p:cNvPr id="35" name="Rounded Rectangle 34"/>
          <p:cNvSpPr/>
          <p:nvPr/>
        </p:nvSpPr>
        <p:spPr>
          <a:xfrm>
            <a:off x="310896" y="2843783"/>
            <a:ext cx="5394960" cy="402336"/>
          </a:xfrm>
          <a:prstGeom prst="roundRect">
            <a:avLst>
              <a:gd name="adj" fmla="val 909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7200" y="2843783"/>
            <a:ext cx="2805379" cy="402336"/>
          </a:xfrm>
          <a:prstGeom prst="rect">
            <a:avLst/>
          </a:prstGeom>
          <a:noFill/>
        </p:spPr>
        <p:txBody>
          <a:bodyPr wrap="square" lIns="0" rIns="0" tIns="0" bIns="0" anchor="ctr">
            <a:spAutoFit/>
          </a:bodyPr>
          <a:lstStyle/>
          <a:p>
            <a:pPr algn="l"/>
            <a:r>
              <a:rPr sz="1300" b="0">
                <a:solidFill>
                  <a:srgbClr val="424242"/>
                </a:solidFill>
                <a:latin typeface="Source Code Pro"/>
              </a:rPr>
              <a:t>Results from tools it ran</a:t>
            </a:r>
          </a:p>
        </p:txBody>
      </p:sp>
      <p:sp>
        <p:nvSpPr>
          <p:cNvPr id="37" name="TextBox 36"/>
          <p:cNvSpPr txBox="1"/>
          <p:nvPr/>
        </p:nvSpPr>
        <p:spPr>
          <a:xfrm>
            <a:off x="3278124" y="2843783"/>
            <a:ext cx="2173528" cy="402336"/>
          </a:xfrm>
          <a:prstGeom prst="rect">
            <a:avLst/>
          </a:prstGeom>
          <a:noFill/>
        </p:spPr>
        <p:txBody>
          <a:bodyPr wrap="square" lIns="0" rIns="0" tIns="0" bIns="0" anchor="ctr">
            <a:spAutoFit/>
          </a:bodyPr>
          <a:lstStyle/>
          <a:p>
            <a:pPr algn="r"/>
            <a:r>
              <a:rPr sz="1200" b="0">
                <a:solidFill>
                  <a:srgbClr val="6B6B6B"/>
                </a:solidFill>
                <a:latin typeface="Source Code Pro"/>
              </a:rPr>
              <a:t>code output, search hits</a:t>
            </a:r>
          </a:p>
        </p:txBody>
      </p:sp>
      <p:sp>
        <p:nvSpPr>
          <p:cNvPr id="38" name="Rounded Rectangle 37"/>
          <p:cNvSpPr/>
          <p:nvPr/>
        </p:nvSpPr>
        <p:spPr>
          <a:xfrm>
            <a:off x="310896" y="3310127"/>
            <a:ext cx="5394960" cy="402336"/>
          </a:xfrm>
          <a:prstGeom prst="roundRect">
            <a:avLst>
              <a:gd name="adj" fmla="val 909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7200" y="3310127"/>
            <a:ext cx="2805379" cy="402336"/>
          </a:xfrm>
          <a:prstGeom prst="rect">
            <a:avLst/>
          </a:prstGeom>
          <a:noFill/>
        </p:spPr>
        <p:txBody>
          <a:bodyPr wrap="square" lIns="0" rIns="0" tIns="0" bIns="0" anchor="ctr">
            <a:spAutoFit/>
          </a:bodyPr>
          <a:lstStyle/>
          <a:p>
            <a:pPr algn="l"/>
            <a:r>
              <a:rPr sz="1300" b="1">
                <a:solidFill>
                  <a:srgbClr val="424242"/>
                </a:solidFill>
                <a:latin typeface="Source Code Pro"/>
              </a:rPr>
              <a:t>Your message</a:t>
            </a:r>
          </a:p>
        </p:txBody>
      </p:sp>
      <p:sp>
        <p:nvSpPr>
          <p:cNvPr id="40" name="TextBox 39"/>
          <p:cNvSpPr txBox="1"/>
          <p:nvPr/>
        </p:nvSpPr>
        <p:spPr>
          <a:xfrm>
            <a:off x="3278124" y="3310127"/>
            <a:ext cx="2173528" cy="402336"/>
          </a:xfrm>
          <a:prstGeom prst="rect">
            <a:avLst/>
          </a:prstGeom>
          <a:noFill/>
        </p:spPr>
        <p:txBody>
          <a:bodyPr wrap="square" lIns="0" rIns="0" tIns="0" bIns="0" anchor="ctr">
            <a:spAutoFit/>
          </a:bodyPr>
          <a:lstStyle/>
          <a:p>
            <a:pPr algn="r"/>
            <a:r>
              <a:rPr sz="1200" b="0">
                <a:solidFill>
                  <a:srgbClr val="6B6B6B"/>
                </a:solidFill>
                <a:latin typeface="Source Code Pro"/>
              </a:rPr>
              <a:t>typed just now</a:t>
            </a:r>
          </a:p>
        </p:txBody>
      </p:sp>
      <p:sp>
        <p:nvSpPr>
          <p:cNvPr id="41" name="Down Arrow 40"/>
          <p:cNvSpPr/>
          <p:nvPr/>
        </p:nvSpPr>
        <p:spPr>
          <a:xfrm>
            <a:off x="2852928" y="3730751"/>
            <a:ext cx="310896" cy="182880"/>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10896" y="3977639"/>
            <a:ext cx="5394960" cy="548640"/>
          </a:xfrm>
          <a:prstGeom prst="roundRect">
            <a:avLst>
              <a:gd name="adj" fmla="val 8333"/>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02336" y="3977639"/>
            <a:ext cx="5212080" cy="548640"/>
          </a:xfrm>
          <a:prstGeom prst="rect">
            <a:avLst/>
          </a:prstGeom>
          <a:noFill/>
        </p:spPr>
        <p:txBody>
          <a:bodyPr wrap="square" lIns="0" rIns="0" tIns="0" bIns="0" anchor="ctr">
            <a:spAutoFit/>
          </a:bodyPr>
          <a:lstStyle/>
          <a:p>
            <a:pPr algn="ctr"/>
            <a:r>
              <a:rPr sz="1300" b="1">
                <a:solidFill>
                  <a:srgbClr val="424242"/>
                </a:solidFill>
                <a:latin typeface="Source Code Pro"/>
              </a:rPr>
              <a:t>It all arrives as one prompt</a:t>
            </a:r>
          </a:p>
        </p:txBody>
      </p:sp>
      <p:sp>
        <p:nvSpPr>
          <p:cNvPr id="44" name="TextBox 43"/>
          <p:cNvSpPr txBox="1"/>
          <p:nvPr/>
        </p:nvSpPr>
        <p:spPr>
          <a:xfrm>
            <a:off x="5989320" y="2011680"/>
            <a:ext cx="2843784" cy="185166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Nothing on this stack is privileged. A page it retrieved and a sentence you typed look the same to the model.</a:t>
            </a:r>
          </a:p>
          <a:p>
            <a:pPr algn="l">
              <a:lnSpc>
                <a:spcPct val="125000"/>
              </a:lnSpc>
            </a:pPr>
            <a:r>
              <a:rPr sz="1200" b="0">
                <a:solidFill>
                  <a:srgbClr val="6B6B6B"/>
                </a:solidFill>
                <a:latin typeface="Source Code Pro"/>
              </a:rPr>
              <a:t/>
            </a:r>
          </a:p>
          <a:p>
            <a:pPr algn="l">
              <a:lnSpc>
                <a:spcPct val="125000"/>
              </a:lnSpc>
            </a:pPr>
            <a:r>
              <a:rPr sz="1200" b="0">
                <a:solidFill>
                  <a:srgbClr val="6B6B6B"/>
                </a:solidFill>
                <a:latin typeface="Source Code Pro"/>
              </a:rPr>
              <a:t>That is why one bad source spoils an answer, and why saying plainly what you want still beats anything clever.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Fast Answers, or Slow Ones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44752"/>
          <a:ext cx="8522206" cy="2103120"/>
        </p:xfrm>
        <a:graphic>
          <a:graphicData uri="http://schemas.openxmlformats.org/drawingml/2006/table">
            <a:tbl>
              <a:tblPr>
                <a:tableStyleId>{2D5ABB26-0587-4C30-8999-92F81FD0307C}</a:tableStyleId>
              </a:tblPr>
              <a:tblGrid>
                <a:gridCol w="1667388"/>
                <a:gridCol w="3427409"/>
                <a:gridCol w="3427409"/>
              </a:tblGrid>
              <a:tr h="525780">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Answers straight away</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Thinks before answering</a:t>
                      </a:r>
                    </a:p>
                  </a:txBody>
                  <a:tcPr marL="91440" marR="91440" marT="36576" marB="36576" anchor="ctr">
                    <a:lnT w="9525" cap="flat">
                      <a:solidFill>
                        <a:srgbClr val="D8D8DE"/>
                      </a:solidFill>
                    </a:lnT>
                    <a:lnB w="15875" cap="flat">
                      <a:solidFill>
                        <a:srgbClr val="424242"/>
                      </a:solidFill>
                    </a:lnB>
                    <a:solidFill>
                      <a:srgbClr val="FFFFFF"/>
                    </a:solidFill>
                  </a:tcPr>
                </a:tc>
              </a:tr>
              <a:tr h="525780">
                <a:tc>
                  <a:txBody>
                    <a:bodyPr wrap="square"/>
                    <a:lstStyle/>
                    <a:p>
                      <a:r>
                        <a:rPr sz="1200" b="0">
                          <a:solidFill>
                            <a:srgbClr val="424242"/>
                          </a:solidFill>
                          <a:latin typeface="Source Code Pro"/>
                        </a:rPr>
                        <a:t>Good for</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Recall, drafting, chat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Maths, planning, code</a:t>
                      </a:r>
                    </a:p>
                  </a:txBody>
                  <a:tcPr marL="91440" marR="91440" marT="36576" marB="36576" anchor="ctr">
                    <a:lnB w="9525" cap="flat">
                      <a:solidFill>
                        <a:srgbClr val="D8D8DE"/>
                      </a:solidFill>
                    </a:lnB>
                    <a:solidFill>
                      <a:srgbClr val="FFFFFF"/>
                    </a:solidFill>
                  </a:tcPr>
                </a:tc>
              </a:tr>
              <a:tr h="525780">
                <a:tc>
                  <a:txBody>
                    <a:bodyPr wrap="square"/>
                    <a:lstStyle/>
                    <a:p>
                      <a:r>
                        <a:rPr sz="1200" b="0">
                          <a:solidFill>
                            <a:srgbClr val="424242"/>
                          </a:solidFill>
                          <a:latin typeface="Source Code Pro"/>
                        </a:rPr>
                        <a:t>It costs you</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Almost nothing</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Time, and far more tokens</a:t>
                      </a:r>
                    </a:p>
                  </a:txBody>
                  <a:tcPr marL="91440" marR="91440" marT="36576" marB="36576" anchor="ctr">
                    <a:lnB w="9525" cap="flat">
                      <a:solidFill>
                        <a:srgbClr val="D8D8DE"/>
                      </a:solidFill>
                    </a:lnB>
                    <a:solidFill>
                      <a:srgbClr val="FFFFFF"/>
                    </a:solidFill>
                  </a:tcPr>
                </a:tc>
              </a:tr>
              <a:tr h="525780">
                <a:tc>
                  <a:txBody>
                    <a:bodyPr wrap="square"/>
                    <a:lstStyle/>
                    <a:p>
                      <a:r>
                        <a:rPr sz="1200" b="0">
                          <a:solidFill>
                            <a:srgbClr val="424242"/>
                          </a:solidFill>
                          <a:latin typeface="Source Code Pro"/>
                        </a:rPr>
                        <a:t>You get it wrong by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Asking something hard</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Asking something trivial</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694176"/>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Each new generation moves the same three dials: better reasoning, a longer context window, a lower price per token. The model names will have changed by the time you watch this. The dials will not.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The Failure Modes Become Predictable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44752"/>
          <a:ext cx="8522207" cy="2377440"/>
        </p:xfrm>
        <a:graphic>
          <a:graphicData uri="http://schemas.openxmlformats.org/drawingml/2006/table">
            <a:tbl>
              <a:tblPr>
                <a:tableStyleId>{2D5ABB26-0587-4C30-8999-92F81FD0307C}</a:tableStyleId>
              </a:tblPr>
              <a:tblGrid>
                <a:gridCol w="2637826"/>
                <a:gridCol w="3246555"/>
                <a:gridCol w="2637826"/>
              </a:tblGrid>
              <a:tr h="475488">
                <a:tc>
                  <a:txBody>
                    <a:bodyPr wrap="square"/>
                    <a:lstStyle/>
                    <a:p>
                      <a:r>
                        <a:rPr sz="1200" b="1">
                          <a:solidFill>
                            <a:srgbClr val="424242"/>
                          </a:solidFill>
                          <a:latin typeface="Source Code Pro"/>
                        </a:rPr>
                        <a:t>What goes wrong</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Why</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What fixes it</a:t>
                      </a:r>
                    </a:p>
                  </a:txBody>
                  <a:tcPr marL="91440" marR="91440" marT="36576" marB="36576" anchor="ctr">
                    <a:lnT w="9525" cap="flat">
                      <a:solidFill>
                        <a:srgbClr val="D8D8DE"/>
                      </a:solidFill>
                    </a:lnT>
                    <a:lnB w="15875" cap="flat">
                      <a:solidFill>
                        <a:srgbClr val="424242"/>
                      </a:solidFill>
                    </a:lnB>
                    <a:solidFill>
                      <a:srgbClr val="FFFFFF"/>
                    </a:solidFill>
                  </a:tcPr>
                </a:tc>
              </a:tr>
              <a:tr h="475488">
                <a:tc>
                  <a:txBody>
                    <a:bodyPr wrap="square"/>
                    <a:lstStyle/>
                    <a:p>
                      <a:r>
                        <a:rPr sz="1200" b="0">
                          <a:solidFill>
                            <a:srgbClr val="424242"/>
                          </a:solidFill>
                          <a:latin typeface="Source Code Pro"/>
                        </a:rPr>
                        <a:t>A confident wrong fact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Nothing was fetched</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Give it sources</a:t>
                      </a:r>
                    </a:p>
                  </a:txBody>
                  <a:tcPr marL="91440" marR="91440" marT="36576" marB="36576" anchor="ctr">
                    <a:lnB w="9525" cap="flat">
                      <a:solidFill>
                        <a:srgbClr val="D8D8DE"/>
                      </a:solidFill>
                    </a:lnB>
                    <a:solidFill>
                      <a:srgbClr val="FFFFFF"/>
                    </a:solidFill>
                  </a:tcPr>
                </a:tc>
              </a:tr>
              <a:tr h="475488">
                <a:tc>
                  <a:txBody>
                    <a:bodyPr wrap="square"/>
                    <a:lstStyle/>
                    <a:p>
                      <a:r>
                        <a:rPr sz="1200" b="0">
                          <a:solidFill>
                            <a:srgbClr val="424242"/>
                          </a:solidFill>
                          <a:latin typeface="Source Code Pro"/>
                        </a:rPr>
                        <a:t>Yesterday's answer</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Trained, not live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Let it search</a:t>
                      </a:r>
                    </a:p>
                  </a:txBody>
                  <a:tcPr marL="91440" marR="91440" marT="36576" marB="36576" anchor="ctr">
                    <a:lnB w="9525" cap="flat">
                      <a:solidFill>
                        <a:srgbClr val="D8D8DE"/>
                      </a:solidFill>
                    </a:lnB>
                    <a:solidFill>
                      <a:srgbClr val="FFFFFF"/>
                    </a:solidFill>
                  </a:tcPr>
                </a:tc>
              </a:tr>
              <a:tr h="475488">
                <a:tc>
                  <a:txBody>
                    <a:bodyPr wrap="square"/>
                    <a:lstStyle/>
                    <a:p>
                      <a:r>
                        <a:rPr sz="1200" b="0">
                          <a:solidFill>
                            <a:srgbClr val="424242"/>
                          </a:solidFill>
                          <a:latin typeface="Source Code Pro"/>
                        </a:rPr>
                        <a:t>Arithmetic that looks right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Text, not calculation</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Make it run code</a:t>
                      </a:r>
                    </a:p>
                  </a:txBody>
                  <a:tcPr marL="91440" marR="91440" marT="36576" marB="36576" anchor="ctr">
                    <a:lnB w="9525" cap="flat">
                      <a:solidFill>
                        <a:srgbClr val="D8D8DE"/>
                      </a:solidFill>
                    </a:lnB>
                    <a:solidFill>
                      <a:srgbClr val="FFFFFF"/>
                    </a:solidFill>
                  </a:tcPr>
                </a:tc>
              </a:tr>
              <a:tr h="475488">
                <a:tc>
                  <a:txBody>
                    <a:bodyPr wrap="square"/>
                    <a:lstStyle/>
                    <a:p>
                      <a:r>
                        <a:rPr sz="1200" b="0">
                          <a:solidFill>
                            <a:srgbClr val="424242"/>
                          </a:solidFill>
                          <a:latin typeface="Source Code Pro"/>
                        </a:rPr>
                        <a:t>Your instruction ignored</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Buried in a long context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Say it up front</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968496"/>
            <a:ext cx="8522208" cy="256032"/>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None of these is the model being stupid. Each one is a missing tool, or a context you did not supply.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to Reach for It, and When Not To</a:t>
            </a:r>
          </a:p>
        </p:txBody>
      </p:sp>
      <p:sp>
        <p:nvSpPr>
          <p:cNvPr id="3" name="Text Placeholder 2"/>
          <p:cNvSpPr>
            <a:spLocks noGrp="1"/>
          </p:cNvSpPr>
          <p:nvPr>
            <p:ph type="body" idx="1"/>
          </p:nvPr>
        </p:nvSpPr>
        <p:spPr>
          <a:xfrm>
            <a:off x="311700" y="1874519"/>
            <a:ext cx="3999900" cy="2679191"/>
          </a:xfrm>
        </p:spPr>
        <p:txBody>
          <a:bodyPr/>
          <a:lstStyle/>
          <a:p>
            <a:r>
              <a:t>Work you can describe but do not want to start</a:t>
            </a:r>
          </a:p>
          <a:p>
            <a:r>
              <a:t>Reading that already exists and just needs doing</a:t>
            </a:r>
          </a:p>
          <a:p>
            <a:r>
              <a:t>A process you would otherwise repeat by hand</a:t>
            </a:r>
          </a:p>
        </p:txBody>
      </p:sp>
      <p:sp>
        <p:nvSpPr>
          <p:cNvPr id="4" name="Text Placeholder 3"/>
          <p:cNvSpPr>
            <a:spLocks noGrp="1"/>
          </p:cNvSpPr>
          <p:nvPr>
            <p:ph type="body" idx="2"/>
          </p:nvPr>
        </p:nvSpPr>
        <p:spPr>
          <a:xfrm>
            <a:off x="4832400" y="1874519"/>
            <a:ext cx="3999900" cy="2679191"/>
          </a:xfrm>
        </p:spPr>
        <p:txBody>
          <a:bodyPr/>
          <a:lstStyle/>
          <a:p>
            <a:r>
              <a:t>Judgement you are accountable for</a:t>
            </a:r>
          </a:p>
          <a:p>
            <a:r>
              <a:t>Anything you will not read before sending</a:t>
            </a:r>
          </a:p>
          <a:p>
            <a:r>
              <a:t>Work where the struggle is the point</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Worth handing over</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Keep it yourself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Looks Like in One Turn</a:t>
            </a:r>
          </a:p>
        </p:txBody>
      </p:sp>
      <p:sp>
        <p:nvSpPr>
          <p:cNvPr id="3" name="Text Placeholder 2"/>
          <p:cNvSpPr>
            <a:spLocks noGrp="1"/>
          </p:cNvSpPr>
          <p:nvPr>
            <p:ph type="body" idx="1"/>
          </p:nvPr>
        </p:nvSpPr>
        <p:spPr>
          <a:xfrm>
            <a:off x="5486400" y="1426464"/>
            <a:ext cx="3346704" cy="3063240"/>
          </a:xfrm>
        </p:spPr>
        <p:txBody>
          <a:bodyPr wrap="square" anchor="ctr"/>
          <a:lstStyle/>
          <a:p>
            <a:pPr marL="0" indent="0">
              <a:buNone/>
            </a:pPr>
            <a:r>
              <a:t>Same text box, same predictor. What is different is that it went and fetched things first, and that the answer says where they came from. That is the shift the rest of this course is built on.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617720" cy="3063240"/>
          </a:xfrm>
          <a:prstGeom prst="roundRect">
            <a:avLst>
              <a:gd name="adj" fmla="val 1719"/>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61772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61772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232403"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739896" y="1527048"/>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57400"/>
            <a:ext cx="4325112" cy="420624"/>
          </a:xfrm>
          <a:prstGeom prst="rect">
            <a:avLst/>
          </a:prstGeom>
          <a:noFill/>
        </p:spPr>
        <p:txBody>
          <a:bodyPr wrap="square" lIns="0" rIns="0" tIns="0" bIns="0" anchor="t">
            <a:spAutoFit/>
          </a:bodyPr>
          <a:lstStyle/>
          <a:p>
            <a:pPr algn="l">
              <a:lnSpc>
                <a:spcPct val="100000"/>
              </a:lnSpc>
            </a:pPr>
            <a:r>
              <a:rPr sz="1125" b="0">
                <a:solidFill>
                  <a:srgbClr val="F7F7FA"/>
                </a:solidFill>
                <a:latin typeface="Arial"/>
              </a:rPr>
              <a:t>Compare our three pricing pages, and check what rivals changed this quarter.</a:t>
            </a:r>
          </a:p>
        </p:txBody>
      </p:sp>
      <p:sp>
        <p:nvSpPr>
          <p:cNvPr id="33" name="TextBox 32"/>
          <p:cNvSpPr txBox="1"/>
          <p:nvPr/>
        </p:nvSpPr>
        <p:spPr>
          <a:xfrm>
            <a:off x="512064" y="2569464"/>
            <a:ext cx="1737360" cy="173736"/>
          </a:xfrm>
          <a:prstGeom prst="rect">
            <a:avLst/>
          </a:prstGeom>
          <a:noFill/>
        </p:spPr>
        <p:txBody>
          <a:bodyPr wrap="square" lIns="0" rIns="0" tIns="0" bIns="0" anchor="t">
            <a:spAutoFit/>
          </a:bodyPr>
          <a:lstStyle/>
          <a:p>
            <a:pPr algn="l"/>
            <a:r>
              <a:rPr sz="885" b="1">
                <a:solidFill>
                  <a:srgbClr val="C6C7D0"/>
                </a:solidFill>
                <a:latin typeface="Arial"/>
              </a:rPr>
              <a:t>Ran</a:t>
            </a:r>
          </a:p>
        </p:txBody>
      </p:sp>
      <p:sp>
        <p:nvSpPr>
          <p:cNvPr id="34" name="TextBox 33"/>
          <p:cNvSpPr txBox="1"/>
          <p:nvPr/>
        </p:nvSpPr>
        <p:spPr>
          <a:xfrm>
            <a:off x="512064" y="2770632"/>
            <a:ext cx="4325112" cy="210312"/>
          </a:xfrm>
          <a:prstGeom prst="rect">
            <a:avLst/>
          </a:prstGeom>
          <a:noFill/>
        </p:spPr>
        <p:txBody>
          <a:bodyPr wrap="none" lIns="0" rIns="0" tIns="0" bIns="0" anchor="t">
            <a:spAutoFit/>
          </a:bodyPr>
          <a:lstStyle/>
          <a:p>
            <a:pPr algn="l"/>
            <a:r>
              <a:rPr sz="1125" b="0">
                <a:solidFill>
                  <a:srgbClr val="F7F7FA"/>
                </a:solidFill>
                <a:latin typeface="Arial"/>
              </a:rPr>
              <a:t>a web search, then code over your data</a:t>
            </a:r>
          </a:p>
        </p:txBody>
      </p:sp>
      <p:sp>
        <p:nvSpPr>
          <p:cNvPr id="37" name="Rounded Rectangle 36"/>
          <p:cNvSpPr/>
          <p:nvPr/>
        </p:nvSpPr>
        <p:spPr>
          <a:xfrm>
            <a:off x="475488" y="3035808"/>
            <a:ext cx="4398264" cy="896112"/>
          </a:xfrm>
          <a:prstGeom prst="roundRect">
            <a:avLst>
              <a:gd name="adj" fmla="val 5102"/>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3154680"/>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6" name="TextBox 35"/>
          <p:cNvSpPr txBox="1"/>
          <p:nvPr/>
        </p:nvSpPr>
        <p:spPr>
          <a:xfrm>
            <a:off x="621792" y="3355848"/>
            <a:ext cx="4105655" cy="420624"/>
          </a:xfrm>
          <a:prstGeom prst="rect">
            <a:avLst/>
          </a:prstGeom>
          <a:noFill/>
        </p:spPr>
        <p:txBody>
          <a:bodyPr wrap="square" lIns="0" rIns="0" tIns="0" bIns="0" anchor="t">
            <a:spAutoFit/>
          </a:bodyPr>
          <a:lstStyle/>
          <a:p>
            <a:pPr algn="l">
              <a:lnSpc>
                <a:spcPct val="100000"/>
              </a:lnSpc>
            </a:pPr>
            <a:r>
              <a:rPr sz="1125" b="0">
                <a:solidFill>
                  <a:srgbClr val="F7F7FA"/>
                </a:solidFill>
                <a:latin typeface="Arial"/>
              </a:rPr>
              <a:t>Page B converts 2.1x better than A. Two rivals dropped their entry tier in March - sources listed below.</a:t>
            </a:r>
          </a:p>
        </p:txBody>
      </p:sp>
      <p:sp>
        <p:nvSpPr>
          <p:cNvPr id="38" name="Rounded Rectangle 37"/>
          <p:cNvSpPr/>
          <p:nvPr/>
        </p:nvSpPr>
        <p:spPr>
          <a:xfrm>
            <a:off x="512064" y="4078224"/>
            <a:ext cx="4325112"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0936" y="4151376"/>
            <a:ext cx="3703320"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0" name="Rounded Rectangle 39"/>
          <p:cNvSpPr/>
          <p:nvPr/>
        </p:nvSpPr>
        <p:spPr>
          <a:xfrm>
            <a:off x="4562856" y="4123944"/>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562856" y="4123944"/>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let's open it up and drive.</a:t>
            </a:r>
          </a:p>
        </p:txBody>
      </p:sp>
      <p:sp>
        <p:nvSpPr>
          <p:cNvPr id="71" name="Rounded Rectangle 70"/>
          <p:cNvSpPr/>
          <p:nvPr/>
        </p:nvSpPr>
        <p:spPr>
          <a:xfrm>
            <a:off x="502920"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Open a fresh chat</a:t>
            </a:r>
          </a:p>
        </p:txBody>
      </p:sp>
      <p:sp>
        <p:nvSpPr>
          <p:cNvPr id="75" name="TextBox 74"/>
          <p:cNvSpPr txBox="1"/>
          <p:nvPr/>
        </p:nvSpPr>
        <p:spPr>
          <a:xfrm>
            <a:off x="704088"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look at what it offers</a:t>
            </a:r>
          </a:p>
        </p:txBody>
      </p:sp>
      <p:sp>
        <p:nvSpPr>
          <p:cNvPr id="76" name="Rounded Rectangle 75"/>
          <p:cNvSpPr/>
          <p:nvPr/>
        </p:nvSpPr>
        <p:spPr>
          <a:xfrm>
            <a:off x="3300983"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3520439"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520439"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3502151"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Ask something live</a:t>
            </a:r>
          </a:p>
        </p:txBody>
      </p:sp>
      <p:sp>
        <p:nvSpPr>
          <p:cNvPr id="80" name="TextBox 79"/>
          <p:cNvSpPr txBox="1"/>
          <p:nvPr/>
        </p:nvSpPr>
        <p:spPr>
          <a:xfrm>
            <a:off x="3502151"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watch it search before it answers</a:t>
            </a:r>
          </a:p>
        </p:txBody>
      </p:sp>
      <p:sp>
        <p:nvSpPr>
          <p:cNvPr id="81" name="Rounded Rectangle 80"/>
          <p:cNvSpPr/>
          <p:nvPr/>
        </p:nvSpPr>
        <p:spPr>
          <a:xfrm>
            <a:off x="6099047"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6318503"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6318503"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6300215"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Hand it a file</a:t>
            </a:r>
          </a:p>
        </p:txBody>
      </p:sp>
      <p:sp>
        <p:nvSpPr>
          <p:cNvPr id="85" name="TextBox 84"/>
          <p:cNvSpPr txBox="1"/>
          <p:nvPr/>
        </p:nvSpPr>
        <p:spPr>
          <a:xfrm>
            <a:off x="6300215"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let it run code over it</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